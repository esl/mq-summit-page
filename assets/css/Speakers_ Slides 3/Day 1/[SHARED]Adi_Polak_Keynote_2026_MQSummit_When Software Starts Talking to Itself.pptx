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12191675"/>
  <p:notesSz cx="6858000" cy="9144000"/>
  <p:embeddedFontLst>
    <p:embeddedFont>
      <p:font typeface="Inter"/>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0" roundtripDataSignature="AMtx7mjRuVcRWjkSGqVOElZ/HyfY011O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customschemas.google.com/relationships/presentationmetadata" Target="meta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Inter-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Inter-italic.fntdata"/><Relationship Id="rId23" Type="http://schemas.openxmlformats.org/officeDocument/2006/relationships/slide" Target="slides/slide18.xml"/><Relationship Id="rId67" Type="http://schemas.openxmlformats.org/officeDocument/2006/relationships/font" Target="fonts/Inter-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Inter-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d1b175b31137957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hd1b175b31137957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We taught software how to talk. Now let’s teach it to keep its promises.</a:t>
            </a:r>
            <a:endParaRPr/>
          </a:p>
          <a:p>
            <a:pPr indent="0" lvl="0" marL="0" marR="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Traveling from the Bay Area to the Netherlands is a beautiful experience—once you remove the part where your knees meet the seat in front of you.</a:t>
            </a:r>
            <a:r>
              <a:rPr lang="en-US"/>
              <a:t> </a:t>
            </a:r>
            <a:r>
              <a:rPr b="0" i="0" lang="en-US" sz="1100" u="none" cap="none" strike="noStrike">
                <a:solidFill>
                  <a:srgbClr val="000000"/>
                </a:solidFill>
                <a:latin typeface="Arial"/>
                <a:ea typeface="Arial"/>
                <a:cs typeface="Arial"/>
                <a:sym typeface="Arial"/>
              </a:rPr>
              <a:t>On my way here</a:t>
            </a:r>
            <a:r>
              <a:rPr lang="en-US"/>
              <a:t> yesterday</a:t>
            </a:r>
            <a:r>
              <a:rPr b="0" i="0" lang="en-US" sz="1100" u="none" cap="none" strike="noStrike">
                <a:solidFill>
                  <a:srgbClr val="000000"/>
                </a:solidFill>
                <a:latin typeface="Arial"/>
                <a:ea typeface="Arial"/>
                <a:cs typeface="Arial"/>
                <a:sym typeface="Arial"/>
              </a:rPr>
              <a:t>. </a:t>
            </a:r>
            <a:r>
              <a:rPr lang="en-US">
                <a:solidFill>
                  <a:schemeClr val="dk1"/>
                </a:solidFill>
              </a:rPr>
              <a:t>I wanted to travel to the conference in comfort.  There is a ritual on long-haul flights. Everyone wants the same upgrade. Everyone has a strategy. Refresh, negotiate, hope. My strategy this time was slightly different. I asked my bot to help.</a:t>
            </a:r>
            <a:endParaRPr/>
          </a:p>
        </p:txBody>
      </p:sp>
      <p:sp>
        <p:nvSpPr>
          <p:cNvPr id="95" name="Google Shape;95;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103e98ddf37b404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h103e98ddf37b40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“My bot successfully helped with my upgrade. Here's the failure I do not want in production.” The instruction is retried. A worker restarts or a message is redelivered, and the agent no longer knows whether the external booking request succeeded. Two tool invocations may attempt the same upgrade. “A message acknowledgment cannot un-purchase a seat or un-send an email.” Keep stable external operation IDs, reconcile unknown outcomes, and enforce authorization before irreversible effects. Then move into four reliability questions.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d1b175b31137957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hd1b175b31137957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1100"/>
              <a:buNone/>
            </a:pPr>
            <a:r>
              <a:rPr b="1" lang="en-US" sz="3600">
                <a:solidFill>
                  <a:srgbClr val="F8FAFC"/>
                </a:solidFill>
                <a:highlight>
                  <a:srgbClr val="141414"/>
                </a:highlight>
              </a:rPr>
              <a:t>Venkat Venkataramani </a:t>
            </a:r>
            <a:endParaRPr b="1" sz="3600">
              <a:solidFill>
                <a:srgbClr val="F8FAFC"/>
              </a:solidFill>
              <a:highlight>
                <a:srgbClr val="141414"/>
              </a:highlight>
            </a:endParaRPr>
          </a:p>
          <a:p>
            <a:pPr indent="0" lvl="0" marL="0" rtl="0" algn="l">
              <a:lnSpc>
                <a:spcPct val="120000"/>
              </a:lnSpc>
              <a:spcBef>
                <a:spcPts val="0"/>
              </a:spcBef>
              <a:spcAft>
                <a:spcPts val="0"/>
              </a:spcAft>
              <a:buSzPts val="1100"/>
              <a:buNone/>
            </a:pPr>
            <a:r>
              <a:rPr b="1" lang="en-US" sz="3600">
                <a:solidFill>
                  <a:srgbClr val="F8FAFC"/>
                </a:solidFill>
                <a:highlight>
                  <a:srgbClr val="141414"/>
                </a:highlight>
              </a:rPr>
              <a:t>talks about openAI evoluation</a:t>
            </a:r>
            <a:endParaRPr b="1" sz="3600">
              <a:solidFill>
                <a:srgbClr val="F8FAFC"/>
              </a:solidFill>
              <a:highlight>
                <a:srgbClr val="141414"/>
              </a:highlight>
            </a:endParaRPr>
          </a:p>
          <a:p>
            <a:pPr indent="0" lvl="0" marL="0" rtl="0" algn="l">
              <a:lnSpc>
                <a:spcPct val="120000"/>
              </a:lnSpc>
              <a:spcBef>
                <a:spcPts val="0"/>
              </a:spcBef>
              <a:spcAft>
                <a:spcPts val="0"/>
              </a:spcAft>
              <a:buSzPts val="1100"/>
              <a:buNone/>
            </a:pPr>
            <a:r>
              <a:rPr b="1" lang="en-US" sz="3600">
                <a:solidFill>
                  <a:srgbClr val="F8FAFC"/>
                </a:solidFill>
                <a:highlight>
                  <a:srgbClr val="141414"/>
                </a:highlight>
              </a:rPr>
              <a:t>sdlc, marketing, product research, customer success</a:t>
            </a:r>
            <a:endParaRPr b="1" sz="3600">
              <a:solidFill>
                <a:srgbClr val="F8FAFC"/>
              </a:solidFill>
              <a:highlight>
                <a:srgbClr val="141414"/>
              </a:highlight>
            </a:endParaRPr>
          </a:p>
          <a:p>
            <a:pPr indent="0" lvl="0" marL="0" rtl="0" algn="l">
              <a:lnSpc>
                <a:spcPct val="100000"/>
              </a:lnSpc>
              <a:spcBef>
                <a:spcPts val="0"/>
              </a:spcBef>
              <a:spcAft>
                <a:spcPts val="0"/>
              </a:spcAft>
              <a:buSzPts val="1100"/>
              <a:buNone/>
            </a:pPr>
            <a:r>
              <a:rPr lang="en-US" sz="3200">
                <a:solidFill>
                  <a:schemeClr val="dk1"/>
                </a:solidFill>
                <a:latin typeface="Calibri"/>
                <a:ea typeface="Calibri"/>
                <a:cs typeface="Calibri"/>
                <a:sym typeface="Calibri"/>
              </a:rPr>
              <a:t>our systems across the board are becoming more agentic</a:t>
            </a:r>
            <a:endParaRPr sz="3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3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US" sz="3200">
                <a:solidFill>
                  <a:schemeClr val="dk1"/>
                </a:solidFill>
                <a:latin typeface="Calibri"/>
                <a:ea typeface="Calibri"/>
                <a:cs typeface="Calibri"/>
                <a:sym typeface="Calibri"/>
              </a:rPr>
              <a:t>just last week Anthropic shared that their PR grew to 30k a month</a:t>
            </a:r>
            <a:endParaRPr sz="3200">
              <a:solidFill>
                <a:schemeClr val="dk1"/>
              </a:solidFill>
              <a:latin typeface="Calibri"/>
              <a:ea typeface="Calibri"/>
              <a:cs typeface="Calibri"/>
              <a:sym typeface="Calibri"/>
            </a:endParaRPr>
          </a:p>
          <a:p>
            <a:pPr indent="0" lvl="0" marL="0" rtl="0" algn="l">
              <a:lnSpc>
                <a:spcPct val="120000"/>
              </a:lnSpc>
              <a:spcBef>
                <a:spcPts val="0"/>
              </a:spcBef>
              <a:spcAft>
                <a:spcPts val="0"/>
              </a:spcAft>
              <a:buSzPts val="1100"/>
              <a:buNone/>
            </a:pPr>
            <a:r>
              <a:t/>
            </a:r>
            <a:endParaRPr b="1" sz="3600">
              <a:solidFill>
                <a:srgbClr val="F8FAFC"/>
              </a:solidFill>
              <a:highlight>
                <a:srgbClr val="141414"/>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Modern agents interpret events, choose tools, generate sub-tasks, communicate with other agents and inspect outcomes. That is already several external operations before the original message is complete.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Some agent systems are fixed chains with model calls; others are tool-use loops or dynamic planners. Their architectures </a:t>
            </a:r>
            <a:r>
              <a:rPr lang="en-US"/>
              <a:t>might be different</a:t>
            </a:r>
            <a:r>
              <a:rPr b="0" i="0" lang="en-US" sz="1100" u="none" cap="none" strike="noStrike">
                <a:solidFill>
                  <a:srgbClr val="000000"/>
                </a:solidFill>
                <a:latin typeface="Arial"/>
                <a:ea typeface="Arial"/>
                <a:cs typeface="Arial"/>
                <a:sym typeface="Arial"/>
              </a:rPr>
              <a:t>, </a:t>
            </a:r>
            <a:r>
              <a:rPr lang="en-US"/>
              <a:t>yet</a:t>
            </a:r>
            <a:r>
              <a:rPr b="0" i="0" lang="en-US" sz="1100" u="none" cap="none" strike="noStrike">
                <a:solidFill>
                  <a:srgbClr val="000000"/>
                </a:solidFill>
                <a:latin typeface="Arial"/>
                <a:ea typeface="Arial"/>
                <a:cs typeface="Arial"/>
                <a:sym typeface="Arial"/>
              </a:rPr>
              <a:t> the same distributed-systems questions follow them: ownership, ordering, budgets and effects</a:t>
            </a:r>
            <a:endParaRPr/>
          </a:p>
        </p:txBody>
      </p:sp>
      <p:sp>
        <p:nvSpPr>
          <p:cNvPr id="126" name="Google Shape;126;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d1b175b31137957_0_5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hd1b175b31137957_0_5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is the canonical message processing path. We deliver an event; a consumer executes code. The delivery guarantees differ by product and configuration, but the abstraction is familiar. We can inspect the code, deploy it, measure it, and own its side effects.” This is not saying every consumer was deterministic; concurrency and I/O already complicate everything. It's that the possible branches were predominantly written down as code. The agent adds runtime-selected branches.”</a:t>
            </a:r>
            <a:endParaRPr/>
          </a:p>
        </p:txBody>
      </p:sp>
      <p:sp>
        <p:nvSpPr>
          <p:cNvPr id="145" name="Google Shape;14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d1b175b31137957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hd1b175b31137957_0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“Layer one is familiar: a human asks a computer to do something; a program executes the paths we built for it.” Think command lines, forms, and applications. Traditional software isn't necessarily simple or deterministic. The distinguishing feature here is who originates the task and who largely controls the goal. “The human is in the driver's seat. The software is extremely fast</a:t>
            </a:r>
            <a:endParaRPr/>
          </a:p>
          <a:p>
            <a:pPr indent="-298450" lvl="0" marL="457200" marR="0" rtl="0" algn="l">
              <a:lnSpc>
                <a:spcPct val="100000"/>
              </a:lnSpc>
              <a:spcBef>
                <a:spcPts val="0"/>
              </a:spcBef>
              <a:spcAft>
                <a:spcPts val="0"/>
              </a:spcAft>
              <a:buSzPts val="1100"/>
              <a:buChar char="●"/>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Layer two is this room's greatest accomplishmen</a:t>
            </a:r>
            <a:r>
              <a:rPr b="0" i="0" lang="en-US" sz="900" u="none" cap="none" strike="noStrike">
                <a:solidFill>
                  <a:schemeClr val="dk1"/>
                </a:solidFill>
                <a:latin typeface="Arial"/>
                <a:ea typeface="Arial"/>
                <a:cs typeface="Arial"/>
                <a:sym typeface="Arial"/>
              </a:rPr>
              <a:t>t.</a:t>
            </a:r>
            <a:r>
              <a:rPr lang="en-US" sz="1300">
                <a:solidFill>
                  <a:schemeClr val="dk1"/>
                </a:solidFill>
              </a:rPr>
              <a:t>We turned communication into durable infrastructure.</a:t>
            </a:r>
            <a:endParaRPr sz="1200">
              <a:solidFill>
                <a:schemeClr val="dk1"/>
              </a:solidFil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Systems no longer need a human to drive each step. They communicate through events, streams, queues and APIs. We engineered durable delivery, scoped ordering, retries, flow control and recovery.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Existing systems already make decisions according to coded rules;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solidFill>
                  <a:schemeClr val="dk1"/>
                </a:solidFill>
              </a:rPr>
              <a:t>Layer 3 is when software starts talking to itself. meaning the shift ahead is dynamically chosen task paths</a:t>
            </a:r>
            <a:endParaRPr/>
          </a:p>
          <a:p>
            <a:pPr indent="-298450" lvl="0" marL="457200" marR="0" rtl="0" algn="l">
              <a:lnSpc>
                <a:spcPct val="100000"/>
              </a:lnSpc>
              <a:spcBef>
                <a:spcPts val="0"/>
              </a:spcBef>
              <a:spcAft>
                <a:spcPts val="0"/>
              </a:spcAft>
              <a:buClr>
                <a:srgbClr val="000000"/>
              </a:buClr>
              <a:buSzPts val="1100"/>
              <a:buFont typeface="Arial"/>
              <a:buChar char="●"/>
            </a:pPr>
            <a:r>
              <a:rPr lang="en-US"/>
              <a:t>this layer</a:t>
            </a:r>
            <a:r>
              <a:rPr b="0" i="0" lang="en-US" sz="1100" u="none" cap="none" strike="noStrike">
                <a:solidFill>
                  <a:srgbClr val="000000"/>
                </a:solidFill>
                <a:latin typeface="Arial"/>
                <a:ea typeface="Arial"/>
                <a:cs typeface="Arial"/>
                <a:sym typeface="Arial"/>
              </a:rPr>
              <a:t> does not invent a new wire protocol.</a:t>
            </a:r>
            <a:endParaRPr/>
          </a:p>
          <a:p>
            <a:pPr indent="0" lvl="0" marL="457200" marR="0" rtl="0" algn="l">
              <a:lnSpc>
                <a:spcPct val="100000"/>
              </a:lnSpc>
              <a:spcBef>
                <a:spcPts val="0"/>
              </a:spcBef>
              <a:spcAft>
                <a:spcPts val="0"/>
              </a:spcAft>
              <a:buSzPts val="1100"/>
              <a:buNone/>
            </a:pPr>
            <a:r>
              <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It adds software that can choose among permitted paths at runtime.</a:t>
            </a:r>
            <a:r>
              <a:rPr lang="en-US"/>
              <a:t> </a:t>
            </a:r>
            <a:r>
              <a:rPr b="0" i="0" lang="en-US" sz="1100" u="none" cap="none" strike="noStrike">
                <a:solidFill>
                  <a:srgbClr val="000000"/>
                </a:solidFill>
                <a:latin typeface="Arial"/>
                <a:ea typeface="Arial"/>
                <a:cs typeface="Arial"/>
                <a:sym typeface="Arial"/>
              </a:rPr>
              <a:t>observe a new fact; propose a plan; select a specialist or tool; act; inspect the result; perhaps go again. A message used to invoke a known piece of behavior. Now it can invoke a decision-making loop. this is a </a:t>
            </a:r>
            <a:r>
              <a:rPr lang="en-US"/>
              <a:t>nondeterministic</a:t>
            </a:r>
            <a:r>
              <a:rPr b="0" i="0" lang="en-US" sz="1100" u="none" cap="none" strike="noStrike">
                <a:solidFill>
                  <a:srgbClr val="000000"/>
                </a:solidFill>
                <a:latin typeface="Arial"/>
                <a:ea typeface="Arial"/>
                <a:cs typeface="Arial"/>
                <a:sym typeface="Arial"/>
              </a:rPr>
              <a:t> and </a:t>
            </a:r>
            <a:r>
              <a:rPr lang="en-US"/>
              <a:t>adaptive software</a:t>
            </a:r>
            <a:r>
              <a:rPr b="0" i="0" lang="en-US" sz="1100" u="none" cap="none" strike="noStrike">
                <a:solidFill>
                  <a:srgbClr val="000000"/>
                </a:solidFill>
                <a:latin typeface="Arial"/>
                <a:ea typeface="Arial"/>
                <a:cs typeface="Arial"/>
                <a:sym typeface="Arial"/>
              </a:rPr>
              <a:t> inside guarded</a:t>
            </a:r>
            <a:r>
              <a:rPr lang="en-US"/>
              <a:t> environment</a:t>
            </a:r>
            <a:r>
              <a:rPr b="0" i="0" lang="en-US" sz="1100" u="none" cap="none" strike="noStrike">
                <a:solidFill>
                  <a:srgbClr val="000000"/>
                </a:solidFill>
                <a:latin typeface="Arial"/>
                <a:ea typeface="Arial"/>
                <a:cs typeface="Arial"/>
                <a:sym typeface="Arial"/>
              </a:rPr>
              <a:t>.</a:t>
            </a:r>
            <a:endParaRPr b="0" i="0" sz="11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SzPts val="1100"/>
              <a:buNone/>
            </a:pPr>
            <a:r>
              <a:t/>
            </a:r>
            <a:endParaRPr sz="200">
              <a:solidFill>
                <a:schemeClr val="dk1"/>
              </a:solidFill>
            </a:endParaRPr>
          </a:p>
          <a:p>
            <a:pPr indent="-298450" lvl="0" marL="457200" marR="0" rtl="0" algn="l">
              <a:lnSpc>
                <a:spcPct val="100000"/>
              </a:lnSpc>
              <a:spcBef>
                <a:spcPts val="0"/>
              </a:spcBef>
              <a:spcAft>
                <a:spcPts val="0"/>
              </a:spcAft>
              <a:buClr>
                <a:schemeClr val="dk1"/>
              </a:buClr>
              <a:buSzPts val="1100"/>
              <a:buFont typeface="Arial"/>
              <a:buChar char="●"/>
            </a:pPr>
            <a:r>
              <a:rPr lang="en-US" sz="1600">
                <a:solidFill>
                  <a:schemeClr val="dk1"/>
                </a:solidFill>
              </a:rPr>
              <a:t>One event can create a new plan, new messages, and new side effects.</a:t>
            </a:r>
            <a:endParaRPr sz="1600">
              <a:solidFill>
                <a:schemeClr val="dk1"/>
              </a:solidFill>
            </a:endParaRPr>
          </a:p>
          <a:p>
            <a:pPr indent="-298450" lvl="0" marL="457200" marR="0" rtl="0" algn="l">
              <a:lnSpc>
                <a:spcPct val="100000"/>
              </a:lnSpc>
              <a:spcBef>
                <a:spcPts val="0"/>
              </a:spcBef>
              <a:spcAft>
                <a:spcPts val="0"/>
              </a:spcAft>
              <a:buClr>
                <a:schemeClr val="dk1"/>
              </a:buClr>
              <a:buSzPts val="1100"/>
              <a:buFont typeface="Arial"/>
              <a:buChar char="●"/>
            </a:pPr>
            <a:r>
              <a:rPr lang="en-US" sz="2000">
                <a:solidFill>
                  <a:srgbClr val="A8AFBF"/>
                </a:solidFill>
              </a:rPr>
              <a:t>Not new transport. A new decision-maker at the edge of transport.</a:t>
            </a:r>
            <a:r>
              <a:rPr i="0" lang="en-US" sz="200" u="none" cap="none" strike="noStrike">
                <a:solidFill>
                  <a:schemeClr val="dk1"/>
                </a:solidFill>
              </a:rPr>
              <a:t> </a:t>
            </a:r>
            <a:endParaRPr i="0" sz="200" u="none" cap="none" strike="noStrike">
              <a:solidFill>
                <a:schemeClr val="dk1"/>
              </a:solidFill>
            </a:endParaRPr>
          </a:p>
          <a:p>
            <a:pPr indent="0" lvl="0" marL="457200" marR="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Clr>
                <a:schemeClr val="dk1"/>
              </a:buClr>
              <a:buSzPts val="1100"/>
              <a:buChar char="●"/>
            </a:pPr>
            <a:r>
              <a:rPr lang="en-US" sz="1500">
                <a:solidFill>
                  <a:schemeClr val="dk1"/>
                </a:solidFill>
              </a:rPr>
              <a:t>They accumulate; they do not replace each other.</a:t>
            </a:r>
            <a:endParaRPr sz="1400">
              <a:solidFill>
                <a:schemeClr val="dk1"/>
              </a:solidFill>
            </a:endParaRPr>
          </a:p>
          <a:p>
            <a:pPr indent="0" lvl="0" marL="45720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The agent still needs transport. The transport still needs policies, users and a business goal. Think of it as three layers of control.</a:t>
            </a:r>
            <a:endParaRPr/>
          </a:p>
          <a:p>
            <a:pPr indent="0" lvl="0" marL="45720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The human gives authority and intent. Middleware moves and persists facts. The agent runtime chooses and coordinates the next move.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34950" lvl="0" marL="457200" rtl="0" algn="l">
              <a:lnSpc>
                <a:spcPct val="100000"/>
              </a:lnSpc>
              <a:spcBef>
                <a:spcPts val="0"/>
              </a:spcBef>
              <a:spcAft>
                <a:spcPts val="0"/>
              </a:spcAft>
              <a:buClr>
                <a:schemeClr val="dk1"/>
              </a:buClr>
              <a:buSzPts val="100"/>
              <a:buChar char="●"/>
            </a:pPr>
            <a:r>
              <a:rPr b="1" lang="en-US" sz="1700">
                <a:solidFill>
                  <a:schemeClr val="dk1"/>
                </a:solidFill>
              </a:rPr>
              <a:t>Agents reason and delegate</a:t>
            </a:r>
            <a:endParaRPr sz="100">
              <a:solidFill>
                <a:schemeClr val="dk1"/>
              </a:solidFill>
            </a:endParaRPr>
          </a:p>
          <a:p>
            <a:pPr indent="-234950" lvl="0" marL="457200" rtl="0" algn="l">
              <a:lnSpc>
                <a:spcPct val="100000"/>
              </a:lnSpc>
              <a:spcBef>
                <a:spcPts val="0"/>
              </a:spcBef>
              <a:spcAft>
                <a:spcPts val="0"/>
              </a:spcAft>
              <a:buClr>
                <a:schemeClr val="dk1"/>
              </a:buClr>
              <a:buSzPts val="100"/>
              <a:buChar char="●"/>
            </a:pPr>
            <a:r>
              <a:t/>
            </a:r>
            <a:endParaRPr sz="100">
              <a:solidFill>
                <a:schemeClr val="dk1"/>
              </a:solidFill>
            </a:endParaRPr>
          </a:p>
          <a:p>
            <a:pPr indent="-234950" lvl="0" marL="457200" rtl="0" algn="l">
              <a:lnSpc>
                <a:spcPct val="100000"/>
              </a:lnSpc>
              <a:spcBef>
                <a:spcPts val="0"/>
              </a:spcBef>
              <a:spcAft>
                <a:spcPts val="0"/>
              </a:spcAft>
              <a:buClr>
                <a:schemeClr val="dk1"/>
              </a:buClr>
              <a:buSzPts val="100"/>
              <a:buChar char="●"/>
            </a:pPr>
            <a:r>
              <a:rPr b="1" lang="en-US" sz="2400">
                <a:solidFill>
                  <a:schemeClr val="dk1"/>
                </a:solidFill>
              </a:rPr>
              <a:t>Events connect their work.</a:t>
            </a:r>
            <a:endParaRPr sz="1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d1b175b31137957_0_1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hd1b175b31137957_0_1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t/>
            </a:r>
            <a:endParaRPr/>
          </a:p>
        </p:txBody>
      </p:sp>
      <p:sp>
        <p:nvSpPr>
          <p:cNvPr id="267" name="Google Shape;267;hd1b175b31137957_0_1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4" name="Google Shape;27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message is still a message: this is the unit the broker transports. The work performed in response may be much bigger.”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“In most broker architectures we can reason about each consumer and its bounds. With agents we must reason about a task that outlives one delivery.The difference is data-dependent planning and tool decisions at runtime.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Here is the canonical message processing path. We deliver an event; a consumer executes code. The delivery guarantees differ by product and configuration, but the abstraction is familiar. We can inspect the code, deploy it, measure it, and own its side effects.” This is not saying every consumer was deterministic; concurrency and I/O already complicate everything. It's that the possible branches were predominantly written down as code. The agent adds runtime-selected branches.”</a:t>
            </a:r>
            <a:endParaRPr/>
          </a:p>
        </p:txBody>
      </p:sp>
      <p:sp>
        <p:nvSpPr>
          <p:cNvPr id="275" name="Google Shape;275;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These are not assumptions the broker guarantees. This is what engineers try to establish at the application boundary: code-reviewable paths, measurable limits and scoped effects. An LLM in a tool loop forces us to make those contracts explicit and enforce them outside the model. “When I debug an ordinary service, I can inspect the branch conditions. When I debug an agent, I also need to know what context, model, tools and observations shaped the branch.”</a:t>
            </a:r>
            <a:endParaRPr/>
          </a:p>
        </p:txBody>
      </p:sp>
      <p:sp>
        <p:nvSpPr>
          <p:cNvPr id="292" name="Google Shape;292;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hd1b175b31137957_0_5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hd1b175b31137957_0_5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Clr>
                <a:schemeClr val="dk1"/>
              </a:buClr>
              <a:buSzPts val="1100"/>
              <a:buChar char="●"/>
            </a:pPr>
            <a:r>
              <a:rPr lang="en-US">
                <a:solidFill>
                  <a:schemeClr val="dk1"/>
                </a:solidFill>
              </a:rPr>
              <a:t>What happens when the consumer is no longer a deterministic service?”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What happens when the message reaches an agent whose choice depends on changing observations?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To answer, we have to see the patterns emerging in actual agent architectures.”</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3" name="Google Shape;313;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One event. A conversation begins. Agents respond, delegate, and create new work</a:t>
            </a:r>
            <a:endParaRPr/>
          </a:p>
          <a:p>
            <a:pPr indent="0" lvl="0" marL="457200" marR="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hd1b175b3113795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8" name="Google Shape;318;hd1b175b3113795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event drive agentic patterns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3" name="Google Shape;323;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Start with one tool-using agent. Event in; it picks a tool; the result becomes its next observation. </a:t>
            </a:r>
            <a:r>
              <a:rPr lang="en-US" sz="1500">
                <a:solidFill>
                  <a:srgbClr val="A8AFBF"/>
                </a:solidFill>
              </a:rPr>
              <a:t>A single agent can already create multiple external effects.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Clr>
                <a:schemeClr val="dk1"/>
              </a:buClr>
              <a:buSzPts val="2200"/>
              <a:buFont typeface="Arial"/>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hd1b175b31137957_0_3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hd1b175b31137957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d1b175b31137957_0_210: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hd1b175b31137957_0_21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Clr>
                <a:schemeClr val="dk1"/>
              </a:buClr>
              <a:buSzPts val="1100"/>
              <a:buChar char="●"/>
            </a:pPr>
            <a:r>
              <a:rPr lang="en-US">
                <a:solidFill>
                  <a:schemeClr val="dk1"/>
                </a:solidFill>
              </a:rPr>
              <a:t>The essential distinction is that the next branch is selected at runtime.</a:t>
            </a:r>
            <a:endParaRPr/>
          </a:p>
        </p:txBody>
      </p:sp>
      <p:sp>
        <p:nvSpPr>
          <p:cNvPr id="360" name="Google Shape;360;hd1b175b31137957_0_21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d1b175b31137957_0_266: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hd1b175b31137957_0_26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US" sz="2200">
                <a:solidFill>
                  <a:schemeClr val="dk1"/>
                </a:solidFill>
              </a:rPr>
              <a:t>RELIABILITY QUESTION    How do you bound iterations and authorize the next tool call?</a:t>
            </a:r>
            <a:endParaRPr b="1" sz="2200">
              <a:solidFill>
                <a:schemeClr val="dk1"/>
              </a:solidFill>
            </a:endParaRPr>
          </a:p>
          <a:p>
            <a:pPr indent="0" lvl="0" marL="0" rtl="0" algn="l">
              <a:lnSpc>
                <a:spcPct val="100000"/>
              </a:lnSpc>
              <a:spcBef>
                <a:spcPts val="0"/>
              </a:spcBef>
              <a:spcAft>
                <a:spcPts val="0"/>
              </a:spcAft>
              <a:buSzPts val="1100"/>
              <a:buNone/>
            </a:pPr>
            <a:r>
              <a:t/>
            </a:r>
            <a:endParaRPr b="1" sz="22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 Limit iterations, tool permissions, wall-clock time and cost. Trace tool outcomes to one task ID.</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b="1" sz="2200">
              <a:solidFill>
                <a:schemeClr val="dk1"/>
              </a:solidFill>
            </a:endParaRPr>
          </a:p>
        </p:txBody>
      </p:sp>
      <p:sp>
        <p:nvSpPr>
          <p:cNvPr id="416" name="Google Shape;416;hd1b175b31137957_0_26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fixed chain is our familiar pipeline: extract, decide, draft. Each agent has a clear contract and handoff.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t/>
            </a:r>
            <a:endParaRPr/>
          </a:p>
          <a:p>
            <a:pPr indent="-298450" lvl="0" marL="457200" marR="0" rtl="0" algn="l">
              <a:lnSpc>
                <a:spcPct val="100000"/>
              </a:lnSpc>
              <a:spcBef>
                <a:spcPts val="0"/>
              </a:spcBef>
              <a:spcAft>
                <a:spcPts val="0"/>
              </a:spcAft>
              <a:buClr>
                <a:srgbClr val="000000"/>
              </a:buClr>
              <a:buSzPts val="1100"/>
              <a:buFont typeface="Arial"/>
              <a:buChar char="●"/>
            </a:pPr>
            <a:r>
              <a:rPr lang="en-US"/>
              <a:t>Reliability question?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AI twist is that intermediate errors propagate as plausible-looking decisions.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Validate every step and checkpoint durable state. If the steps are predictable, use an ordinary workflow rather than asking an agent to invent the flow.</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hd1b175b31137957_0_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hd1b175b31137957_0_3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The fixed chain is our familiar pipeline: extract, decide, draft. Each agent has a clear contract and handoff. The AI twist is that intermediate errors propagate as plausible-looking decisions.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Validate every step and checkpoint durable state. If the steps are predictable, use an ordinary workflow rather than asking an agent to invent the flow. Source: https://learn.microsoft.com/en-us/azure/architecture/ai-ml/guide/ai-agent-design-patterns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3" name="Google Shape;523;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router or handoff agent picks the next specialist from context. That raises an old messaging question: who owns the message now? Use a stable task ID, explicit transfer, deadline, hop limit and escalation path. If two agents act concurrently, that must be intentional—not a duplicate handoff. Source: https://learn.microsoft.com/en-us/azure/architecture/ai-ml/guide/ai-agent-design-patterns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hd1b175b31137957_0_3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5" name="Google Shape;555;hd1b175b31137957_0_3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router or handoff agent picks the next specialist from context. That raises an old messaging question: who owns the message now? Use a stable task ID, explicit transfer, deadline, hop limit and escalation path. If two agents act concurrently, that must be intentional—not a duplicate handoff. Source: https://learn.microsoft.com/en-us/azure/architecture/ai-ml/guide/ai-agent-design-patterns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8" name="Google Shape;588;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solidFill>
                  <a:schemeClr val="dk1"/>
                </a:solidFill>
              </a:rPr>
              <a:t>“The message still travels. The TASK now branches.” One event can lead to zero or many sub-events and effects regardless of the underlying messaging system. Fan-out and fan-in aren't new; what's changing is that the task graph can be chosen dynamically at runtime. Track task status separately from delivery status, with correlation IDs, parent/child edges and action IDs. “The messaging system can tell you what was delivered; your product must tell you whether the mission succeeded.”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Parallel agents can inspect the same event from different perspectives and report back to an aggregator. That is scatter-gather with probabilistic conclusions. Arrival is not correctness. Require deadlines for stragglers, a correlation key and a conflict rule. More agents can mean more opinions, not more truth. Source: https://www.anthropic.com/engineering/building-effective-agents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d1b175b31137957_0_6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7" name="Google Shape;627;hd1b175b31137957_0_6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solidFill>
                  <a:schemeClr val="dk1"/>
                </a:solidFill>
              </a:rPr>
              <a:t>“The message still travels. The TASK now branches.” One event can lead to zero or many sub-events and effects regardless of the underlying messaging system. Fan-out and fan-in aren't new; what's changing is that the task graph can be chosen dynamically at runtime. Track task status separately from delivery status, with correlation IDs, parent/child edges and action IDs. “The messaging system can tell you what was delivered; your product must tell you whether the mission succeeded.”</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Parallel agents can inspect the same event from different perspectives and report back to an aggregator. That is scatter-gather with probabilistic conclusions. Arrival is not correctness. Require deadlines for stragglers, a correlation key and a conflict rule. More agents can mean more opinions, not more truth. Source: https://www.anthropic.com/engineering/building-effective-agents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26 · 19:50–20:40 · 0.833333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orchestrator</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 orchestrator discovers tasks while it works: plan, delegate, observe, replan. This differs from fixed fan-out because the graph itself changes. Budget hops, tokens, tool calls and concurrent subtasks. Record task state so a restart does not invent new history. In a moment we will contrast this centralized pattern with event choreography. Source: https://www.anthropic.com/engineering/building-effective-agents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hd1b175b31137957_0_5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4" name="Google Shape;694;hd1b175b31137957_0_5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 orchestrator discovers tasks while it works: plan, delegate, observe, replan. This differs from fixed fan-out because the graph itself changes. Budget hops, tokens, tool calls and concurrent subtasks. Record task state so a restart does not invent new history. In a moment we will contrast this centralized pattern with event choreography.</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3" name="Google Shape;723;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27 · 20:40–21:20 · 0.666667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critic</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a reflection loop, an evaluator critiques an output and a worker revises it. Useful when quality can be measured; risky when the finish line is vague. Set acceptance criteria and a maximum number of cycles. For real-world actions, evaluation is not authorization: a separate policy gate controls the commit. So far these are patterns *inside tasks*. Now let us connect agents with events *across tasks*.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hd1b175b31137957_0_5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0" name="Google Shape;750;hd1b175b31137957_0_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27 · 20:40–21:20 · 0.666667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critic</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In a reflection loop, an evaluator critiques an output and a worker revises it. Useful when quality can be measured; risky when the finish line is vague. Set acceptance criteria and a maximum number of cycles. For real-world actions, evaluation is not authorization: a separate policy gate controls the commit. So far these are patterns *inside tasks*. Now let us connect agents with events *across tasks*.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0" name="Google Shape;780;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28 · 21:20–21:30 · 0.1667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CINEMATIC VISUAL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VISUAL BREATH — 10 seconds. Hold the image for one sentence. Cinematic illustration; use this to let the previous technical concept land.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KEY IDEA: No conductor. A shared rhythm. Independent agents, connected through events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VISUAL VERSION — on-slide text moved off the image: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AGENT CHOREOGRAPHY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No conductor.</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 shared rhythm.</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Independent agents, connected through events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Adi Polak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28</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5" name="Google Shape;785;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classic event-driven system already reacts to events. </a:t>
            </a:r>
            <a:endParaRPr b="0" i="0" sz="1100" u="none" cap="none" strike="noStrike">
              <a:solidFill>
                <a:srgbClr val="000000"/>
              </a:solidFill>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a:t>The event is deterministic. The agent's next action is selected at runtime.</a:t>
            </a:r>
            <a:endParaRPr/>
          </a:p>
          <a:p>
            <a:pPr indent="-298450" lvl="0" marL="457200" rtl="0" algn="l">
              <a:lnSpc>
                <a:spcPct val="115000"/>
              </a:lnSpc>
              <a:spcBef>
                <a:spcPts val="0"/>
              </a:spcBef>
              <a:spcAft>
                <a:spcPts val="0"/>
              </a:spcAft>
              <a:buSzPts val="1100"/>
              <a:buChar char="●"/>
            </a:pPr>
            <a:r>
              <a:rPr lang="en-US"/>
              <a:t>And your closing question becomes:</a:t>
            </a:r>
            <a:endParaRPr/>
          </a:p>
          <a:p>
            <a:pPr indent="-298450" lvl="0" marL="457200" rtl="0" algn="l">
              <a:lnSpc>
                <a:spcPct val="115000"/>
              </a:lnSpc>
              <a:spcBef>
                <a:spcPts val="0"/>
              </a:spcBef>
              <a:spcAft>
                <a:spcPts val="0"/>
              </a:spcAft>
              <a:buSzPts val="1100"/>
              <a:buChar char="●"/>
            </a:pPr>
            <a:r>
              <a:rPr lang="en-US"/>
              <a:t>Who authorized the agent to spend $300 on an upgrade—and what happens if it processes the event twice?</a:t>
            </a:r>
            <a:endParaRPr/>
          </a:p>
          <a:p>
            <a:pPr indent="-298450" lvl="0" marL="457200" marR="0" rtl="0" algn="l">
              <a:lnSpc>
                <a:spcPct val="100000"/>
              </a:lnSpc>
              <a:spcBef>
                <a:spcPts val="0"/>
              </a:spcBef>
              <a:spcAft>
                <a:spcPts val="0"/>
              </a:spcAft>
              <a:buSzPts val="1100"/>
              <a:buChar char="●"/>
            </a:pPr>
            <a:r>
              <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Here the consumer gains a bounded decision loop. </a:t>
            </a:r>
            <a:r>
              <a:rPr lang="en-US"/>
              <a:t>a </a:t>
            </a:r>
            <a:r>
              <a:rPr b="0" i="0" lang="en-US" sz="1100" u="none" cap="none" strike="noStrike">
                <a:solidFill>
                  <a:srgbClr val="000000"/>
                </a:solidFill>
                <a:latin typeface="Arial"/>
                <a:ea typeface="Arial"/>
                <a:cs typeface="Arial"/>
                <a:sym typeface="Arial"/>
              </a:rPr>
              <a:t>customer request emits an event; an agent retrieves relevant context and proposes what to do; the system publishes a command or a new fact. The trigger is NOT a license to act. Filter events, cap costs, and put identity and policy at the action boundary. Distinguish facts from commands. This is agentic decisioning layered on proven messaging, not a new broker.</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SzPts val="1100"/>
              <a:buNone/>
            </a:pPr>
            <a:r>
              <a:t/>
            </a:r>
            <a:endParaRPr/>
          </a:p>
          <a:p>
            <a:pPr indent="-298450" lvl="0" marL="457200" marR="0" rtl="0" algn="l">
              <a:lnSpc>
                <a:spcPct val="100000"/>
              </a:lnSpc>
              <a:spcBef>
                <a:spcPts val="0"/>
              </a:spcBef>
              <a:spcAft>
                <a:spcPts val="0"/>
              </a:spcAft>
              <a:buClr>
                <a:srgbClr val="000000"/>
              </a:buClr>
              <a:buSzPts val="1100"/>
              <a:buFont typeface="Arial"/>
              <a:buChar char="●"/>
            </a:pPr>
            <a:r>
              <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Source: https://docs.aws.amazon.com/prescriptive-guidance/latest/agentic-ai-serverless/event-driven-architecture.html</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9" name="Google Shape;819;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is the biggest architectural shift for a messaging. Instead of one supervisor calling workers, an observer agent publishes Detected Signal; an investigator subscribes and publishes Finding are Reeady; a response agent may publish </a:t>
            </a:r>
            <a:r>
              <a:rPr lang="en-US"/>
              <a:t>Proposed Action</a:t>
            </a:r>
            <a:r>
              <a:rPr b="0" i="0" lang="en-US" sz="1100" u="none" cap="none" strike="noStrike">
                <a:solidFill>
                  <a:srgbClr val="000000"/>
                </a:solidFill>
                <a:latin typeface="Arial"/>
                <a:ea typeface="Arial"/>
                <a:cs typeface="Arial"/>
                <a:sym typeface="Arial"/>
              </a:rPr>
              <a:t>. The agents can be deployed and scaled independently, and the event channel connects them. But nobody automatically owns the end-to-end outcome. Cycles, duplicate reactions, schema drift and emergent event storms are familiar hazards, amplified by runtime-generated decisions. </a:t>
            </a:r>
            <a:endParaRPr b="0" i="0" sz="11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SzPts val="1100"/>
              <a:buNone/>
            </a:pPr>
            <a:r>
              <a:t/>
            </a:r>
            <a:endParaRPr/>
          </a:p>
          <a:p>
            <a:pPr indent="0" lvl="0" marL="45720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 typed event contracts, causation and correlation IDs, allowed transitions, hop limits and an outcome owner. Compare with the preceding orchestrator slide: centralized task control versus event choreography.</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5" name="Google Shape;865;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31 · 23:30–24:30 · 1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streaming</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is where stream processing becomes genuinely new infrastructure for agents. A single message may not include the whole world: inventory changed in one system, payment status in another, telemetry arrives continuously. Change streams and signals feed stateful processing, maintaining a compact live view. The agent asks that view for relevant context instead of rebuilding the past from raw events or relying on stale chat memory. Crucial distinction: event history and materialized context serve different jobs. Add freshness metadata, source provenance and access controls; before an irreversible effect, validate current state again. This is a proposed architectural pattern, not a claim that every agent platform does this already. Sources: https://materialize.com/events/webinar-real-world-context-engineering-ai-agents-enterprise/ ; https://docs.aws.amazon.com/prescriptive-guidance/latest/agentic-ai-serverless/orchestration-models.html</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6" name="Google Shape;906;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flight upgrade, vendor approval or incident remediation can take hours—or days. We should not keep a model loop alive while waiting. Instead, persist task state, wait durably for a message or a human signal, then resume with the same task and known history. This is the actor or entity-workflow shape applied to agents: a logical long-lived task with an event-driven lifecycle. Model and tool operations run as recorded activities, not unsafely re-executed during deterministic workflow recovery. Bound the wait with deadlines, cancellations, deduplication and timeouts. Relate it directly to the upgrade story without claiming the bot used this implementation</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2" name="Google Shape;942;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Imagine the travel agent delegates an eligibility check to an independent airline-support agent. One task can be accepted, remain working, wait for input, and complete asynchronously. The caller needs a stable task ID, ownership, timeout, progress, security context and a final artifact or event. Agent-to-agent protocols such as A2A describe capability discovery, task states, streaming updates and notifications. They are an interaction contract, not a substitute for your event backbone's durability guarantees. Don't claim that A2A itself provides append-only log storage or queue semantics. The emerging architecture separates semantic task collaboration from reliable internal event transport.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4" name="Google Shape;974;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An agent may initiate a multi-step business process: reserve inventory, obtain approval, charge a card, notify the user. There is no global ACID transaction across those systems. The saga pattern becomes especially important when the execution path is selected dynamically. Record a stable operation ID for every real-world effect, require policy and idempotency at commit, and define compensating actions for reversible steps. Compensation is NOT a true rollback: an email cannot be unsent, and a refund may not undo consequences. The model may recommend next steps, but deterministic control owns effect authorization, recovery and escalation.;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0" name="Google Shape;1010;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monitoring signal triggers an agent, the agent proposes an operational change, a policy gate authorizes it, and the real system emits an outcome event. That event becomes the next observation. Systems already have control loops; the emerging twist is putting model-selected actions inside them. Make the control loop stable: deduplicate signals, apply cooldowns and hysteresis, cap change rates and budgets, log cause/effect, require human approval for high-impact changes, and build the kill switch first. Otherwise two well-meaning autonomous agents can repeatedly undo each other's repairs. Source: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4" name="Google Shape;1054;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36 · 28:20–28:30 · 0.1667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CINEMATIC VISUAL</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VISUAL BREATH — 10 seconds. Hold the image for one sentence. Animation: flowing signals represent event-driven task propagation; the motion is illustrative, not a product demo.</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KEY IDEA: A system hears its own echoes. Action → outcome → observation → new decision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VISUAL VERSION — on-slide text moved off the image: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CLOSED-LOOP CONTROL</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 system hears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its own echoes.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Action → outcome → observation → new decision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Adi Polak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36</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hd1b175b31137957_0_152:notes"/>
          <p:cNvSpPr/>
          <p:nvPr>
            <p:ph idx="2" type="sldImg"/>
          </p:nvPr>
        </p:nvSpPr>
        <p:spPr>
          <a:xfrm>
            <a:off x="685873"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0" name="Google Shape;1060;hd1b175b31137957_0_15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61" name="Google Shape;1061;hd1b175b31137957_0_15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hd1b175b31137957_0_3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2" name="Google Shape;1112;hd1b175b31137957_0_3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Clr>
                <a:schemeClr val="dk1"/>
              </a:buClr>
              <a:buSzPts val="1100"/>
              <a:buChar char="●"/>
            </a:pPr>
            <a:r>
              <a:rPr lang="en-US">
                <a:solidFill>
                  <a:schemeClr val="dk1"/>
                </a:solidFill>
              </a:rPr>
              <a:t>• One message.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 Many consequences.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US">
                <a:solidFill>
                  <a:schemeClr val="dk1"/>
                </a:solidFill>
              </a:rPr>
              <a:t>• Reliability lives beyond delivery.</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7" name="Google Shape;1117;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“Observe, decide, act, confirm—those are task-level lifecycle events. An agent may pause waiting for a human or remote provider. It may resume hours later.” Persist a durable state machine, not only an offset. Model version, selected tool, inputs and outputs, timestamps, decision summary, final outcome and external operation IDs are the useful forensic artifacts. Do not promise to record hidden model reasoning or confidential chain of thought. Scrub sensitive payloads, and use traces spanning brokers and agents.</a:t>
            </a:r>
            <a:endParaRPr/>
          </a:p>
        </p:txBody>
      </p:sp>
      <p:sp>
        <p:nvSpPr>
          <p:cNvPr id="1118" name="Google Shape;1118;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7" name="Google Shape;1137;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46 · 40:40–41:45 · 1.08333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boundary</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This is the slide that brings the argument together without comparing messaging products. Point to the three reliability boundaries: (1) messaging transports and routes events under defined delivery, ordering and flow-control contracts; (2) the agent or workflow layer owns the task, handoffs, state, budgets and cancellation; (3) the effect and policy layer controls what may happen in the external world, using idempotency, approvals and audit. None can substitute for the others. “The infrastructure does exactly what it promises. We have to make sure we are asking each layer to promise the right thing.” Tool and agent interaction protocols complement durable messaging; they do not make external effects atomic.</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8" name="Google Shape;1158;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A person sets intent and authorization. The backbone routes events and maintains history. Stream processing prepares live context. An agent receives a signal and may delegate to another agent, wait for an outside event, and emit new commands. </a:t>
            </a:r>
            <a:endParaRPr b="0" i="0" sz="11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SzPts val="1100"/>
              <a:buNone/>
            </a:pPr>
            <a:r>
              <a:t/>
            </a:r>
            <a:endParaRPr/>
          </a:p>
          <a:p>
            <a:pPr indent="0" lvl="0" marL="45720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Durable task state remembers which actions ran. A policy and effect gate validates irreversible commitments. The next real-world result becomes an event again. That is the architecture, not a particular messaging product or agent framework. Return to your stack. “Layer one: I set the goal and grant authority. Layer two: services communicate through durable messaging and event delivery. Layer three: an agent runtime chooses and evaluates the next step.” Put your hand on the middle layer: “Adding a model does not remove the need for our proven infrastructure. It makes durable coordination more important.” The emerging agent and tool protocols help exchange tasks and invoke tools, but neither replaces durable delivery, application state or effect-level idempotency. Source: A2A specification; Model Context Protocol.</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5" name="Google Shape;118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42 · 32:40–34:40 · 2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17</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“Messaging systems can offer ordering within defined scopes. But a well-ordered event stream does not freeze the world outside it.” An agent processing an upgrade notification could read a stale seat map after another booking change. Two consumers of the same ordered stream may observe different API state at different times. Record observation timestamps and sources; validate fresh state before external effects. Use causality and version checks, not an imagined global order. “The agent can be perfectly rational about a world that no longer exists.”</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VISUAL VERSION — on-slide text moved off the image: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THE GUARANTEES WE THOUGHT WE UNDERSTOOD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ORDERING</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Which world did the agent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believe in when it acted?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ENGINEERING MOVE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Record the observation and its time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next to the decision it produced.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42</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Adi Polak</a:t>
            </a:r>
            <a:endParaRPr/>
          </a:p>
        </p:txBody>
      </p:sp>
      <p:sp>
        <p:nvSpPr>
          <p:cNvPr id="1186" name="Google Shape;1186;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1" name="Google Shape;119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43 · 34:40–36:40 · 2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18</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“Exactly-once means different things depending on its boundary, but it never magically commits an arbitrary external side effect.” Our transport and processing systems can provide strong, precisely scoped guarantees. An airline API, payment processor or email server lives beyond those boundaries. When a worker fails after acting but before recording success, delivery and execution can diverge. “Reliable delivery is not proof that the real-world action happened exactly once.” Use stable idempotency keys at the external operation boundary, durable commands or outbox patterns, authorization before commitment and compensation where possible. Don't imply a person in the loop creates a distributed transaction.</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VISUAL VERSION — on-slide text moved off the image: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THE GUARANTEES WE THOUGHT WE UNDERSTOOD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EXACTLY-ONCE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Delivery guarantees do not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commit real-world actions.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ENGINEERING MOVE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Use stable operation IDs, idempotent APIs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and policy-gated commits.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43</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Adi Polak</a:t>
            </a:r>
            <a:endParaRPr/>
          </a:p>
        </p:txBody>
      </p:sp>
      <p:sp>
        <p:nvSpPr>
          <p:cNvPr id="1192" name="Google Shape;1192;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7" name="Google Shape;1197;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44 · 36:40–38:40 · 2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19</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“Consumer lag, acknowledgments and in-flight limits remain crucial—they expose and bound transport pressure. But one consumed event may launch many model calls and tool calls.” A consumer can stay caught up while task-level work piles up elsewhere. Add task quotas: maximum concurrent child tasks, total tool calls, token and cost ceilings, end-to-end deadlines and rate limits on sensitive APIs. Failed deliveries can be retried or parked, but a runaway agent task also requires cancellation and durable task state.</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VISUAL VERSION — on-slide text moved off the image: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THE GUARANTEES WE THOUGHT WE UNDERSTOOD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BACKPRESSURE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Budgets on chains.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Not only buffers on queues.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ENGINEERING MOVE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Limit task depth, token spend,</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concurrency and tool calls.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44</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Adi Polak</a:t>
            </a:r>
            <a:endParaRPr/>
          </a:p>
        </p:txBody>
      </p:sp>
      <p:sp>
        <p:nvSpPr>
          <p:cNvPr id="1198" name="Google Shape;1198;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3" name="Google Shape;120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45 · 38:40–40:40 · 2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20</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“Replay is subtle. A durable log gives us a history of messages. Re-executing a model-driven task is not guaranteed to reproduce the same decision—and repeating external effects can be catastrophic.” Retain model, prompt and tool versions; input snapshots where lawful; observations; tool outputs; action IDs; and appropriately redacted traces. For evaluation, replay decisions in shadow mode with side effects disabled. For real recovery, resume from checkpoints and reconcile previously committed actions. “Replay evidence before you replay the world.”</a:t>
            </a:r>
            <a:endParaRPr/>
          </a:p>
          <a:p>
            <a:pPr indent="0" lvl="0" marL="0" marR="0" rtl="0" algn="l">
              <a:lnSpc>
                <a:spcPct val="100000"/>
              </a:lnSpc>
              <a:spcBef>
                <a:spcPts val="0"/>
              </a:spcBef>
              <a:spcAft>
                <a:spcPts val="0"/>
              </a:spcAft>
              <a:buSzPts val="1100"/>
              <a:buNone/>
            </a:pPr>
            <a:r>
              <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REPLAY</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Reconstruct the evidence.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Do not repeat the side effects.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ENGINEERING MOVE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Store inputs, versions, decisions and results.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Dry-run side effects during simulation.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45</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Adi Polak</a:t>
            </a:r>
            <a:endParaRPr/>
          </a:p>
        </p:txBody>
      </p:sp>
      <p:sp>
        <p:nvSpPr>
          <p:cNvPr id="1204" name="Google Shape;1204;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7" name="Shape 1207"/>
        <p:cNvGrpSpPr/>
        <p:nvPr/>
      </p:nvGrpSpPr>
      <p:grpSpPr>
        <a:xfrm>
          <a:off x="0" y="0"/>
          <a:ext cx="0" cy="0"/>
          <a:chOff x="0" y="0"/>
          <a:chExt cx="0" cy="0"/>
        </a:xfrm>
      </p:grpSpPr>
      <p:sp>
        <p:nvSpPr>
          <p:cNvPr id="1208" name="Google Shape;1208;hd1b175b31137957_0_3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9" name="Google Shape;1209;hd1b175b31137957_0_395:notes"/>
          <p:cNvSpPr/>
          <p:nvPr>
            <p:ph idx="2" type="sldImg"/>
          </p:nvPr>
        </p:nvSpPr>
        <p:spPr>
          <a:xfrm>
            <a:off x="1143281"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9" name="Google Shape;125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50 · 43:05–44:25 · 1.33333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23</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“My bet is that reliable agent infrastructure becomes a coordination stack: durable event backbones, task orchestrators, identity and policy, tracing, budgets and human approval.” Do not imply one message broker or one agent framework implements the whole stack. Instead celebrate the shared foundation. “The smartest agent will still need the most boring primitives: durable state, deadlines, idempotence, backpressure.” This is a forward-looking architecture proposal, not a product roadmap.</a:t>
            </a:r>
            <a:endParaRPr/>
          </a:p>
        </p:txBody>
      </p:sp>
      <p:sp>
        <p:nvSpPr>
          <p:cNvPr id="1260" name="Google Shape;126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5" name="Google Shape;1275;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51 · 44:25–45:45 · 1.33333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blueprint</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Walk left to right through reference architecture. An event arrives. A durable task/state machine owns execution. An agent may call tools, propose commands and spawn child tasks. The bottom rail supplies task observability, policy/budgets and a separate effect gate/outbox. If any component restarts, the system can resume from a checkpoint and reconcile external actions by stable operation ID. “This is not complicated for the sake of agents; this is the discipline we already apply to payments, workflows and distributed jobs.”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hd1b175b31137957_0_6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4" name="Google Shape;1304;hd1b175b31137957_0_6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hd1b175b31137957_0_6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9" name="Google Shape;1309;hd1b175b31137957_0_6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4" name="Google Shape;1314;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SLIDE 54 · 48:00–48:30 · 0.5 min</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SECTION: 26</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Return to personal stakes. “I like writing code. I like the craft of building things that work despite imperfect networks and imperfect assumptions. The bot that helped with my upgrade was wonderful because the system produced a real result—not because it produced convincing words.” The infrastructure disappears when it works, and becomes everything when it fails. Hold the image for an emotional breath.</a:t>
            </a:r>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VISUAL VERSION — on-slide text moved off the image: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WHY THIS WORK MATTERS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This is still our craft,</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at a larger scale.</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Making imperfect systems produce dependable outcomes.</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Adi Polak</a:t>
            </a:r>
            <a:endParaRPr/>
          </a:p>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 54</a:t>
            </a:r>
            <a:endParaRPr/>
          </a:p>
        </p:txBody>
      </p:sp>
      <p:sp>
        <p:nvSpPr>
          <p:cNvPr id="1315" name="Google Shape;1315;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hd1b175b31137957_0_6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0" name="Google Shape;1320;hd1b175b31137957_0_6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5" name="Shape 15"/>
        <p:cNvGrpSpPr/>
        <p:nvPr/>
      </p:nvGrpSpPr>
      <p:grpSpPr>
        <a:xfrm>
          <a:off x="0" y="0"/>
          <a:ext cx="0" cy="0"/>
          <a:chOff x="0" y="0"/>
          <a:chExt cx="0" cy="0"/>
        </a:xfrm>
      </p:grpSpPr>
      <p:sp>
        <p:nvSpPr>
          <p:cNvPr id="16" name="Google Shape;1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8" name="Google Shape;18;p3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9" name="Google Shape;19;p3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20" name="Google Shape;20;p3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21" name="Google Shape;2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9" name="Shape 2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 name="Shape 30"/>
        <p:cNvGrpSpPr/>
        <p:nvPr/>
      </p:nvGrpSpPr>
      <p:grpSpPr>
        <a:xfrm>
          <a:off x="0" y="0"/>
          <a:ext cx="0" cy="0"/>
          <a:chOff x="0" y="0"/>
          <a:chExt cx="0" cy="0"/>
        </a:xfrm>
      </p:grpSpPr>
      <p:sp>
        <p:nvSpPr>
          <p:cNvPr id="31" name="Google Shape;31;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33" name="Google Shape;33;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6" name="Shape 36"/>
        <p:cNvGrpSpPr/>
        <p:nvPr/>
      </p:nvGrpSpPr>
      <p:grpSpPr>
        <a:xfrm>
          <a:off x="0" y="0"/>
          <a:ext cx="0" cy="0"/>
          <a:chOff x="0" y="0"/>
          <a:chExt cx="0" cy="0"/>
        </a:xfrm>
      </p:grpSpPr>
      <p:sp>
        <p:nvSpPr>
          <p:cNvPr id="37" name="Google Shape;3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 name="Google Shape;39;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sp>
        <p:nvSpPr>
          <p:cNvPr id="43" name="Google Shape;43;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45" name="Google Shape;4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1" name="Google Shape;51;p3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2" name="Google Shape;5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3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8" name="Google Shape;58;p3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9" name="Google Shape;59;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3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9"/>
          <p:cNvSpPr/>
          <p:nvPr>
            <p:ph idx="2" type="pic"/>
          </p:nvPr>
        </p:nvSpPr>
        <p:spPr>
          <a:xfrm>
            <a:off x="1792288" y="612775"/>
            <a:ext cx="5486400" cy="4114800"/>
          </a:xfrm>
          <a:prstGeom prst="rect">
            <a:avLst/>
          </a:prstGeom>
          <a:noFill/>
          <a:ln>
            <a:noFill/>
          </a:ln>
        </p:spPr>
      </p:sp>
      <p:sp>
        <p:nvSpPr>
          <p:cNvPr id="65" name="Google Shape;65;p3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6" name="Google Shape;6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 name="Google Shape;72;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4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8" name="Google Shape;78;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drive.google.com/file/d/1LKCKm-4t-7jNgUtCGSMHz6z8TH7ieqZs/view" TargetMode="Externa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3.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hyperlink" Target="https://www.anthropic.com/engineering/building-effective-agents" TargetMode="External"/><Relationship Id="rId4" Type="http://schemas.openxmlformats.org/officeDocument/2006/relationships/hyperlink" Target="https://learn.microsoft.com/en-us/azure/architecture/ai-ml/guide/ai-agent-design-patterns" TargetMode="External"/><Relationship Id="rId5" Type="http://schemas.openxmlformats.org/officeDocument/2006/relationships/hyperlink" Target="https://learn.microsoft.com/en-us/azure/architecture/patterns/choreography" TargetMode="External"/><Relationship Id="rId6" Type="http://schemas.openxmlformats.org/officeDocument/2006/relationships/hyperlink" Target="https://go.temporal.io/platform-hub/ai-engineering/ai-reference-architecture"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4.jp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hd1b175b31137957_0_124" title="mqsummit2026.png"/>
          <p:cNvPicPr preferRelativeResize="0"/>
          <p:nvPr/>
        </p:nvPicPr>
        <p:blipFill rotWithShape="1">
          <a:blip r:embed="rId3">
            <a:alphaModFix/>
          </a:blip>
          <a:srcRect b="0" l="0" r="0" t="0"/>
          <a:stretch/>
        </p:blipFill>
        <p:spPr>
          <a:xfrm>
            <a:off x="-118525" y="0"/>
            <a:ext cx="12430824" cy="6992349"/>
          </a:xfrm>
          <a:prstGeom prst="rect">
            <a:avLst/>
          </a:prstGeom>
          <a:noFill/>
          <a:ln>
            <a:noFill/>
          </a:ln>
        </p:spPr>
      </p:pic>
      <p:sp>
        <p:nvSpPr>
          <p:cNvPr id="86" name="Google Shape;86;hd1b175b31137957_0_124"/>
          <p:cNvSpPr txBox="1"/>
          <p:nvPr/>
        </p:nvSpPr>
        <p:spPr>
          <a:xfrm>
            <a:off x="468925" y="1833300"/>
            <a:ext cx="10621200" cy="13659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3800"/>
              <a:buFont typeface="Arial"/>
              <a:buNone/>
            </a:pPr>
            <a:r>
              <a:rPr b="1" i="0" lang="en-US" sz="3800" u="none" cap="none" strike="noStrike">
                <a:solidFill>
                  <a:srgbClr val="0000FF"/>
                </a:solidFill>
                <a:highlight>
                  <a:srgbClr val="FFFF00"/>
                </a:highlight>
                <a:latin typeface="Arial"/>
                <a:ea typeface="Arial"/>
                <a:cs typeface="Arial"/>
                <a:sym typeface="Arial"/>
              </a:rPr>
              <a:t>When Software Starts Talking to Itself</a:t>
            </a:r>
            <a:endParaRPr b="1" i="0" sz="3800" u="none" cap="none" strike="noStrike">
              <a:solidFill>
                <a:srgbClr val="0000FF"/>
              </a:solidFill>
              <a:highlight>
                <a:srgbClr val="FFFF00"/>
              </a:highlight>
              <a:latin typeface="Arial"/>
              <a:ea typeface="Arial"/>
              <a:cs typeface="Arial"/>
              <a:sym typeface="Arial"/>
            </a:endParaRPr>
          </a:p>
          <a:p>
            <a:pPr indent="0" lvl="0" marL="0" marR="0" rtl="0" algn="l">
              <a:lnSpc>
                <a:spcPct val="115000"/>
              </a:lnSpc>
              <a:spcBef>
                <a:spcPts val="0"/>
              </a:spcBef>
              <a:spcAft>
                <a:spcPts val="0"/>
              </a:spcAft>
              <a:buClr>
                <a:srgbClr val="000000"/>
              </a:buClr>
              <a:buSzPts val="3800"/>
              <a:buFont typeface="Arial"/>
              <a:buNone/>
            </a:pPr>
            <a:r>
              <a:t/>
            </a:r>
            <a:endParaRPr b="1" i="0" sz="3800" u="none" cap="none" strike="noStrike">
              <a:solidFill>
                <a:srgbClr val="0000FF"/>
              </a:solidFill>
              <a:highlight>
                <a:srgbClr val="FFFF00"/>
              </a:highlight>
              <a:latin typeface="Arial"/>
              <a:ea typeface="Arial"/>
              <a:cs typeface="Arial"/>
              <a:sym typeface="Arial"/>
            </a:endParaRPr>
          </a:p>
          <a:p>
            <a:pPr indent="0" lvl="0" marL="0" marR="0" rtl="0" algn="ctr">
              <a:lnSpc>
                <a:spcPct val="115000"/>
              </a:lnSpc>
              <a:spcBef>
                <a:spcPts val="0"/>
              </a:spcBef>
              <a:spcAft>
                <a:spcPts val="0"/>
              </a:spcAft>
              <a:buClr>
                <a:schemeClr val="dk1"/>
              </a:buClr>
              <a:buSzPts val="1100"/>
              <a:buFont typeface="Arial"/>
              <a:buNone/>
            </a:pPr>
            <a:r>
              <a:rPr b="1" i="0" lang="en-US" sz="2900" u="none" cap="none" strike="noStrike">
                <a:solidFill>
                  <a:srgbClr val="0000FF"/>
                </a:solidFill>
                <a:highlight>
                  <a:srgbClr val="FFFF00"/>
                </a:highlight>
                <a:latin typeface="Arial"/>
                <a:ea typeface="Arial"/>
                <a:cs typeface="Arial"/>
                <a:sym typeface="Arial"/>
              </a:rPr>
              <a:t>Adi Polak</a:t>
            </a:r>
            <a:endParaRPr b="1" i="0" sz="2900" u="none" cap="none" strike="noStrike">
              <a:solidFill>
                <a:srgbClr val="0000FF"/>
              </a:solidFill>
              <a:highlight>
                <a:srgbClr val="FFFF00"/>
              </a:highlight>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0" name="Shape 90"/>
        <p:cNvGrpSpPr/>
        <p:nvPr/>
      </p:nvGrpSpPr>
      <p:grpSpPr>
        <a:xfrm>
          <a:off x="0" y="0"/>
          <a:ext cx="0" cy="0"/>
          <a:chOff x="0" y="0"/>
          <a:chExt cx="0" cy="0"/>
        </a:xfrm>
      </p:grpSpPr>
      <p:pic>
        <p:nvPicPr>
          <p:cNvPr id="91" name="Google Shape;91;p70" title="IMG_EAD7924C32BF-1.jpeg"/>
          <p:cNvPicPr preferRelativeResize="0"/>
          <p:nvPr/>
        </p:nvPicPr>
        <p:blipFill rotWithShape="1">
          <a:blip r:embed="rId3">
            <a:alphaModFix/>
          </a:blip>
          <a:srcRect b="0" l="0" r="0" t="0"/>
          <a:stretch/>
        </p:blipFill>
        <p:spPr>
          <a:xfrm>
            <a:off x="1407618" y="35935"/>
            <a:ext cx="9248258" cy="68580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96" name="Shape 96"/>
        <p:cNvGrpSpPr/>
        <p:nvPr/>
      </p:nvGrpSpPr>
      <p:grpSpPr>
        <a:xfrm>
          <a:off x="0" y="0"/>
          <a:ext cx="0" cy="0"/>
          <a:chOff x="0" y="0"/>
          <a:chExt cx="0" cy="0"/>
        </a:xfrm>
      </p:grpSpPr>
      <p:pic>
        <p:nvPicPr>
          <p:cNvPr descr="wide_cinematic_photoreal_cgi_styled_scene_of_an_2_batch_2.png" id="97" name="Google Shape;97;p2"/>
          <p:cNvPicPr preferRelativeResize="0"/>
          <p:nvPr/>
        </p:nvPicPr>
        <p:blipFill rotWithShape="1">
          <a:blip r:embed="rId3">
            <a:alphaModFix/>
          </a:blip>
          <a:srcRect b="0" l="0" r="0" t="0"/>
          <a:stretch/>
        </p:blipFill>
        <p:spPr>
          <a:xfrm>
            <a:off x="0" y="0"/>
            <a:ext cx="12191675"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pic>
        <p:nvPicPr>
          <p:cNvPr id="102" name="Google Shape;102;h103e98ddf37b404c_0_0" title="54DE487F-4DBF-486F-B437-D0A14739F71E.JPG"/>
          <p:cNvPicPr preferRelativeResize="0"/>
          <p:nvPr/>
        </p:nvPicPr>
        <p:blipFill>
          <a:blip r:embed="rId3">
            <a:alphaModFix/>
          </a:blip>
          <a:stretch>
            <a:fillRect/>
          </a:stretch>
        </p:blipFill>
        <p:spPr>
          <a:xfrm>
            <a:off x="1463200" y="226550"/>
            <a:ext cx="8615274" cy="152498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06" name="Shape 106"/>
        <p:cNvGrpSpPr/>
        <p:nvPr/>
      </p:nvGrpSpPr>
      <p:grpSpPr>
        <a:xfrm>
          <a:off x="0" y="0"/>
          <a:ext cx="0" cy="0"/>
          <a:chOff x="0" y="0"/>
          <a:chExt cx="0" cy="0"/>
        </a:xfrm>
      </p:grpSpPr>
      <p:sp>
        <p:nvSpPr>
          <p:cNvPr id="107" name="Google Shape;107;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108" name="Google Shape;108;p53"/>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A DEMO THAT LOOKS LIKE MAGIC. UNTIL IT RETRIES.</a:t>
            </a:r>
            <a:endParaRPr b="0" i="0" sz="1400" u="none" cap="none" strike="noStrike">
              <a:solidFill>
                <a:srgbClr val="000000"/>
              </a:solidFill>
              <a:latin typeface="Arial"/>
              <a:ea typeface="Arial"/>
              <a:cs typeface="Arial"/>
              <a:sym typeface="Arial"/>
            </a:endParaRPr>
          </a:p>
        </p:txBody>
      </p:sp>
      <p:sp>
        <p:nvSpPr>
          <p:cNvPr id="109" name="Google Shape;109;p53"/>
          <p:cNvSpPr/>
          <p:nvPr/>
        </p:nvSpPr>
        <p:spPr>
          <a:xfrm>
            <a:off x="777240" y="2011680"/>
            <a:ext cx="5074920" cy="2670048"/>
          </a:xfrm>
          <a:prstGeom prst="roundRect">
            <a:avLst>
              <a:gd fmla="val 16667" name="adj"/>
            </a:avLst>
          </a:prstGeom>
          <a:solidFill>
            <a:srgbClr val="121721"/>
          </a:solidFill>
          <a:ln cap="flat" cmpd="sng" w="12700">
            <a:solidFill>
              <a:srgbClr val="30364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53"/>
          <p:cNvSpPr txBox="1"/>
          <p:nvPr/>
        </p:nvSpPr>
        <p:spPr>
          <a:xfrm>
            <a:off x="1115568" y="2423160"/>
            <a:ext cx="4480560" cy="59436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6FD3E7"/>
                </a:solidFill>
                <a:latin typeface="Arial"/>
                <a:ea typeface="Arial"/>
                <a:cs typeface="Arial"/>
                <a:sym typeface="Arial"/>
              </a:rPr>
              <a:t>ONE REQUEST</a:t>
            </a:r>
            <a:endParaRPr b="0" i="0" sz="1400" u="none" cap="none" strike="noStrike">
              <a:solidFill>
                <a:srgbClr val="000000"/>
              </a:solidFill>
              <a:latin typeface="Arial"/>
              <a:ea typeface="Arial"/>
              <a:cs typeface="Arial"/>
              <a:sym typeface="Arial"/>
            </a:endParaRPr>
          </a:p>
        </p:txBody>
      </p:sp>
      <p:sp>
        <p:nvSpPr>
          <p:cNvPr id="111" name="Google Shape;111;p53"/>
          <p:cNvSpPr txBox="1"/>
          <p:nvPr/>
        </p:nvSpPr>
        <p:spPr>
          <a:xfrm>
            <a:off x="1115568" y="3063240"/>
            <a:ext cx="4343400" cy="685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F5F3EE"/>
                </a:solidFill>
                <a:latin typeface="Arial"/>
                <a:ea typeface="Arial"/>
                <a:cs typeface="Arial"/>
                <a:sym typeface="Arial"/>
              </a:rPr>
              <a:t>"Secure my upgrade."</a:t>
            </a:r>
            <a:endParaRPr b="0" i="0" sz="1400" u="none" cap="none" strike="noStrike">
              <a:solidFill>
                <a:srgbClr val="000000"/>
              </a:solidFill>
              <a:latin typeface="Arial"/>
              <a:ea typeface="Arial"/>
              <a:cs typeface="Arial"/>
              <a:sym typeface="Arial"/>
            </a:endParaRPr>
          </a:p>
        </p:txBody>
      </p:sp>
      <p:sp>
        <p:nvSpPr>
          <p:cNvPr id="112" name="Google Shape;112;p53"/>
          <p:cNvSpPr/>
          <p:nvPr/>
        </p:nvSpPr>
        <p:spPr>
          <a:xfrm>
            <a:off x="6318504" y="2011680"/>
            <a:ext cx="5074920" cy="2670048"/>
          </a:xfrm>
          <a:prstGeom prst="roundRect">
            <a:avLst>
              <a:gd fmla="val 16667" name="adj"/>
            </a:avLst>
          </a:prstGeom>
          <a:solidFill>
            <a:srgbClr val="121721"/>
          </a:solidFill>
          <a:ln cap="flat" cmpd="sng" w="12700">
            <a:solidFill>
              <a:srgbClr val="F38D8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3"/>
          <p:cNvSpPr txBox="1"/>
          <p:nvPr/>
        </p:nvSpPr>
        <p:spPr>
          <a:xfrm>
            <a:off x="6638544" y="2423160"/>
            <a:ext cx="4480560" cy="59436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38D83"/>
                </a:solidFill>
                <a:latin typeface="Arial"/>
                <a:ea typeface="Arial"/>
                <a:cs typeface="Arial"/>
                <a:sym typeface="Arial"/>
              </a:rPr>
              <a:t>TWO SIDE EFFECTS</a:t>
            </a:r>
            <a:endParaRPr b="0" i="0" sz="1400" u="none" cap="none" strike="noStrike">
              <a:solidFill>
                <a:srgbClr val="000000"/>
              </a:solidFill>
              <a:latin typeface="Arial"/>
              <a:ea typeface="Arial"/>
              <a:cs typeface="Arial"/>
              <a:sym typeface="Arial"/>
            </a:endParaRPr>
          </a:p>
        </p:txBody>
      </p:sp>
      <p:sp>
        <p:nvSpPr>
          <p:cNvPr id="114" name="Google Shape;114;p53"/>
          <p:cNvSpPr txBox="1"/>
          <p:nvPr/>
        </p:nvSpPr>
        <p:spPr>
          <a:xfrm>
            <a:off x="6638544" y="3063240"/>
            <a:ext cx="4389120" cy="9144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F5F3EE"/>
                </a:solidFill>
                <a:latin typeface="Arial"/>
                <a:ea typeface="Arial"/>
                <a:cs typeface="Arial"/>
                <a:sym typeface="Arial"/>
              </a:rPr>
              <a:t>Retry → two booking attempts</a:t>
            </a:r>
            <a:endParaRPr b="0" i="0" sz="1400" u="none" cap="none" strike="noStrike">
              <a:solidFill>
                <a:srgbClr val="000000"/>
              </a:solidFill>
              <a:latin typeface="Arial"/>
              <a:ea typeface="Arial"/>
              <a:cs typeface="Arial"/>
              <a:sym typeface="Arial"/>
            </a:endParaRPr>
          </a:p>
        </p:txBody>
      </p:sp>
      <p:sp>
        <p:nvSpPr>
          <p:cNvPr id="115" name="Google Shape;115;p53"/>
          <p:cNvSpPr txBox="1"/>
          <p:nvPr/>
        </p:nvSpPr>
        <p:spPr>
          <a:xfrm>
            <a:off x="868680" y="5120640"/>
            <a:ext cx="10515600" cy="341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E8A33D"/>
                </a:solidFill>
                <a:latin typeface="Arial"/>
                <a:ea typeface="Arial"/>
                <a:cs typeface="Arial"/>
                <a:sym typeface="Arial"/>
              </a:rPr>
              <a:t>A broker can redeliver. Your agent must not re-purchase tickets.</a:t>
            </a:r>
            <a:endParaRPr b="0" i="0" sz="1400" u="none" cap="none" strike="noStrike">
              <a:solidFill>
                <a:srgbClr val="000000"/>
              </a:solidFill>
              <a:latin typeface="Arial"/>
              <a:ea typeface="Arial"/>
              <a:cs typeface="Arial"/>
              <a:sym typeface="Arial"/>
            </a:endParaRPr>
          </a:p>
        </p:txBody>
      </p:sp>
      <p:sp>
        <p:nvSpPr>
          <p:cNvPr id="116" name="Google Shape;116;p53"/>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40</a:t>
            </a:r>
            <a:endParaRPr b="0" i="0" sz="1400" u="none" cap="none" strike="noStrike">
              <a:solidFill>
                <a:srgbClr val="000000"/>
              </a:solidFill>
              <a:latin typeface="Arial"/>
              <a:ea typeface="Arial"/>
              <a:cs typeface="Arial"/>
              <a:sym typeface="Arial"/>
            </a:endParaRPr>
          </a:p>
        </p:txBody>
      </p:sp>
      <p:sp>
        <p:nvSpPr>
          <p:cNvPr id="117" name="Google Shape;117;p53"/>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hd1b175b31137957_0_8"/>
          <p:cNvPicPr preferRelativeResize="0"/>
          <p:nvPr/>
        </p:nvPicPr>
        <p:blipFill rotWithShape="1">
          <a:blip r:embed="rId3">
            <a:alphaModFix/>
          </a:blip>
          <a:srcRect b="0" l="0" r="0" t="0"/>
          <a:stretch/>
        </p:blipFill>
        <p:spPr>
          <a:xfrm>
            <a:off x="-433125" y="-60700"/>
            <a:ext cx="13747550" cy="77263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27" name="Shape 127"/>
        <p:cNvGrpSpPr/>
        <p:nvPr/>
      </p:nvGrpSpPr>
      <p:grpSpPr>
        <a:xfrm>
          <a:off x="0" y="0"/>
          <a:ext cx="0" cy="0"/>
          <a:chOff x="0" y="0"/>
          <a:chExt cx="0" cy="0"/>
        </a:xfrm>
      </p:grpSpPr>
      <p:sp>
        <p:nvSpPr>
          <p:cNvPr id="128" name="Google Shape;128;p14"/>
          <p:cNvSpPr txBox="1"/>
          <p:nvPr/>
        </p:nvSpPr>
        <p:spPr>
          <a:xfrm>
            <a:off x="822960" y="731520"/>
            <a:ext cx="10515600" cy="4114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400"/>
              <a:buFont typeface="Arial"/>
              <a:buNone/>
            </a:pPr>
            <a:r>
              <a:rPr b="1" i="0" lang="en-US" sz="1400" u="none" cap="none" strike="noStrike">
                <a:solidFill>
                  <a:srgbClr val="6FD3E7"/>
                </a:solidFill>
                <a:latin typeface="Arial"/>
                <a:ea typeface="Arial"/>
                <a:cs typeface="Arial"/>
                <a:sym typeface="Arial"/>
              </a:rPr>
              <a:t>AI AGENTS CAN</a:t>
            </a:r>
            <a:endParaRPr b="0" i="0" sz="1400" u="none" cap="none" strike="noStrike">
              <a:solidFill>
                <a:srgbClr val="000000"/>
              </a:solidFill>
              <a:latin typeface="Arial"/>
              <a:ea typeface="Arial"/>
              <a:cs typeface="Arial"/>
              <a:sym typeface="Arial"/>
            </a:endParaRPr>
          </a:p>
        </p:txBody>
      </p:sp>
      <p:sp>
        <p:nvSpPr>
          <p:cNvPr id="129" name="Google Shape;129;p14"/>
          <p:cNvSpPr txBox="1"/>
          <p:nvPr/>
        </p:nvSpPr>
        <p:spPr>
          <a:xfrm>
            <a:off x="822960" y="1463040"/>
            <a:ext cx="10515600" cy="6858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800"/>
              <a:buFont typeface="Arial"/>
              <a:buNone/>
            </a:pPr>
            <a:r>
              <a:rPr b="1" i="0" lang="en-US" sz="2800" u="none" cap="none" strike="noStrike">
                <a:solidFill>
                  <a:srgbClr val="F5F3EE"/>
                </a:solidFill>
                <a:latin typeface="Arial"/>
                <a:ea typeface="Arial"/>
                <a:cs typeface="Arial"/>
                <a:sym typeface="Arial"/>
              </a:rPr>
              <a:t>→  interpret events</a:t>
            </a:r>
            <a:endParaRPr b="0" i="0" sz="1400" u="none" cap="none" strike="noStrike">
              <a:solidFill>
                <a:srgbClr val="000000"/>
              </a:solidFill>
              <a:latin typeface="Arial"/>
              <a:ea typeface="Arial"/>
              <a:cs typeface="Arial"/>
              <a:sym typeface="Arial"/>
            </a:endParaRPr>
          </a:p>
        </p:txBody>
      </p:sp>
      <p:sp>
        <p:nvSpPr>
          <p:cNvPr id="130" name="Google Shape;130;p14"/>
          <p:cNvSpPr txBox="1"/>
          <p:nvPr/>
        </p:nvSpPr>
        <p:spPr>
          <a:xfrm>
            <a:off x="822960" y="2286000"/>
            <a:ext cx="10515600" cy="6858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800"/>
              <a:buFont typeface="Arial"/>
              <a:buNone/>
            </a:pPr>
            <a:r>
              <a:rPr b="1" i="0" lang="en-US" sz="2800" u="none" cap="none" strike="noStrike">
                <a:solidFill>
                  <a:srgbClr val="F5F3EE"/>
                </a:solidFill>
                <a:latin typeface="Arial"/>
                <a:ea typeface="Arial"/>
                <a:cs typeface="Arial"/>
                <a:sym typeface="Arial"/>
              </a:rPr>
              <a:t>→  make decisions</a:t>
            </a:r>
            <a:endParaRPr b="0" i="0" sz="1400" u="none" cap="none" strike="noStrike">
              <a:solidFill>
                <a:srgbClr val="000000"/>
              </a:solidFill>
              <a:latin typeface="Arial"/>
              <a:ea typeface="Arial"/>
              <a:cs typeface="Arial"/>
              <a:sym typeface="Arial"/>
            </a:endParaRPr>
          </a:p>
        </p:txBody>
      </p:sp>
      <p:sp>
        <p:nvSpPr>
          <p:cNvPr id="131" name="Google Shape;131;p14"/>
          <p:cNvSpPr txBox="1"/>
          <p:nvPr/>
        </p:nvSpPr>
        <p:spPr>
          <a:xfrm>
            <a:off x="822960" y="3108960"/>
            <a:ext cx="10515600" cy="6858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800"/>
              <a:buFont typeface="Arial"/>
              <a:buNone/>
            </a:pPr>
            <a:r>
              <a:rPr b="1" i="0" lang="en-US" sz="2800" u="none" cap="none" strike="noStrike">
                <a:solidFill>
                  <a:srgbClr val="F5F3EE"/>
                </a:solidFill>
                <a:latin typeface="Arial"/>
                <a:ea typeface="Arial"/>
                <a:cs typeface="Arial"/>
                <a:sym typeface="Arial"/>
              </a:rPr>
              <a:t>→  call tools</a:t>
            </a:r>
            <a:endParaRPr b="0" i="0" sz="1400" u="none" cap="none" strike="noStrike">
              <a:solidFill>
                <a:srgbClr val="000000"/>
              </a:solidFill>
              <a:latin typeface="Arial"/>
              <a:ea typeface="Arial"/>
              <a:cs typeface="Arial"/>
              <a:sym typeface="Arial"/>
            </a:endParaRPr>
          </a:p>
        </p:txBody>
      </p:sp>
      <p:sp>
        <p:nvSpPr>
          <p:cNvPr id="132" name="Google Shape;132;p14"/>
          <p:cNvSpPr txBox="1"/>
          <p:nvPr/>
        </p:nvSpPr>
        <p:spPr>
          <a:xfrm>
            <a:off x="822960" y="3931920"/>
            <a:ext cx="10515600" cy="6858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800"/>
              <a:buFont typeface="Arial"/>
              <a:buNone/>
            </a:pPr>
            <a:r>
              <a:rPr b="1" i="0" lang="en-US" sz="2800" u="none" cap="none" strike="noStrike">
                <a:solidFill>
                  <a:srgbClr val="F5F3EE"/>
                </a:solidFill>
                <a:latin typeface="Arial"/>
                <a:ea typeface="Arial"/>
                <a:cs typeface="Arial"/>
                <a:sym typeface="Arial"/>
              </a:rPr>
              <a:t>→  create new work</a:t>
            </a:r>
            <a:endParaRPr b="0" i="0" sz="1400" u="none" cap="none" strike="noStrike">
              <a:solidFill>
                <a:srgbClr val="000000"/>
              </a:solidFill>
              <a:latin typeface="Arial"/>
              <a:ea typeface="Arial"/>
              <a:cs typeface="Arial"/>
              <a:sym typeface="Arial"/>
            </a:endParaRPr>
          </a:p>
        </p:txBody>
      </p:sp>
      <p:sp>
        <p:nvSpPr>
          <p:cNvPr id="133" name="Google Shape;133;p14"/>
          <p:cNvSpPr txBox="1"/>
          <p:nvPr/>
        </p:nvSpPr>
        <p:spPr>
          <a:xfrm>
            <a:off x="822960" y="4754880"/>
            <a:ext cx="10515600" cy="6858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800"/>
              <a:buFont typeface="Arial"/>
              <a:buNone/>
            </a:pPr>
            <a:r>
              <a:rPr b="1" i="0" lang="en-US" sz="2800" u="none" cap="none" strike="noStrike">
                <a:solidFill>
                  <a:srgbClr val="F5F3EE"/>
                </a:solidFill>
                <a:latin typeface="Arial"/>
                <a:ea typeface="Arial"/>
                <a:cs typeface="Arial"/>
                <a:sym typeface="Arial"/>
              </a:rPr>
              <a:t>→  communicate with other agents</a:t>
            </a:r>
            <a:endParaRPr b="0" i="0" sz="1400" u="none" cap="none" strike="noStrike">
              <a:solidFill>
                <a:srgbClr val="000000"/>
              </a:solidFill>
              <a:latin typeface="Arial"/>
              <a:ea typeface="Arial"/>
              <a:cs typeface="Arial"/>
              <a:sym typeface="Arial"/>
            </a:endParaRPr>
          </a:p>
        </p:txBody>
      </p:sp>
      <p:sp>
        <p:nvSpPr>
          <p:cNvPr id="134" name="Google Shape;134;p14"/>
          <p:cNvSpPr txBox="1"/>
          <p:nvPr/>
        </p:nvSpPr>
        <p:spPr>
          <a:xfrm>
            <a:off x="822960" y="5577840"/>
            <a:ext cx="10515600" cy="6858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800"/>
              <a:buFont typeface="Arial"/>
              <a:buNone/>
            </a:pPr>
            <a:r>
              <a:rPr b="1" i="0" lang="en-US" sz="2800" u="none" cap="none" strike="noStrike">
                <a:solidFill>
                  <a:srgbClr val="F5F3EE"/>
                </a:solidFill>
                <a:latin typeface="Arial"/>
                <a:ea typeface="Arial"/>
                <a:cs typeface="Arial"/>
                <a:sym typeface="Arial"/>
              </a:rPr>
              <a:t>→  change behavior based on what they observe</a:t>
            </a:r>
            <a:endParaRPr b="0" i="0" sz="1400" u="none" cap="none" strike="noStrike">
              <a:solidFill>
                <a:srgbClr val="000000"/>
              </a:solidFill>
              <a:latin typeface="Arial"/>
              <a:ea typeface="Arial"/>
              <a:cs typeface="Arial"/>
              <a:sym typeface="Arial"/>
            </a:endParaRPr>
          </a:p>
        </p:txBody>
      </p:sp>
      <p:sp>
        <p:nvSpPr>
          <p:cNvPr id="135" name="Google Shape;135;p14"/>
          <p:cNvSpPr txBox="1"/>
          <p:nvPr/>
        </p:nvSpPr>
        <p:spPr>
          <a:xfrm>
            <a:off x="11521440" y="6446520"/>
            <a:ext cx="5486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20</a:t>
            </a:r>
            <a:endParaRPr b="0" i="0" sz="1400" u="none" cap="none" strike="noStrike">
              <a:solidFill>
                <a:srgbClr val="000000"/>
              </a:solidFill>
              <a:latin typeface="Arial"/>
              <a:ea typeface="Arial"/>
              <a:cs typeface="Arial"/>
              <a:sym typeface="Arial"/>
            </a:endParaRPr>
          </a:p>
        </p:txBody>
      </p:sp>
      <p:sp>
        <p:nvSpPr>
          <p:cNvPr id="136" name="Google Shape;136;p14"/>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hd1b175b31137957_0_533"/>
          <p:cNvPicPr preferRelativeResize="0"/>
          <p:nvPr/>
        </p:nvPicPr>
        <p:blipFill rotWithShape="1">
          <a:blip r:embed="rId3">
            <a:alphaModFix/>
          </a:blip>
          <a:srcRect b="0" l="0" r="0" t="0"/>
          <a:stretch/>
        </p:blipFill>
        <p:spPr>
          <a:xfrm>
            <a:off x="0" y="67200"/>
            <a:ext cx="12191677" cy="681614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46" name="Shape 146"/>
        <p:cNvGrpSpPr/>
        <p:nvPr/>
      </p:nvGrpSpPr>
      <p:grpSpPr>
        <a:xfrm>
          <a:off x="0" y="0"/>
          <a:ext cx="0" cy="0"/>
          <a:chOff x="0" y="0"/>
          <a:chExt cx="0" cy="0"/>
        </a:xfrm>
      </p:grpSpPr>
      <p:sp>
        <p:nvSpPr>
          <p:cNvPr id="147" name="Google Shape;147;p9"/>
          <p:cNvSpPr txBox="1"/>
          <p:nvPr/>
        </p:nvSpPr>
        <p:spPr>
          <a:xfrm>
            <a:off x="822960" y="731520"/>
            <a:ext cx="10515600" cy="4114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400"/>
              <a:buFont typeface="Arial"/>
              <a:buNone/>
            </a:pPr>
            <a:r>
              <a:rPr b="1" i="0" lang="en-US" sz="1400" u="none" cap="none" strike="noStrike">
                <a:solidFill>
                  <a:srgbClr val="6FD3E7"/>
                </a:solidFill>
                <a:latin typeface="Arial"/>
                <a:ea typeface="Arial"/>
                <a:cs typeface="Arial"/>
                <a:sym typeface="Arial"/>
              </a:rPr>
              <a:t>THE CONTRACT WE BUILT</a:t>
            </a:r>
            <a:endParaRPr b="0" i="0" sz="1400" u="none" cap="none" strike="noStrike">
              <a:solidFill>
                <a:srgbClr val="000000"/>
              </a:solidFill>
              <a:latin typeface="Arial"/>
              <a:ea typeface="Arial"/>
              <a:cs typeface="Arial"/>
              <a:sym typeface="Arial"/>
            </a:endParaRPr>
          </a:p>
        </p:txBody>
      </p:sp>
      <p:sp>
        <p:nvSpPr>
          <p:cNvPr id="148" name="Google Shape;148;p9"/>
          <p:cNvSpPr txBox="1"/>
          <p:nvPr/>
        </p:nvSpPr>
        <p:spPr>
          <a:xfrm>
            <a:off x="822960" y="2011680"/>
            <a:ext cx="10515600" cy="1828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5F3EE"/>
                </a:solidFill>
                <a:latin typeface="Arial"/>
                <a:ea typeface="Arial"/>
                <a:cs typeface="Arial"/>
                <a:sym typeface="Arial"/>
              </a:rPr>
              <a:t>A message gets delivered.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F5F3EE"/>
                </a:solidFill>
                <a:latin typeface="Arial"/>
                <a:ea typeface="Arial"/>
                <a:cs typeface="Arial"/>
                <a:sym typeface="Arial"/>
              </a:rPr>
              <a:t>A consumer runs code.</a:t>
            </a:r>
            <a:endParaRPr b="0" i="0" sz="1400" u="none" cap="none" strike="noStrike">
              <a:solidFill>
                <a:srgbClr val="000000"/>
              </a:solidFill>
              <a:latin typeface="Arial"/>
              <a:ea typeface="Arial"/>
              <a:cs typeface="Arial"/>
              <a:sym typeface="Arial"/>
            </a:endParaRPr>
          </a:p>
        </p:txBody>
      </p:sp>
      <p:sp>
        <p:nvSpPr>
          <p:cNvPr id="149" name="Google Shape;149;p9"/>
          <p:cNvSpPr txBox="1"/>
          <p:nvPr/>
        </p:nvSpPr>
        <p:spPr>
          <a:xfrm>
            <a:off x="822960" y="3383280"/>
            <a:ext cx="10515600" cy="2011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E8A33D"/>
                </a:solidFill>
                <a:latin typeface="Arial"/>
                <a:ea typeface="Arial"/>
                <a:cs typeface="Arial"/>
                <a:sym typeface="Arial"/>
              </a:rPr>
              <a:t>But who chooses the next action?</a:t>
            </a:r>
            <a:endParaRPr b="0" i="0" sz="1400" u="none" cap="none" strike="noStrike">
              <a:solidFill>
                <a:srgbClr val="000000"/>
              </a:solidFill>
              <a:latin typeface="Arial"/>
              <a:ea typeface="Arial"/>
              <a:cs typeface="Arial"/>
              <a:sym typeface="Arial"/>
            </a:endParaRPr>
          </a:p>
        </p:txBody>
      </p:sp>
      <p:sp>
        <p:nvSpPr>
          <p:cNvPr id="150" name="Google Shape;150;p9"/>
          <p:cNvSpPr txBox="1"/>
          <p:nvPr/>
        </p:nvSpPr>
        <p:spPr>
          <a:xfrm>
            <a:off x="11521440" y="6446520"/>
            <a:ext cx="5486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
        <p:nvSpPr>
          <p:cNvPr id="151" name="Google Shape;151;p9"/>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hd1b175b31137957_0_146" title="3layers_video.mp4">
            <a:hlinkClick r:id="rId3"/>
          </p:cNvPr>
          <p:cNvPicPr preferRelativeResize="0"/>
          <p:nvPr/>
        </p:nvPicPr>
        <p:blipFill rotWithShape="1">
          <a:blip r:embed="rId4">
            <a:alphaModFix/>
          </a:blip>
          <a:srcRect b="0" l="0" r="0" t="0"/>
          <a:stretch/>
        </p:blipFill>
        <p:spPr>
          <a:xfrm>
            <a:off x="-252988" y="-76100"/>
            <a:ext cx="12697651" cy="71424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60" name="Shape 160"/>
        <p:cNvGrpSpPr/>
        <p:nvPr/>
      </p:nvGrpSpPr>
      <p:grpSpPr>
        <a:xfrm>
          <a:off x="0" y="0"/>
          <a:ext cx="0" cy="0"/>
          <a:chOff x="0" y="0"/>
          <a:chExt cx="0" cy="0"/>
        </a:xfrm>
      </p:grpSpPr>
      <p:sp>
        <p:nvSpPr>
          <p:cNvPr id="161" name="Google Shape;16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162" name="Google Shape;162;p42"/>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LAYER 1  /  Humans talk to software</a:t>
            </a:r>
            <a:endParaRPr b="0" i="0" sz="1400" u="none" cap="none" strike="noStrike">
              <a:solidFill>
                <a:srgbClr val="000000"/>
              </a:solidFill>
              <a:latin typeface="Arial"/>
              <a:ea typeface="Arial"/>
              <a:cs typeface="Arial"/>
              <a:sym typeface="Arial"/>
            </a:endParaRPr>
          </a:p>
        </p:txBody>
      </p:sp>
      <p:sp>
        <p:nvSpPr>
          <p:cNvPr id="163" name="Google Shape;163;p42"/>
          <p:cNvSpPr/>
          <p:nvPr/>
        </p:nvSpPr>
        <p:spPr>
          <a:xfrm>
            <a:off x="777240" y="2057400"/>
            <a:ext cx="3063240" cy="1892807"/>
          </a:xfrm>
          <a:prstGeom prst="roundRect">
            <a:avLst>
              <a:gd fmla="val 16667" name="adj"/>
            </a:avLst>
          </a:prstGeom>
          <a:solidFill>
            <a:srgbClr val="121721"/>
          </a:solidFill>
          <a:ln cap="flat" cmpd="sng" w="12700">
            <a:solidFill>
              <a:srgbClr val="252B3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42"/>
          <p:cNvSpPr/>
          <p:nvPr/>
        </p:nvSpPr>
        <p:spPr>
          <a:xfrm>
            <a:off x="978408" y="2295144"/>
            <a:ext cx="91440" cy="256032"/>
          </a:xfrm>
          <a:prstGeom prst="rect">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42"/>
          <p:cNvSpPr txBox="1"/>
          <p:nvPr/>
        </p:nvSpPr>
        <p:spPr>
          <a:xfrm>
            <a:off x="1602857" y="2258568"/>
            <a:ext cx="2469000" cy="2802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C5A0F8"/>
                </a:solidFill>
                <a:latin typeface="Arial"/>
                <a:ea typeface="Arial"/>
                <a:cs typeface="Arial"/>
                <a:sym typeface="Arial"/>
              </a:rPr>
              <a:t>INTENT</a:t>
            </a:r>
            <a:endParaRPr b="0" i="0" sz="1400" u="none" cap="none" strike="noStrike">
              <a:solidFill>
                <a:srgbClr val="000000"/>
              </a:solidFill>
              <a:latin typeface="Arial"/>
              <a:ea typeface="Arial"/>
              <a:cs typeface="Arial"/>
              <a:sym typeface="Arial"/>
            </a:endParaRPr>
          </a:p>
        </p:txBody>
      </p:sp>
      <p:sp>
        <p:nvSpPr>
          <p:cNvPr id="166" name="Google Shape;166;p42"/>
          <p:cNvSpPr txBox="1"/>
          <p:nvPr/>
        </p:nvSpPr>
        <p:spPr>
          <a:xfrm>
            <a:off x="1097280" y="2907792"/>
            <a:ext cx="2423160" cy="85953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F5F3EE"/>
                </a:solidFill>
                <a:latin typeface="Arial"/>
                <a:ea typeface="Arial"/>
                <a:cs typeface="Arial"/>
                <a:sym typeface="Arial"/>
              </a:rPr>
              <a:t>"I want a result."</a:t>
            </a:r>
            <a:endParaRPr b="0" i="0" sz="1400" u="none" cap="none" strike="noStrike">
              <a:solidFill>
                <a:srgbClr val="000000"/>
              </a:solidFill>
              <a:latin typeface="Arial"/>
              <a:ea typeface="Arial"/>
              <a:cs typeface="Arial"/>
              <a:sym typeface="Arial"/>
            </a:endParaRPr>
          </a:p>
        </p:txBody>
      </p:sp>
      <p:sp>
        <p:nvSpPr>
          <p:cNvPr id="167" name="Google Shape;167;p42"/>
          <p:cNvSpPr/>
          <p:nvPr/>
        </p:nvSpPr>
        <p:spPr>
          <a:xfrm>
            <a:off x="4812925" y="2081874"/>
            <a:ext cx="2211000" cy="1971600"/>
          </a:xfrm>
          <a:prstGeom prst="roundRect">
            <a:avLst>
              <a:gd fmla="val 16667" name="adj"/>
            </a:avLst>
          </a:prstGeom>
          <a:solidFill>
            <a:srgbClr val="121721"/>
          </a:solidFill>
          <a:ln cap="flat" cmpd="sng" w="12700">
            <a:solidFill>
              <a:srgbClr val="252B3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42"/>
          <p:cNvSpPr/>
          <p:nvPr/>
        </p:nvSpPr>
        <p:spPr>
          <a:xfrm>
            <a:off x="4773168" y="2295144"/>
            <a:ext cx="91440" cy="256032"/>
          </a:xfrm>
          <a:prstGeom prst="rect">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42"/>
          <p:cNvSpPr txBox="1"/>
          <p:nvPr/>
        </p:nvSpPr>
        <p:spPr>
          <a:xfrm>
            <a:off x="5245343" y="2258568"/>
            <a:ext cx="2469000" cy="2802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6FD3E7"/>
                </a:solidFill>
                <a:latin typeface="Arial"/>
                <a:ea typeface="Arial"/>
                <a:cs typeface="Arial"/>
                <a:sym typeface="Arial"/>
              </a:rPr>
              <a:t>INTERFACE</a:t>
            </a:r>
            <a:endParaRPr b="0" i="0" sz="1400" u="none" cap="none" strike="noStrike">
              <a:solidFill>
                <a:srgbClr val="000000"/>
              </a:solidFill>
              <a:latin typeface="Arial"/>
              <a:ea typeface="Arial"/>
              <a:cs typeface="Arial"/>
              <a:sym typeface="Arial"/>
            </a:endParaRPr>
          </a:p>
        </p:txBody>
      </p:sp>
      <p:sp>
        <p:nvSpPr>
          <p:cNvPr id="170" name="Google Shape;170;p42"/>
          <p:cNvSpPr txBox="1"/>
          <p:nvPr/>
        </p:nvSpPr>
        <p:spPr>
          <a:xfrm>
            <a:off x="5523377" y="2765480"/>
            <a:ext cx="2423100" cy="10344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F5F3EE"/>
                </a:solidFill>
                <a:latin typeface="Arial"/>
                <a:ea typeface="Arial"/>
                <a:cs typeface="Arial"/>
                <a:sym typeface="Arial"/>
              </a:rPr>
              <a:t>Click </a:t>
            </a:r>
            <a:endParaRPr b="0" i="0" sz="2200" u="none" cap="none" strike="noStrike">
              <a:solidFill>
                <a:srgbClr val="F5F3EE"/>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F5F3EE"/>
                </a:solidFill>
                <a:latin typeface="Arial"/>
                <a:ea typeface="Arial"/>
                <a:cs typeface="Arial"/>
                <a:sym typeface="Arial"/>
              </a:rPr>
              <a:t>Type</a:t>
            </a:r>
            <a:endParaRPr b="0" i="0" sz="2200" u="none" cap="none" strike="noStrike">
              <a:solidFill>
                <a:srgbClr val="F5F3EE"/>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F5F3EE"/>
                </a:solidFill>
                <a:latin typeface="Arial"/>
                <a:ea typeface="Arial"/>
                <a:cs typeface="Arial"/>
                <a:sym typeface="Arial"/>
              </a:rPr>
              <a:t>API</a:t>
            </a:r>
            <a:endParaRPr b="0" i="0" sz="1400" u="none" cap="none" strike="noStrike">
              <a:solidFill>
                <a:srgbClr val="000000"/>
              </a:solidFill>
              <a:latin typeface="Arial"/>
              <a:ea typeface="Arial"/>
              <a:cs typeface="Arial"/>
              <a:sym typeface="Arial"/>
            </a:endParaRPr>
          </a:p>
        </p:txBody>
      </p:sp>
      <p:sp>
        <p:nvSpPr>
          <p:cNvPr id="171" name="Google Shape;171;p42"/>
          <p:cNvSpPr/>
          <p:nvPr/>
        </p:nvSpPr>
        <p:spPr>
          <a:xfrm>
            <a:off x="8366760" y="2057400"/>
            <a:ext cx="3063240" cy="1892807"/>
          </a:xfrm>
          <a:prstGeom prst="roundRect">
            <a:avLst>
              <a:gd fmla="val 16667" name="adj"/>
            </a:avLst>
          </a:prstGeom>
          <a:solidFill>
            <a:srgbClr val="121721"/>
          </a:solidFill>
          <a:ln cap="flat" cmpd="sng" w="12700">
            <a:solidFill>
              <a:srgbClr val="252B3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42"/>
          <p:cNvSpPr/>
          <p:nvPr/>
        </p:nvSpPr>
        <p:spPr>
          <a:xfrm>
            <a:off x="8567928" y="2295144"/>
            <a:ext cx="91440" cy="256032"/>
          </a:xfrm>
          <a:prstGeom prst="rect">
            <a:avLst/>
          </a:prstGeom>
          <a:solidFill>
            <a:srgbClr val="E8A33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42"/>
          <p:cNvSpPr txBox="1"/>
          <p:nvPr/>
        </p:nvSpPr>
        <p:spPr>
          <a:xfrm>
            <a:off x="8887978" y="2258568"/>
            <a:ext cx="2469000" cy="2802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E8A33D"/>
                </a:solidFill>
                <a:latin typeface="Arial"/>
                <a:ea typeface="Arial"/>
                <a:cs typeface="Arial"/>
                <a:sym typeface="Arial"/>
              </a:rPr>
              <a:t>EXECUTION</a:t>
            </a:r>
            <a:endParaRPr b="0" i="0" sz="1400" u="none" cap="none" strike="noStrike">
              <a:solidFill>
                <a:srgbClr val="000000"/>
              </a:solidFill>
              <a:latin typeface="Arial"/>
              <a:ea typeface="Arial"/>
              <a:cs typeface="Arial"/>
              <a:sym typeface="Arial"/>
            </a:endParaRPr>
          </a:p>
        </p:txBody>
      </p:sp>
      <p:sp>
        <p:nvSpPr>
          <p:cNvPr id="174" name="Google Shape;174;p42"/>
          <p:cNvSpPr txBox="1"/>
          <p:nvPr/>
        </p:nvSpPr>
        <p:spPr>
          <a:xfrm>
            <a:off x="8686800" y="2907792"/>
            <a:ext cx="2423160" cy="85953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F5F3EE"/>
                </a:solidFill>
                <a:latin typeface="Arial"/>
                <a:ea typeface="Arial"/>
                <a:cs typeface="Arial"/>
                <a:sym typeface="Arial"/>
              </a:rPr>
              <a:t>Run explicit logic</a:t>
            </a:r>
            <a:endParaRPr b="0" i="0" sz="1400" u="none" cap="none" strike="noStrike">
              <a:solidFill>
                <a:srgbClr val="000000"/>
              </a:solidFill>
              <a:latin typeface="Arial"/>
              <a:ea typeface="Arial"/>
              <a:cs typeface="Arial"/>
              <a:sym typeface="Arial"/>
            </a:endParaRPr>
          </a:p>
        </p:txBody>
      </p:sp>
      <p:cxnSp>
        <p:nvCxnSpPr>
          <p:cNvPr id="175" name="Google Shape;175;p42"/>
          <p:cNvCxnSpPr/>
          <p:nvPr/>
        </p:nvCxnSpPr>
        <p:spPr>
          <a:xfrm>
            <a:off x="3858768" y="2971800"/>
            <a:ext cx="924300" cy="17700"/>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176" name="Google Shape;176;p42"/>
          <p:cNvCxnSpPr/>
          <p:nvPr/>
        </p:nvCxnSpPr>
        <p:spPr>
          <a:xfrm flipH="1" rot="10800000">
            <a:off x="4366198" y="2971800"/>
            <a:ext cx="123506" cy="59659"/>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177" name="Google Shape;177;p42"/>
          <p:cNvCxnSpPr/>
          <p:nvPr/>
        </p:nvCxnSpPr>
        <p:spPr>
          <a:xfrm>
            <a:off x="4366198" y="2912140"/>
            <a:ext cx="123506" cy="59660"/>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178" name="Google Shape;178;p42"/>
          <p:cNvCxnSpPr/>
          <p:nvPr/>
        </p:nvCxnSpPr>
        <p:spPr>
          <a:xfrm flipH="1" rot="10800000">
            <a:off x="7039325" y="2971725"/>
            <a:ext cx="1245000" cy="306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79" name="Google Shape;179;p42"/>
          <p:cNvCxnSpPr/>
          <p:nvPr/>
        </p:nvCxnSpPr>
        <p:spPr>
          <a:xfrm flipH="1" rot="10800000">
            <a:off x="8160958" y="2971800"/>
            <a:ext cx="123506" cy="59659"/>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80" name="Google Shape;180;p42"/>
          <p:cNvCxnSpPr/>
          <p:nvPr/>
        </p:nvCxnSpPr>
        <p:spPr>
          <a:xfrm>
            <a:off x="8160958" y="2912140"/>
            <a:ext cx="123506" cy="5966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181" name="Google Shape;181;p42"/>
          <p:cNvSpPr txBox="1"/>
          <p:nvPr/>
        </p:nvSpPr>
        <p:spPr>
          <a:xfrm>
            <a:off x="841248" y="4983480"/>
            <a:ext cx="10515600" cy="685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5F3EE"/>
                </a:solidFill>
                <a:latin typeface="Arial"/>
                <a:ea typeface="Arial"/>
                <a:cs typeface="Arial"/>
                <a:sym typeface="Arial"/>
              </a:rPr>
              <a:t>Human intent  →  software behavior  →  human observes the outcome</a:t>
            </a:r>
            <a:endParaRPr b="0" i="0" sz="1400" u="none" cap="none" strike="noStrike">
              <a:solidFill>
                <a:srgbClr val="000000"/>
              </a:solidFill>
              <a:latin typeface="Arial"/>
              <a:ea typeface="Arial"/>
              <a:cs typeface="Arial"/>
              <a:sym typeface="Arial"/>
            </a:endParaRPr>
          </a:p>
        </p:txBody>
      </p:sp>
      <p:sp>
        <p:nvSpPr>
          <p:cNvPr id="182" name="Google Shape;182;p42"/>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183" name="Google Shape;183;p42"/>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87" name="Shape 187"/>
        <p:cNvGrpSpPr/>
        <p:nvPr/>
      </p:nvGrpSpPr>
      <p:grpSpPr>
        <a:xfrm>
          <a:off x="0" y="0"/>
          <a:ext cx="0" cy="0"/>
          <a:chOff x="0" y="0"/>
          <a:chExt cx="0" cy="0"/>
        </a:xfrm>
      </p:grpSpPr>
      <p:sp>
        <p:nvSpPr>
          <p:cNvPr id="188" name="Google Shape;188;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189" name="Google Shape;189;p43"/>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LAYER 2  /  Software talks to software</a:t>
            </a:r>
            <a:endParaRPr b="0" i="0" sz="1400" u="none" cap="none" strike="noStrike">
              <a:solidFill>
                <a:srgbClr val="000000"/>
              </a:solidFill>
              <a:latin typeface="Arial"/>
              <a:ea typeface="Arial"/>
              <a:cs typeface="Arial"/>
              <a:sym typeface="Arial"/>
            </a:endParaRPr>
          </a:p>
        </p:txBody>
      </p:sp>
      <p:sp>
        <p:nvSpPr>
          <p:cNvPr id="190" name="Google Shape;190;p43"/>
          <p:cNvSpPr/>
          <p:nvPr/>
        </p:nvSpPr>
        <p:spPr>
          <a:xfrm>
            <a:off x="822960" y="2084831"/>
            <a:ext cx="3145536" cy="2057400"/>
          </a:xfrm>
          <a:prstGeom prst="roundRect">
            <a:avLst>
              <a:gd fmla="val 16667" name="adj"/>
            </a:avLst>
          </a:prstGeom>
          <a:solidFill>
            <a:srgbClr val="121721"/>
          </a:solidFill>
          <a:ln cap="flat" cmpd="sng" w="12700">
            <a:solidFill>
              <a:srgbClr val="28303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43"/>
          <p:cNvSpPr txBox="1"/>
          <p:nvPr/>
        </p:nvSpPr>
        <p:spPr>
          <a:xfrm>
            <a:off x="1042416" y="2404872"/>
            <a:ext cx="2743200" cy="43891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6FD3E7"/>
                </a:solidFill>
                <a:latin typeface="Arial"/>
                <a:ea typeface="Arial"/>
                <a:cs typeface="Arial"/>
                <a:sym typeface="Arial"/>
              </a:rPr>
              <a:t>PRODUCER</a:t>
            </a:r>
            <a:endParaRPr b="0" i="0" sz="1400" u="none" cap="none" strike="noStrike">
              <a:solidFill>
                <a:srgbClr val="000000"/>
              </a:solidFill>
              <a:latin typeface="Arial"/>
              <a:ea typeface="Arial"/>
              <a:cs typeface="Arial"/>
              <a:sym typeface="Arial"/>
            </a:endParaRPr>
          </a:p>
        </p:txBody>
      </p:sp>
      <p:sp>
        <p:nvSpPr>
          <p:cNvPr id="192" name="Google Shape;192;p43"/>
          <p:cNvSpPr txBox="1"/>
          <p:nvPr/>
        </p:nvSpPr>
        <p:spPr>
          <a:xfrm>
            <a:off x="1042416" y="3090672"/>
            <a:ext cx="2743200" cy="54864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F5F3EE"/>
                </a:solidFill>
                <a:latin typeface="Arial"/>
                <a:ea typeface="Arial"/>
                <a:cs typeface="Arial"/>
                <a:sym typeface="Arial"/>
              </a:rPr>
              <a:t>Emits facts</a:t>
            </a:r>
            <a:endParaRPr b="0" i="0" sz="1400" u="none" cap="none" strike="noStrike">
              <a:solidFill>
                <a:srgbClr val="000000"/>
              </a:solidFill>
              <a:latin typeface="Arial"/>
              <a:ea typeface="Arial"/>
              <a:cs typeface="Arial"/>
              <a:sym typeface="Arial"/>
            </a:endParaRPr>
          </a:p>
        </p:txBody>
      </p:sp>
      <p:sp>
        <p:nvSpPr>
          <p:cNvPr id="193" name="Google Shape;193;p43"/>
          <p:cNvSpPr/>
          <p:nvPr/>
        </p:nvSpPr>
        <p:spPr>
          <a:xfrm>
            <a:off x="4489704" y="2084831"/>
            <a:ext cx="3145536" cy="2057400"/>
          </a:xfrm>
          <a:prstGeom prst="roundRect">
            <a:avLst>
              <a:gd fmla="val 16667" name="adj"/>
            </a:avLst>
          </a:prstGeom>
          <a:solidFill>
            <a:srgbClr val="121721"/>
          </a:solidFill>
          <a:ln cap="flat" cmpd="sng" w="12700">
            <a:solidFill>
              <a:srgbClr val="28303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43"/>
          <p:cNvSpPr txBox="1"/>
          <p:nvPr/>
        </p:nvSpPr>
        <p:spPr>
          <a:xfrm>
            <a:off x="4709160" y="2404872"/>
            <a:ext cx="2743200" cy="43891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E8A33D"/>
                </a:solidFill>
                <a:latin typeface="Arial"/>
                <a:ea typeface="Arial"/>
                <a:cs typeface="Arial"/>
                <a:sym typeface="Arial"/>
              </a:rPr>
              <a:t>BROKER</a:t>
            </a:r>
            <a:endParaRPr b="0" i="0" sz="1400" u="none" cap="none" strike="noStrike">
              <a:solidFill>
                <a:srgbClr val="000000"/>
              </a:solidFill>
              <a:latin typeface="Arial"/>
              <a:ea typeface="Arial"/>
              <a:cs typeface="Arial"/>
              <a:sym typeface="Arial"/>
            </a:endParaRPr>
          </a:p>
        </p:txBody>
      </p:sp>
      <p:sp>
        <p:nvSpPr>
          <p:cNvPr id="195" name="Google Shape;195;p43"/>
          <p:cNvSpPr txBox="1"/>
          <p:nvPr/>
        </p:nvSpPr>
        <p:spPr>
          <a:xfrm>
            <a:off x="4709160" y="3090672"/>
            <a:ext cx="2743200" cy="54864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F5F3EE"/>
                </a:solidFill>
                <a:latin typeface="Arial"/>
                <a:ea typeface="Arial"/>
                <a:cs typeface="Arial"/>
                <a:sym typeface="Arial"/>
              </a:rPr>
              <a:t>Routes / stores</a:t>
            </a:r>
            <a:endParaRPr b="0" i="0" sz="1400" u="none" cap="none" strike="noStrike">
              <a:solidFill>
                <a:srgbClr val="000000"/>
              </a:solidFill>
              <a:latin typeface="Arial"/>
              <a:ea typeface="Arial"/>
              <a:cs typeface="Arial"/>
              <a:sym typeface="Arial"/>
            </a:endParaRPr>
          </a:p>
        </p:txBody>
      </p:sp>
      <p:sp>
        <p:nvSpPr>
          <p:cNvPr id="196" name="Google Shape;196;p43"/>
          <p:cNvSpPr/>
          <p:nvPr/>
        </p:nvSpPr>
        <p:spPr>
          <a:xfrm>
            <a:off x="8156448" y="2084831"/>
            <a:ext cx="3145536" cy="2057400"/>
          </a:xfrm>
          <a:prstGeom prst="roundRect">
            <a:avLst>
              <a:gd fmla="val 16667" name="adj"/>
            </a:avLst>
          </a:prstGeom>
          <a:solidFill>
            <a:srgbClr val="121721"/>
          </a:solidFill>
          <a:ln cap="flat" cmpd="sng" w="12700">
            <a:solidFill>
              <a:srgbClr val="28303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3"/>
          <p:cNvSpPr txBox="1"/>
          <p:nvPr/>
        </p:nvSpPr>
        <p:spPr>
          <a:xfrm>
            <a:off x="8375904" y="2404872"/>
            <a:ext cx="2743200" cy="43891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6FD3E7"/>
                </a:solidFill>
                <a:latin typeface="Arial"/>
                <a:ea typeface="Arial"/>
                <a:cs typeface="Arial"/>
                <a:sym typeface="Arial"/>
              </a:rPr>
              <a:t>CONSUMER</a:t>
            </a:r>
            <a:endParaRPr b="0" i="0" sz="1400" u="none" cap="none" strike="noStrike">
              <a:solidFill>
                <a:srgbClr val="000000"/>
              </a:solidFill>
              <a:latin typeface="Arial"/>
              <a:ea typeface="Arial"/>
              <a:cs typeface="Arial"/>
              <a:sym typeface="Arial"/>
            </a:endParaRPr>
          </a:p>
        </p:txBody>
      </p:sp>
      <p:sp>
        <p:nvSpPr>
          <p:cNvPr id="198" name="Google Shape;198;p43"/>
          <p:cNvSpPr txBox="1"/>
          <p:nvPr/>
        </p:nvSpPr>
        <p:spPr>
          <a:xfrm>
            <a:off x="8375904" y="3090672"/>
            <a:ext cx="2743200" cy="54864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rgbClr val="F5F3EE"/>
                </a:solidFill>
                <a:latin typeface="Arial"/>
                <a:ea typeface="Arial"/>
                <a:cs typeface="Arial"/>
                <a:sym typeface="Arial"/>
              </a:rPr>
              <a:t>Acts on facts</a:t>
            </a:r>
            <a:endParaRPr b="0" i="0" sz="1400" u="none" cap="none" strike="noStrike">
              <a:solidFill>
                <a:srgbClr val="000000"/>
              </a:solidFill>
              <a:latin typeface="Arial"/>
              <a:ea typeface="Arial"/>
              <a:cs typeface="Arial"/>
              <a:sym typeface="Arial"/>
            </a:endParaRPr>
          </a:p>
        </p:txBody>
      </p:sp>
      <p:cxnSp>
        <p:nvCxnSpPr>
          <p:cNvPr id="199" name="Google Shape;199;p43"/>
          <p:cNvCxnSpPr/>
          <p:nvPr/>
        </p:nvCxnSpPr>
        <p:spPr>
          <a:xfrm>
            <a:off x="3986784" y="3090672"/>
            <a:ext cx="466344"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200" name="Google Shape;200;p43"/>
          <p:cNvCxnSpPr/>
          <p:nvPr/>
        </p:nvCxnSpPr>
        <p:spPr>
          <a:xfrm flipH="1" rot="10800000">
            <a:off x="4329622" y="3090672"/>
            <a:ext cx="123506" cy="59659"/>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201" name="Google Shape;201;p43"/>
          <p:cNvCxnSpPr/>
          <p:nvPr/>
        </p:nvCxnSpPr>
        <p:spPr>
          <a:xfrm>
            <a:off x="4329622" y="3031012"/>
            <a:ext cx="123506" cy="5966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202" name="Google Shape;202;p43"/>
          <p:cNvCxnSpPr/>
          <p:nvPr/>
        </p:nvCxnSpPr>
        <p:spPr>
          <a:xfrm>
            <a:off x="7653527" y="3090672"/>
            <a:ext cx="466345"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203" name="Google Shape;203;p43"/>
          <p:cNvCxnSpPr/>
          <p:nvPr/>
        </p:nvCxnSpPr>
        <p:spPr>
          <a:xfrm flipH="1" rot="10800000">
            <a:off x="7996366" y="3090672"/>
            <a:ext cx="123506" cy="59659"/>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204" name="Google Shape;204;p43"/>
          <p:cNvCxnSpPr/>
          <p:nvPr/>
        </p:nvCxnSpPr>
        <p:spPr>
          <a:xfrm>
            <a:off x="7996366" y="3031012"/>
            <a:ext cx="123506" cy="5966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205" name="Google Shape;205;p43"/>
          <p:cNvSpPr txBox="1"/>
          <p:nvPr/>
        </p:nvSpPr>
        <p:spPr>
          <a:xfrm>
            <a:off x="877824" y="4800600"/>
            <a:ext cx="10515600" cy="4572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5F3EE"/>
                </a:solidFill>
                <a:latin typeface="Arial"/>
                <a:ea typeface="Arial"/>
                <a:cs typeface="Arial"/>
                <a:sym typeface="Arial"/>
              </a:rPr>
              <a:t>Event streams  ·  Work queues  ·  Pub/sub  ·  RPC / APIs</a:t>
            </a:r>
            <a:endParaRPr b="0" i="0" sz="1400" u="none" cap="none" strike="noStrike">
              <a:solidFill>
                <a:srgbClr val="000000"/>
              </a:solidFill>
              <a:latin typeface="Arial"/>
              <a:ea typeface="Arial"/>
              <a:cs typeface="Arial"/>
              <a:sym typeface="Arial"/>
            </a:endParaRPr>
          </a:p>
        </p:txBody>
      </p:sp>
      <p:sp>
        <p:nvSpPr>
          <p:cNvPr id="206" name="Google Shape;206;p43"/>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
        <p:nvSpPr>
          <p:cNvPr id="207" name="Google Shape;207;p43"/>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211" name="Shape 211"/>
        <p:cNvGrpSpPr/>
        <p:nvPr/>
      </p:nvGrpSpPr>
      <p:grpSpPr>
        <a:xfrm>
          <a:off x="0" y="0"/>
          <a:ext cx="0" cy="0"/>
          <a:chOff x="0" y="0"/>
          <a:chExt cx="0" cy="0"/>
        </a:xfrm>
      </p:grpSpPr>
      <p:sp>
        <p:nvSpPr>
          <p:cNvPr id="212" name="Google Shape;212;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213" name="Google Shape;213;p44"/>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LAYER 3  /  Software starts talking to itself</a:t>
            </a:r>
            <a:endParaRPr b="0" i="0" sz="1400" u="none" cap="none" strike="noStrike">
              <a:solidFill>
                <a:srgbClr val="000000"/>
              </a:solidFill>
              <a:latin typeface="Arial"/>
              <a:ea typeface="Arial"/>
              <a:cs typeface="Arial"/>
              <a:sym typeface="Arial"/>
            </a:endParaRPr>
          </a:p>
        </p:txBody>
      </p:sp>
      <p:sp>
        <p:nvSpPr>
          <p:cNvPr id="214" name="Google Shape;214;p44"/>
          <p:cNvSpPr txBox="1"/>
          <p:nvPr/>
        </p:nvSpPr>
        <p:spPr>
          <a:xfrm>
            <a:off x="2746201" y="4604198"/>
            <a:ext cx="5940600" cy="2493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The code defines the boundaries. The agent chooses the path.</a:t>
            </a:r>
            <a:endParaRPr b="0" i="0" sz="1400" u="none" cap="none" strike="noStrike">
              <a:solidFill>
                <a:srgbClr val="000000"/>
              </a:solidFill>
              <a:latin typeface="Arial"/>
              <a:ea typeface="Arial"/>
              <a:cs typeface="Arial"/>
              <a:sym typeface="Arial"/>
            </a:endParaRPr>
          </a:p>
        </p:txBody>
      </p:sp>
      <p:grpSp>
        <p:nvGrpSpPr>
          <p:cNvPr id="215" name="Google Shape;215;p44"/>
          <p:cNvGrpSpPr/>
          <p:nvPr/>
        </p:nvGrpSpPr>
        <p:grpSpPr>
          <a:xfrm>
            <a:off x="481170" y="3339963"/>
            <a:ext cx="11229458" cy="640061"/>
            <a:chOff x="861439" y="3712453"/>
            <a:chExt cx="10250532" cy="594300"/>
          </a:xfrm>
        </p:grpSpPr>
        <p:sp>
          <p:nvSpPr>
            <p:cNvPr id="216" name="Google Shape;216;p44"/>
            <p:cNvSpPr/>
            <p:nvPr/>
          </p:nvSpPr>
          <p:spPr>
            <a:xfrm>
              <a:off x="861439" y="3712453"/>
              <a:ext cx="2331600" cy="594300"/>
            </a:xfrm>
            <a:prstGeom prst="roundRect">
              <a:avLst>
                <a:gd fmla="val 16667" name="adj"/>
              </a:avLst>
            </a:prstGeom>
            <a:solidFill>
              <a:srgbClr val="6FD3E7"/>
            </a:solidFill>
            <a:ln>
              <a:noFill/>
            </a:ln>
            <a:effectLst>
              <a:outerShdw blurRad="43081" rotWithShape="0" dir="5400000" dist="24772">
                <a:srgbClr val="000000">
                  <a:alpha val="34902"/>
                </a:srgbClr>
              </a:outerShdw>
            </a:effectLst>
          </p:spPr>
          <p:txBody>
            <a:bodyPr anchorCtr="0" anchor="ctr" bIns="49225" lIns="98475" spcFirstLastPara="1" rIns="98475" wrap="square" tIns="49225">
              <a:noAutofit/>
            </a:bodyPr>
            <a:lstStyle/>
            <a:p>
              <a:pPr indent="0" lvl="0" marL="0" marR="0" rtl="0" algn="ctr">
                <a:lnSpc>
                  <a:spcPct val="100000"/>
                </a:lnSpc>
                <a:spcBef>
                  <a:spcPts val="0"/>
                </a:spcBef>
                <a:spcAft>
                  <a:spcPts val="0"/>
                </a:spcAft>
                <a:buClr>
                  <a:srgbClr val="000000"/>
                </a:buClr>
                <a:buSzPts val="1508"/>
                <a:buFont typeface="Arial"/>
                <a:buNone/>
              </a:pPr>
              <a:r>
                <a:t/>
              </a:r>
              <a:endParaRPr b="0" i="0" sz="1508" u="none" cap="none" strike="noStrike">
                <a:solidFill>
                  <a:srgbClr val="000000"/>
                </a:solidFill>
                <a:latin typeface="Arial"/>
                <a:ea typeface="Arial"/>
                <a:cs typeface="Arial"/>
                <a:sym typeface="Arial"/>
              </a:endParaRPr>
            </a:p>
          </p:txBody>
        </p:sp>
        <p:sp>
          <p:nvSpPr>
            <p:cNvPr id="217" name="Google Shape;217;p44"/>
            <p:cNvSpPr txBox="1"/>
            <p:nvPr/>
          </p:nvSpPr>
          <p:spPr>
            <a:xfrm>
              <a:off x="934591" y="3822181"/>
              <a:ext cx="2185500" cy="249300"/>
            </a:xfrm>
            <a:prstGeom prst="rect">
              <a:avLst/>
            </a:prstGeom>
            <a:noFill/>
            <a:ln>
              <a:noFill/>
            </a:ln>
          </p:spPr>
          <p:txBody>
            <a:bodyPr anchorCtr="0" anchor="t" bIns="9825" lIns="0" spcFirstLastPara="1" rIns="0" wrap="square" tIns="9825">
              <a:spAutoFit/>
            </a:bodyPr>
            <a:lstStyle/>
            <a:p>
              <a:pPr indent="0" lvl="0" marL="0" marR="0" rtl="0" algn="ctr">
                <a:lnSpc>
                  <a:spcPct val="100000"/>
                </a:lnSpc>
                <a:spcBef>
                  <a:spcPts val="0"/>
                </a:spcBef>
                <a:spcAft>
                  <a:spcPts val="0"/>
                </a:spcAft>
                <a:buClr>
                  <a:srgbClr val="000000"/>
                </a:buClr>
                <a:buSzPts val="1616"/>
                <a:buFont typeface="Arial"/>
                <a:buNone/>
              </a:pPr>
              <a:r>
                <a:rPr b="1" i="0" lang="en-US" sz="1616" u="none" cap="none" strike="noStrike">
                  <a:solidFill>
                    <a:srgbClr val="0A0C12"/>
                  </a:solidFill>
                  <a:latin typeface="Arial"/>
                  <a:ea typeface="Arial"/>
                  <a:cs typeface="Arial"/>
                  <a:sym typeface="Arial"/>
                </a:rPr>
                <a:t>OBSERVE</a:t>
              </a:r>
              <a:endParaRPr b="0" i="0" sz="1508" u="none" cap="none" strike="noStrike">
                <a:solidFill>
                  <a:srgbClr val="000000"/>
                </a:solidFill>
                <a:latin typeface="Arial"/>
                <a:ea typeface="Arial"/>
                <a:cs typeface="Arial"/>
                <a:sym typeface="Arial"/>
              </a:endParaRPr>
            </a:p>
          </p:txBody>
        </p:sp>
        <p:sp>
          <p:nvSpPr>
            <p:cNvPr id="218" name="Google Shape;218;p44"/>
            <p:cNvSpPr/>
            <p:nvPr/>
          </p:nvSpPr>
          <p:spPr>
            <a:xfrm>
              <a:off x="3613783" y="3712453"/>
              <a:ext cx="2331600" cy="594300"/>
            </a:xfrm>
            <a:prstGeom prst="roundRect">
              <a:avLst>
                <a:gd fmla="val 16667" name="adj"/>
              </a:avLst>
            </a:prstGeom>
            <a:solidFill>
              <a:srgbClr val="E8A33D"/>
            </a:solidFill>
            <a:ln>
              <a:noFill/>
            </a:ln>
            <a:effectLst>
              <a:outerShdw blurRad="43081" rotWithShape="0" dir="5400000" dist="24772">
                <a:srgbClr val="000000">
                  <a:alpha val="34902"/>
                </a:srgbClr>
              </a:outerShdw>
            </a:effectLst>
          </p:spPr>
          <p:txBody>
            <a:bodyPr anchorCtr="0" anchor="ctr" bIns="49225" lIns="98475" spcFirstLastPara="1" rIns="98475" wrap="square" tIns="49225">
              <a:noAutofit/>
            </a:bodyPr>
            <a:lstStyle/>
            <a:p>
              <a:pPr indent="0" lvl="0" marL="0" marR="0" rtl="0" algn="ctr">
                <a:lnSpc>
                  <a:spcPct val="100000"/>
                </a:lnSpc>
                <a:spcBef>
                  <a:spcPts val="0"/>
                </a:spcBef>
                <a:spcAft>
                  <a:spcPts val="0"/>
                </a:spcAft>
                <a:buClr>
                  <a:srgbClr val="000000"/>
                </a:buClr>
                <a:buSzPts val="1508"/>
                <a:buFont typeface="Arial"/>
                <a:buNone/>
              </a:pPr>
              <a:r>
                <a:t/>
              </a:r>
              <a:endParaRPr b="0" i="0" sz="1508" u="none" cap="none" strike="noStrike">
                <a:solidFill>
                  <a:srgbClr val="000000"/>
                </a:solidFill>
                <a:latin typeface="Arial"/>
                <a:ea typeface="Arial"/>
                <a:cs typeface="Arial"/>
                <a:sym typeface="Arial"/>
              </a:endParaRPr>
            </a:p>
          </p:txBody>
        </p:sp>
        <p:sp>
          <p:nvSpPr>
            <p:cNvPr id="219" name="Google Shape;219;p44"/>
            <p:cNvSpPr txBox="1"/>
            <p:nvPr/>
          </p:nvSpPr>
          <p:spPr>
            <a:xfrm>
              <a:off x="3686935" y="3822181"/>
              <a:ext cx="2185500" cy="249300"/>
            </a:xfrm>
            <a:prstGeom prst="rect">
              <a:avLst/>
            </a:prstGeom>
            <a:noFill/>
            <a:ln>
              <a:noFill/>
            </a:ln>
          </p:spPr>
          <p:txBody>
            <a:bodyPr anchorCtr="0" anchor="t" bIns="9825" lIns="0" spcFirstLastPara="1" rIns="0" wrap="square" tIns="9825">
              <a:spAutoFit/>
            </a:bodyPr>
            <a:lstStyle/>
            <a:p>
              <a:pPr indent="0" lvl="0" marL="0" marR="0" rtl="0" algn="ctr">
                <a:lnSpc>
                  <a:spcPct val="100000"/>
                </a:lnSpc>
                <a:spcBef>
                  <a:spcPts val="0"/>
                </a:spcBef>
                <a:spcAft>
                  <a:spcPts val="0"/>
                </a:spcAft>
                <a:buClr>
                  <a:srgbClr val="000000"/>
                </a:buClr>
                <a:buSzPts val="1616"/>
                <a:buFont typeface="Arial"/>
                <a:buNone/>
              </a:pPr>
              <a:r>
                <a:rPr b="1" i="0" lang="en-US" sz="1616" u="none" cap="none" strike="noStrike">
                  <a:solidFill>
                    <a:srgbClr val="0A0C12"/>
                  </a:solidFill>
                  <a:latin typeface="Arial"/>
                  <a:ea typeface="Arial"/>
                  <a:cs typeface="Arial"/>
                  <a:sym typeface="Arial"/>
                </a:rPr>
                <a:t>DECIDE</a:t>
              </a:r>
              <a:endParaRPr b="0" i="0" sz="1508" u="none" cap="none" strike="noStrike">
                <a:solidFill>
                  <a:srgbClr val="000000"/>
                </a:solidFill>
                <a:latin typeface="Arial"/>
                <a:ea typeface="Arial"/>
                <a:cs typeface="Arial"/>
                <a:sym typeface="Arial"/>
              </a:endParaRPr>
            </a:p>
          </p:txBody>
        </p:sp>
        <p:sp>
          <p:nvSpPr>
            <p:cNvPr id="220" name="Google Shape;220;p44"/>
            <p:cNvSpPr/>
            <p:nvPr/>
          </p:nvSpPr>
          <p:spPr>
            <a:xfrm>
              <a:off x="6366127" y="3712453"/>
              <a:ext cx="2331600" cy="594300"/>
            </a:xfrm>
            <a:prstGeom prst="roundRect">
              <a:avLst>
                <a:gd fmla="val 16667" name="adj"/>
              </a:avLst>
            </a:prstGeom>
            <a:solidFill>
              <a:srgbClr val="C5A0F8"/>
            </a:solidFill>
            <a:ln>
              <a:noFill/>
            </a:ln>
            <a:effectLst>
              <a:outerShdw blurRad="43081" rotWithShape="0" dir="5400000" dist="24772">
                <a:srgbClr val="000000">
                  <a:alpha val="34902"/>
                </a:srgbClr>
              </a:outerShdw>
            </a:effectLst>
          </p:spPr>
          <p:txBody>
            <a:bodyPr anchorCtr="0" anchor="ctr" bIns="49225" lIns="98475" spcFirstLastPara="1" rIns="98475" wrap="square" tIns="49225">
              <a:noAutofit/>
            </a:bodyPr>
            <a:lstStyle/>
            <a:p>
              <a:pPr indent="0" lvl="0" marL="0" marR="0" rtl="0" algn="ctr">
                <a:lnSpc>
                  <a:spcPct val="100000"/>
                </a:lnSpc>
                <a:spcBef>
                  <a:spcPts val="0"/>
                </a:spcBef>
                <a:spcAft>
                  <a:spcPts val="0"/>
                </a:spcAft>
                <a:buClr>
                  <a:srgbClr val="000000"/>
                </a:buClr>
                <a:buSzPts val="1508"/>
                <a:buFont typeface="Arial"/>
                <a:buNone/>
              </a:pPr>
              <a:r>
                <a:t/>
              </a:r>
              <a:endParaRPr b="0" i="0" sz="1508" u="none" cap="none" strike="noStrike">
                <a:solidFill>
                  <a:srgbClr val="000000"/>
                </a:solidFill>
                <a:latin typeface="Arial"/>
                <a:ea typeface="Arial"/>
                <a:cs typeface="Arial"/>
                <a:sym typeface="Arial"/>
              </a:endParaRPr>
            </a:p>
          </p:txBody>
        </p:sp>
        <p:sp>
          <p:nvSpPr>
            <p:cNvPr id="221" name="Google Shape;221;p44"/>
            <p:cNvSpPr txBox="1"/>
            <p:nvPr/>
          </p:nvSpPr>
          <p:spPr>
            <a:xfrm>
              <a:off x="6439279" y="3822181"/>
              <a:ext cx="2185500" cy="249300"/>
            </a:xfrm>
            <a:prstGeom prst="rect">
              <a:avLst/>
            </a:prstGeom>
            <a:noFill/>
            <a:ln>
              <a:noFill/>
            </a:ln>
          </p:spPr>
          <p:txBody>
            <a:bodyPr anchorCtr="0" anchor="t" bIns="9825" lIns="0" spcFirstLastPara="1" rIns="0" wrap="square" tIns="9825">
              <a:spAutoFit/>
            </a:bodyPr>
            <a:lstStyle/>
            <a:p>
              <a:pPr indent="0" lvl="0" marL="0" marR="0" rtl="0" algn="ctr">
                <a:lnSpc>
                  <a:spcPct val="100000"/>
                </a:lnSpc>
                <a:spcBef>
                  <a:spcPts val="0"/>
                </a:spcBef>
                <a:spcAft>
                  <a:spcPts val="0"/>
                </a:spcAft>
                <a:buClr>
                  <a:srgbClr val="000000"/>
                </a:buClr>
                <a:buSzPts val="1616"/>
                <a:buFont typeface="Arial"/>
                <a:buNone/>
              </a:pPr>
              <a:r>
                <a:rPr b="1" i="0" lang="en-US" sz="1616" u="none" cap="none" strike="noStrike">
                  <a:solidFill>
                    <a:srgbClr val="0A0C12"/>
                  </a:solidFill>
                  <a:latin typeface="Arial"/>
                  <a:ea typeface="Arial"/>
                  <a:cs typeface="Arial"/>
                  <a:sym typeface="Arial"/>
                </a:rPr>
                <a:t>DELEGATE</a:t>
              </a:r>
              <a:endParaRPr b="0" i="0" sz="1508" u="none" cap="none" strike="noStrike">
                <a:solidFill>
                  <a:srgbClr val="000000"/>
                </a:solidFill>
                <a:latin typeface="Arial"/>
                <a:ea typeface="Arial"/>
                <a:cs typeface="Arial"/>
                <a:sym typeface="Arial"/>
              </a:endParaRPr>
            </a:p>
          </p:txBody>
        </p:sp>
        <p:sp>
          <p:nvSpPr>
            <p:cNvPr id="222" name="Google Shape;222;p44"/>
            <p:cNvSpPr/>
            <p:nvPr/>
          </p:nvSpPr>
          <p:spPr>
            <a:xfrm>
              <a:off x="9118471" y="3712453"/>
              <a:ext cx="1993500" cy="594300"/>
            </a:xfrm>
            <a:prstGeom prst="roundRect">
              <a:avLst>
                <a:gd fmla="val 16667" name="adj"/>
              </a:avLst>
            </a:prstGeom>
            <a:solidFill>
              <a:srgbClr val="83D4A0"/>
            </a:solidFill>
            <a:ln>
              <a:noFill/>
            </a:ln>
            <a:effectLst>
              <a:outerShdw blurRad="43081" rotWithShape="0" dir="5400000" dist="24772">
                <a:srgbClr val="000000">
                  <a:alpha val="34902"/>
                </a:srgbClr>
              </a:outerShdw>
            </a:effectLst>
          </p:spPr>
          <p:txBody>
            <a:bodyPr anchorCtr="0" anchor="ctr" bIns="49225" lIns="98475" spcFirstLastPara="1" rIns="98475" wrap="square" tIns="49225">
              <a:noAutofit/>
            </a:bodyPr>
            <a:lstStyle/>
            <a:p>
              <a:pPr indent="0" lvl="0" marL="0" marR="0" rtl="0" algn="ctr">
                <a:lnSpc>
                  <a:spcPct val="100000"/>
                </a:lnSpc>
                <a:spcBef>
                  <a:spcPts val="0"/>
                </a:spcBef>
                <a:spcAft>
                  <a:spcPts val="0"/>
                </a:spcAft>
                <a:buClr>
                  <a:srgbClr val="000000"/>
                </a:buClr>
                <a:buSzPts val="1508"/>
                <a:buFont typeface="Arial"/>
                <a:buNone/>
              </a:pPr>
              <a:r>
                <a:t/>
              </a:r>
              <a:endParaRPr b="0" i="0" sz="1508" u="none" cap="none" strike="noStrike">
                <a:solidFill>
                  <a:srgbClr val="000000"/>
                </a:solidFill>
                <a:latin typeface="Arial"/>
                <a:ea typeface="Arial"/>
                <a:cs typeface="Arial"/>
                <a:sym typeface="Arial"/>
              </a:endParaRPr>
            </a:p>
          </p:txBody>
        </p:sp>
        <p:sp>
          <p:nvSpPr>
            <p:cNvPr id="223" name="Google Shape;223;p44"/>
            <p:cNvSpPr txBox="1"/>
            <p:nvPr/>
          </p:nvSpPr>
          <p:spPr>
            <a:xfrm>
              <a:off x="9191623" y="3822181"/>
              <a:ext cx="1847100" cy="249300"/>
            </a:xfrm>
            <a:prstGeom prst="rect">
              <a:avLst/>
            </a:prstGeom>
            <a:noFill/>
            <a:ln>
              <a:noFill/>
            </a:ln>
          </p:spPr>
          <p:txBody>
            <a:bodyPr anchorCtr="0" anchor="t" bIns="9825" lIns="0" spcFirstLastPara="1" rIns="0" wrap="square" tIns="9825">
              <a:spAutoFit/>
            </a:bodyPr>
            <a:lstStyle/>
            <a:p>
              <a:pPr indent="0" lvl="0" marL="0" marR="0" rtl="0" algn="ctr">
                <a:lnSpc>
                  <a:spcPct val="100000"/>
                </a:lnSpc>
                <a:spcBef>
                  <a:spcPts val="0"/>
                </a:spcBef>
                <a:spcAft>
                  <a:spcPts val="0"/>
                </a:spcAft>
                <a:buClr>
                  <a:srgbClr val="000000"/>
                </a:buClr>
                <a:buSzPts val="1616"/>
                <a:buFont typeface="Arial"/>
                <a:buNone/>
              </a:pPr>
              <a:r>
                <a:rPr b="1" i="0" lang="en-US" sz="1616" u="none" cap="none" strike="noStrike">
                  <a:solidFill>
                    <a:srgbClr val="0A0C12"/>
                  </a:solidFill>
                  <a:latin typeface="Arial"/>
                  <a:ea typeface="Arial"/>
                  <a:cs typeface="Arial"/>
                  <a:sym typeface="Arial"/>
                </a:rPr>
                <a:t>ACT</a:t>
              </a:r>
              <a:endParaRPr b="0" i="0" sz="1508" u="none" cap="none" strike="noStrike">
                <a:solidFill>
                  <a:srgbClr val="000000"/>
                </a:solidFill>
                <a:latin typeface="Arial"/>
                <a:ea typeface="Arial"/>
                <a:cs typeface="Arial"/>
                <a:sym typeface="Arial"/>
              </a:endParaRPr>
            </a:p>
          </p:txBody>
        </p:sp>
        <p:cxnSp>
          <p:nvCxnSpPr>
            <p:cNvPr id="224" name="Google Shape;224;p44"/>
            <p:cNvCxnSpPr/>
            <p:nvPr/>
          </p:nvCxnSpPr>
          <p:spPr>
            <a:xfrm>
              <a:off x="3220591" y="4023349"/>
              <a:ext cx="338400" cy="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cxnSp>
          <p:nvCxnSpPr>
            <p:cNvPr id="225" name="Google Shape;225;p44"/>
            <p:cNvCxnSpPr/>
            <p:nvPr/>
          </p:nvCxnSpPr>
          <p:spPr>
            <a:xfrm flipH="1" rot="10800000">
              <a:off x="3435413" y="4023308"/>
              <a:ext cx="123600" cy="5970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cxnSp>
          <p:nvCxnSpPr>
            <p:cNvPr id="226" name="Google Shape;226;p44"/>
            <p:cNvCxnSpPr/>
            <p:nvPr/>
          </p:nvCxnSpPr>
          <p:spPr>
            <a:xfrm>
              <a:off x="3435413" y="3963689"/>
              <a:ext cx="123600" cy="5970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cxnSp>
          <p:nvCxnSpPr>
            <p:cNvPr id="227" name="Google Shape;227;p44"/>
            <p:cNvCxnSpPr/>
            <p:nvPr/>
          </p:nvCxnSpPr>
          <p:spPr>
            <a:xfrm>
              <a:off x="5972935" y="4023349"/>
              <a:ext cx="338400" cy="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cxnSp>
          <p:nvCxnSpPr>
            <p:cNvPr id="228" name="Google Shape;228;p44"/>
            <p:cNvCxnSpPr/>
            <p:nvPr/>
          </p:nvCxnSpPr>
          <p:spPr>
            <a:xfrm flipH="1" rot="10800000">
              <a:off x="6187757" y="4023308"/>
              <a:ext cx="123600" cy="5970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cxnSp>
          <p:nvCxnSpPr>
            <p:cNvPr id="229" name="Google Shape;229;p44"/>
            <p:cNvCxnSpPr/>
            <p:nvPr/>
          </p:nvCxnSpPr>
          <p:spPr>
            <a:xfrm>
              <a:off x="6187757" y="3963689"/>
              <a:ext cx="123600" cy="5970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cxnSp>
          <p:nvCxnSpPr>
            <p:cNvPr id="230" name="Google Shape;230;p44"/>
            <p:cNvCxnSpPr/>
            <p:nvPr/>
          </p:nvCxnSpPr>
          <p:spPr>
            <a:xfrm>
              <a:off x="8725279" y="4023349"/>
              <a:ext cx="338400" cy="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cxnSp>
          <p:nvCxnSpPr>
            <p:cNvPr id="231" name="Google Shape;231;p44"/>
            <p:cNvCxnSpPr/>
            <p:nvPr/>
          </p:nvCxnSpPr>
          <p:spPr>
            <a:xfrm flipH="1" rot="10800000">
              <a:off x="8940101" y="4023308"/>
              <a:ext cx="123600" cy="5970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cxnSp>
          <p:nvCxnSpPr>
            <p:cNvPr id="232" name="Google Shape;232;p44"/>
            <p:cNvCxnSpPr/>
            <p:nvPr/>
          </p:nvCxnSpPr>
          <p:spPr>
            <a:xfrm>
              <a:off x="8940101" y="3963689"/>
              <a:ext cx="123600" cy="59700"/>
            </a:xfrm>
            <a:prstGeom prst="straightConnector1">
              <a:avLst/>
            </a:prstGeom>
            <a:noFill/>
            <a:ln cap="flat" cmpd="sng" w="41025">
              <a:solidFill>
                <a:srgbClr val="6FD3E7"/>
              </a:solidFill>
              <a:prstDash val="solid"/>
              <a:round/>
              <a:headEnd len="sm" w="sm" type="none"/>
              <a:tailEnd len="sm" w="sm" type="none"/>
            </a:ln>
            <a:effectLst>
              <a:outerShdw blurRad="43081" rotWithShape="0" dir="5400000" dist="21540">
                <a:srgbClr val="000000">
                  <a:alpha val="38039"/>
                </a:srgbClr>
              </a:outerShdw>
            </a:effectLst>
          </p:spPr>
        </p:cxnSp>
      </p:grpSp>
      <p:sp>
        <p:nvSpPr>
          <p:cNvPr id="233" name="Google Shape;233;p44"/>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234" name="Google Shape;234;p44"/>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238" name="Shape 238"/>
        <p:cNvGrpSpPr/>
        <p:nvPr/>
      </p:nvGrpSpPr>
      <p:grpSpPr>
        <a:xfrm>
          <a:off x="0" y="0"/>
          <a:ext cx="0" cy="0"/>
          <a:chOff x="0" y="0"/>
          <a:chExt cx="0" cy="0"/>
        </a:xfrm>
      </p:grpSpPr>
      <p:sp>
        <p:nvSpPr>
          <p:cNvPr id="239" name="Google Shape;239;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240" name="Google Shape;240;p45"/>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THREE LAYERS.  ONE SYSTEM.</a:t>
            </a:r>
            <a:endParaRPr b="0" i="0" sz="1400" u="none" cap="none" strike="noStrike">
              <a:solidFill>
                <a:srgbClr val="000000"/>
              </a:solidFill>
              <a:latin typeface="Arial"/>
              <a:ea typeface="Arial"/>
              <a:cs typeface="Arial"/>
              <a:sym typeface="Arial"/>
            </a:endParaRPr>
          </a:p>
        </p:txBody>
      </p:sp>
      <p:sp>
        <p:nvSpPr>
          <p:cNvPr id="241" name="Google Shape;241;p45"/>
          <p:cNvSpPr txBox="1"/>
          <p:nvPr/>
        </p:nvSpPr>
        <p:spPr>
          <a:xfrm>
            <a:off x="758952" y="6126480"/>
            <a:ext cx="10698600" cy="4494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45"/>
          <p:cNvSpPr/>
          <p:nvPr/>
        </p:nvSpPr>
        <p:spPr>
          <a:xfrm>
            <a:off x="1115568" y="1856231"/>
            <a:ext cx="9966960" cy="1033271"/>
          </a:xfrm>
          <a:prstGeom prst="roundRect">
            <a:avLst>
              <a:gd fmla="val 16667" name="adj"/>
            </a:avLst>
          </a:prstGeom>
          <a:solidFill>
            <a:srgbClr val="121721"/>
          </a:solidFill>
          <a:ln cap="flat" cmpd="sng" w="2540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45"/>
          <p:cNvSpPr/>
          <p:nvPr/>
        </p:nvSpPr>
        <p:spPr>
          <a:xfrm>
            <a:off x="1307592" y="2057400"/>
            <a:ext cx="566928" cy="576072"/>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45"/>
          <p:cNvSpPr txBox="1"/>
          <p:nvPr/>
        </p:nvSpPr>
        <p:spPr>
          <a:xfrm>
            <a:off x="1353312" y="2167127"/>
            <a:ext cx="475488" cy="33832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245" name="Google Shape;245;p45"/>
          <p:cNvSpPr txBox="1"/>
          <p:nvPr/>
        </p:nvSpPr>
        <p:spPr>
          <a:xfrm>
            <a:off x="2048256" y="2011679"/>
            <a:ext cx="8229600" cy="34747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5F3EE"/>
                </a:solidFill>
                <a:latin typeface="Arial"/>
                <a:ea typeface="Arial"/>
                <a:cs typeface="Arial"/>
                <a:sym typeface="Arial"/>
              </a:rPr>
              <a:t>AGENT DECISIONS</a:t>
            </a:r>
            <a:endParaRPr b="0" i="0" sz="1400" u="none" cap="none" strike="noStrike">
              <a:solidFill>
                <a:srgbClr val="000000"/>
              </a:solidFill>
              <a:latin typeface="Arial"/>
              <a:ea typeface="Arial"/>
              <a:cs typeface="Arial"/>
              <a:sym typeface="Arial"/>
            </a:endParaRPr>
          </a:p>
        </p:txBody>
      </p:sp>
      <p:sp>
        <p:nvSpPr>
          <p:cNvPr id="246" name="Google Shape;246;p45"/>
          <p:cNvSpPr txBox="1"/>
          <p:nvPr/>
        </p:nvSpPr>
        <p:spPr>
          <a:xfrm>
            <a:off x="2048256" y="2423160"/>
            <a:ext cx="8229600" cy="33832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Goals · planning · delegation · tools</a:t>
            </a:r>
            <a:endParaRPr b="0" i="0" sz="1400" u="none" cap="none" strike="noStrike">
              <a:solidFill>
                <a:srgbClr val="000000"/>
              </a:solidFill>
              <a:latin typeface="Arial"/>
              <a:ea typeface="Arial"/>
              <a:cs typeface="Arial"/>
              <a:sym typeface="Arial"/>
            </a:endParaRPr>
          </a:p>
        </p:txBody>
      </p:sp>
      <p:sp>
        <p:nvSpPr>
          <p:cNvPr id="247" name="Google Shape;247;p45"/>
          <p:cNvSpPr/>
          <p:nvPr/>
        </p:nvSpPr>
        <p:spPr>
          <a:xfrm>
            <a:off x="1115568" y="3136392"/>
            <a:ext cx="9966960" cy="1033271"/>
          </a:xfrm>
          <a:prstGeom prst="roundRect">
            <a:avLst>
              <a:gd fmla="val 16667" name="adj"/>
            </a:avLst>
          </a:prstGeom>
          <a:solidFill>
            <a:srgbClr val="121721"/>
          </a:solidFill>
          <a:ln cap="flat" cmpd="sng" w="25400">
            <a:solidFill>
              <a:srgbClr val="6FD3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45"/>
          <p:cNvSpPr/>
          <p:nvPr/>
        </p:nvSpPr>
        <p:spPr>
          <a:xfrm>
            <a:off x="1307592" y="3337560"/>
            <a:ext cx="566928" cy="576072"/>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45"/>
          <p:cNvSpPr txBox="1"/>
          <p:nvPr/>
        </p:nvSpPr>
        <p:spPr>
          <a:xfrm>
            <a:off x="1353312" y="3447288"/>
            <a:ext cx="475488" cy="33832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250" name="Google Shape;250;p45"/>
          <p:cNvSpPr txBox="1"/>
          <p:nvPr/>
        </p:nvSpPr>
        <p:spPr>
          <a:xfrm>
            <a:off x="2048256" y="3291840"/>
            <a:ext cx="8229600" cy="34747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5F3EE"/>
                </a:solidFill>
                <a:latin typeface="Arial"/>
                <a:ea typeface="Arial"/>
                <a:cs typeface="Arial"/>
                <a:sym typeface="Arial"/>
              </a:rPr>
              <a:t>DISTRIBUTED COMMUNICATION</a:t>
            </a:r>
            <a:endParaRPr b="0" i="0" sz="1400" u="none" cap="none" strike="noStrike">
              <a:solidFill>
                <a:srgbClr val="000000"/>
              </a:solidFill>
              <a:latin typeface="Arial"/>
              <a:ea typeface="Arial"/>
              <a:cs typeface="Arial"/>
              <a:sym typeface="Arial"/>
            </a:endParaRPr>
          </a:p>
        </p:txBody>
      </p:sp>
      <p:sp>
        <p:nvSpPr>
          <p:cNvPr id="251" name="Google Shape;251;p45"/>
          <p:cNvSpPr txBox="1"/>
          <p:nvPr/>
        </p:nvSpPr>
        <p:spPr>
          <a:xfrm>
            <a:off x="2048256" y="3703320"/>
            <a:ext cx="8229600" cy="33832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Event streams · queues · durable messages</a:t>
            </a:r>
            <a:endParaRPr b="0" i="0" sz="1400" u="none" cap="none" strike="noStrike">
              <a:solidFill>
                <a:srgbClr val="000000"/>
              </a:solidFill>
              <a:latin typeface="Arial"/>
              <a:ea typeface="Arial"/>
              <a:cs typeface="Arial"/>
              <a:sym typeface="Arial"/>
            </a:endParaRPr>
          </a:p>
        </p:txBody>
      </p:sp>
      <p:sp>
        <p:nvSpPr>
          <p:cNvPr id="252" name="Google Shape;252;p45"/>
          <p:cNvSpPr/>
          <p:nvPr/>
        </p:nvSpPr>
        <p:spPr>
          <a:xfrm>
            <a:off x="1115568" y="4416552"/>
            <a:ext cx="9966960" cy="1033271"/>
          </a:xfrm>
          <a:prstGeom prst="roundRect">
            <a:avLst>
              <a:gd fmla="val 16667" name="adj"/>
            </a:avLst>
          </a:prstGeom>
          <a:solidFill>
            <a:srgbClr val="121721"/>
          </a:solidFill>
          <a:ln cap="flat" cmpd="sng" w="254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45"/>
          <p:cNvSpPr/>
          <p:nvPr/>
        </p:nvSpPr>
        <p:spPr>
          <a:xfrm>
            <a:off x="1307592" y="4617720"/>
            <a:ext cx="566928" cy="576072"/>
          </a:xfrm>
          <a:prstGeom prst="roundRect">
            <a:avLst>
              <a:gd fmla="val 16667" name="adj"/>
            </a:avLst>
          </a:prstGeom>
          <a:solidFill>
            <a:srgbClr val="E8A33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45"/>
          <p:cNvSpPr txBox="1"/>
          <p:nvPr/>
        </p:nvSpPr>
        <p:spPr>
          <a:xfrm>
            <a:off x="1353312" y="4727448"/>
            <a:ext cx="475488" cy="33832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55" name="Google Shape;255;p45"/>
          <p:cNvSpPr txBox="1"/>
          <p:nvPr/>
        </p:nvSpPr>
        <p:spPr>
          <a:xfrm>
            <a:off x="2048256" y="4572000"/>
            <a:ext cx="8229600" cy="34747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5F3EE"/>
                </a:solidFill>
                <a:latin typeface="Arial"/>
                <a:ea typeface="Arial"/>
                <a:cs typeface="Arial"/>
                <a:sym typeface="Arial"/>
              </a:rPr>
              <a:t>HUMAN INTENT &amp; OVERSIGHT</a:t>
            </a:r>
            <a:endParaRPr b="0" i="0" sz="1400" u="none" cap="none" strike="noStrike">
              <a:solidFill>
                <a:srgbClr val="000000"/>
              </a:solidFill>
              <a:latin typeface="Arial"/>
              <a:ea typeface="Arial"/>
              <a:cs typeface="Arial"/>
              <a:sym typeface="Arial"/>
            </a:endParaRPr>
          </a:p>
        </p:txBody>
      </p:sp>
      <p:sp>
        <p:nvSpPr>
          <p:cNvPr id="256" name="Google Shape;256;p45"/>
          <p:cNvSpPr txBox="1"/>
          <p:nvPr/>
        </p:nvSpPr>
        <p:spPr>
          <a:xfrm>
            <a:off x="2048256" y="4983480"/>
            <a:ext cx="8229600" cy="33832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Interfaces · approvals · policies</a:t>
            </a:r>
            <a:endParaRPr b="0" i="0" sz="1400" u="none" cap="none" strike="noStrike">
              <a:solidFill>
                <a:srgbClr val="000000"/>
              </a:solidFill>
              <a:latin typeface="Arial"/>
              <a:ea typeface="Arial"/>
              <a:cs typeface="Arial"/>
              <a:sym typeface="Arial"/>
            </a:endParaRPr>
          </a:p>
        </p:txBody>
      </p:sp>
      <p:sp>
        <p:nvSpPr>
          <p:cNvPr id="257" name="Google Shape;257;p45"/>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
        <p:nvSpPr>
          <p:cNvPr id="258" name="Google Shape;258;p45"/>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a_wide_cinematic_futuristic_sci_fi_illustration_9_batch_9.png" id="263" name="Google Shape;263;p57"/>
          <p:cNvPicPr preferRelativeResize="0"/>
          <p:nvPr/>
        </p:nvPicPr>
        <p:blipFill rotWithShape="1">
          <a:blip r:embed="rId3">
            <a:alphaModFix/>
          </a:blip>
          <a:srcRect b="0" l="0" r="0" t="0"/>
          <a:stretch/>
        </p:blipFill>
        <p:spPr>
          <a:xfrm>
            <a:off x="0" y="0"/>
            <a:ext cx="12191675"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268" name="Shape 268"/>
        <p:cNvGrpSpPr/>
        <p:nvPr/>
      </p:nvGrpSpPr>
      <p:grpSpPr>
        <a:xfrm>
          <a:off x="0" y="0"/>
          <a:ext cx="0" cy="0"/>
          <a:chOff x="0" y="0"/>
          <a:chExt cx="0" cy="0"/>
        </a:xfrm>
      </p:grpSpPr>
      <p:sp>
        <p:nvSpPr>
          <p:cNvPr id="269" name="Google Shape;269;hd1b175b31137957_0_135"/>
          <p:cNvSpPr txBox="1"/>
          <p:nvPr/>
        </p:nvSpPr>
        <p:spPr>
          <a:xfrm>
            <a:off x="625285" y="2610505"/>
            <a:ext cx="10515600" cy="661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000"/>
              <a:buFont typeface="Arial"/>
              <a:buNone/>
            </a:pPr>
            <a:r>
              <a:rPr b="1" i="0" lang="en-US" sz="4300" u="none" cap="none" strike="noStrike">
                <a:solidFill>
                  <a:srgbClr val="E8A33D"/>
                </a:solidFill>
                <a:latin typeface="Arial"/>
                <a:ea typeface="Arial"/>
                <a:cs typeface="Arial"/>
                <a:sym typeface="Arial"/>
              </a:rPr>
              <a:t>So what is the unit of work, today? </a:t>
            </a:r>
            <a:endParaRPr b="0" i="0" sz="1700" u="none" cap="none" strike="noStrike">
              <a:solidFill>
                <a:srgbClr val="000000"/>
              </a:solidFill>
              <a:latin typeface="Arial"/>
              <a:ea typeface="Arial"/>
              <a:cs typeface="Arial"/>
              <a:sym typeface="Arial"/>
            </a:endParaRPr>
          </a:p>
        </p:txBody>
      </p:sp>
      <p:sp>
        <p:nvSpPr>
          <p:cNvPr id="270" name="Google Shape;270;hd1b175b31137957_0_135"/>
          <p:cNvSpPr txBox="1"/>
          <p:nvPr/>
        </p:nvSpPr>
        <p:spPr>
          <a:xfrm>
            <a:off x="11521440" y="6446520"/>
            <a:ext cx="548700" cy="153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
        <p:nvSpPr>
          <p:cNvPr id="271" name="Google Shape;271;hd1b175b31137957_0_135"/>
          <p:cNvSpPr txBox="1"/>
          <p:nvPr/>
        </p:nvSpPr>
        <p:spPr>
          <a:xfrm>
            <a:off x="758952" y="6437376"/>
            <a:ext cx="31089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276" name="Shape 276"/>
        <p:cNvGrpSpPr/>
        <p:nvPr/>
      </p:nvGrpSpPr>
      <p:grpSpPr>
        <a:xfrm>
          <a:off x="0" y="0"/>
          <a:ext cx="0" cy="0"/>
          <a:chOff x="0" y="0"/>
          <a:chExt cx="0" cy="0"/>
        </a:xfrm>
      </p:grpSpPr>
      <p:sp>
        <p:nvSpPr>
          <p:cNvPr id="277" name="Google Shape;277;p10"/>
          <p:cNvSpPr txBox="1"/>
          <p:nvPr/>
        </p:nvSpPr>
        <p:spPr>
          <a:xfrm>
            <a:off x="822960" y="731520"/>
            <a:ext cx="10515600" cy="41148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400"/>
              <a:buFont typeface="Arial"/>
              <a:buNone/>
            </a:pPr>
            <a:r>
              <a:rPr b="1" i="0" lang="en-US" sz="1400" u="none" cap="none" strike="noStrike">
                <a:solidFill>
                  <a:srgbClr val="6FD3E7"/>
                </a:solidFill>
                <a:latin typeface="Arial"/>
                <a:ea typeface="Arial"/>
                <a:cs typeface="Arial"/>
                <a:sym typeface="Arial"/>
              </a:rPr>
              <a:t>THE UNIT OF WORK</a:t>
            </a:r>
            <a:endParaRPr b="0" i="0" sz="1400" u="none" cap="none" strike="noStrike">
              <a:solidFill>
                <a:srgbClr val="000000"/>
              </a:solidFill>
              <a:latin typeface="Arial"/>
              <a:ea typeface="Arial"/>
              <a:cs typeface="Arial"/>
              <a:sym typeface="Arial"/>
            </a:endParaRPr>
          </a:p>
        </p:txBody>
      </p:sp>
      <p:sp>
        <p:nvSpPr>
          <p:cNvPr id="278" name="Google Shape;278;p10"/>
          <p:cNvSpPr/>
          <p:nvPr/>
        </p:nvSpPr>
        <p:spPr>
          <a:xfrm>
            <a:off x="822960" y="2468880"/>
            <a:ext cx="2651760" cy="1188720"/>
          </a:xfrm>
          <a:prstGeom prst="roundRect">
            <a:avLst>
              <a:gd fmla="val 16667" name="adj"/>
            </a:avLst>
          </a:prstGeom>
          <a:solidFill>
            <a:srgbClr val="E8A3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9" name="Google Shape;279;p10"/>
          <p:cNvSpPr txBox="1"/>
          <p:nvPr/>
        </p:nvSpPr>
        <p:spPr>
          <a:xfrm>
            <a:off x="932688" y="2724912"/>
            <a:ext cx="2432304" cy="77724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2400"/>
              <a:buFont typeface="Arial"/>
              <a:buNone/>
            </a:pPr>
            <a:r>
              <a:rPr b="1" i="0" lang="en-US" sz="2400" u="none" cap="none" strike="noStrike">
                <a:solidFill>
                  <a:srgbClr val="0A0C12"/>
                </a:solidFill>
                <a:latin typeface="Arial"/>
                <a:ea typeface="Arial"/>
                <a:cs typeface="Arial"/>
                <a:sym typeface="Arial"/>
              </a:rPr>
              <a:t>AN EVENT</a:t>
            </a:r>
            <a:endParaRPr b="0" i="0" sz="1400" u="none" cap="none" strike="noStrike">
              <a:solidFill>
                <a:srgbClr val="000000"/>
              </a:solidFill>
              <a:latin typeface="Arial"/>
              <a:ea typeface="Arial"/>
              <a:cs typeface="Arial"/>
              <a:sym typeface="Arial"/>
            </a:endParaRPr>
          </a:p>
        </p:txBody>
      </p:sp>
      <p:sp>
        <p:nvSpPr>
          <p:cNvPr id="280" name="Google Shape;280;p10"/>
          <p:cNvSpPr/>
          <p:nvPr/>
        </p:nvSpPr>
        <p:spPr>
          <a:xfrm>
            <a:off x="3657600" y="2907792"/>
            <a:ext cx="731520" cy="292608"/>
          </a:xfrm>
          <a:prstGeom prst="rightArrow">
            <a:avLst>
              <a:gd fmla="val 50000" name="adj1"/>
              <a:gd fmla="val 50000" name="adj2"/>
            </a:avLst>
          </a:prstGeom>
          <a:solidFill>
            <a:srgbClr val="8A909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1" name="Google Shape;281;p10"/>
          <p:cNvSpPr/>
          <p:nvPr/>
        </p:nvSpPr>
        <p:spPr>
          <a:xfrm>
            <a:off x="4526280" y="2468880"/>
            <a:ext cx="3108960" cy="1188720"/>
          </a:xfrm>
          <a:prstGeom prst="roundRect">
            <a:avLst>
              <a:gd fmla="val 16667" name="adj"/>
            </a:avLst>
          </a:prstGeom>
          <a:solidFill>
            <a:srgbClr val="6FD3E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2" name="Google Shape;282;p10"/>
          <p:cNvSpPr txBox="1"/>
          <p:nvPr/>
        </p:nvSpPr>
        <p:spPr>
          <a:xfrm>
            <a:off x="4636008" y="2724912"/>
            <a:ext cx="2889504" cy="77724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2400"/>
              <a:buFont typeface="Arial"/>
              <a:buNone/>
            </a:pPr>
            <a:r>
              <a:rPr b="1" i="0" lang="en-US" sz="2400" u="none" cap="none" strike="noStrike">
                <a:solidFill>
                  <a:srgbClr val="0A0C12"/>
                </a:solidFill>
                <a:latin typeface="Arial"/>
                <a:ea typeface="Arial"/>
                <a:cs typeface="Arial"/>
                <a:sym typeface="Arial"/>
              </a:rPr>
              <a:t>A CONSUMER</a:t>
            </a:r>
            <a:endParaRPr b="0" i="0" sz="1400" u="none" cap="none" strike="noStrike">
              <a:solidFill>
                <a:srgbClr val="000000"/>
              </a:solidFill>
              <a:latin typeface="Arial"/>
              <a:ea typeface="Arial"/>
              <a:cs typeface="Arial"/>
              <a:sym typeface="Arial"/>
            </a:endParaRPr>
          </a:p>
          <a:p>
            <a:pPr indent="0" lvl="0" marL="0" marR="0" rtl="0" algn="ctr">
              <a:lnSpc>
                <a:spcPct val="112000"/>
              </a:lnSpc>
              <a:spcBef>
                <a:spcPts val="0"/>
              </a:spcBef>
              <a:spcAft>
                <a:spcPts val="0"/>
              </a:spcAft>
              <a:buClr>
                <a:srgbClr val="000000"/>
              </a:buClr>
              <a:buSzPts val="2400"/>
              <a:buFont typeface="Arial"/>
              <a:buNone/>
            </a:pPr>
            <a:r>
              <a:rPr b="1" i="0" lang="en-US" sz="2400" u="none" cap="none" strike="noStrike">
                <a:solidFill>
                  <a:srgbClr val="0A0C12"/>
                </a:solidFill>
                <a:latin typeface="Arial"/>
                <a:ea typeface="Arial"/>
                <a:cs typeface="Arial"/>
                <a:sym typeface="Arial"/>
              </a:rPr>
              <a:t>PROCESSES IT</a:t>
            </a:r>
            <a:endParaRPr b="0" i="0" sz="1400" u="none" cap="none" strike="noStrike">
              <a:solidFill>
                <a:srgbClr val="000000"/>
              </a:solidFill>
              <a:latin typeface="Arial"/>
              <a:ea typeface="Arial"/>
              <a:cs typeface="Arial"/>
              <a:sym typeface="Arial"/>
            </a:endParaRPr>
          </a:p>
        </p:txBody>
      </p:sp>
      <p:sp>
        <p:nvSpPr>
          <p:cNvPr id="283" name="Google Shape;283;p10"/>
          <p:cNvSpPr/>
          <p:nvPr/>
        </p:nvSpPr>
        <p:spPr>
          <a:xfrm>
            <a:off x="7772400" y="2907792"/>
            <a:ext cx="731520" cy="292608"/>
          </a:xfrm>
          <a:prstGeom prst="rightArrow">
            <a:avLst>
              <a:gd fmla="val 50000" name="adj1"/>
              <a:gd fmla="val 50000" name="adj2"/>
            </a:avLst>
          </a:prstGeom>
          <a:solidFill>
            <a:srgbClr val="8A909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4" name="Google Shape;284;p10"/>
          <p:cNvSpPr/>
          <p:nvPr/>
        </p:nvSpPr>
        <p:spPr>
          <a:xfrm>
            <a:off x="8641080" y="2468880"/>
            <a:ext cx="2651760" cy="1188720"/>
          </a:xfrm>
          <a:prstGeom prst="roundRect">
            <a:avLst>
              <a:gd fmla="val 16667" name="adj"/>
            </a:avLst>
          </a:prstGeom>
          <a:solidFill>
            <a:srgbClr val="E8A3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5" name="Google Shape;285;p10"/>
          <p:cNvSpPr txBox="1"/>
          <p:nvPr/>
        </p:nvSpPr>
        <p:spPr>
          <a:xfrm>
            <a:off x="8750807" y="2724912"/>
            <a:ext cx="2432304" cy="77724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2400"/>
              <a:buFont typeface="Arial"/>
              <a:buNone/>
            </a:pPr>
            <a:r>
              <a:rPr b="1" i="0" lang="en-US" sz="2400" u="none" cap="none" strike="noStrike">
                <a:solidFill>
                  <a:srgbClr val="0A0C12"/>
                </a:solidFill>
                <a:latin typeface="Arial"/>
                <a:ea typeface="Arial"/>
                <a:cs typeface="Arial"/>
                <a:sym typeface="Arial"/>
              </a:rPr>
              <a:t>A RESULT</a:t>
            </a:r>
            <a:endParaRPr b="0" i="0" sz="1400" u="none" cap="none" strike="noStrike">
              <a:solidFill>
                <a:srgbClr val="000000"/>
              </a:solidFill>
              <a:latin typeface="Arial"/>
              <a:ea typeface="Arial"/>
              <a:cs typeface="Arial"/>
              <a:sym typeface="Arial"/>
            </a:endParaRPr>
          </a:p>
        </p:txBody>
      </p:sp>
      <p:sp>
        <p:nvSpPr>
          <p:cNvPr id="286" name="Google Shape;286;p10"/>
          <p:cNvSpPr txBox="1"/>
          <p:nvPr/>
        </p:nvSpPr>
        <p:spPr>
          <a:xfrm>
            <a:off x="822960" y="4572000"/>
            <a:ext cx="10515600" cy="73152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500"/>
              <a:buFont typeface="Arial"/>
              <a:buNone/>
            </a:pPr>
            <a:r>
              <a:rPr b="1" i="0" lang="en-US" sz="2500" u="none" cap="none" strike="noStrike">
                <a:solidFill>
                  <a:srgbClr val="8A909E"/>
                </a:solidFill>
                <a:latin typeface="Arial"/>
                <a:ea typeface="Arial"/>
                <a:cs typeface="Arial"/>
                <a:sym typeface="Arial"/>
              </a:rPr>
              <a:t>A message is a delivery unit. A task can be much larger.</a:t>
            </a:r>
            <a:endParaRPr b="0" i="0" sz="1400" u="none" cap="none" strike="noStrike">
              <a:solidFill>
                <a:srgbClr val="000000"/>
              </a:solidFill>
              <a:latin typeface="Arial"/>
              <a:ea typeface="Arial"/>
              <a:cs typeface="Arial"/>
              <a:sym typeface="Arial"/>
            </a:endParaRPr>
          </a:p>
        </p:txBody>
      </p:sp>
      <p:sp>
        <p:nvSpPr>
          <p:cNvPr id="287" name="Google Shape;287;p10"/>
          <p:cNvSpPr txBox="1"/>
          <p:nvPr/>
        </p:nvSpPr>
        <p:spPr>
          <a:xfrm>
            <a:off x="11521440" y="6446520"/>
            <a:ext cx="5486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16</a:t>
            </a:r>
            <a:endParaRPr b="0" i="0" sz="1400" u="none" cap="none" strike="noStrike">
              <a:solidFill>
                <a:srgbClr val="000000"/>
              </a:solidFill>
              <a:latin typeface="Arial"/>
              <a:ea typeface="Arial"/>
              <a:cs typeface="Arial"/>
              <a:sym typeface="Arial"/>
            </a:endParaRPr>
          </a:p>
        </p:txBody>
      </p:sp>
      <p:sp>
        <p:nvSpPr>
          <p:cNvPr id="288" name="Google Shape;288;p10"/>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293" name="Shape 293"/>
        <p:cNvGrpSpPr/>
        <p:nvPr/>
      </p:nvGrpSpPr>
      <p:grpSpPr>
        <a:xfrm>
          <a:off x="0" y="0"/>
          <a:ext cx="0" cy="0"/>
          <a:chOff x="0" y="0"/>
          <a:chExt cx="0" cy="0"/>
        </a:xfrm>
      </p:grpSpPr>
      <p:sp>
        <p:nvSpPr>
          <p:cNvPr id="294" name="Google Shape;294;p11"/>
          <p:cNvSpPr txBox="1"/>
          <p:nvPr/>
        </p:nvSpPr>
        <p:spPr>
          <a:xfrm>
            <a:off x="822960" y="731520"/>
            <a:ext cx="1051560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6FD3E7"/>
                </a:solidFill>
                <a:latin typeface="Arial"/>
                <a:ea typeface="Arial"/>
                <a:cs typeface="Arial"/>
                <a:sym typeface="Arial"/>
              </a:rPr>
              <a:t>THREE EXPECTATIONS WE COULD REASON ABOUT</a:t>
            </a:r>
            <a:endParaRPr b="0" i="0" sz="1400" u="none" cap="none" strike="noStrike">
              <a:solidFill>
                <a:srgbClr val="000000"/>
              </a:solidFill>
              <a:latin typeface="Arial"/>
              <a:ea typeface="Arial"/>
              <a:cs typeface="Arial"/>
              <a:sym typeface="Arial"/>
            </a:endParaRPr>
          </a:p>
        </p:txBody>
      </p:sp>
      <p:sp>
        <p:nvSpPr>
          <p:cNvPr id="295" name="Google Shape;295;p11"/>
          <p:cNvSpPr/>
          <p:nvPr/>
        </p:nvSpPr>
        <p:spPr>
          <a:xfrm>
            <a:off x="822960" y="1737360"/>
            <a:ext cx="3337560" cy="3474720"/>
          </a:xfrm>
          <a:prstGeom prst="roundRect">
            <a:avLst>
              <a:gd fmla="val 16667" name="adj"/>
            </a:avLst>
          </a:prstGeom>
          <a:solidFill>
            <a:srgbClr val="11141D"/>
          </a:solidFill>
          <a:ln cap="flat" cmpd="sng" w="9525">
            <a:solidFill>
              <a:srgbClr val="242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6" name="Google Shape;296;p11"/>
          <p:cNvSpPr txBox="1"/>
          <p:nvPr/>
        </p:nvSpPr>
        <p:spPr>
          <a:xfrm>
            <a:off x="1097280" y="2011679"/>
            <a:ext cx="278892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8A33D"/>
                </a:solidFill>
                <a:latin typeface="Arial"/>
                <a:ea typeface="Arial"/>
                <a:cs typeface="Arial"/>
                <a:sym typeface="Arial"/>
              </a:rPr>
              <a:t>EXPLICIT PATHS</a:t>
            </a:r>
            <a:endParaRPr b="0" i="0" sz="1400" u="none" cap="none" strike="noStrike">
              <a:solidFill>
                <a:srgbClr val="000000"/>
              </a:solidFill>
              <a:latin typeface="Arial"/>
              <a:ea typeface="Arial"/>
              <a:cs typeface="Arial"/>
              <a:sym typeface="Arial"/>
            </a:endParaRPr>
          </a:p>
        </p:txBody>
      </p:sp>
      <p:sp>
        <p:nvSpPr>
          <p:cNvPr id="297" name="Google Shape;297;p11"/>
          <p:cNvSpPr txBox="1"/>
          <p:nvPr/>
        </p:nvSpPr>
        <p:spPr>
          <a:xfrm>
            <a:off x="1097280" y="2651760"/>
            <a:ext cx="2788920" cy="237743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3EE"/>
                </a:solidFill>
                <a:latin typeface="Arial"/>
                <a:ea typeface="Arial"/>
                <a:cs typeface="Arial"/>
                <a:sym typeface="Arial"/>
              </a:rPr>
              <a:t>The code defines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3EE"/>
                </a:solidFill>
                <a:latin typeface="Arial"/>
                <a:ea typeface="Arial"/>
                <a:cs typeface="Arial"/>
                <a:sym typeface="Arial"/>
              </a:rPr>
              <a:t>the branches.</a:t>
            </a:r>
            <a:endParaRPr b="0" i="0" sz="1400" u="none" cap="none" strike="noStrike">
              <a:solidFill>
                <a:srgbClr val="000000"/>
              </a:solidFill>
              <a:latin typeface="Arial"/>
              <a:ea typeface="Arial"/>
              <a:cs typeface="Arial"/>
              <a:sym typeface="Arial"/>
            </a:endParaRPr>
          </a:p>
        </p:txBody>
      </p:sp>
      <p:sp>
        <p:nvSpPr>
          <p:cNvPr id="298" name="Google Shape;298;p11"/>
          <p:cNvSpPr/>
          <p:nvPr/>
        </p:nvSpPr>
        <p:spPr>
          <a:xfrm>
            <a:off x="4434840" y="1737360"/>
            <a:ext cx="3337560" cy="3474720"/>
          </a:xfrm>
          <a:prstGeom prst="roundRect">
            <a:avLst>
              <a:gd fmla="val 16667" name="adj"/>
            </a:avLst>
          </a:prstGeom>
          <a:solidFill>
            <a:srgbClr val="11141D"/>
          </a:solidFill>
          <a:ln cap="flat" cmpd="sng" w="9525">
            <a:solidFill>
              <a:srgbClr val="242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11"/>
          <p:cNvSpPr txBox="1"/>
          <p:nvPr/>
        </p:nvSpPr>
        <p:spPr>
          <a:xfrm>
            <a:off x="4709159" y="2011679"/>
            <a:ext cx="278892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8A33D"/>
                </a:solidFill>
                <a:latin typeface="Arial"/>
                <a:ea typeface="Arial"/>
                <a:cs typeface="Arial"/>
                <a:sym typeface="Arial"/>
              </a:rPr>
              <a:t>MEASURABLE</a:t>
            </a:r>
            <a:endParaRPr b="0" i="0" sz="1400" u="none" cap="none" strike="noStrike">
              <a:solidFill>
                <a:srgbClr val="000000"/>
              </a:solidFill>
              <a:latin typeface="Arial"/>
              <a:ea typeface="Arial"/>
              <a:cs typeface="Arial"/>
              <a:sym typeface="Arial"/>
            </a:endParaRPr>
          </a:p>
        </p:txBody>
      </p:sp>
      <p:sp>
        <p:nvSpPr>
          <p:cNvPr id="300" name="Google Shape;300;p11"/>
          <p:cNvSpPr txBox="1"/>
          <p:nvPr/>
        </p:nvSpPr>
        <p:spPr>
          <a:xfrm>
            <a:off x="4709159" y="2651760"/>
            <a:ext cx="2788920" cy="237743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3EE"/>
                </a:solidFill>
                <a:latin typeface="Arial"/>
                <a:ea typeface="Arial"/>
                <a:cs typeface="Arial"/>
                <a:sym typeface="Arial"/>
              </a:rPr>
              <a:t>Work can be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3EE"/>
                </a:solidFill>
                <a:latin typeface="Arial"/>
                <a:ea typeface="Arial"/>
                <a:cs typeface="Arial"/>
                <a:sym typeface="Arial"/>
              </a:rPr>
              <a:t>measured and capped.</a:t>
            </a:r>
            <a:endParaRPr b="0" i="0" sz="1400" u="none" cap="none" strike="noStrike">
              <a:solidFill>
                <a:srgbClr val="000000"/>
              </a:solidFill>
              <a:latin typeface="Arial"/>
              <a:ea typeface="Arial"/>
              <a:cs typeface="Arial"/>
              <a:sym typeface="Arial"/>
            </a:endParaRPr>
          </a:p>
        </p:txBody>
      </p:sp>
      <p:sp>
        <p:nvSpPr>
          <p:cNvPr id="301" name="Google Shape;301;p11"/>
          <p:cNvSpPr/>
          <p:nvPr/>
        </p:nvSpPr>
        <p:spPr>
          <a:xfrm>
            <a:off x="8046720" y="1737360"/>
            <a:ext cx="3337560" cy="3474720"/>
          </a:xfrm>
          <a:prstGeom prst="roundRect">
            <a:avLst>
              <a:gd fmla="val 16667" name="adj"/>
            </a:avLst>
          </a:prstGeom>
          <a:solidFill>
            <a:srgbClr val="11141D"/>
          </a:solidFill>
          <a:ln cap="flat" cmpd="sng" w="9525">
            <a:solidFill>
              <a:srgbClr val="242A3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2" name="Google Shape;302;p11"/>
          <p:cNvSpPr txBox="1"/>
          <p:nvPr/>
        </p:nvSpPr>
        <p:spPr>
          <a:xfrm>
            <a:off x="8321040" y="2011679"/>
            <a:ext cx="278892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E8A33D"/>
                </a:solidFill>
                <a:latin typeface="Arial"/>
                <a:ea typeface="Arial"/>
                <a:cs typeface="Arial"/>
                <a:sym typeface="Arial"/>
              </a:rPr>
              <a:t>SCOPED EFFECTS</a:t>
            </a:r>
            <a:endParaRPr b="0" i="0" sz="1400" u="none" cap="none" strike="noStrike">
              <a:solidFill>
                <a:srgbClr val="000000"/>
              </a:solidFill>
              <a:latin typeface="Arial"/>
              <a:ea typeface="Arial"/>
              <a:cs typeface="Arial"/>
              <a:sym typeface="Arial"/>
            </a:endParaRPr>
          </a:p>
        </p:txBody>
      </p:sp>
      <p:sp>
        <p:nvSpPr>
          <p:cNvPr id="303" name="Google Shape;303;p11"/>
          <p:cNvSpPr txBox="1"/>
          <p:nvPr/>
        </p:nvSpPr>
        <p:spPr>
          <a:xfrm>
            <a:off x="8321040" y="2651760"/>
            <a:ext cx="2788920" cy="237743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3EE"/>
                </a:solidFill>
                <a:latin typeface="Arial"/>
                <a:ea typeface="Arial"/>
                <a:cs typeface="Arial"/>
                <a:sym typeface="Arial"/>
              </a:rPr>
              <a:t>Permissions govern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rgbClr val="F5F3EE"/>
                </a:solidFill>
                <a:latin typeface="Arial"/>
                <a:ea typeface="Arial"/>
                <a:cs typeface="Arial"/>
                <a:sym typeface="Arial"/>
              </a:rPr>
              <a:t>what it may touch.</a:t>
            </a:r>
            <a:endParaRPr b="0" i="0" sz="1400" u="none" cap="none" strike="noStrike">
              <a:solidFill>
                <a:srgbClr val="000000"/>
              </a:solidFill>
              <a:latin typeface="Arial"/>
              <a:ea typeface="Arial"/>
              <a:cs typeface="Arial"/>
              <a:sym typeface="Arial"/>
            </a:endParaRPr>
          </a:p>
        </p:txBody>
      </p:sp>
      <p:sp>
        <p:nvSpPr>
          <p:cNvPr id="304" name="Google Shape;304;p11"/>
          <p:cNvSpPr txBox="1"/>
          <p:nvPr/>
        </p:nvSpPr>
        <p:spPr>
          <a:xfrm>
            <a:off x="11521440" y="6446520"/>
            <a:ext cx="5486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17</a:t>
            </a:r>
            <a:endParaRPr b="0" i="0" sz="1400" u="none" cap="none" strike="noStrike">
              <a:solidFill>
                <a:srgbClr val="000000"/>
              </a:solidFill>
              <a:latin typeface="Arial"/>
              <a:ea typeface="Arial"/>
              <a:cs typeface="Arial"/>
              <a:sym typeface="Arial"/>
            </a:endParaRPr>
          </a:p>
        </p:txBody>
      </p:sp>
      <p:sp>
        <p:nvSpPr>
          <p:cNvPr id="305" name="Google Shape;305;p11"/>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hd1b175b31137957_0_537" title="agent_consumer_transition.png"/>
          <p:cNvPicPr preferRelativeResize="0"/>
          <p:nvPr/>
        </p:nvPicPr>
        <p:blipFill rotWithShape="1">
          <a:blip r:embed="rId3">
            <a:alphaModFix/>
          </a:blip>
          <a:srcRect b="0" l="0" r="0" t="0"/>
          <a:stretch/>
        </p:blipFill>
        <p:spPr>
          <a:xfrm>
            <a:off x="-110750" y="0"/>
            <a:ext cx="12191675" cy="685352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descr="wide_cinematic_futuristic_sci_fi_illustration_ult_8_batch_8.png" id="315" name="Google Shape;315;p58"/>
          <p:cNvPicPr preferRelativeResize="0"/>
          <p:nvPr/>
        </p:nvPicPr>
        <p:blipFill rotWithShape="1">
          <a:blip r:embed="rId3">
            <a:alphaModFix/>
          </a:blip>
          <a:srcRect b="0" l="0" r="0" t="0"/>
          <a:stretch/>
        </p:blipFill>
        <p:spPr>
          <a:xfrm>
            <a:off x="0" y="0"/>
            <a:ext cx="12191675"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hd1b175b31137957_0_0" title="Untitled Design (1).png"/>
          <p:cNvPicPr preferRelativeResize="0"/>
          <p:nvPr/>
        </p:nvPicPr>
        <p:blipFill rotWithShape="1">
          <a:blip r:embed="rId3">
            <a:alphaModFix/>
          </a:blip>
          <a:srcRect b="0" l="0" r="0" t="0"/>
          <a:stretch/>
        </p:blipFill>
        <p:spPr>
          <a:xfrm>
            <a:off x="-118525" y="-66502"/>
            <a:ext cx="12310200" cy="69245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324" name="Shape 324"/>
        <p:cNvGrpSpPr/>
        <p:nvPr/>
      </p:nvGrpSpPr>
      <p:grpSpPr>
        <a:xfrm>
          <a:off x="0" y="0"/>
          <a:ext cx="0" cy="0"/>
          <a:chOff x="0" y="0"/>
          <a:chExt cx="0" cy="0"/>
        </a:xfrm>
      </p:grpSpPr>
      <p:sp>
        <p:nvSpPr>
          <p:cNvPr id="325" name="Google Shape;325;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326" name="Google Shape;326;p46"/>
          <p:cNvSpPr txBox="1"/>
          <p:nvPr/>
        </p:nvSpPr>
        <p:spPr>
          <a:xfrm>
            <a:off x="731520" y="521207"/>
            <a:ext cx="10789920" cy="2926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327" name="Google Shape;327;p46"/>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01  /  The tool-use loop</a:t>
            </a:r>
            <a:endParaRPr b="0" i="0" sz="1400" u="none" cap="none" strike="noStrike">
              <a:solidFill>
                <a:srgbClr val="000000"/>
              </a:solidFill>
              <a:latin typeface="Arial"/>
              <a:ea typeface="Arial"/>
              <a:cs typeface="Arial"/>
              <a:sym typeface="Arial"/>
            </a:endParaRPr>
          </a:p>
        </p:txBody>
      </p:sp>
      <p:sp>
        <p:nvSpPr>
          <p:cNvPr id="328" name="Google Shape;328;p46"/>
          <p:cNvSpPr txBox="1"/>
          <p:nvPr/>
        </p:nvSpPr>
        <p:spPr>
          <a:xfrm>
            <a:off x="758952" y="6126480"/>
            <a:ext cx="10698600" cy="2340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46"/>
          <p:cNvSpPr/>
          <p:nvPr/>
        </p:nvSpPr>
        <p:spPr>
          <a:xfrm>
            <a:off x="953837" y="3076992"/>
            <a:ext cx="2304300" cy="59430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46"/>
          <p:cNvSpPr txBox="1"/>
          <p:nvPr/>
        </p:nvSpPr>
        <p:spPr>
          <a:xfrm>
            <a:off x="1026989" y="3186720"/>
            <a:ext cx="21579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EVENT</a:t>
            </a:r>
            <a:endParaRPr b="0" i="0" sz="1400" u="none" cap="none" strike="noStrike">
              <a:solidFill>
                <a:srgbClr val="000000"/>
              </a:solidFill>
              <a:latin typeface="Arial"/>
              <a:ea typeface="Arial"/>
              <a:cs typeface="Arial"/>
              <a:sym typeface="Arial"/>
            </a:endParaRPr>
          </a:p>
        </p:txBody>
      </p:sp>
      <p:sp>
        <p:nvSpPr>
          <p:cNvPr id="331" name="Google Shape;331;p46"/>
          <p:cNvSpPr/>
          <p:nvPr/>
        </p:nvSpPr>
        <p:spPr>
          <a:xfrm>
            <a:off x="3806764" y="2619792"/>
            <a:ext cx="3182100" cy="1499700"/>
          </a:xfrm>
          <a:prstGeom prst="roundRect">
            <a:avLst>
              <a:gd fmla="val 16667" name="adj"/>
            </a:avLst>
          </a:prstGeom>
          <a:solidFill>
            <a:srgbClr val="121721"/>
          </a:solidFill>
          <a:ln cap="flat" cmpd="sng" w="254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46"/>
          <p:cNvSpPr txBox="1"/>
          <p:nvPr/>
        </p:nvSpPr>
        <p:spPr>
          <a:xfrm>
            <a:off x="3989645" y="2830104"/>
            <a:ext cx="2816400" cy="3726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E8A33D"/>
                </a:solidFill>
                <a:latin typeface="Arial"/>
                <a:ea typeface="Arial"/>
                <a:cs typeface="Arial"/>
                <a:sym typeface="Arial"/>
              </a:rPr>
              <a:t>AGENT</a:t>
            </a:r>
            <a:endParaRPr b="0" i="0" sz="1400" u="none" cap="none" strike="noStrike">
              <a:solidFill>
                <a:srgbClr val="000000"/>
              </a:solidFill>
              <a:latin typeface="Arial"/>
              <a:ea typeface="Arial"/>
              <a:cs typeface="Arial"/>
              <a:sym typeface="Arial"/>
            </a:endParaRPr>
          </a:p>
        </p:txBody>
      </p:sp>
      <p:sp>
        <p:nvSpPr>
          <p:cNvPr id="333" name="Google Shape;333;p46"/>
          <p:cNvSpPr txBox="1"/>
          <p:nvPr/>
        </p:nvSpPr>
        <p:spPr>
          <a:xfrm>
            <a:off x="3962212" y="3387888"/>
            <a:ext cx="2853000" cy="2340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A8AFBF"/>
                </a:solidFill>
                <a:latin typeface="Arial"/>
                <a:ea typeface="Arial"/>
                <a:cs typeface="Arial"/>
                <a:sym typeface="Arial"/>
              </a:rPr>
              <a:t>Plan  →  choose tool</a:t>
            </a:r>
            <a:endParaRPr b="0" i="0" sz="1400" u="none" cap="none" strike="noStrike">
              <a:solidFill>
                <a:srgbClr val="000000"/>
              </a:solidFill>
              <a:latin typeface="Arial"/>
              <a:ea typeface="Arial"/>
              <a:cs typeface="Arial"/>
              <a:sym typeface="Arial"/>
            </a:endParaRPr>
          </a:p>
        </p:txBody>
      </p:sp>
      <p:sp>
        <p:nvSpPr>
          <p:cNvPr id="334" name="Google Shape;334;p46"/>
          <p:cNvSpPr/>
          <p:nvPr/>
        </p:nvSpPr>
        <p:spPr>
          <a:xfrm>
            <a:off x="8424485" y="2628936"/>
            <a:ext cx="2331600" cy="594300"/>
          </a:xfrm>
          <a:prstGeom prst="roundRect">
            <a:avLst>
              <a:gd fmla="val 16667" name="adj"/>
            </a:avLst>
          </a:prstGeom>
          <a:solidFill>
            <a:srgbClr val="83D4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46"/>
          <p:cNvSpPr txBox="1"/>
          <p:nvPr/>
        </p:nvSpPr>
        <p:spPr>
          <a:xfrm>
            <a:off x="8497637" y="2738664"/>
            <a:ext cx="21855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TOOL / API</a:t>
            </a:r>
            <a:endParaRPr b="0" i="0" sz="1400" u="none" cap="none" strike="noStrike">
              <a:solidFill>
                <a:srgbClr val="000000"/>
              </a:solidFill>
              <a:latin typeface="Arial"/>
              <a:ea typeface="Arial"/>
              <a:cs typeface="Arial"/>
              <a:sym typeface="Arial"/>
            </a:endParaRPr>
          </a:p>
        </p:txBody>
      </p:sp>
      <p:sp>
        <p:nvSpPr>
          <p:cNvPr id="336" name="Google Shape;336;p46"/>
          <p:cNvSpPr/>
          <p:nvPr/>
        </p:nvSpPr>
        <p:spPr>
          <a:xfrm>
            <a:off x="8424485" y="3726216"/>
            <a:ext cx="2331600" cy="59430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6"/>
          <p:cNvSpPr txBox="1"/>
          <p:nvPr/>
        </p:nvSpPr>
        <p:spPr>
          <a:xfrm>
            <a:off x="8497637" y="3835944"/>
            <a:ext cx="2185500" cy="2184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A0C12"/>
                </a:solidFill>
                <a:latin typeface="Arial"/>
                <a:ea typeface="Arial"/>
                <a:cs typeface="Arial"/>
                <a:sym typeface="Arial"/>
              </a:rPr>
              <a:t>OBSERVATION</a:t>
            </a:r>
            <a:endParaRPr b="0" i="0" sz="1400" u="none" cap="none" strike="noStrike">
              <a:solidFill>
                <a:srgbClr val="000000"/>
              </a:solidFill>
              <a:latin typeface="Arial"/>
              <a:ea typeface="Arial"/>
              <a:cs typeface="Arial"/>
              <a:sym typeface="Arial"/>
            </a:endParaRPr>
          </a:p>
        </p:txBody>
      </p:sp>
      <p:cxnSp>
        <p:nvCxnSpPr>
          <p:cNvPr id="338" name="Google Shape;338;p46"/>
          <p:cNvCxnSpPr/>
          <p:nvPr/>
        </p:nvCxnSpPr>
        <p:spPr>
          <a:xfrm>
            <a:off x="3285557" y="3387888"/>
            <a:ext cx="457200"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339" name="Google Shape;339;p46"/>
          <p:cNvCxnSpPr/>
          <p:nvPr/>
        </p:nvCxnSpPr>
        <p:spPr>
          <a:xfrm flipH="1" rot="10800000">
            <a:off x="3619251" y="3387847"/>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340" name="Google Shape;340;p46"/>
          <p:cNvCxnSpPr/>
          <p:nvPr/>
        </p:nvCxnSpPr>
        <p:spPr>
          <a:xfrm>
            <a:off x="3619251" y="3328228"/>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341" name="Google Shape;341;p46"/>
          <p:cNvCxnSpPr/>
          <p:nvPr/>
        </p:nvCxnSpPr>
        <p:spPr>
          <a:xfrm>
            <a:off x="7034597" y="3086136"/>
            <a:ext cx="1326000" cy="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342" name="Google Shape;342;p46"/>
          <p:cNvCxnSpPr/>
          <p:nvPr/>
        </p:nvCxnSpPr>
        <p:spPr>
          <a:xfrm flipH="1" rot="10800000">
            <a:off x="8236971" y="3086095"/>
            <a:ext cx="123600" cy="5970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343" name="Google Shape;343;p46"/>
          <p:cNvCxnSpPr/>
          <p:nvPr/>
        </p:nvCxnSpPr>
        <p:spPr>
          <a:xfrm>
            <a:off x="8236971" y="3026476"/>
            <a:ext cx="123600" cy="5970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344" name="Google Shape;344;p46"/>
          <p:cNvCxnSpPr/>
          <p:nvPr/>
        </p:nvCxnSpPr>
        <p:spPr>
          <a:xfrm>
            <a:off x="9585773" y="3241584"/>
            <a:ext cx="0" cy="41160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345" name="Google Shape;345;p46"/>
          <p:cNvCxnSpPr/>
          <p:nvPr/>
        </p:nvCxnSpPr>
        <p:spPr>
          <a:xfrm>
            <a:off x="9526113" y="3529558"/>
            <a:ext cx="59700" cy="12360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346" name="Google Shape;346;p46"/>
          <p:cNvCxnSpPr/>
          <p:nvPr/>
        </p:nvCxnSpPr>
        <p:spPr>
          <a:xfrm flipH="1">
            <a:off x="9585732" y="3529558"/>
            <a:ext cx="59700" cy="12360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347" name="Google Shape;347;p46"/>
          <p:cNvCxnSpPr/>
          <p:nvPr/>
        </p:nvCxnSpPr>
        <p:spPr>
          <a:xfrm rot="10800000">
            <a:off x="7034477" y="3744480"/>
            <a:ext cx="1326000" cy="265200"/>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348" name="Google Shape;348;p46"/>
          <p:cNvCxnSpPr/>
          <p:nvPr/>
        </p:nvCxnSpPr>
        <p:spPr>
          <a:xfrm flipH="1">
            <a:off x="7034504" y="3710224"/>
            <a:ext cx="132900" cy="34200"/>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349" name="Google Shape;349;p46"/>
          <p:cNvCxnSpPr/>
          <p:nvPr/>
        </p:nvCxnSpPr>
        <p:spPr>
          <a:xfrm rot="10800000">
            <a:off x="7034503" y="3744426"/>
            <a:ext cx="109500" cy="82800"/>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sp>
        <p:nvSpPr>
          <p:cNvPr id="350" name="Google Shape;350;p46"/>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351" name="Google Shape;351;p46"/>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5" name="Shape 355"/>
        <p:cNvGrpSpPr/>
        <p:nvPr/>
      </p:nvGrpSpPr>
      <p:grpSpPr>
        <a:xfrm>
          <a:off x="0" y="0"/>
          <a:ext cx="0" cy="0"/>
          <a:chOff x="0" y="0"/>
          <a:chExt cx="0" cy="0"/>
        </a:xfrm>
      </p:grpSpPr>
      <p:sp>
        <p:nvSpPr>
          <p:cNvPr id="356" name="Google Shape;356;hd1b175b31137957_0_322"/>
          <p:cNvSpPr/>
          <p:nvPr/>
        </p:nvSpPr>
        <p:spPr>
          <a:xfrm>
            <a:off x="2021775" y="1330475"/>
            <a:ext cx="7735500" cy="3867600"/>
          </a:xfrm>
          <a:prstGeom prst="rect">
            <a:avLst/>
          </a:prstGeom>
          <a:solidFill>
            <a:schemeClr val="lt2"/>
          </a:solidFill>
          <a:ln cap="flat" cmpd="sng" w="762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CC0000"/>
                </a:solidFill>
                <a:latin typeface="Arial"/>
                <a:ea typeface="Arial"/>
                <a:cs typeface="Arial"/>
                <a:sym typeface="Arial"/>
              </a:rPr>
              <a:t>RELIABILITY QUESTION:</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chemeClr val="dk1"/>
                </a:solidFill>
                <a:latin typeface="Arial"/>
                <a:ea typeface="Arial"/>
                <a:cs typeface="Arial"/>
                <a:sym typeface="Arial"/>
              </a:rPr>
              <a:t>How do you bound iterations </a:t>
            </a:r>
            <a:endParaRPr b="1" i="0" sz="22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US" sz="2200" u="none" cap="none" strike="noStrike">
                <a:solidFill>
                  <a:schemeClr val="dk1"/>
                </a:solidFill>
                <a:latin typeface="Arial"/>
                <a:ea typeface="Arial"/>
                <a:cs typeface="Arial"/>
                <a:sym typeface="Arial"/>
              </a:rPr>
              <a:t>and authorize the next tool call?</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20"/>
        </a:solidFill>
      </p:bgPr>
    </p:bg>
    <p:spTree>
      <p:nvGrpSpPr>
        <p:cNvPr id="361" name="Shape 361"/>
        <p:cNvGrpSpPr/>
        <p:nvPr/>
      </p:nvGrpSpPr>
      <p:grpSpPr>
        <a:xfrm>
          <a:off x="0" y="0"/>
          <a:ext cx="0" cy="0"/>
          <a:chOff x="0" y="0"/>
          <a:chExt cx="0" cy="0"/>
        </a:xfrm>
      </p:grpSpPr>
      <p:sp>
        <p:nvSpPr>
          <p:cNvPr id="362" name="Google Shape;362;hd1b175b31137957_0_210"/>
          <p:cNvSpPr/>
          <p:nvPr/>
        </p:nvSpPr>
        <p:spPr>
          <a:xfrm>
            <a:off x="0" y="0"/>
            <a:ext cx="12191400" cy="41100"/>
          </a:xfrm>
          <a:prstGeom prst="rect">
            <a:avLst/>
          </a:prstGeom>
          <a:solidFill>
            <a:srgbClr val="63E6C1"/>
          </a:solidFill>
          <a:ln cap="flat" cmpd="sng" w="12700">
            <a:solidFill>
              <a:srgbClr val="63E6C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hd1b175b31137957_0_210"/>
          <p:cNvSpPr/>
          <p:nvPr/>
        </p:nvSpPr>
        <p:spPr>
          <a:xfrm>
            <a:off x="658350" y="347472"/>
            <a:ext cx="100581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1250"/>
              <a:buFont typeface="Arial"/>
              <a:buNone/>
            </a:pPr>
            <a:r>
              <a:rPr b="1" i="0" lang="en-US" sz="1250" u="none" cap="none" strike="noStrike">
                <a:solidFill>
                  <a:srgbClr val="63E6C1"/>
                </a:solidFill>
                <a:latin typeface="Arial"/>
                <a:ea typeface="Arial"/>
                <a:cs typeface="Arial"/>
                <a:sym typeface="Arial"/>
              </a:rPr>
              <a:t>AGENTIC SYSTEMS  /  TOOLS</a:t>
            </a:r>
            <a:endParaRPr b="0" i="0" sz="1250" u="none" cap="none" strike="noStrike">
              <a:solidFill>
                <a:schemeClr val="dk1"/>
              </a:solidFill>
              <a:latin typeface="Arial"/>
              <a:ea typeface="Arial"/>
              <a:cs typeface="Arial"/>
              <a:sym typeface="Arial"/>
            </a:endParaRPr>
          </a:p>
        </p:txBody>
      </p:sp>
      <p:sp>
        <p:nvSpPr>
          <p:cNvPr id="364" name="Google Shape;364;hd1b175b31137957_0_210"/>
          <p:cNvSpPr/>
          <p:nvPr/>
        </p:nvSpPr>
        <p:spPr>
          <a:xfrm>
            <a:off x="658350" y="758952"/>
            <a:ext cx="10972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3050"/>
              <a:buFont typeface="Arial"/>
              <a:buNone/>
            </a:pPr>
            <a:r>
              <a:rPr b="1" i="0" lang="en-US" sz="3100" u="none" cap="none" strike="noStrike">
                <a:solidFill>
                  <a:srgbClr val="F5F3EE"/>
                </a:solidFill>
                <a:latin typeface="Arial"/>
                <a:ea typeface="Arial"/>
                <a:cs typeface="Arial"/>
                <a:sym typeface="Arial"/>
              </a:rPr>
              <a:t>PATTERN 01 -  </a:t>
            </a:r>
            <a:r>
              <a:rPr b="1" i="0" lang="en-US" sz="3050" u="none" cap="none" strike="noStrike">
                <a:solidFill>
                  <a:srgbClr val="F5F8FC"/>
                </a:solidFill>
                <a:latin typeface="Arial"/>
                <a:ea typeface="Arial"/>
                <a:cs typeface="Arial"/>
                <a:sym typeface="Arial"/>
              </a:rPr>
              <a:t>agent call APIs</a:t>
            </a:r>
            <a:endParaRPr b="0" i="0" sz="3050" u="none" cap="none" strike="noStrike">
              <a:solidFill>
                <a:schemeClr val="dk1"/>
              </a:solidFill>
              <a:latin typeface="Arial"/>
              <a:ea typeface="Arial"/>
              <a:cs typeface="Arial"/>
              <a:sym typeface="Arial"/>
            </a:endParaRPr>
          </a:p>
        </p:txBody>
      </p:sp>
      <p:sp>
        <p:nvSpPr>
          <p:cNvPr id="365" name="Google Shape;365;hd1b175b31137957_0_210"/>
          <p:cNvSpPr/>
          <p:nvPr/>
        </p:nvSpPr>
        <p:spPr>
          <a:xfrm>
            <a:off x="667494" y="1371600"/>
            <a:ext cx="10789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C1D3"/>
              </a:buClr>
              <a:buSzPts val="1550"/>
              <a:buFont typeface="Arial"/>
              <a:buNone/>
            </a:pPr>
            <a:r>
              <a:rPr b="0" i="0" lang="en-US" sz="1550" u="none" cap="none" strike="noStrike">
                <a:solidFill>
                  <a:srgbClr val="B2C1D3"/>
                </a:solidFill>
                <a:latin typeface="Arial"/>
                <a:ea typeface="Arial"/>
                <a:cs typeface="Arial"/>
                <a:sym typeface="Arial"/>
              </a:rPr>
              <a:t>A flight-upgrade agent can observe the world and take real actions.</a:t>
            </a:r>
            <a:endParaRPr b="0" i="0" sz="1550" u="none" cap="none" strike="noStrike">
              <a:solidFill>
                <a:schemeClr val="dk1"/>
              </a:solidFill>
              <a:latin typeface="Arial"/>
              <a:ea typeface="Arial"/>
              <a:cs typeface="Arial"/>
              <a:sym typeface="Arial"/>
            </a:endParaRPr>
          </a:p>
        </p:txBody>
      </p:sp>
      <p:cxnSp>
        <p:nvCxnSpPr>
          <p:cNvPr id="366" name="Google Shape;366;hd1b175b31137957_0_210"/>
          <p:cNvCxnSpPr/>
          <p:nvPr/>
        </p:nvCxnSpPr>
        <p:spPr>
          <a:xfrm>
            <a:off x="658350" y="6510528"/>
            <a:ext cx="10881000" cy="0"/>
          </a:xfrm>
          <a:prstGeom prst="straightConnector1">
            <a:avLst/>
          </a:prstGeom>
          <a:noFill/>
          <a:ln cap="flat" cmpd="sng" w="10150">
            <a:solidFill>
              <a:srgbClr val="314459"/>
            </a:solidFill>
            <a:prstDash val="solid"/>
            <a:round/>
            <a:headEnd len="sm" w="sm" type="none"/>
            <a:tailEnd len="sm" w="sm" type="none"/>
          </a:ln>
        </p:spPr>
      </p:cxnSp>
      <p:sp>
        <p:nvSpPr>
          <p:cNvPr id="367" name="Google Shape;367;hd1b175b31137957_0_210"/>
          <p:cNvSpPr/>
          <p:nvPr/>
        </p:nvSpPr>
        <p:spPr>
          <a:xfrm>
            <a:off x="667494" y="6592824"/>
            <a:ext cx="7314900" cy="1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820"/>
              <a:buFont typeface="Arial"/>
              <a:buNone/>
            </a:pPr>
            <a:r>
              <a:rPr b="0" i="0" lang="en-US" sz="820" u="none" cap="none" strike="noStrike">
                <a:solidFill>
                  <a:srgbClr val="8497AE"/>
                </a:solidFill>
                <a:latin typeface="Arial"/>
                <a:ea typeface="Arial"/>
                <a:cs typeface="Arial"/>
                <a:sym typeface="Arial"/>
              </a:rPr>
              <a:t>WHEN SOFTWARE STARTS TALKING TO ITSELF</a:t>
            </a:r>
            <a:endParaRPr b="0" i="0" sz="820" u="none" cap="none" strike="noStrike">
              <a:solidFill>
                <a:schemeClr val="dk1"/>
              </a:solidFill>
              <a:latin typeface="Arial"/>
              <a:ea typeface="Arial"/>
              <a:cs typeface="Arial"/>
              <a:sym typeface="Arial"/>
            </a:endParaRPr>
          </a:p>
        </p:txBody>
      </p:sp>
      <p:sp>
        <p:nvSpPr>
          <p:cNvPr id="368" name="Google Shape;368;hd1b175b31137957_0_210"/>
          <p:cNvSpPr/>
          <p:nvPr/>
        </p:nvSpPr>
        <p:spPr>
          <a:xfrm>
            <a:off x="658350" y="1947672"/>
            <a:ext cx="3456300" cy="1673400"/>
          </a:xfrm>
          <a:prstGeom prst="roundRect">
            <a:avLst>
              <a:gd fmla="val 7104"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hd1b175b31137957_0_210"/>
          <p:cNvSpPr/>
          <p:nvPr/>
        </p:nvSpPr>
        <p:spPr>
          <a:xfrm>
            <a:off x="658350" y="1947672"/>
            <a:ext cx="50400" cy="1673400"/>
          </a:xfrm>
          <a:prstGeom prst="rect">
            <a:avLst/>
          </a:prstGeom>
          <a:solidFill>
            <a:srgbClr val="63E6C1"/>
          </a:solidFill>
          <a:ln cap="flat" cmpd="sng" w="12700">
            <a:solidFill>
              <a:srgbClr val="63E6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hd1b175b31137957_0_210"/>
          <p:cNvSpPr/>
          <p:nvPr/>
        </p:nvSpPr>
        <p:spPr>
          <a:xfrm>
            <a:off x="868657" y="2121408"/>
            <a:ext cx="329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1250"/>
              <a:buFont typeface="Arial"/>
              <a:buNone/>
            </a:pPr>
            <a:r>
              <a:rPr b="1" i="0" lang="en-US" sz="1250" u="none" cap="none" strike="noStrike">
                <a:solidFill>
                  <a:srgbClr val="63E6C1"/>
                </a:solidFill>
                <a:latin typeface="Arial"/>
                <a:ea typeface="Arial"/>
                <a:cs typeface="Arial"/>
                <a:sym typeface="Arial"/>
              </a:rPr>
              <a:t>01</a:t>
            </a:r>
            <a:endParaRPr b="0" i="0" sz="1250" u="none" cap="none" strike="noStrike">
              <a:solidFill>
                <a:schemeClr val="dk1"/>
              </a:solidFill>
              <a:latin typeface="Arial"/>
              <a:ea typeface="Arial"/>
              <a:cs typeface="Arial"/>
              <a:sym typeface="Arial"/>
            </a:endParaRPr>
          </a:p>
        </p:txBody>
      </p:sp>
      <p:sp>
        <p:nvSpPr>
          <p:cNvPr id="371" name="Google Shape;371;hd1b175b31137957_0_210"/>
          <p:cNvSpPr/>
          <p:nvPr/>
        </p:nvSpPr>
        <p:spPr>
          <a:xfrm>
            <a:off x="2999152" y="2112264"/>
            <a:ext cx="9144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E6C1"/>
              </a:buClr>
              <a:buSzPts val="1050"/>
              <a:buFont typeface="Arial"/>
              <a:buNone/>
            </a:pPr>
            <a:r>
              <a:rPr b="1" i="0" lang="en-US" sz="1050" u="none" cap="none" strike="noStrike">
                <a:solidFill>
                  <a:srgbClr val="63E6C1"/>
                </a:solidFill>
                <a:latin typeface="Arial"/>
                <a:ea typeface="Arial"/>
                <a:cs typeface="Arial"/>
                <a:sym typeface="Arial"/>
              </a:rPr>
              <a:t>READ</a:t>
            </a:r>
            <a:endParaRPr b="0" i="0" sz="1050" u="none" cap="none" strike="noStrike">
              <a:solidFill>
                <a:schemeClr val="dk1"/>
              </a:solidFill>
              <a:latin typeface="Arial"/>
              <a:ea typeface="Arial"/>
              <a:cs typeface="Arial"/>
              <a:sym typeface="Arial"/>
            </a:endParaRPr>
          </a:p>
        </p:txBody>
      </p:sp>
      <p:sp>
        <p:nvSpPr>
          <p:cNvPr id="372" name="Google Shape;372;hd1b175b31137957_0_210"/>
          <p:cNvSpPr/>
          <p:nvPr/>
        </p:nvSpPr>
        <p:spPr>
          <a:xfrm>
            <a:off x="868657" y="2423160"/>
            <a:ext cx="3035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820"/>
              <a:buFont typeface="Arial"/>
              <a:buNone/>
            </a:pPr>
            <a:r>
              <a:rPr b="1" i="0" lang="en-US" sz="1820" u="none" cap="none" strike="noStrike">
                <a:solidFill>
                  <a:srgbClr val="F5F8FC"/>
                </a:solidFill>
                <a:latin typeface="Arial"/>
                <a:ea typeface="Arial"/>
                <a:cs typeface="Arial"/>
                <a:sym typeface="Arial"/>
              </a:rPr>
              <a:t>Flight search</a:t>
            </a:r>
            <a:endParaRPr b="0" i="0" sz="1820" u="none" cap="none" strike="noStrike">
              <a:solidFill>
                <a:schemeClr val="dk1"/>
              </a:solidFill>
              <a:latin typeface="Arial"/>
              <a:ea typeface="Arial"/>
              <a:cs typeface="Arial"/>
              <a:sym typeface="Arial"/>
            </a:endParaRPr>
          </a:p>
        </p:txBody>
      </p:sp>
      <p:sp>
        <p:nvSpPr>
          <p:cNvPr id="373" name="Google Shape;373;hd1b175b31137957_0_210"/>
          <p:cNvSpPr/>
          <p:nvPr/>
        </p:nvSpPr>
        <p:spPr>
          <a:xfrm>
            <a:off x="868657" y="2825496"/>
            <a:ext cx="30357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C1D3"/>
              </a:buClr>
              <a:buSzPts val="1230"/>
              <a:buFont typeface="Arial"/>
              <a:buNone/>
            </a:pPr>
            <a:r>
              <a:rPr b="0" i="0" lang="en-US" sz="1230" u="none" cap="none" strike="noStrike">
                <a:solidFill>
                  <a:srgbClr val="B2C1D3"/>
                </a:solidFill>
                <a:latin typeface="Arial"/>
                <a:ea typeface="Arial"/>
                <a:cs typeface="Arial"/>
                <a:sym typeface="Arial"/>
              </a:rPr>
              <a:t>search_available_upgrades()</a:t>
            </a:r>
            <a:endParaRPr b="0" i="0" sz="1230" u="none" cap="none" strike="noStrike">
              <a:solidFill>
                <a:schemeClr val="dk1"/>
              </a:solidFill>
              <a:latin typeface="Arial"/>
              <a:ea typeface="Arial"/>
              <a:cs typeface="Arial"/>
              <a:sym typeface="Arial"/>
            </a:endParaRPr>
          </a:p>
        </p:txBody>
      </p:sp>
      <p:sp>
        <p:nvSpPr>
          <p:cNvPr id="374" name="Google Shape;374;hd1b175b31137957_0_210"/>
          <p:cNvSpPr/>
          <p:nvPr/>
        </p:nvSpPr>
        <p:spPr>
          <a:xfrm>
            <a:off x="868657" y="3136392"/>
            <a:ext cx="30357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10"/>
              <a:buFont typeface="Arial"/>
              <a:buNone/>
            </a:pPr>
            <a:r>
              <a:rPr b="0" i="0" lang="en-US" sz="1210" u="none" cap="none" strike="noStrike">
                <a:solidFill>
                  <a:srgbClr val="8497AE"/>
                </a:solidFill>
                <a:latin typeface="Arial"/>
                <a:ea typeface="Arial"/>
                <a:cs typeface="Arial"/>
                <a:sym typeface="Arial"/>
              </a:rPr>
              <a:t>Find available seats</a:t>
            </a:r>
            <a:endParaRPr b="0" i="0" sz="1210" u="none" cap="none" strike="noStrike">
              <a:solidFill>
                <a:schemeClr val="dk1"/>
              </a:solidFill>
              <a:latin typeface="Arial"/>
              <a:ea typeface="Arial"/>
              <a:cs typeface="Arial"/>
              <a:sym typeface="Arial"/>
            </a:endParaRPr>
          </a:p>
        </p:txBody>
      </p:sp>
      <p:sp>
        <p:nvSpPr>
          <p:cNvPr id="375" name="Google Shape;375;hd1b175b31137957_0_210"/>
          <p:cNvSpPr/>
          <p:nvPr/>
        </p:nvSpPr>
        <p:spPr>
          <a:xfrm>
            <a:off x="4361572" y="1947672"/>
            <a:ext cx="3456300" cy="1673400"/>
          </a:xfrm>
          <a:prstGeom prst="roundRect">
            <a:avLst>
              <a:gd fmla="val 7104"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hd1b175b31137957_0_210"/>
          <p:cNvSpPr/>
          <p:nvPr/>
        </p:nvSpPr>
        <p:spPr>
          <a:xfrm>
            <a:off x="4361572" y="1947672"/>
            <a:ext cx="50400" cy="1673400"/>
          </a:xfrm>
          <a:prstGeom prst="rect">
            <a:avLst/>
          </a:prstGeom>
          <a:solidFill>
            <a:srgbClr val="63E6C1"/>
          </a:solidFill>
          <a:ln cap="flat" cmpd="sng" w="12700">
            <a:solidFill>
              <a:srgbClr val="63E6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hd1b175b31137957_0_210"/>
          <p:cNvSpPr/>
          <p:nvPr/>
        </p:nvSpPr>
        <p:spPr>
          <a:xfrm>
            <a:off x="4571878" y="2121408"/>
            <a:ext cx="329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1250"/>
              <a:buFont typeface="Arial"/>
              <a:buNone/>
            </a:pPr>
            <a:r>
              <a:rPr b="1" i="0" lang="en-US" sz="1250" u="none" cap="none" strike="noStrike">
                <a:solidFill>
                  <a:srgbClr val="63E6C1"/>
                </a:solidFill>
                <a:latin typeface="Arial"/>
                <a:ea typeface="Arial"/>
                <a:cs typeface="Arial"/>
                <a:sym typeface="Arial"/>
              </a:rPr>
              <a:t>02</a:t>
            </a:r>
            <a:endParaRPr b="0" i="0" sz="1250" u="none" cap="none" strike="noStrike">
              <a:solidFill>
                <a:schemeClr val="dk1"/>
              </a:solidFill>
              <a:latin typeface="Arial"/>
              <a:ea typeface="Arial"/>
              <a:cs typeface="Arial"/>
              <a:sym typeface="Arial"/>
            </a:endParaRPr>
          </a:p>
        </p:txBody>
      </p:sp>
      <p:sp>
        <p:nvSpPr>
          <p:cNvPr id="378" name="Google Shape;378;hd1b175b31137957_0_210"/>
          <p:cNvSpPr/>
          <p:nvPr/>
        </p:nvSpPr>
        <p:spPr>
          <a:xfrm>
            <a:off x="6702373" y="2112264"/>
            <a:ext cx="9144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E6C1"/>
              </a:buClr>
              <a:buSzPts val="1050"/>
              <a:buFont typeface="Arial"/>
              <a:buNone/>
            </a:pPr>
            <a:r>
              <a:rPr b="1" i="0" lang="en-US" sz="1050" u="none" cap="none" strike="noStrike">
                <a:solidFill>
                  <a:srgbClr val="63E6C1"/>
                </a:solidFill>
                <a:latin typeface="Arial"/>
                <a:ea typeface="Arial"/>
                <a:cs typeface="Arial"/>
                <a:sym typeface="Arial"/>
              </a:rPr>
              <a:t>READ</a:t>
            </a:r>
            <a:endParaRPr b="0" i="0" sz="1050" u="none" cap="none" strike="noStrike">
              <a:solidFill>
                <a:schemeClr val="dk1"/>
              </a:solidFill>
              <a:latin typeface="Arial"/>
              <a:ea typeface="Arial"/>
              <a:cs typeface="Arial"/>
              <a:sym typeface="Arial"/>
            </a:endParaRPr>
          </a:p>
        </p:txBody>
      </p:sp>
      <p:sp>
        <p:nvSpPr>
          <p:cNvPr id="379" name="Google Shape;379;hd1b175b31137957_0_210"/>
          <p:cNvSpPr/>
          <p:nvPr/>
        </p:nvSpPr>
        <p:spPr>
          <a:xfrm>
            <a:off x="4571878" y="2423160"/>
            <a:ext cx="3035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820"/>
              <a:buFont typeface="Arial"/>
              <a:buNone/>
            </a:pPr>
            <a:r>
              <a:rPr b="1" i="0" lang="en-US" sz="1820" u="none" cap="none" strike="noStrike">
                <a:solidFill>
                  <a:srgbClr val="F5F8FC"/>
                </a:solidFill>
                <a:latin typeface="Arial"/>
                <a:ea typeface="Arial"/>
                <a:cs typeface="Arial"/>
                <a:sym typeface="Arial"/>
              </a:rPr>
              <a:t>Preferences DB</a:t>
            </a:r>
            <a:endParaRPr b="0" i="0" sz="1820" u="none" cap="none" strike="noStrike">
              <a:solidFill>
                <a:schemeClr val="dk1"/>
              </a:solidFill>
              <a:latin typeface="Arial"/>
              <a:ea typeface="Arial"/>
              <a:cs typeface="Arial"/>
              <a:sym typeface="Arial"/>
            </a:endParaRPr>
          </a:p>
        </p:txBody>
      </p:sp>
      <p:sp>
        <p:nvSpPr>
          <p:cNvPr id="380" name="Google Shape;380;hd1b175b31137957_0_210"/>
          <p:cNvSpPr/>
          <p:nvPr/>
        </p:nvSpPr>
        <p:spPr>
          <a:xfrm>
            <a:off x="4571878" y="2825496"/>
            <a:ext cx="30357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C1D3"/>
              </a:buClr>
              <a:buSzPts val="1230"/>
              <a:buFont typeface="Arial"/>
              <a:buNone/>
            </a:pPr>
            <a:r>
              <a:rPr b="0" i="0" lang="en-US" sz="1230" u="none" cap="none" strike="noStrike">
                <a:solidFill>
                  <a:srgbClr val="B2C1D3"/>
                </a:solidFill>
                <a:latin typeface="Arial"/>
                <a:ea typeface="Arial"/>
                <a:cs typeface="Arial"/>
                <a:sym typeface="Arial"/>
              </a:rPr>
              <a:t>get_traveler_preferences()</a:t>
            </a:r>
            <a:endParaRPr b="0" i="0" sz="1230" u="none" cap="none" strike="noStrike">
              <a:solidFill>
                <a:schemeClr val="dk1"/>
              </a:solidFill>
              <a:latin typeface="Arial"/>
              <a:ea typeface="Arial"/>
              <a:cs typeface="Arial"/>
              <a:sym typeface="Arial"/>
            </a:endParaRPr>
          </a:p>
        </p:txBody>
      </p:sp>
      <p:sp>
        <p:nvSpPr>
          <p:cNvPr id="381" name="Google Shape;381;hd1b175b31137957_0_210"/>
          <p:cNvSpPr/>
          <p:nvPr/>
        </p:nvSpPr>
        <p:spPr>
          <a:xfrm>
            <a:off x="4571878" y="3136392"/>
            <a:ext cx="30357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10"/>
              <a:buFont typeface="Arial"/>
              <a:buNone/>
            </a:pPr>
            <a:r>
              <a:rPr b="0" i="0" lang="en-US" sz="1210" u="none" cap="none" strike="noStrike">
                <a:solidFill>
                  <a:srgbClr val="8497AE"/>
                </a:solidFill>
                <a:latin typeface="Arial"/>
                <a:ea typeface="Arial"/>
                <a:cs typeface="Arial"/>
                <a:sym typeface="Arial"/>
              </a:rPr>
              <a:t>Check passenger preferences</a:t>
            </a:r>
            <a:endParaRPr b="0" i="0" sz="1210" u="none" cap="none" strike="noStrike">
              <a:solidFill>
                <a:schemeClr val="dk1"/>
              </a:solidFill>
              <a:latin typeface="Arial"/>
              <a:ea typeface="Arial"/>
              <a:cs typeface="Arial"/>
              <a:sym typeface="Arial"/>
            </a:endParaRPr>
          </a:p>
        </p:txBody>
      </p:sp>
      <p:sp>
        <p:nvSpPr>
          <p:cNvPr id="382" name="Google Shape;382;hd1b175b31137957_0_210"/>
          <p:cNvSpPr/>
          <p:nvPr/>
        </p:nvSpPr>
        <p:spPr>
          <a:xfrm>
            <a:off x="8064793" y="1947672"/>
            <a:ext cx="3456300" cy="1673400"/>
          </a:xfrm>
          <a:prstGeom prst="roundRect">
            <a:avLst>
              <a:gd fmla="val 7104"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hd1b175b31137957_0_210"/>
          <p:cNvSpPr/>
          <p:nvPr/>
        </p:nvSpPr>
        <p:spPr>
          <a:xfrm>
            <a:off x="8064793" y="1947672"/>
            <a:ext cx="50400" cy="1673400"/>
          </a:xfrm>
          <a:prstGeom prst="rect">
            <a:avLst/>
          </a:prstGeom>
          <a:solidFill>
            <a:srgbClr val="63E6C1"/>
          </a:solidFill>
          <a:ln cap="flat" cmpd="sng" w="12700">
            <a:solidFill>
              <a:srgbClr val="63E6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hd1b175b31137957_0_210"/>
          <p:cNvSpPr/>
          <p:nvPr/>
        </p:nvSpPr>
        <p:spPr>
          <a:xfrm>
            <a:off x="8275099" y="2121408"/>
            <a:ext cx="329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1250"/>
              <a:buFont typeface="Arial"/>
              <a:buNone/>
            </a:pPr>
            <a:r>
              <a:rPr b="1" i="0" lang="en-US" sz="1250" u="none" cap="none" strike="noStrike">
                <a:solidFill>
                  <a:srgbClr val="63E6C1"/>
                </a:solidFill>
                <a:latin typeface="Arial"/>
                <a:ea typeface="Arial"/>
                <a:cs typeface="Arial"/>
                <a:sym typeface="Arial"/>
              </a:rPr>
              <a:t>03</a:t>
            </a:r>
            <a:endParaRPr b="0" i="0" sz="1250" u="none" cap="none" strike="noStrike">
              <a:solidFill>
                <a:schemeClr val="dk1"/>
              </a:solidFill>
              <a:latin typeface="Arial"/>
              <a:ea typeface="Arial"/>
              <a:cs typeface="Arial"/>
              <a:sym typeface="Arial"/>
            </a:endParaRPr>
          </a:p>
        </p:txBody>
      </p:sp>
      <p:sp>
        <p:nvSpPr>
          <p:cNvPr id="385" name="Google Shape;385;hd1b175b31137957_0_210"/>
          <p:cNvSpPr/>
          <p:nvPr/>
        </p:nvSpPr>
        <p:spPr>
          <a:xfrm>
            <a:off x="10405595" y="2112264"/>
            <a:ext cx="9144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3E6C1"/>
              </a:buClr>
              <a:buSzPts val="1050"/>
              <a:buFont typeface="Arial"/>
              <a:buNone/>
            </a:pPr>
            <a:r>
              <a:rPr b="1" i="0" lang="en-US" sz="1050" u="none" cap="none" strike="noStrike">
                <a:solidFill>
                  <a:srgbClr val="63E6C1"/>
                </a:solidFill>
                <a:latin typeface="Arial"/>
                <a:ea typeface="Arial"/>
                <a:cs typeface="Arial"/>
                <a:sym typeface="Arial"/>
              </a:rPr>
              <a:t>READ</a:t>
            </a:r>
            <a:endParaRPr b="0" i="0" sz="1050" u="none" cap="none" strike="noStrike">
              <a:solidFill>
                <a:schemeClr val="dk1"/>
              </a:solidFill>
              <a:latin typeface="Arial"/>
              <a:ea typeface="Arial"/>
              <a:cs typeface="Arial"/>
              <a:sym typeface="Arial"/>
            </a:endParaRPr>
          </a:p>
        </p:txBody>
      </p:sp>
      <p:sp>
        <p:nvSpPr>
          <p:cNvPr id="386" name="Google Shape;386;hd1b175b31137957_0_210"/>
          <p:cNvSpPr/>
          <p:nvPr/>
        </p:nvSpPr>
        <p:spPr>
          <a:xfrm>
            <a:off x="8275099" y="2423160"/>
            <a:ext cx="3035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820"/>
              <a:buFont typeface="Arial"/>
              <a:buNone/>
            </a:pPr>
            <a:r>
              <a:rPr b="1" i="0" lang="en-US" sz="1820" u="none" cap="none" strike="noStrike">
                <a:solidFill>
                  <a:srgbClr val="F5F8FC"/>
                </a:solidFill>
                <a:latin typeface="Arial"/>
                <a:ea typeface="Arial"/>
                <a:cs typeface="Arial"/>
                <a:sym typeface="Arial"/>
              </a:rPr>
              <a:t>Calendar API</a:t>
            </a:r>
            <a:endParaRPr b="0" i="0" sz="1820" u="none" cap="none" strike="noStrike">
              <a:solidFill>
                <a:schemeClr val="dk1"/>
              </a:solidFill>
              <a:latin typeface="Arial"/>
              <a:ea typeface="Arial"/>
              <a:cs typeface="Arial"/>
              <a:sym typeface="Arial"/>
            </a:endParaRPr>
          </a:p>
        </p:txBody>
      </p:sp>
      <p:sp>
        <p:nvSpPr>
          <p:cNvPr id="387" name="Google Shape;387;hd1b175b31137957_0_210"/>
          <p:cNvSpPr/>
          <p:nvPr/>
        </p:nvSpPr>
        <p:spPr>
          <a:xfrm>
            <a:off x="8275099" y="2825496"/>
            <a:ext cx="30357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C1D3"/>
              </a:buClr>
              <a:buSzPts val="1230"/>
              <a:buFont typeface="Arial"/>
              <a:buNone/>
            </a:pPr>
            <a:r>
              <a:rPr b="0" i="0" lang="en-US" sz="1230" u="none" cap="none" strike="noStrike">
                <a:solidFill>
                  <a:srgbClr val="B2C1D3"/>
                </a:solidFill>
                <a:latin typeface="Arial"/>
                <a:ea typeface="Arial"/>
                <a:cs typeface="Arial"/>
                <a:sym typeface="Arial"/>
              </a:rPr>
              <a:t>check_calendar()</a:t>
            </a:r>
            <a:endParaRPr b="0" i="0" sz="1230" u="none" cap="none" strike="noStrike">
              <a:solidFill>
                <a:schemeClr val="dk1"/>
              </a:solidFill>
              <a:latin typeface="Arial"/>
              <a:ea typeface="Arial"/>
              <a:cs typeface="Arial"/>
              <a:sym typeface="Arial"/>
            </a:endParaRPr>
          </a:p>
        </p:txBody>
      </p:sp>
      <p:sp>
        <p:nvSpPr>
          <p:cNvPr id="388" name="Google Shape;388;hd1b175b31137957_0_210"/>
          <p:cNvSpPr/>
          <p:nvPr/>
        </p:nvSpPr>
        <p:spPr>
          <a:xfrm>
            <a:off x="8275099" y="3136392"/>
            <a:ext cx="30357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10"/>
              <a:buFont typeface="Arial"/>
              <a:buNone/>
            </a:pPr>
            <a:r>
              <a:rPr b="0" i="0" lang="en-US" sz="1210" u="none" cap="none" strike="noStrike">
                <a:solidFill>
                  <a:srgbClr val="8497AE"/>
                </a:solidFill>
                <a:latin typeface="Arial"/>
                <a:ea typeface="Arial"/>
                <a:cs typeface="Arial"/>
                <a:sym typeface="Arial"/>
              </a:rPr>
              <a:t>Check schedule conflicts</a:t>
            </a:r>
            <a:endParaRPr b="0" i="0" sz="1210" u="none" cap="none" strike="noStrike">
              <a:solidFill>
                <a:schemeClr val="dk1"/>
              </a:solidFill>
              <a:latin typeface="Arial"/>
              <a:ea typeface="Arial"/>
              <a:cs typeface="Arial"/>
              <a:sym typeface="Arial"/>
            </a:endParaRPr>
          </a:p>
        </p:txBody>
      </p:sp>
      <p:sp>
        <p:nvSpPr>
          <p:cNvPr id="389" name="Google Shape;389;hd1b175b31137957_0_210"/>
          <p:cNvSpPr/>
          <p:nvPr/>
        </p:nvSpPr>
        <p:spPr>
          <a:xfrm>
            <a:off x="658350" y="3886200"/>
            <a:ext cx="3456300" cy="1673400"/>
          </a:xfrm>
          <a:prstGeom prst="roundRect">
            <a:avLst>
              <a:gd fmla="val 7104"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hd1b175b31137957_0_210"/>
          <p:cNvSpPr/>
          <p:nvPr/>
        </p:nvSpPr>
        <p:spPr>
          <a:xfrm>
            <a:off x="658350" y="3886200"/>
            <a:ext cx="50400" cy="1673400"/>
          </a:xfrm>
          <a:prstGeom prst="rect">
            <a:avLst/>
          </a:prstGeom>
          <a:solidFill>
            <a:srgbClr val="FFC979"/>
          </a:solidFill>
          <a:ln cap="flat" cmpd="sng" w="12700">
            <a:solidFill>
              <a:srgbClr val="FFC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hd1b175b31137957_0_210"/>
          <p:cNvSpPr/>
          <p:nvPr/>
        </p:nvSpPr>
        <p:spPr>
          <a:xfrm>
            <a:off x="868657" y="4059936"/>
            <a:ext cx="329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979"/>
              </a:buClr>
              <a:buSzPts val="1250"/>
              <a:buFont typeface="Arial"/>
              <a:buNone/>
            </a:pPr>
            <a:r>
              <a:rPr b="1" i="0" lang="en-US" sz="1250" u="none" cap="none" strike="noStrike">
                <a:solidFill>
                  <a:srgbClr val="FFC979"/>
                </a:solidFill>
                <a:latin typeface="Arial"/>
                <a:ea typeface="Arial"/>
                <a:cs typeface="Arial"/>
                <a:sym typeface="Arial"/>
              </a:rPr>
              <a:t>04</a:t>
            </a:r>
            <a:endParaRPr b="0" i="0" sz="1250" u="none" cap="none" strike="noStrike">
              <a:solidFill>
                <a:schemeClr val="dk1"/>
              </a:solidFill>
              <a:latin typeface="Arial"/>
              <a:ea typeface="Arial"/>
              <a:cs typeface="Arial"/>
              <a:sym typeface="Arial"/>
            </a:endParaRPr>
          </a:p>
        </p:txBody>
      </p:sp>
      <p:sp>
        <p:nvSpPr>
          <p:cNvPr id="392" name="Google Shape;392;hd1b175b31137957_0_210"/>
          <p:cNvSpPr/>
          <p:nvPr/>
        </p:nvSpPr>
        <p:spPr>
          <a:xfrm>
            <a:off x="2999152" y="4050792"/>
            <a:ext cx="9144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C979"/>
              </a:buClr>
              <a:buSzPts val="1050"/>
              <a:buFont typeface="Arial"/>
              <a:buNone/>
            </a:pPr>
            <a:r>
              <a:rPr b="1" i="0" lang="en-US" sz="1050" u="none" cap="none" strike="noStrike">
                <a:solidFill>
                  <a:srgbClr val="FFC979"/>
                </a:solidFill>
                <a:latin typeface="Arial"/>
                <a:ea typeface="Arial"/>
                <a:cs typeface="Arial"/>
                <a:sym typeface="Arial"/>
              </a:rPr>
              <a:t>WRITE</a:t>
            </a:r>
            <a:endParaRPr b="0" i="0" sz="1050" u="none" cap="none" strike="noStrike">
              <a:solidFill>
                <a:schemeClr val="dk1"/>
              </a:solidFill>
              <a:latin typeface="Arial"/>
              <a:ea typeface="Arial"/>
              <a:cs typeface="Arial"/>
              <a:sym typeface="Arial"/>
            </a:endParaRPr>
          </a:p>
        </p:txBody>
      </p:sp>
      <p:sp>
        <p:nvSpPr>
          <p:cNvPr id="393" name="Google Shape;393;hd1b175b31137957_0_210"/>
          <p:cNvSpPr/>
          <p:nvPr/>
        </p:nvSpPr>
        <p:spPr>
          <a:xfrm>
            <a:off x="868657" y="4361688"/>
            <a:ext cx="3035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820"/>
              <a:buFont typeface="Arial"/>
              <a:buNone/>
            </a:pPr>
            <a:r>
              <a:rPr b="1" i="0" lang="en-US" sz="1820" u="none" cap="none" strike="noStrike">
                <a:solidFill>
                  <a:srgbClr val="F5F8FC"/>
                </a:solidFill>
                <a:latin typeface="Arial"/>
                <a:ea typeface="Arial"/>
                <a:cs typeface="Arial"/>
                <a:sym typeface="Arial"/>
              </a:rPr>
              <a:t>Booking API</a:t>
            </a:r>
            <a:endParaRPr b="0" i="0" sz="1820" u="none" cap="none" strike="noStrike">
              <a:solidFill>
                <a:schemeClr val="dk1"/>
              </a:solidFill>
              <a:latin typeface="Arial"/>
              <a:ea typeface="Arial"/>
              <a:cs typeface="Arial"/>
              <a:sym typeface="Arial"/>
            </a:endParaRPr>
          </a:p>
        </p:txBody>
      </p:sp>
      <p:sp>
        <p:nvSpPr>
          <p:cNvPr id="394" name="Google Shape;394;hd1b175b31137957_0_210"/>
          <p:cNvSpPr/>
          <p:nvPr/>
        </p:nvSpPr>
        <p:spPr>
          <a:xfrm>
            <a:off x="868657" y="4764024"/>
            <a:ext cx="30357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C1D3"/>
              </a:buClr>
              <a:buSzPts val="1230"/>
              <a:buFont typeface="Arial"/>
              <a:buNone/>
            </a:pPr>
            <a:r>
              <a:rPr b="0" i="0" lang="en-US" sz="1230" u="none" cap="none" strike="noStrike">
                <a:solidFill>
                  <a:srgbClr val="B2C1D3"/>
                </a:solidFill>
                <a:latin typeface="Arial"/>
                <a:ea typeface="Arial"/>
                <a:cs typeface="Arial"/>
                <a:sym typeface="Arial"/>
              </a:rPr>
              <a:t>upgrade_seat()</a:t>
            </a:r>
            <a:endParaRPr b="0" i="0" sz="1230" u="none" cap="none" strike="noStrike">
              <a:solidFill>
                <a:schemeClr val="dk1"/>
              </a:solidFill>
              <a:latin typeface="Arial"/>
              <a:ea typeface="Arial"/>
              <a:cs typeface="Arial"/>
              <a:sym typeface="Arial"/>
            </a:endParaRPr>
          </a:p>
        </p:txBody>
      </p:sp>
      <p:sp>
        <p:nvSpPr>
          <p:cNvPr id="395" name="Google Shape;395;hd1b175b31137957_0_210"/>
          <p:cNvSpPr/>
          <p:nvPr/>
        </p:nvSpPr>
        <p:spPr>
          <a:xfrm>
            <a:off x="868657" y="5074920"/>
            <a:ext cx="30357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10"/>
              <a:buFont typeface="Arial"/>
              <a:buNone/>
            </a:pPr>
            <a:r>
              <a:rPr b="0" i="0" lang="en-US" sz="1210" u="none" cap="none" strike="noStrike">
                <a:solidFill>
                  <a:srgbClr val="8497AE"/>
                </a:solidFill>
                <a:latin typeface="Arial"/>
                <a:ea typeface="Arial"/>
                <a:cs typeface="Arial"/>
                <a:sym typeface="Arial"/>
              </a:rPr>
              <a:t>Reserve a new seat</a:t>
            </a:r>
            <a:endParaRPr b="0" i="0" sz="1210" u="none" cap="none" strike="noStrike">
              <a:solidFill>
                <a:schemeClr val="dk1"/>
              </a:solidFill>
              <a:latin typeface="Arial"/>
              <a:ea typeface="Arial"/>
              <a:cs typeface="Arial"/>
              <a:sym typeface="Arial"/>
            </a:endParaRPr>
          </a:p>
        </p:txBody>
      </p:sp>
      <p:sp>
        <p:nvSpPr>
          <p:cNvPr id="396" name="Google Shape;396;hd1b175b31137957_0_210"/>
          <p:cNvSpPr/>
          <p:nvPr/>
        </p:nvSpPr>
        <p:spPr>
          <a:xfrm>
            <a:off x="4361572" y="3886200"/>
            <a:ext cx="3456300" cy="1673400"/>
          </a:xfrm>
          <a:prstGeom prst="roundRect">
            <a:avLst>
              <a:gd fmla="val 7104"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hd1b175b31137957_0_210"/>
          <p:cNvSpPr/>
          <p:nvPr/>
        </p:nvSpPr>
        <p:spPr>
          <a:xfrm>
            <a:off x="4361572" y="3886200"/>
            <a:ext cx="50400" cy="1673400"/>
          </a:xfrm>
          <a:prstGeom prst="rect">
            <a:avLst/>
          </a:prstGeom>
          <a:solidFill>
            <a:srgbClr val="FFC979"/>
          </a:solidFill>
          <a:ln cap="flat" cmpd="sng" w="12700">
            <a:solidFill>
              <a:srgbClr val="FFC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hd1b175b31137957_0_210"/>
          <p:cNvSpPr/>
          <p:nvPr/>
        </p:nvSpPr>
        <p:spPr>
          <a:xfrm>
            <a:off x="4571878" y="4059936"/>
            <a:ext cx="329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979"/>
              </a:buClr>
              <a:buSzPts val="1250"/>
              <a:buFont typeface="Arial"/>
              <a:buNone/>
            </a:pPr>
            <a:r>
              <a:rPr b="1" i="0" lang="en-US" sz="1250" u="none" cap="none" strike="noStrike">
                <a:solidFill>
                  <a:srgbClr val="FFC979"/>
                </a:solidFill>
                <a:latin typeface="Arial"/>
                <a:ea typeface="Arial"/>
                <a:cs typeface="Arial"/>
                <a:sym typeface="Arial"/>
              </a:rPr>
              <a:t>05</a:t>
            </a:r>
            <a:endParaRPr b="0" i="0" sz="1250" u="none" cap="none" strike="noStrike">
              <a:solidFill>
                <a:schemeClr val="dk1"/>
              </a:solidFill>
              <a:latin typeface="Arial"/>
              <a:ea typeface="Arial"/>
              <a:cs typeface="Arial"/>
              <a:sym typeface="Arial"/>
            </a:endParaRPr>
          </a:p>
        </p:txBody>
      </p:sp>
      <p:sp>
        <p:nvSpPr>
          <p:cNvPr id="399" name="Google Shape;399;hd1b175b31137957_0_210"/>
          <p:cNvSpPr/>
          <p:nvPr/>
        </p:nvSpPr>
        <p:spPr>
          <a:xfrm>
            <a:off x="6702373" y="4050792"/>
            <a:ext cx="9144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C979"/>
              </a:buClr>
              <a:buSzPts val="1050"/>
              <a:buFont typeface="Arial"/>
              <a:buNone/>
            </a:pPr>
            <a:r>
              <a:rPr b="1" i="0" lang="en-US" sz="1050" u="none" cap="none" strike="noStrike">
                <a:solidFill>
                  <a:srgbClr val="FFC979"/>
                </a:solidFill>
                <a:latin typeface="Arial"/>
                <a:ea typeface="Arial"/>
                <a:cs typeface="Arial"/>
                <a:sym typeface="Arial"/>
              </a:rPr>
              <a:t>WRITE</a:t>
            </a:r>
            <a:endParaRPr b="0" i="0" sz="1050" u="none" cap="none" strike="noStrike">
              <a:solidFill>
                <a:schemeClr val="dk1"/>
              </a:solidFill>
              <a:latin typeface="Arial"/>
              <a:ea typeface="Arial"/>
              <a:cs typeface="Arial"/>
              <a:sym typeface="Arial"/>
            </a:endParaRPr>
          </a:p>
        </p:txBody>
      </p:sp>
      <p:sp>
        <p:nvSpPr>
          <p:cNvPr id="400" name="Google Shape;400;hd1b175b31137957_0_210"/>
          <p:cNvSpPr/>
          <p:nvPr/>
        </p:nvSpPr>
        <p:spPr>
          <a:xfrm>
            <a:off x="4571878" y="4361688"/>
            <a:ext cx="3035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820"/>
              <a:buFont typeface="Arial"/>
              <a:buNone/>
            </a:pPr>
            <a:r>
              <a:rPr b="1" i="0" lang="en-US" sz="1820" u="none" cap="none" strike="noStrike">
                <a:solidFill>
                  <a:srgbClr val="F5F8FC"/>
                </a:solidFill>
                <a:latin typeface="Arial"/>
                <a:ea typeface="Arial"/>
                <a:cs typeface="Arial"/>
                <a:sym typeface="Arial"/>
              </a:rPr>
              <a:t>Payment API</a:t>
            </a:r>
            <a:endParaRPr b="0" i="0" sz="1820" u="none" cap="none" strike="noStrike">
              <a:solidFill>
                <a:schemeClr val="dk1"/>
              </a:solidFill>
              <a:latin typeface="Arial"/>
              <a:ea typeface="Arial"/>
              <a:cs typeface="Arial"/>
              <a:sym typeface="Arial"/>
            </a:endParaRPr>
          </a:p>
        </p:txBody>
      </p:sp>
      <p:sp>
        <p:nvSpPr>
          <p:cNvPr id="401" name="Google Shape;401;hd1b175b31137957_0_210"/>
          <p:cNvSpPr/>
          <p:nvPr/>
        </p:nvSpPr>
        <p:spPr>
          <a:xfrm>
            <a:off x="4571878" y="4764024"/>
            <a:ext cx="30357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C1D3"/>
              </a:buClr>
              <a:buSzPts val="1230"/>
              <a:buFont typeface="Arial"/>
              <a:buNone/>
            </a:pPr>
            <a:r>
              <a:rPr b="0" i="0" lang="en-US" sz="1230" u="none" cap="none" strike="noStrike">
                <a:solidFill>
                  <a:srgbClr val="B2C1D3"/>
                </a:solidFill>
                <a:latin typeface="Arial"/>
                <a:ea typeface="Arial"/>
                <a:cs typeface="Arial"/>
                <a:sym typeface="Arial"/>
              </a:rPr>
              <a:t>charge_card()</a:t>
            </a:r>
            <a:endParaRPr b="0" i="0" sz="1230" u="none" cap="none" strike="noStrike">
              <a:solidFill>
                <a:schemeClr val="dk1"/>
              </a:solidFill>
              <a:latin typeface="Arial"/>
              <a:ea typeface="Arial"/>
              <a:cs typeface="Arial"/>
              <a:sym typeface="Arial"/>
            </a:endParaRPr>
          </a:p>
        </p:txBody>
      </p:sp>
      <p:sp>
        <p:nvSpPr>
          <p:cNvPr id="402" name="Google Shape;402;hd1b175b31137957_0_210"/>
          <p:cNvSpPr/>
          <p:nvPr/>
        </p:nvSpPr>
        <p:spPr>
          <a:xfrm>
            <a:off x="4571878" y="5074920"/>
            <a:ext cx="30357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10"/>
              <a:buFont typeface="Arial"/>
              <a:buNone/>
            </a:pPr>
            <a:r>
              <a:rPr b="0" i="0" lang="en-US" sz="1210" u="none" cap="none" strike="noStrike">
                <a:solidFill>
                  <a:srgbClr val="8497AE"/>
                </a:solidFill>
                <a:latin typeface="Arial"/>
                <a:ea typeface="Arial"/>
                <a:cs typeface="Arial"/>
                <a:sym typeface="Arial"/>
              </a:rPr>
              <a:t>Process payment</a:t>
            </a:r>
            <a:endParaRPr b="0" i="0" sz="1210" u="none" cap="none" strike="noStrike">
              <a:solidFill>
                <a:schemeClr val="dk1"/>
              </a:solidFill>
              <a:latin typeface="Arial"/>
              <a:ea typeface="Arial"/>
              <a:cs typeface="Arial"/>
              <a:sym typeface="Arial"/>
            </a:endParaRPr>
          </a:p>
        </p:txBody>
      </p:sp>
      <p:sp>
        <p:nvSpPr>
          <p:cNvPr id="403" name="Google Shape;403;hd1b175b31137957_0_210"/>
          <p:cNvSpPr/>
          <p:nvPr/>
        </p:nvSpPr>
        <p:spPr>
          <a:xfrm>
            <a:off x="8064793" y="3886200"/>
            <a:ext cx="3456300" cy="1673400"/>
          </a:xfrm>
          <a:prstGeom prst="roundRect">
            <a:avLst>
              <a:gd fmla="val 7104"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hd1b175b31137957_0_210"/>
          <p:cNvSpPr/>
          <p:nvPr/>
        </p:nvSpPr>
        <p:spPr>
          <a:xfrm>
            <a:off x="8064793" y="3886200"/>
            <a:ext cx="50400" cy="1673400"/>
          </a:xfrm>
          <a:prstGeom prst="rect">
            <a:avLst/>
          </a:prstGeom>
          <a:solidFill>
            <a:srgbClr val="FFC979"/>
          </a:solidFill>
          <a:ln cap="flat" cmpd="sng" w="12700">
            <a:solidFill>
              <a:srgbClr val="FFC97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hd1b175b31137957_0_210"/>
          <p:cNvSpPr/>
          <p:nvPr/>
        </p:nvSpPr>
        <p:spPr>
          <a:xfrm>
            <a:off x="8275099" y="4059936"/>
            <a:ext cx="329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979"/>
              </a:buClr>
              <a:buSzPts val="1250"/>
              <a:buFont typeface="Arial"/>
              <a:buNone/>
            </a:pPr>
            <a:r>
              <a:rPr b="1" i="0" lang="en-US" sz="1250" u="none" cap="none" strike="noStrike">
                <a:solidFill>
                  <a:srgbClr val="FFC979"/>
                </a:solidFill>
                <a:latin typeface="Arial"/>
                <a:ea typeface="Arial"/>
                <a:cs typeface="Arial"/>
                <a:sym typeface="Arial"/>
              </a:rPr>
              <a:t>06</a:t>
            </a:r>
            <a:endParaRPr b="0" i="0" sz="1250" u="none" cap="none" strike="noStrike">
              <a:solidFill>
                <a:schemeClr val="dk1"/>
              </a:solidFill>
              <a:latin typeface="Arial"/>
              <a:ea typeface="Arial"/>
              <a:cs typeface="Arial"/>
              <a:sym typeface="Arial"/>
            </a:endParaRPr>
          </a:p>
        </p:txBody>
      </p:sp>
      <p:sp>
        <p:nvSpPr>
          <p:cNvPr id="406" name="Google Shape;406;hd1b175b31137957_0_210"/>
          <p:cNvSpPr/>
          <p:nvPr/>
        </p:nvSpPr>
        <p:spPr>
          <a:xfrm>
            <a:off x="10405595" y="4050792"/>
            <a:ext cx="914400" cy="2013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C979"/>
              </a:buClr>
              <a:buSzPts val="1050"/>
              <a:buFont typeface="Arial"/>
              <a:buNone/>
            </a:pPr>
            <a:r>
              <a:rPr b="1" i="0" lang="en-US" sz="1050" u="none" cap="none" strike="noStrike">
                <a:solidFill>
                  <a:srgbClr val="FFC979"/>
                </a:solidFill>
                <a:latin typeface="Arial"/>
                <a:ea typeface="Arial"/>
                <a:cs typeface="Arial"/>
                <a:sym typeface="Arial"/>
              </a:rPr>
              <a:t>WRITE</a:t>
            </a:r>
            <a:endParaRPr b="0" i="0" sz="1050" u="none" cap="none" strike="noStrike">
              <a:solidFill>
                <a:schemeClr val="dk1"/>
              </a:solidFill>
              <a:latin typeface="Arial"/>
              <a:ea typeface="Arial"/>
              <a:cs typeface="Arial"/>
              <a:sym typeface="Arial"/>
            </a:endParaRPr>
          </a:p>
        </p:txBody>
      </p:sp>
      <p:sp>
        <p:nvSpPr>
          <p:cNvPr id="407" name="Google Shape;407;hd1b175b31137957_0_210"/>
          <p:cNvSpPr/>
          <p:nvPr/>
        </p:nvSpPr>
        <p:spPr>
          <a:xfrm>
            <a:off x="8275099" y="4361688"/>
            <a:ext cx="30357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820"/>
              <a:buFont typeface="Arial"/>
              <a:buNone/>
            </a:pPr>
            <a:r>
              <a:rPr b="1" i="0" lang="en-US" sz="1820" u="none" cap="none" strike="noStrike">
                <a:solidFill>
                  <a:srgbClr val="F5F8FC"/>
                </a:solidFill>
                <a:latin typeface="Arial"/>
                <a:ea typeface="Arial"/>
                <a:cs typeface="Arial"/>
                <a:sym typeface="Arial"/>
              </a:rPr>
              <a:t>Email API</a:t>
            </a:r>
            <a:endParaRPr b="0" i="0" sz="1820" u="none" cap="none" strike="noStrike">
              <a:solidFill>
                <a:schemeClr val="dk1"/>
              </a:solidFill>
              <a:latin typeface="Arial"/>
              <a:ea typeface="Arial"/>
              <a:cs typeface="Arial"/>
              <a:sym typeface="Arial"/>
            </a:endParaRPr>
          </a:p>
        </p:txBody>
      </p:sp>
      <p:sp>
        <p:nvSpPr>
          <p:cNvPr id="408" name="Google Shape;408;hd1b175b31137957_0_210"/>
          <p:cNvSpPr/>
          <p:nvPr/>
        </p:nvSpPr>
        <p:spPr>
          <a:xfrm>
            <a:off x="8275099" y="4764024"/>
            <a:ext cx="30357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C1D3"/>
              </a:buClr>
              <a:buSzPts val="1230"/>
              <a:buFont typeface="Arial"/>
              <a:buNone/>
            </a:pPr>
            <a:r>
              <a:rPr b="0" i="0" lang="en-US" sz="1230" u="none" cap="none" strike="noStrike">
                <a:solidFill>
                  <a:srgbClr val="B2C1D3"/>
                </a:solidFill>
                <a:latin typeface="Arial"/>
                <a:ea typeface="Arial"/>
                <a:cs typeface="Arial"/>
                <a:sym typeface="Arial"/>
              </a:rPr>
              <a:t>send_confirmation()</a:t>
            </a:r>
            <a:endParaRPr b="0" i="0" sz="1230" u="none" cap="none" strike="noStrike">
              <a:solidFill>
                <a:schemeClr val="dk1"/>
              </a:solidFill>
              <a:latin typeface="Arial"/>
              <a:ea typeface="Arial"/>
              <a:cs typeface="Arial"/>
              <a:sym typeface="Arial"/>
            </a:endParaRPr>
          </a:p>
        </p:txBody>
      </p:sp>
      <p:sp>
        <p:nvSpPr>
          <p:cNvPr id="409" name="Google Shape;409;hd1b175b31137957_0_210"/>
          <p:cNvSpPr/>
          <p:nvPr/>
        </p:nvSpPr>
        <p:spPr>
          <a:xfrm>
            <a:off x="8275099" y="5074920"/>
            <a:ext cx="30357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10"/>
              <a:buFont typeface="Arial"/>
              <a:buNone/>
            </a:pPr>
            <a:r>
              <a:rPr b="0" i="0" lang="en-US" sz="1210" u="none" cap="none" strike="noStrike">
                <a:solidFill>
                  <a:srgbClr val="8497AE"/>
                </a:solidFill>
                <a:latin typeface="Arial"/>
                <a:ea typeface="Arial"/>
                <a:cs typeface="Arial"/>
                <a:sym typeface="Arial"/>
              </a:rPr>
              <a:t>Notify the passenger</a:t>
            </a:r>
            <a:endParaRPr b="0" i="0" sz="1210" u="none" cap="none" strike="noStrike">
              <a:solidFill>
                <a:schemeClr val="dk1"/>
              </a:solidFill>
              <a:latin typeface="Arial"/>
              <a:ea typeface="Arial"/>
              <a:cs typeface="Arial"/>
              <a:sym typeface="Arial"/>
            </a:endParaRPr>
          </a:p>
        </p:txBody>
      </p:sp>
      <p:sp>
        <p:nvSpPr>
          <p:cNvPr id="410" name="Google Shape;410;hd1b175b31137957_0_210"/>
          <p:cNvSpPr/>
          <p:nvPr/>
        </p:nvSpPr>
        <p:spPr>
          <a:xfrm>
            <a:off x="658350" y="5806440"/>
            <a:ext cx="10862700" cy="512100"/>
          </a:xfrm>
          <a:prstGeom prst="roundRect">
            <a:avLst>
              <a:gd fmla="val 14286" name="adj"/>
            </a:avLst>
          </a:prstGeom>
          <a:solidFill>
            <a:srgbClr val="101F32"/>
          </a:solidFill>
          <a:ln cap="flat" cmpd="sng" w="12700">
            <a:solidFill>
              <a:srgbClr val="101F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hd1b175b31137957_0_210"/>
          <p:cNvSpPr/>
          <p:nvPr/>
        </p:nvSpPr>
        <p:spPr>
          <a:xfrm>
            <a:off x="868657" y="5952744"/>
            <a:ext cx="2148900" cy="15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1000"/>
              <a:buFont typeface="Arial"/>
              <a:buNone/>
            </a:pPr>
            <a:r>
              <a:rPr b="1" i="0" lang="en-US" sz="1000" u="none" cap="none" strike="noStrike">
                <a:solidFill>
                  <a:srgbClr val="63E6C1"/>
                </a:solidFill>
                <a:latin typeface="Arial"/>
                <a:ea typeface="Arial"/>
                <a:cs typeface="Arial"/>
                <a:sym typeface="Arial"/>
              </a:rPr>
              <a:t>THE IMPORTANT DISTINCTION</a:t>
            </a:r>
            <a:endParaRPr b="0" i="0" sz="1000" u="none" cap="none" strike="noStrike">
              <a:solidFill>
                <a:schemeClr val="dk1"/>
              </a:solidFill>
              <a:latin typeface="Arial"/>
              <a:ea typeface="Arial"/>
              <a:cs typeface="Arial"/>
              <a:sym typeface="Arial"/>
            </a:endParaRPr>
          </a:p>
        </p:txBody>
      </p:sp>
      <p:sp>
        <p:nvSpPr>
          <p:cNvPr id="412" name="Google Shape;412;hd1b175b31137957_0_210"/>
          <p:cNvSpPr/>
          <p:nvPr/>
        </p:nvSpPr>
        <p:spPr>
          <a:xfrm>
            <a:off x="3017440" y="5907024"/>
            <a:ext cx="81927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560"/>
              <a:buFont typeface="Arial"/>
              <a:buNone/>
            </a:pPr>
            <a:r>
              <a:rPr b="1" i="0" lang="en-US" sz="1560" u="none" cap="none" strike="noStrike">
                <a:solidFill>
                  <a:srgbClr val="F5F8FC"/>
                </a:solidFill>
                <a:latin typeface="Arial"/>
                <a:ea typeface="Arial"/>
                <a:cs typeface="Arial"/>
                <a:sym typeface="Arial"/>
              </a:rPr>
              <a:t>A search reads state. A booking or charge creates an external side effect.</a:t>
            </a:r>
            <a:endParaRPr b="0" i="0" sz="156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120"/>
        </a:solidFill>
      </p:bgPr>
    </p:bg>
    <p:spTree>
      <p:nvGrpSpPr>
        <p:cNvPr id="417" name="Shape 417"/>
        <p:cNvGrpSpPr/>
        <p:nvPr/>
      </p:nvGrpSpPr>
      <p:grpSpPr>
        <a:xfrm>
          <a:off x="0" y="0"/>
          <a:ext cx="0" cy="0"/>
          <a:chOff x="0" y="0"/>
          <a:chExt cx="0" cy="0"/>
        </a:xfrm>
      </p:grpSpPr>
      <p:sp>
        <p:nvSpPr>
          <p:cNvPr id="418" name="Google Shape;418;hd1b175b31137957_0_266"/>
          <p:cNvSpPr/>
          <p:nvPr/>
        </p:nvSpPr>
        <p:spPr>
          <a:xfrm>
            <a:off x="0" y="0"/>
            <a:ext cx="12191400" cy="41100"/>
          </a:xfrm>
          <a:prstGeom prst="rect">
            <a:avLst/>
          </a:prstGeom>
          <a:solidFill>
            <a:srgbClr val="63E6C1"/>
          </a:solidFill>
          <a:ln cap="flat" cmpd="sng" w="12700">
            <a:solidFill>
              <a:srgbClr val="63E6C1">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hd1b175b31137957_0_266"/>
          <p:cNvSpPr/>
          <p:nvPr/>
        </p:nvSpPr>
        <p:spPr>
          <a:xfrm>
            <a:off x="658350" y="347472"/>
            <a:ext cx="100581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1250"/>
              <a:buFont typeface="Arial"/>
              <a:buNone/>
            </a:pPr>
            <a:r>
              <a:rPr b="1" i="0" lang="en-US" sz="1250" u="none" cap="none" strike="noStrike">
                <a:solidFill>
                  <a:srgbClr val="63E6C1"/>
                </a:solidFill>
                <a:latin typeface="Arial"/>
                <a:ea typeface="Arial"/>
                <a:cs typeface="Arial"/>
                <a:sym typeface="Arial"/>
              </a:rPr>
              <a:t>AGENTIC SYSTEMS  /  TOOL CALLS</a:t>
            </a:r>
            <a:endParaRPr b="0" i="0" sz="1250" u="none" cap="none" strike="noStrike">
              <a:solidFill>
                <a:schemeClr val="dk1"/>
              </a:solidFill>
              <a:latin typeface="Arial"/>
              <a:ea typeface="Arial"/>
              <a:cs typeface="Arial"/>
              <a:sym typeface="Arial"/>
            </a:endParaRPr>
          </a:p>
        </p:txBody>
      </p:sp>
      <p:sp>
        <p:nvSpPr>
          <p:cNvPr id="420" name="Google Shape;420;hd1b175b31137957_0_266"/>
          <p:cNvSpPr/>
          <p:nvPr/>
        </p:nvSpPr>
        <p:spPr>
          <a:xfrm>
            <a:off x="658350" y="758952"/>
            <a:ext cx="10972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3050"/>
              <a:buFont typeface="Arial"/>
              <a:buNone/>
            </a:pPr>
            <a:r>
              <a:rPr b="1" i="0" lang="en-US" sz="3100" u="none" cap="none" strike="noStrike">
                <a:solidFill>
                  <a:srgbClr val="F5F3EE"/>
                </a:solidFill>
                <a:latin typeface="Arial"/>
                <a:ea typeface="Arial"/>
                <a:cs typeface="Arial"/>
                <a:sym typeface="Arial"/>
              </a:rPr>
              <a:t>PATTERN 01 -</a:t>
            </a:r>
            <a:r>
              <a:rPr b="1" i="0" lang="en-US" sz="3050" u="none" cap="none" strike="noStrike">
                <a:solidFill>
                  <a:srgbClr val="F5F8FC"/>
                </a:solidFill>
                <a:latin typeface="Arial"/>
                <a:ea typeface="Arial"/>
                <a:cs typeface="Arial"/>
                <a:sym typeface="Arial"/>
              </a:rPr>
              <a:t>One request. Multiple decisions. Multiple tool calls.</a:t>
            </a:r>
            <a:endParaRPr b="0" i="0" sz="3050" u="none" cap="none" strike="noStrike">
              <a:solidFill>
                <a:schemeClr val="dk1"/>
              </a:solidFill>
              <a:latin typeface="Arial"/>
              <a:ea typeface="Arial"/>
              <a:cs typeface="Arial"/>
              <a:sym typeface="Arial"/>
            </a:endParaRPr>
          </a:p>
        </p:txBody>
      </p:sp>
      <p:sp>
        <p:nvSpPr>
          <p:cNvPr id="421" name="Google Shape;421;hd1b175b31137957_0_266"/>
          <p:cNvSpPr/>
          <p:nvPr/>
        </p:nvSpPr>
        <p:spPr>
          <a:xfrm>
            <a:off x="530394" y="1531613"/>
            <a:ext cx="107895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2C1D3"/>
              </a:buClr>
              <a:buSzPts val="1550"/>
              <a:buFont typeface="Arial"/>
              <a:buNone/>
            </a:pPr>
            <a:r>
              <a:rPr b="0" i="0" lang="en-US" sz="1550" u="none" cap="none" strike="noStrike">
                <a:solidFill>
                  <a:srgbClr val="B2C1D3"/>
                </a:solidFill>
                <a:latin typeface="Arial"/>
                <a:ea typeface="Arial"/>
                <a:cs typeface="Arial"/>
                <a:sym typeface="Arial"/>
              </a:rPr>
              <a:t>The agent selects what to invoke, in what order, and whether to try again.</a:t>
            </a:r>
            <a:endParaRPr b="0" i="0" sz="1550" u="none" cap="none" strike="noStrike">
              <a:solidFill>
                <a:schemeClr val="dk1"/>
              </a:solidFill>
              <a:latin typeface="Arial"/>
              <a:ea typeface="Arial"/>
              <a:cs typeface="Arial"/>
              <a:sym typeface="Arial"/>
            </a:endParaRPr>
          </a:p>
        </p:txBody>
      </p:sp>
      <p:cxnSp>
        <p:nvCxnSpPr>
          <p:cNvPr id="422" name="Google Shape;422;hd1b175b31137957_0_266"/>
          <p:cNvCxnSpPr/>
          <p:nvPr/>
        </p:nvCxnSpPr>
        <p:spPr>
          <a:xfrm>
            <a:off x="658350" y="6510528"/>
            <a:ext cx="10881000" cy="0"/>
          </a:xfrm>
          <a:prstGeom prst="straightConnector1">
            <a:avLst/>
          </a:prstGeom>
          <a:noFill/>
          <a:ln cap="flat" cmpd="sng" w="10150">
            <a:solidFill>
              <a:srgbClr val="314459"/>
            </a:solidFill>
            <a:prstDash val="solid"/>
            <a:round/>
            <a:headEnd len="sm" w="sm" type="none"/>
            <a:tailEnd len="sm" w="sm" type="none"/>
          </a:ln>
        </p:spPr>
      </p:cxnSp>
      <p:sp>
        <p:nvSpPr>
          <p:cNvPr id="423" name="Google Shape;423;hd1b175b31137957_0_266"/>
          <p:cNvSpPr/>
          <p:nvPr/>
        </p:nvSpPr>
        <p:spPr>
          <a:xfrm>
            <a:off x="667494" y="6592824"/>
            <a:ext cx="7314900" cy="13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820"/>
              <a:buFont typeface="Arial"/>
              <a:buNone/>
            </a:pPr>
            <a:r>
              <a:rPr b="0" i="0" lang="en-US" sz="820" u="none" cap="none" strike="noStrike">
                <a:solidFill>
                  <a:srgbClr val="8497AE"/>
                </a:solidFill>
                <a:latin typeface="Arial"/>
                <a:ea typeface="Arial"/>
                <a:cs typeface="Arial"/>
                <a:sym typeface="Arial"/>
              </a:rPr>
              <a:t>WHEN SOFTWARE STARTS TALKING TO ITSELF</a:t>
            </a:r>
            <a:endParaRPr b="0" i="0" sz="820" u="none" cap="none" strike="noStrike">
              <a:solidFill>
                <a:schemeClr val="dk1"/>
              </a:solidFill>
              <a:latin typeface="Arial"/>
              <a:ea typeface="Arial"/>
              <a:cs typeface="Arial"/>
              <a:sym typeface="Arial"/>
            </a:endParaRPr>
          </a:p>
        </p:txBody>
      </p:sp>
      <p:sp>
        <p:nvSpPr>
          <p:cNvPr id="424" name="Google Shape;424;hd1b175b31137957_0_266"/>
          <p:cNvSpPr/>
          <p:nvPr/>
        </p:nvSpPr>
        <p:spPr>
          <a:xfrm>
            <a:off x="658350" y="2304288"/>
            <a:ext cx="2075700" cy="1828800"/>
          </a:xfrm>
          <a:prstGeom prst="roundRect">
            <a:avLst>
              <a:gd fmla="val 7000" name="adj"/>
            </a:avLst>
          </a:prstGeom>
          <a:solidFill>
            <a:srgbClr val="101F32"/>
          </a:solidFill>
          <a:ln cap="flat" cmpd="sng" w="12700">
            <a:solidFill>
              <a:srgbClr val="101F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hd1b175b31137957_0_266"/>
          <p:cNvSpPr/>
          <p:nvPr/>
        </p:nvSpPr>
        <p:spPr>
          <a:xfrm>
            <a:off x="896088" y="2523744"/>
            <a:ext cx="1655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1100"/>
              <a:buFont typeface="Arial"/>
              <a:buNone/>
            </a:pPr>
            <a:r>
              <a:rPr b="1" i="0" lang="en-US" sz="1100" u="none" cap="none" strike="noStrike">
                <a:solidFill>
                  <a:srgbClr val="63E6C1"/>
                </a:solidFill>
                <a:latin typeface="Arial"/>
                <a:ea typeface="Arial"/>
                <a:cs typeface="Arial"/>
                <a:sym typeface="Arial"/>
              </a:rPr>
              <a:t>INCOMING MESSAGE</a:t>
            </a:r>
            <a:endParaRPr b="0" i="0" sz="1100" u="none" cap="none" strike="noStrike">
              <a:solidFill>
                <a:schemeClr val="dk1"/>
              </a:solidFill>
              <a:latin typeface="Arial"/>
              <a:ea typeface="Arial"/>
              <a:cs typeface="Arial"/>
              <a:sym typeface="Arial"/>
            </a:endParaRPr>
          </a:p>
        </p:txBody>
      </p:sp>
      <p:sp>
        <p:nvSpPr>
          <p:cNvPr id="426" name="Google Shape;426;hd1b175b31137957_0_266"/>
          <p:cNvSpPr/>
          <p:nvPr/>
        </p:nvSpPr>
        <p:spPr>
          <a:xfrm>
            <a:off x="896088" y="2852928"/>
            <a:ext cx="1664100" cy="749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2000"/>
              <a:buFont typeface="Arial"/>
              <a:buNone/>
            </a:pPr>
            <a:r>
              <a:rPr b="1" i="0" lang="en-US" sz="2000" u="none" cap="none" strike="noStrike">
                <a:solidFill>
                  <a:srgbClr val="F5F8FC"/>
                </a:solidFill>
                <a:latin typeface="Arial"/>
                <a:ea typeface="Arial"/>
                <a:cs typeface="Arial"/>
                <a:sym typeface="Arial"/>
              </a:rPr>
              <a:t>“Upgrade me to business class.”</a:t>
            </a:r>
            <a:endParaRPr b="0" i="0" sz="2000" u="none" cap="none" strike="noStrike">
              <a:solidFill>
                <a:schemeClr val="dk1"/>
              </a:solidFill>
              <a:latin typeface="Arial"/>
              <a:ea typeface="Arial"/>
              <a:cs typeface="Arial"/>
              <a:sym typeface="Arial"/>
            </a:endParaRPr>
          </a:p>
        </p:txBody>
      </p:sp>
      <p:cxnSp>
        <p:nvCxnSpPr>
          <p:cNvPr id="427" name="Google Shape;427;hd1b175b31137957_0_266"/>
          <p:cNvCxnSpPr/>
          <p:nvPr/>
        </p:nvCxnSpPr>
        <p:spPr>
          <a:xfrm>
            <a:off x="2761414" y="3172968"/>
            <a:ext cx="493800" cy="0"/>
          </a:xfrm>
          <a:prstGeom prst="straightConnector1">
            <a:avLst/>
          </a:prstGeom>
          <a:noFill/>
          <a:ln cap="flat" cmpd="sng" w="27925">
            <a:solidFill>
              <a:srgbClr val="63E6C1"/>
            </a:solidFill>
            <a:prstDash val="solid"/>
            <a:round/>
            <a:headEnd len="sm" w="sm" type="none"/>
            <a:tailEnd len="med" w="med" type="triangle"/>
          </a:ln>
        </p:spPr>
      </p:cxnSp>
      <p:sp>
        <p:nvSpPr>
          <p:cNvPr id="428" name="Google Shape;428;hd1b175b31137957_0_266"/>
          <p:cNvSpPr/>
          <p:nvPr/>
        </p:nvSpPr>
        <p:spPr>
          <a:xfrm>
            <a:off x="3319184" y="2468880"/>
            <a:ext cx="2157900" cy="1463100"/>
          </a:xfrm>
          <a:prstGeom prst="roundRect">
            <a:avLst>
              <a:gd fmla="val 10625" name="adj"/>
            </a:avLst>
          </a:prstGeom>
          <a:solidFill>
            <a:srgbClr val="143D3E"/>
          </a:solidFill>
          <a:ln cap="flat" cmpd="sng" w="19050">
            <a:solidFill>
              <a:srgbClr val="63E6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hd1b175b31137957_0_266"/>
          <p:cNvSpPr/>
          <p:nvPr/>
        </p:nvSpPr>
        <p:spPr>
          <a:xfrm>
            <a:off x="4087259" y="2697480"/>
            <a:ext cx="594300" cy="594300"/>
          </a:xfrm>
          <a:prstGeom prst="ellipse">
            <a:avLst/>
          </a:prstGeom>
          <a:solidFill>
            <a:srgbClr val="63E6C1"/>
          </a:solidFill>
          <a:ln cap="flat" cmpd="sng" w="12700">
            <a:solidFill>
              <a:srgbClr val="63E6C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hd1b175b31137957_0_266"/>
          <p:cNvSpPr/>
          <p:nvPr/>
        </p:nvSpPr>
        <p:spPr>
          <a:xfrm>
            <a:off x="4233559" y="2880360"/>
            <a:ext cx="77700" cy="50400"/>
          </a:xfrm>
          <a:prstGeom prst="roundRect">
            <a:avLst>
              <a:gd fmla="val 36364" name="adj"/>
            </a:avLst>
          </a:prstGeom>
          <a:solidFill>
            <a:srgbClr val="081120"/>
          </a:solidFill>
          <a:ln cap="flat" cmpd="sng" w="12700">
            <a:solidFill>
              <a:srgbClr val="08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hd1b175b31137957_0_266"/>
          <p:cNvSpPr/>
          <p:nvPr/>
        </p:nvSpPr>
        <p:spPr>
          <a:xfrm>
            <a:off x="4215272" y="2862072"/>
            <a:ext cx="50400" cy="50400"/>
          </a:xfrm>
          <a:prstGeom prst="ellipse">
            <a:avLst/>
          </a:prstGeom>
          <a:solidFill>
            <a:srgbClr val="081120"/>
          </a:solidFill>
          <a:ln cap="flat" cmpd="sng" w="12700">
            <a:solidFill>
              <a:srgbClr val="08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hd1b175b31137957_0_266"/>
          <p:cNvSpPr/>
          <p:nvPr/>
        </p:nvSpPr>
        <p:spPr>
          <a:xfrm>
            <a:off x="4343284" y="2862072"/>
            <a:ext cx="50400" cy="50400"/>
          </a:xfrm>
          <a:prstGeom prst="ellipse">
            <a:avLst/>
          </a:prstGeom>
          <a:solidFill>
            <a:srgbClr val="081120"/>
          </a:solidFill>
          <a:ln cap="flat" cmpd="sng" w="12700">
            <a:solidFill>
              <a:srgbClr val="0811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hd1b175b31137957_0_266"/>
          <p:cNvSpPr/>
          <p:nvPr/>
        </p:nvSpPr>
        <p:spPr>
          <a:xfrm>
            <a:off x="3502059" y="3401568"/>
            <a:ext cx="17922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F8FC"/>
              </a:buClr>
              <a:buSzPts val="2040"/>
              <a:buFont typeface="Arial"/>
              <a:buNone/>
            </a:pPr>
            <a:r>
              <a:rPr b="1" i="0" lang="en-US" sz="2040" u="none" cap="none" strike="noStrike">
                <a:solidFill>
                  <a:srgbClr val="F5F8FC"/>
                </a:solidFill>
                <a:latin typeface="Arial"/>
                <a:ea typeface="Arial"/>
                <a:cs typeface="Arial"/>
                <a:sym typeface="Arial"/>
              </a:rPr>
              <a:t>AI AGENT</a:t>
            </a:r>
            <a:endParaRPr b="0" i="0" sz="2040" u="none" cap="none" strike="noStrike">
              <a:solidFill>
                <a:schemeClr val="dk1"/>
              </a:solidFill>
              <a:latin typeface="Arial"/>
              <a:ea typeface="Arial"/>
              <a:cs typeface="Arial"/>
              <a:sym typeface="Arial"/>
            </a:endParaRPr>
          </a:p>
        </p:txBody>
      </p:sp>
      <p:sp>
        <p:nvSpPr>
          <p:cNvPr id="434" name="Google Shape;434;hd1b175b31137957_0_266"/>
          <p:cNvSpPr/>
          <p:nvPr/>
        </p:nvSpPr>
        <p:spPr>
          <a:xfrm>
            <a:off x="3511202" y="4105656"/>
            <a:ext cx="1773900"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2C1D3"/>
              </a:buClr>
              <a:buSzPts val="1230"/>
              <a:buFont typeface="Arial"/>
              <a:buNone/>
            </a:pPr>
            <a:r>
              <a:rPr b="0" i="0" lang="en-US" sz="1230" u="none" cap="none" strike="noStrike">
                <a:solidFill>
                  <a:srgbClr val="B2C1D3"/>
                </a:solidFill>
                <a:latin typeface="Arial"/>
                <a:ea typeface="Arial"/>
                <a:cs typeface="Arial"/>
                <a:sym typeface="Arial"/>
              </a:rPr>
              <a:t>Chooses the next call</a:t>
            </a:r>
            <a:endParaRPr b="0" i="0" sz="1230" u="none" cap="none" strike="noStrike">
              <a:solidFill>
                <a:schemeClr val="dk1"/>
              </a:solidFill>
              <a:latin typeface="Arial"/>
              <a:ea typeface="Arial"/>
              <a:cs typeface="Arial"/>
              <a:sym typeface="Arial"/>
            </a:endParaRPr>
          </a:p>
        </p:txBody>
      </p:sp>
      <p:cxnSp>
        <p:nvCxnSpPr>
          <p:cNvPr id="435" name="Google Shape;435;hd1b175b31137957_0_266"/>
          <p:cNvCxnSpPr/>
          <p:nvPr/>
        </p:nvCxnSpPr>
        <p:spPr>
          <a:xfrm>
            <a:off x="5513685" y="3182112"/>
            <a:ext cx="365700" cy="0"/>
          </a:xfrm>
          <a:prstGeom prst="straightConnector1">
            <a:avLst/>
          </a:prstGeom>
          <a:noFill/>
          <a:ln cap="flat" cmpd="sng" w="26650">
            <a:solidFill>
              <a:srgbClr val="63E6C1"/>
            </a:solidFill>
            <a:prstDash val="solid"/>
            <a:round/>
            <a:headEnd len="sm" w="sm" type="none"/>
            <a:tailEnd len="med" w="med" type="triangle"/>
          </a:ln>
        </p:spPr>
      </p:cxnSp>
      <p:cxnSp>
        <p:nvCxnSpPr>
          <p:cNvPr id="436" name="Google Shape;436;hd1b175b31137957_0_266"/>
          <p:cNvCxnSpPr/>
          <p:nvPr/>
        </p:nvCxnSpPr>
        <p:spPr>
          <a:xfrm>
            <a:off x="5925154" y="2258568"/>
            <a:ext cx="0" cy="2816400"/>
          </a:xfrm>
          <a:prstGeom prst="straightConnector1">
            <a:avLst/>
          </a:prstGeom>
          <a:noFill/>
          <a:ln cap="flat" cmpd="sng" w="25400">
            <a:solidFill>
              <a:srgbClr val="314459"/>
            </a:solidFill>
            <a:prstDash val="solid"/>
            <a:round/>
            <a:headEnd len="sm" w="sm" type="none"/>
            <a:tailEnd len="sm" w="sm" type="none"/>
          </a:ln>
        </p:spPr>
      </p:cxnSp>
      <p:cxnSp>
        <p:nvCxnSpPr>
          <p:cNvPr id="437" name="Google Shape;437;hd1b175b31137957_0_266"/>
          <p:cNvCxnSpPr/>
          <p:nvPr/>
        </p:nvCxnSpPr>
        <p:spPr>
          <a:xfrm>
            <a:off x="5925154" y="2350008"/>
            <a:ext cx="594300" cy="0"/>
          </a:xfrm>
          <a:prstGeom prst="straightConnector1">
            <a:avLst/>
          </a:prstGeom>
          <a:noFill/>
          <a:ln cap="flat" cmpd="sng" w="25400">
            <a:solidFill>
              <a:srgbClr val="314459"/>
            </a:solidFill>
            <a:prstDash val="solid"/>
            <a:round/>
            <a:headEnd len="sm" w="sm" type="none"/>
            <a:tailEnd len="med" w="med" type="triangle"/>
          </a:ln>
        </p:spPr>
      </p:cxnSp>
      <p:sp>
        <p:nvSpPr>
          <p:cNvPr id="438" name="Google Shape;438;hd1b175b31137957_0_266"/>
          <p:cNvSpPr/>
          <p:nvPr/>
        </p:nvSpPr>
        <p:spPr>
          <a:xfrm>
            <a:off x="6574361" y="1847088"/>
            <a:ext cx="4937700" cy="1143000"/>
          </a:xfrm>
          <a:prstGeom prst="roundRect">
            <a:avLst>
              <a:gd fmla="val 9600"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hd1b175b31137957_0_266"/>
          <p:cNvSpPr/>
          <p:nvPr/>
        </p:nvSpPr>
        <p:spPr>
          <a:xfrm>
            <a:off x="6766380" y="2093976"/>
            <a:ext cx="438900" cy="438900"/>
          </a:xfrm>
          <a:prstGeom prst="roundRect">
            <a:avLst>
              <a:gd fmla="val 18750" name="adj"/>
            </a:avLst>
          </a:prstGeom>
          <a:solidFill>
            <a:srgbClr val="143D3E"/>
          </a:solidFill>
          <a:ln cap="flat" cmpd="sng" w="12700">
            <a:solidFill>
              <a:srgbClr val="143D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hd1b175b31137957_0_266"/>
          <p:cNvSpPr/>
          <p:nvPr/>
        </p:nvSpPr>
        <p:spPr>
          <a:xfrm>
            <a:off x="6848673" y="2203704"/>
            <a:ext cx="2742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3E6C1"/>
              </a:buClr>
              <a:buSzPts val="1250"/>
              <a:buFont typeface="Arial"/>
              <a:buNone/>
            </a:pPr>
            <a:r>
              <a:rPr b="1" i="0" lang="en-US" sz="1250" u="none" cap="none" strike="noStrike">
                <a:solidFill>
                  <a:srgbClr val="63E6C1"/>
                </a:solidFill>
                <a:latin typeface="Arial"/>
                <a:ea typeface="Arial"/>
                <a:cs typeface="Arial"/>
                <a:sym typeface="Arial"/>
              </a:rPr>
              <a:t>1</a:t>
            </a:r>
            <a:endParaRPr b="0" i="0" sz="1250" u="none" cap="none" strike="noStrike">
              <a:solidFill>
                <a:schemeClr val="dk1"/>
              </a:solidFill>
              <a:latin typeface="Arial"/>
              <a:ea typeface="Arial"/>
              <a:cs typeface="Arial"/>
              <a:sym typeface="Arial"/>
            </a:endParaRPr>
          </a:p>
        </p:txBody>
      </p:sp>
      <p:sp>
        <p:nvSpPr>
          <p:cNvPr id="441" name="Google Shape;441;hd1b175b31137957_0_266"/>
          <p:cNvSpPr/>
          <p:nvPr/>
        </p:nvSpPr>
        <p:spPr>
          <a:xfrm>
            <a:off x="7379011" y="1993392"/>
            <a:ext cx="960000" cy="15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980"/>
              <a:buFont typeface="Arial"/>
              <a:buNone/>
            </a:pPr>
            <a:r>
              <a:rPr b="1" i="0" lang="en-US" sz="980" u="none" cap="none" strike="noStrike">
                <a:solidFill>
                  <a:srgbClr val="63E6C1"/>
                </a:solidFill>
                <a:latin typeface="Arial"/>
                <a:ea typeface="Arial"/>
                <a:cs typeface="Arial"/>
                <a:sym typeface="Arial"/>
              </a:rPr>
              <a:t>OBSERVE</a:t>
            </a:r>
            <a:endParaRPr b="0" i="0" sz="980" u="none" cap="none" strike="noStrike">
              <a:solidFill>
                <a:schemeClr val="dk1"/>
              </a:solidFill>
              <a:latin typeface="Arial"/>
              <a:ea typeface="Arial"/>
              <a:cs typeface="Arial"/>
              <a:sym typeface="Arial"/>
            </a:endParaRPr>
          </a:p>
        </p:txBody>
      </p:sp>
      <p:sp>
        <p:nvSpPr>
          <p:cNvPr id="442" name="Google Shape;442;hd1b175b31137957_0_266"/>
          <p:cNvSpPr/>
          <p:nvPr/>
        </p:nvSpPr>
        <p:spPr>
          <a:xfrm>
            <a:off x="7379011" y="2231136"/>
            <a:ext cx="2084700" cy="26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929"/>
              <a:buFont typeface="Arial"/>
              <a:buNone/>
            </a:pPr>
            <a:r>
              <a:rPr b="1" i="0" lang="en-US" sz="1930" u="none" cap="none" strike="noStrike">
                <a:solidFill>
                  <a:srgbClr val="F5F8FC"/>
                </a:solidFill>
                <a:latin typeface="Arial"/>
                <a:ea typeface="Arial"/>
                <a:cs typeface="Arial"/>
                <a:sym typeface="Arial"/>
              </a:rPr>
              <a:t>Flight search</a:t>
            </a:r>
            <a:endParaRPr b="0" i="0" sz="1930" u="none" cap="none" strike="noStrike">
              <a:solidFill>
                <a:schemeClr val="dk1"/>
              </a:solidFill>
              <a:latin typeface="Arial"/>
              <a:ea typeface="Arial"/>
              <a:cs typeface="Arial"/>
              <a:sym typeface="Arial"/>
            </a:endParaRPr>
          </a:p>
        </p:txBody>
      </p:sp>
      <p:sp>
        <p:nvSpPr>
          <p:cNvPr id="443" name="Google Shape;443;hd1b175b31137957_0_266"/>
          <p:cNvSpPr/>
          <p:nvPr/>
        </p:nvSpPr>
        <p:spPr>
          <a:xfrm>
            <a:off x="9335775" y="2231136"/>
            <a:ext cx="19203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B2C1D3"/>
              </a:buClr>
              <a:buSzPts val="1200"/>
              <a:buFont typeface="Arial"/>
              <a:buNone/>
            </a:pPr>
            <a:r>
              <a:rPr b="0" i="0" lang="en-US" sz="1200" u="none" cap="none" strike="noStrike">
                <a:solidFill>
                  <a:srgbClr val="B2C1D3"/>
                </a:solidFill>
                <a:latin typeface="Arial"/>
                <a:ea typeface="Arial"/>
                <a:cs typeface="Arial"/>
                <a:sym typeface="Arial"/>
              </a:rPr>
              <a:t>search_available_upgrades()</a:t>
            </a:r>
            <a:endParaRPr b="0" i="0" sz="1200" u="none" cap="none" strike="noStrike">
              <a:solidFill>
                <a:schemeClr val="dk1"/>
              </a:solidFill>
              <a:latin typeface="Arial"/>
              <a:ea typeface="Arial"/>
              <a:cs typeface="Arial"/>
              <a:sym typeface="Arial"/>
            </a:endParaRPr>
          </a:p>
        </p:txBody>
      </p:sp>
      <p:sp>
        <p:nvSpPr>
          <p:cNvPr id="444" name="Google Shape;444;hd1b175b31137957_0_266"/>
          <p:cNvSpPr/>
          <p:nvPr/>
        </p:nvSpPr>
        <p:spPr>
          <a:xfrm>
            <a:off x="7379011" y="2660904"/>
            <a:ext cx="39045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50"/>
              <a:buFont typeface="Arial"/>
              <a:buNone/>
            </a:pPr>
            <a:r>
              <a:rPr b="0" i="0" lang="en-US" sz="1250" u="none" cap="none" strike="noStrike">
                <a:solidFill>
                  <a:srgbClr val="8497AE"/>
                </a:solidFill>
                <a:latin typeface="Arial"/>
                <a:ea typeface="Arial"/>
                <a:cs typeface="Arial"/>
                <a:sym typeface="Arial"/>
              </a:rPr>
              <a:t>Read live availability</a:t>
            </a:r>
            <a:endParaRPr b="0" i="0" sz="1250" u="none" cap="none" strike="noStrike">
              <a:solidFill>
                <a:schemeClr val="dk1"/>
              </a:solidFill>
              <a:latin typeface="Arial"/>
              <a:ea typeface="Arial"/>
              <a:cs typeface="Arial"/>
              <a:sym typeface="Arial"/>
            </a:endParaRPr>
          </a:p>
        </p:txBody>
      </p:sp>
      <p:cxnSp>
        <p:nvCxnSpPr>
          <p:cNvPr id="445" name="Google Shape;445;hd1b175b31137957_0_266"/>
          <p:cNvCxnSpPr/>
          <p:nvPr/>
        </p:nvCxnSpPr>
        <p:spPr>
          <a:xfrm>
            <a:off x="5925154" y="3785616"/>
            <a:ext cx="594300" cy="0"/>
          </a:xfrm>
          <a:prstGeom prst="straightConnector1">
            <a:avLst/>
          </a:prstGeom>
          <a:noFill/>
          <a:ln cap="flat" cmpd="sng" w="25400">
            <a:solidFill>
              <a:srgbClr val="314459"/>
            </a:solidFill>
            <a:prstDash val="solid"/>
            <a:round/>
            <a:headEnd len="sm" w="sm" type="none"/>
            <a:tailEnd len="med" w="med" type="triangle"/>
          </a:ln>
        </p:spPr>
      </p:cxnSp>
      <p:sp>
        <p:nvSpPr>
          <p:cNvPr id="446" name="Google Shape;446;hd1b175b31137957_0_266"/>
          <p:cNvSpPr/>
          <p:nvPr/>
        </p:nvSpPr>
        <p:spPr>
          <a:xfrm>
            <a:off x="6574361" y="3282696"/>
            <a:ext cx="4937700" cy="1143000"/>
          </a:xfrm>
          <a:prstGeom prst="roundRect">
            <a:avLst>
              <a:gd fmla="val 9600"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hd1b175b31137957_0_266"/>
          <p:cNvSpPr/>
          <p:nvPr/>
        </p:nvSpPr>
        <p:spPr>
          <a:xfrm>
            <a:off x="6766380" y="3529584"/>
            <a:ext cx="438900" cy="438900"/>
          </a:xfrm>
          <a:prstGeom prst="roundRect">
            <a:avLst>
              <a:gd fmla="val 18750" name="adj"/>
            </a:avLst>
          </a:prstGeom>
          <a:solidFill>
            <a:srgbClr val="493C2A"/>
          </a:solidFill>
          <a:ln cap="flat" cmpd="sng" w="12700">
            <a:solidFill>
              <a:srgbClr val="493C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hd1b175b31137957_0_266"/>
          <p:cNvSpPr/>
          <p:nvPr/>
        </p:nvSpPr>
        <p:spPr>
          <a:xfrm>
            <a:off x="6848673" y="3639312"/>
            <a:ext cx="2742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979"/>
              </a:buClr>
              <a:buSzPts val="1250"/>
              <a:buFont typeface="Arial"/>
              <a:buNone/>
            </a:pPr>
            <a:r>
              <a:rPr b="1" i="0" lang="en-US" sz="1250" u="none" cap="none" strike="noStrike">
                <a:solidFill>
                  <a:srgbClr val="FFC979"/>
                </a:solidFill>
                <a:latin typeface="Arial"/>
                <a:ea typeface="Arial"/>
                <a:cs typeface="Arial"/>
                <a:sym typeface="Arial"/>
              </a:rPr>
              <a:t>2</a:t>
            </a:r>
            <a:endParaRPr b="0" i="0" sz="1250" u="none" cap="none" strike="noStrike">
              <a:solidFill>
                <a:schemeClr val="dk1"/>
              </a:solidFill>
              <a:latin typeface="Arial"/>
              <a:ea typeface="Arial"/>
              <a:cs typeface="Arial"/>
              <a:sym typeface="Arial"/>
            </a:endParaRPr>
          </a:p>
        </p:txBody>
      </p:sp>
      <p:sp>
        <p:nvSpPr>
          <p:cNvPr id="449" name="Google Shape;449;hd1b175b31137957_0_266"/>
          <p:cNvSpPr/>
          <p:nvPr/>
        </p:nvSpPr>
        <p:spPr>
          <a:xfrm>
            <a:off x="7379011" y="3429000"/>
            <a:ext cx="960000" cy="15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979"/>
              </a:buClr>
              <a:buSzPts val="980"/>
              <a:buFont typeface="Arial"/>
              <a:buNone/>
            </a:pPr>
            <a:r>
              <a:rPr b="1" i="0" lang="en-US" sz="980" u="none" cap="none" strike="noStrike">
                <a:solidFill>
                  <a:srgbClr val="FFC979"/>
                </a:solidFill>
                <a:latin typeface="Arial"/>
                <a:ea typeface="Arial"/>
                <a:cs typeface="Arial"/>
                <a:sym typeface="Arial"/>
              </a:rPr>
              <a:t>ACT</a:t>
            </a:r>
            <a:endParaRPr b="0" i="0" sz="980" u="none" cap="none" strike="noStrike">
              <a:solidFill>
                <a:schemeClr val="dk1"/>
              </a:solidFill>
              <a:latin typeface="Arial"/>
              <a:ea typeface="Arial"/>
              <a:cs typeface="Arial"/>
              <a:sym typeface="Arial"/>
            </a:endParaRPr>
          </a:p>
        </p:txBody>
      </p:sp>
      <p:sp>
        <p:nvSpPr>
          <p:cNvPr id="450" name="Google Shape;450;hd1b175b31137957_0_266"/>
          <p:cNvSpPr/>
          <p:nvPr/>
        </p:nvSpPr>
        <p:spPr>
          <a:xfrm>
            <a:off x="7379011" y="3666744"/>
            <a:ext cx="2084700" cy="26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929"/>
              <a:buFont typeface="Arial"/>
              <a:buNone/>
            </a:pPr>
            <a:r>
              <a:rPr b="1" i="0" lang="en-US" sz="1930" u="none" cap="none" strike="noStrike">
                <a:solidFill>
                  <a:srgbClr val="F5F8FC"/>
                </a:solidFill>
                <a:latin typeface="Arial"/>
                <a:ea typeface="Arial"/>
                <a:cs typeface="Arial"/>
                <a:sym typeface="Arial"/>
              </a:rPr>
              <a:t>Booking API</a:t>
            </a:r>
            <a:endParaRPr b="0" i="0" sz="1930" u="none" cap="none" strike="noStrike">
              <a:solidFill>
                <a:schemeClr val="dk1"/>
              </a:solidFill>
              <a:latin typeface="Arial"/>
              <a:ea typeface="Arial"/>
              <a:cs typeface="Arial"/>
              <a:sym typeface="Arial"/>
            </a:endParaRPr>
          </a:p>
        </p:txBody>
      </p:sp>
      <p:sp>
        <p:nvSpPr>
          <p:cNvPr id="451" name="Google Shape;451;hd1b175b31137957_0_266"/>
          <p:cNvSpPr/>
          <p:nvPr/>
        </p:nvSpPr>
        <p:spPr>
          <a:xfrm>
            <a:off x="9335775" y="3666744"/>
            <a:ext cx="19203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B2C1D3"/>
              </a:buClr>
              <a:buSzPts val="1200"/>
              <a:buFont typeface="Arial"/>
              <a:buNone/>
            </a:pPr>
            <a:r>
              <a:rPr b="0" i="0" lang="en-US" sz="1200" u="none" cap="none" strike="noStrike">
                <a:solidFill>
                  <a:srgbClr val="B2C1D3"/>
                </a:solidFill>
                <a:latin typeface="Arial"/>
                <a:ea typeface="Arial"/>
                <a:cs typeface="Arial"/>
                <a:sym typeface="Arial"/>
              </a:rPr>
              <a:t>upgrade_seat()</a:t>
            </a:r>
            <a:endParaRPr b="0" i="0" sz="1200" u="none" cap="none" strike="noStrike">
              <a:solidFill>
                <a:schemeClr val="dk1"/>
              </a:solidFill>
              <a:latin typeface="Arial"/>
              <a:ea typeface="Arial"/>
              <a:cs typeface="Arial"/>
              <a:sym typeface="Arial"/>
            </a:endParaRPr>
          </a:p>
        </p:txBody>
      </p:sp>
      <p:sp>
        <p:nvSpPr>
          <p:cNvPr id="452" name="Google Shape;452;hd1b175b31137957_0_266"/>
          <p:cNvSpPr/>
          <p:nvPr/>
        </p:nvSpPr>
        <p:spPr>
          <a:xfrm>
            <a:off x="7379011" y="4096512"/>
            <a:ext cx="39045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50"/>
              <a:buFont typeface="Arial"/>
              <a:buNone/>
            </a:pPr>
            <a:r>
              <a:rPr b="0" i="0" lang="en-US" sz="1250" u="none" cap="none" strike="noStrike">
                <a:solidFill>
                  <a:srgbClr val="8497AE"/>
                </a:solidFill>
                <a:latin typeface="Arial"/>
                <a:ea typeface="Arial"/>
                <a:cs typeface="Arial"/>
                <a:sym typeface="Arial"/>
              </a:rPr>
              <a:t>Reserve an upgrade</a:t>
            </a:r>
            <a:endParaRPr b="0" i="0" sz="1250" u="none" cap="none" strike="noStrike">
              <a:solidFill>
                <a:schemeClr val="dk1"/>
              </a:solidFill>
              <a:latin typeface="Arial"/>
              <a:ea typeface="Arial"/>
              <a:cs typeface="Arial"/>
              <a:sym typeface="Arial"/>
            </a:endParaRPr>
          </a:p>
        </p:txBody>
      </p:sp>
      <p:cxnSp>
        <p:nvCxnSpPr>
          <p:cNvPr id="453" name="Google Shape;453;hd1b175b31137957_0_266"/>
          <p:cNvCxnSpPr/>
          <p:nvPr/>
        </p:nvCxnSpPr>
        <p:spPr>
          <a:xfrm>
            <a:off x="5925154" y="5074920"/>
            <a:ext cx="594300" cy="0"/>
          </a:xfrm>
          <a:prstGeom prst="straightConnector1">
            <a:avLst/>
          </a:prstGeom>
          <a:noFill/>
          <a:ln cap="flat" cmpd="sng" w="25400">
            <a:solidFill>
              <a:srgbClr val="314459"/>
            </a:solidFill>
            <a:prstDash val="solid"/>
            <a:round/>
            <a:headEnd len="sm" w="sm" type="none"/>
            <a:tailEnd len="med" w="med" type="triangle"/>
          </a:ln>
        </p:spPr>
      </p:cxnSp>
      <p:sp>
        <p:nvSpPr>
          <p:cNvPr id="454" name="Google Shape;454;hd1b175b31137957_0_266"/>
          <p:cNvSpPr/>
          <p:nvPr/>
        </p:nvSpPr>
        <p:spPr>
          <a:xfrm>
            <a:off x="6574361" y="4572000"/>
            <a:ext cx="4937700" cy="1143000"/>
          </a:xfrm>
          <a:prstGeom prst="roundRect">
            <a:avLst>
              <a:gd fmla="val 9600" name="adj"/>
            </a:avLst>
          </a:prstGeom>
          <a:solidFill>
            <a:srgbClr val="142337"/>
          </a:solidFill>
          <a:ln cap="flat" cmpd="sng" w="12700">
            <a:solidFill>
              <a:srgbClr val="1423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hd1b175b31137957_0_266"/>
          <p:cNvSpPr/>
          <p:nvPr/>
        </p:nvSpPr>
        <p:spPr>
          <a:xfrm>
            <a:off x="6766380" y="4818888"/>
            <a:ext cx="438900" cy="438900"/>
          </a:xfrm>
          <a:prstGeom prst="roundRect">
            <a:avLst>
              <a:gd fmla="val 18750" name="adj"/>
            </a:avLst>
          </a:prstGeom>
          <a:solidFill>
            <a:srgbClr val="493C2A"/>
          </a:solidFill>
          <a:ln cap="flat" cmpd="sng" w="12700">
            <a:solidFill>
              <a:srgbClr val="493C2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hd1b175b31137957_0_266"/>
          <p:cNvSpPr/>
          <p:nvPr/>
        </p:nvSpPr>
        <p:spPr>
          <a:xfrm>
            <a:off x="6848673" y="4928616"/>
            <a:ext cx="274200" cy="17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C979"/>
              </a:buClr>
              <a:buSzPts val="1250"/>
              <a:buFont typeface="Arial"/>
              <a:buNone/>
            </a:pPr>
            <a:r>
              <a:rPr b="1" i="0" lang="en-US" sz="1250" u="none" cap="none" strike="noStrike">
                <a:solidFill>
                  <a:srgbClr val="FFC979"/>
                </a:solidFill>
                <a:latin typeface="Arial"/>
                <a:ea typeface="Arial"/>
                <a:cs typeface="Arial"/>
                <a:sym typeface="Arial"/>
              </a:rPr>
              <a:t>3</a:t>
            </a:r>
            <a:endParaRPr b="0" i="0" sz="1250" u="none" cap="none" strike="noStrike">
              <a:solidFill>
                <a:schemeClr val="dk1"/>
              </a:solidFill>
              <a:latin typeface="Arial"/>
              <a:ea typeface="Arial"/>
              <a:cs typeface="Arial"/>
              <a:sym typeface="Arial"/>
            </a:endParaRPr>
          </a:p>
        </p:txBody>
      </p:sp>
      <p:sp>
        <p:nvSpPr>
          <p:cNvPr id="457" name="Google Shape;457;hd1b175b31137957_0_266"/>
          <p:cNvSpPr/>
          <p:nvPr/>
        </p:nvSpPr>
        <p:spPr>
          <a:xfrm>
            <a:off x="7379011" y="4718304"/>
            <a:ext cx="960000" cy="155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979"/>
              </a:buClr>
              <a:buSzPts val="980"/>
              <a:buFont typeface="Arial"/>
              <a:buNone/>
            </a:pPr>
            <a:r>
              <a:rPr b="1" i="0" lang="en-US" sz="980" u="none" cap="none" strike="noStrike">
                <a:solidFill>
                  <a:srgbClr val="FFC979"/>
                </a:solidFill>
                <a:latin typeface="Arial"/>
                <a:ea typeface="Arial"/>
                <a:cs typeface="Arial"/>
                <a:sym typeface="Arial"/>
              </a:rPr>
              <a:t>ACT</a:t>
            </a:r>
            <a:endParaRPr b="0" i="0" sz="980" u="none" cap="none" strike="noStrike">
              <a:solidFill>
                <a:schemeClr val="dk1"/>
              </a:solidFill>
              <a:latin typeface="Arial"/>
              <a:ea typeface="Arial"/>
              <a:cs typeface="Arial"/>
              <a:sym typeface="Arial"/>
            </a:endParaRPr>
          </a:p>
        </p:txBody>
      </p:sp>
      <p:sp>
        <p:nvSpPr>
          <p:cNvPr id="458" name="Google Shape;458;hd1b175b31137957_0_266"/>
          <p:cNvSpPr/>
          <p:nvPr/>
        </p:nvSpPr>
        <p:spPr>
          <a:xfrm>
            <a:off x="7379011" y="4956048"/>
            <a:ext cx="2084700" cy="26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929"/>
              <a:buFont typeface="Arial"/>
              <a:buNone/>
            </a:pPr>
            <a:r>
              <a:rPr b="1" i="0" lang="en-US" sz="1930" u="none" cap="none" strike="noStrike">
                <a:solidFill>
                  <a:srgbClr val="F5F8FC"/>
                </a:solidFill>
                <a:latin typeface="Arial"/>
                <a:ea typeface="Arial"/>
                <a:cs typeface="Arial"/>
                <a:sym typeface="Arial"/>
              </a:rPr>
              <a:t>Payment API</a:t>
            </a:r>
            <a:endParaRPr b="0" i="0" sz="1930" u="none" cap="none" strike="noStrike">
              <a:solidFill>
                <a:schemeClr val="dk1"/>
              </a:solidFill>
              <a:latin typeface="Arial"/>
              <a:ea typeface="Arial"/>
              <a:cs typeface="Arial"/>
              <a:sym typeface="Arial"/>
            </a:endParaRPr>
          </a:p>
        </p:txBody>
      </p:sp>
      <p:sp>
        <p:nvSpPr>
          <p:cNvPr id="459" name="Google Shape;459;hd1b175b31137957_0_266"/>
          <p:cNvSpPr/>
          <p:nvPr/>
        </p:nvSpPr>
        <p:spPr>
          <a:xfrm>
            <a:off x="9335775" y="4956048"/>
            <a:ext cx="1920300" cy="228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B2C1D3"/>
              </a:buClr>
              <a:buSzPts val="1200"/>
              <a:buFont typeface="Arial"/>
              <a:buNone/>
            </a:pPr>
            <a:r>
              <a:rPr b="0" i="0" lang="en-US" sz="1200" u="none" cap="none" strike="noStrike">
                <a:solidFill>
                  <a:srgbClr val="B2C1D3"/>
                </a:solidFill>
                <a:latin typeface="Arial"/>
                <a:ea typeface="Arial"/>
                <a:cs typeface="Arial"/>
                <a:sym typeface="Arial"/>
              </a:rPr>
              <a:t>charge_card()</a:t>
            </a:r>
            <a:endParaRPr b="0" i="0" sz="1200" u="none" cap="none" strike="noStrike">
              <a:solidFill>
                <a:schemeClr val="dk1"/>
              </a:solidFill>
              <a:latin typeface="Arial"/>
              <a:ea typeface="Arial"/>
              <a:cs typeface="Arial"/>
              <a:sym typeface="Arial"/>
            </a:endParaRPr>
          </a:p>
        </p:txBody>
      </p:sp>
      <p:sp>
        <p:nvSpPr>
          <p:cNvPr id="460" name="Google Shape;460;hd1b175b31137957_0_266"/>
          <p:cNvSpPr/>
          <p:nvPr/>
        </p:nvSpPr>
        <p:spPr>
          <a:xfrm>
            <a:off x="7379011" y="5385816"/>
            <a:ext cx="39045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8497AE"/>
              </a:buClr>
              <a:buSzPts val="1250"/>
              <a:buFont typeface="Arial"/>
              <a:buNone/>
            </a:pPr>
            <a:r>
              <a:rPr b="0" i="0" lang="en-US" sz="1250" u="none" cap="none" strike="noStrike">
                <a:solidFill>
                  <a:srgbClr val="8497AE"/>
                </a:solidFill>
                <a:latin typeface="Arial"/>
                <a:ea typeface="Arial"/>
                <a:cs typeface="Arial"/>
                <a:sym typeface="Arial"/>
              </a:rPr>
              <a:t>Charge the passenger</a:t>
            </a:r>
            <a:endParaRPr b="0" i="0" sz="1250" u="none" cap="none" strike="noStrike">
              <a:solidFill>
                <a:schemeClr val="dk1"/>
              </a:solidFill>
              <a:latin typeface="Arial"/>
              <a:ea typeface="Arial"/>
              <a:cs typeface="Arial"/>
              <a:sym typeface="Arial"/>
            </a:endParaRPr>
          </a:p>
        </p:txBody>
      </p:sp>
      <p:sp>
        <p:nvSpPr>
          <p:cNvPr id="461" name="Google Shape;461;hd1b175b31137957_0_266"/>
          <p:cNvSpPr/>
          <p:nvPr/>
        </p:nvSpPr>
        <p:spPr>
          <a:xfrm>
            <a:off x="658350" y="4809744"/>
            <a:ext cx="4818900" cy="832200"/>
          </a:xfrm>
          <a:prstGeom prst="roundRect">
            <a:avLst>
              <a:gd fmla="val 10989" name="adj"/>
            </a:avLst>
          </a:prstGeom>
          <a:solidFill>
            <a:srgbClr val="101F32"/>
          </a:solidFill>
          <a:ln cap="flat" cmpd="sng" w="12700">
            <a:solidFill>
              <a:srgbClr val="101F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hd1b175b31137957_0_266"/>
          <p:cNvSpPr/>
          <p:nvPr/>
        </p:nvSpPr>
        <p:spPr>
          <a:xfrm>
            <a:off x="868657" y="4965192"/>
            <a:ext cx="2331600" cy="164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9A4FF"/>
              </a:buClr>
              <a:buSzPts val="1100"/>
              <a:buFont typeface="Arial"/>
              <a:buNone/>
            </a:pPr>
            <a:r>
              <a:rPr b="1" i="0" lang="en-US" sz="1100" u="none" cap="none" strike="noStrike">
                <a:solidFill>
                  <a:srgbClr val="B9A4FF"/>
                </a:solidFill>
                <a:latin typeface="Arial"/>
                <a:ea typeface="Arial"/>
                <a:cs typeface="Arial"/>
                <a:sym typeface="Arial"/>
              </a:rPr>
              <a:t>NOT A FIXED PIPELINE</a:t>
            </a:r>
            <a:endParaRPr b="0" i="0" sz="1100" u="none" cap="none" strike="noStrike">
              <a:solidFill>
                <a:schemeClr val="dk1"/>
              </a:solidFill>
              <a:latin typeface="Arial"/>
              <a:ea typeface="Arial"/>
              <a:cs typeface="Arial"/>
              <a:sym typeface="Arial"/>
            </a:endParaRPr>
          </a:p>
        </p:txBody>
      </p:sp>
      <p:sp>
        <p:nvSpPr>
          <p:cNvPr id="463" name="Google Shape;463;hd1b175b31137957_0_266"/>
          <p:cNvSpPr/>
          <p:nvPr/>
        </p:nvSpPr>
        <p:spPr>
          <a:xfrm>
            <a:off x="868657" y="5248656"/>
            <a:ext cx="4389000" cy="21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350"/>
              <a:buFont typeface="Arial"/>
              <a:buNone/>
            </a:pPr>
            <a:r>
              <a:rPr b="0" i="0" lang="en-US" sz="1350" u="none" cap="none" strike="noStrike">
                <a:solidFill>
                  <a:srgbClr val="F5F8FC"/>
                </a:solidFill>
                <a:latin typeface="Arial"/>
                <a:ea typeface="Arial"/>
                <a:cs typeface="Arial"/>
                <a:sym typeface="Arial"/>
              </a:rPr>
              <a:t>The agent can search again, branch, delegate, or retry.</a:t>
            </a:r>
            <a:endParaRPr b="0" i="0" sz="1350" u="none" cap="none" strike="noStrike">
              <a:solidFill>
                <a:schemeClr val="dk1"/>
              </a:solidFill>
              <a:latin typeface="Arial"/>
              <a:ea typeface="Arial"/>
              <a:cs typeface="Arial"/>
              <a:sym typeface="Arial"/>
            </a:endParaRPr>
          </a:p>
        </p:txBody>
      </p:sp>
      <p:sp>
        <p:nvSpPr>
          <p:cNvPr id="464" name="Google Shape;464;hd1b175b31137957_0_266"/>
          <p:cNvSpPr/>
          <p:nvPr/>
        </p:nvSpPr>
        <p:spPr>
          <a:xfrm>
            <a:off x="658350" y="5852160"/>
            <a:ext cx="10853700" cy="457200"/>
          </a:xfrm>
          <a:prstGeom prst="roundRect">
            <a:avLst>
              <a:gd fmla="val 16000" name="adj"/>
            </a:avLst>
          </a:prstGeom>
          <a:solidFill>
            <a:srgbClr val="101F32"/>
          </a:solidFill>
          <a:ln cap="flat" cmpd="sng" w="12700">
            <a:solidFill>
              <a:srgbClr val="101F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hd1b175b31137957_0_266"/>
          <p:cNvSpPr/>
          <p:nvPr/>
        </p:nvSpPr>
        <p:spPr>
          <a:xfrm>
            <a:off x="868657" y="6007608"/>
            <a:ext cx="2743200" cy="128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3E6C1"/>
              </a:buClr>
              <a:buSzPts val="1000"/>
              <a:buFont typeface="Arial"/>
              <a:buNone/>
            </a:pPr>
            <a:r>
              <a:rPr b="1" i="0" lang="en-US" sz="1000" u="none" cap="none" strike="noStrike">
                <a:solidFill>
                  <a:srgbClr val="63E6C1"/>
                </a:solidFill>
                <a:latin typeface="Arial"/>
                <a:ea typeface="Arial"/>
                <a:cs typeface="Arial"/>
                <a:sym typeface="Arial"/>
              </a:rPr>
              <a:t>THE DISTRIBUTED-SYSTEMS PROBLEM</a:t>
            </a:r>
            <a:endParaRPr b="0" i="0" sz="1000" u="none" cap="none" strike="noStrike">
              <a:solidFill>
                <a:schemeClr val="dk1"/>
              </a:solidFill>
              <a:latin typeface="Arial"/>
              <a:ea typeface="Arial"/>
              <a:cs typeface="Arial"/>
              <a:sym typeface="Arial"/>
            </a:endParaRPr>
          </a:p>
        </p:txBody>
      </p:sp>
      <p:sp>
        <p:nvSpPr>
          <p:cNvPr id="466" name="Google Shape;466;hd1b175b31137957_0_266"/>
          <p:cNvSpPr/>
          <p:nvPr/>
        </p:nvSpPr>
        <p:spPr>
          <a:xfrm>
            <a:off x="3547777" y="5961888"/>
            <a:ext cx="7698900" cy="21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F8FC"/>
              </a:buClr>
              <a:buSzPts val="1520"/>
              <a:buFont typeface="Arial"/>
              <a:buNone/>
            </a:pPr>
            <a:r>
              <a:rPr b="1" i="0" lang="en-US" sz="1520" u="none" cap="none" strike="noStrike">
                <a:solidFill>
                  <a:srgbClr val="F5F8FC"/>
                </a:solidFill>
                <a:latin typeface="Arial"/>
                <a:ea typeface="Arial"/>
                <a:cs typeface="Arial"/>
                <a:sym typeface="Arial"/>
              </a:rPr>
              <a:t>Retries after timeouts can repeat bookings or payments.</a:t>
            </a:r>
            <a:endParaRPr b="0" i="0" sz="1520" u="none" cap="none" strike="noStrike">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470" name="Shape 470"/>
        <p:cNvGrpSpPr/>
        <p:nvPr/>
      </p:nvGrpSpPr>
      <p:grpSpPr>
        <a:xfrm>
          <a:off x="0" y="0"/>
          <a:ext cx="0" cy="0"/>
          <a:chOff x="0" y="0"/>
          <a:chExt cx="0" cy="0"/>
        </a:xfrm>
      </p:grpSpPr>
      <p:sp>
        <p:nvSpPr>
          <p:cNvPr id="471" name="Google Shape;471;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72" name="Google Shape;472;p47"/>
          <p:cNvSpPr txBox="1"/>
          <p:nvPr/>
        </p:nvSpPr>
        <p:spPr>
          <a:xfrm>
            <a:off x="731520" y="521207"/>
            <a:ext cx="10789920" cy="2926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473" name="Google Shape;473;p47"/>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02  /  Sequential chain</a:t>
            </a:r>
            <a:endParaRPr b="0" i="0" sz="1400" u="none" cap="none" strike="noStrike">
              <a:solidFill>
                <a:srgbClr val="000000"/>
              </a:solidFill>
              <a:latin typeface="Arial"/>
              <a:ea typeface="Arial"/>
              <a:cs typeface="Arial"/>
              <a:sym typeface="Arial"/>
            </a:endParaRPr>
          </a:p>
        </p:txBody>
      </p:sp>
      <p:sp>
        <p:nvSpPr>
          <p:cNvPr id="474" name="Google Shape;474;p47"/>
          <p:cNvSpPr txBox="1"/>
          <p:nvPr/>
        </p:nvSpPr>
        <p:spPr>
          <a:xfrm>
            <a:off x="758952" y="6126480"/>
            <a:ext cx="10698600" cy="2493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A workflow chooses the order; each agent owns a step.</a:t>
            </a:r>
            <a:endParaRPr b="0" i="0" sz="1400" u="none" cap="none" strike="noStrike">
              <a:solidFill>
                <a:srgbClr val="000000"/>
              </a:solidFill>
              <a:latin typeface="Arial"/>
              <a:ea typeface="Arial"/>
              <a:cs typeface="Arial"/>
              <a:sym typeface="Arial"/>
            </a:endParaRPr>
          </a:p>
        </p:txBody>
      </p:sp>
      <p:sp>
        <p:nvSpPr>
          <p:cNvPr id="475" name="Google Shape;475;p47"/>
          <p:cNvSpPr/>
          <p:nvPr/>
        </p:nvSpPr>
        <p:spPr>
          <a:xfrm>
            <a:off x="914400" y="2194560"/>
            <a:ext cx="3063240" cy="1426464"/>
          </a:xfrm>
          <a:prstGeom prst="roundRect">
            <a:avLst>
              <a:gd fmla="val 16667" name="adj"/>
            </a:avLst>
          </a:prstGeom>
          <a:solidFill>
            <a:srgbClr val="121721"/>
          </a:solidFill>
          <a:ln cap="flat" cmpd="sng" w="12700">
            <a:solidFill>
              <a:srgbClr val="6FD3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47"/>
          <p:cNvSpPr txBox="1"/>
          <p:nvPr/>
        </p:nvSpPr>
        <p:spPr>
          <a:xfrm>
            <a:off x="1042416" y="2423160"/>
            <a:ext cx="2788920"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6FD3E7"/>
                </a:solidFill>
                <a:latin typeface="Arial"/>
                <a:ea typeface="Arial"/>
                <a:cs typeface="Arial"/>
                <a:sym typeface="Arial"/>
              </a:rPr>
              <a:t>EXTRACT</a:t>
            </a:r>
            <a:endParaRPr b="0" i="0" sz="1400" u="none" cap="none" strike="noStrike">
              <a:solidFill>
                <a:srgbClr val="000000"/>
              </a:solidFill>
              <a:latin typeface="Arial"/>
              <a:ea typeface="Arial"/>
              <a:cs typeface="Arial"/>
              <a:sym typeface="Arial"/>
            </a:endParaRPr>
          </a:p>
        </p:txBody>
      </p:sp>
      <p:sp>
        <p:nvSpPr>
          <p:cNvPr id="477" name="Google Shape;477;p47"/>
          <p:cNvSpPr txBox="1"/>
          <p:nvPr/>
        </p:nvSpPr>
        <p:spPr>
          <a:xfrm>
            <a:off x="1042416" y="2990088"/>
            <a:ext cx="2788920"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F5F3EE"/>
                </a:solidFill>
                <a:latin typeface="Arial"/>
                <a:ea typeface="Arial"/>
                <a:cs typeface="Arial"/>
                <a:sym typeface="Arial"/>
              </a:rPr>
              <a:t>Agent A</a:t>
            </a:r>
            <a:endParaRPr b="0" i="0" sz="1400" u="none" cap="none" strike="noStrike">
              <a:solidFill>
                <a:srgbClr val="000000"/>
              </a:solidFill>
              <a:latin typeface="Arial"/>
              <a:ea typeface="Arial"/>
              <a:cs typeface="Arial"/>
              <a:sym typeface="Arial"/>
            </a:endParaRPr>
          </a:p>
        </p:txBody>
      </p:sp>
      <p:sp>
        <p:nvSpPr>
          <p:cNvPr id="478" name="Google Shape;478;p47"/>
          <p:cNvSpPr/>
          <p:nvPr/>
        </p:nvSpPr>
        <p:spPr>
          <a:xfrm>
            <a:off x="4416552" y="2194560"/>
            <a:ext cx="3063240" cy="1426464"/>
          </a:xfrm>
          <a:prstGeom prst="roundRect">
            <a:avLst>
              <a:gd fmla="val 16667" name="adj"/>
            </a:avLst>
          </a:prstGeom>
          <a:solidFill>
            <a:srgbClr val="121721"/>
          </a:solidFill>
          <a:ln cap="flat" cmpd="sng" w="127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47"/>
          <p:cNvSpPr txBox="1"/>
          <p:nvPr/>
        </p:nvSpPr>
        <p:spPr>
          <a:xfrm>
            <a:off x="4544568" y="2423160"/>
            <a:ext cx="2788920"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E8A33D"/>
                </a:solidFill>
                <a:latin typeface="Arial"/>
                <a:ea typeface="Arial"/>
                <a:cs typeface="Arial"/>
                <a:sym typeface="Arial"/>
              </a:rPr>
              <a:t>DECIDE</a:t>
            </a:r>
            <a:endParaRPr b="0" i="0" sz="1400" u="none" cap="none" strike="noStrike">
              <a:solidFill>
                <a:srgbClr val="000000"/>
              </a:solidFill>
              <a:latin typeface="Arial"/>
              <a:ea typeface="Arial"/>
              <a:cs typeface="Arial"/>
              <a:sym typeface="Arial"/>
            </a:endParaRPr>
          </a:p>
        </p:txBody>
      </p:sp>
      <p:sp>
        <p:nvSpPr>
          <p:cNvPr id="480" name="Google Shape;480;p47"/>
          <p:cNvSpPr txBox="1"/>
          <p:nvPr/>
        </p:nvSpPr>
        <p:spPr>
          <a:xfrm>
            <a:off x="4544568" y="2990088"/>
            <a:ext cx="2788920"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F5F3EE"/>
                </a:solidFill>
                <a:latin typeface="Arial"/>
                <a:ea typeface="Arial"/>
                <a:cs typeface="Arial"/>
                <a:sym typeface="Arial"/>
              </a:rPr>
              <a:t>Agent B</a:t>
            </a:r>
            <a:endParaRPr b="0" i="0" sz="1400" u="none" cap="none" strike="noStrike">
              <a:solidFill>
                <a:srgbClr val="000000"/>
              </a:solidFill>
              <a:latin typeface="Arial"/>
              <a:ea typeface="Arial"/>
              <a:cs typeface="Arial"/>
              <a:sym typeface="Arial"/>
            </a:endParaRPr>
          </a:p>
        </p:txBody>
      </p:sp>
      <p:sp>
        <p:nvSpPr>
          <p:cNvPr id="481" name="Google Shape;481;p47"/>
          <p:cNvSpPr/>
          <p:nvPr/>
        </p:nvSpPr>
        <p:spPr>
          <a:xfrm>
            <a:off x="7918704" y="2194560"/>
            <a:ext cx="3063240" cy="1426464"/>
          </a:xfrm>
          <a:prstGeom prst="roundRect">
            <a:avLst>
              <a:gd fmla="val 16667" name="adj"/>
            </a:avLst>
          </a:prstGeom>
          <a:solidFill>
            <a:srgbClr val="121721"/>
          </a:solidFill>
          <a:ln cap="flat" cmpd="sng" w="1270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47"/>
          <p:cNvSpPr txBox="1"/>
          <p:nvPr/>
        </p:nvSpPr>
        <p:spPr>
          <a:xfrm>
            <a:off x="8046720" y="2423160"/>
            <a:ext cx="2788920"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C5A0F8"/>
                </a:solidFill>
                <a:latin typeface="Arial"/>
                <a:ea typeface="Arial"/>
                <a:cs typeface="Arial"/>
                <a:sym typeface="Arial"/>
              </a:rPr>
              <a:t>DRAFT</a:t>
            </a:r>
            <a:endParaRPr b="0" i="0" sz="1400" u="none" cap="none" strike="noStrike">
              <a:solidFill>
                <a:srgbClr val="000000"/>
              </a:solidFill>
              <a:latin typeface="Arial"/>
              <a:ea typeface="Arial"/>
              <a:cs typeface="Arial"/>
              <a:sym typeface="Arial"/>
            </a:endParaRPr>
          </a:p>
        </p:txBody>
      </p:sp>
      <p:sp>
        <p:nvSpPr>
          <p:cNvPr id="483" name="Google Shape;483;p47"/>
          <p:cNvSpPr txBox="1"/>
          <p:nvPr/>
        </p:nvSpPr>
        <p:spPr>
          <a:xfrm>
            <a:off x="8046720" y="2990088"/>
            <a:ext cx="2788920" cy="34747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F5F3EE"/>
                </a:solidFill>
                <a:latin typeface="Arial"/>
                <a:ea typeface="Arial"/>
                <a:cs typeface="Arial"/>
                <a:sym typeface="Arial"/>
              </a:rPr>
              <a:t>Agent C</a:t>
            </a:r>
            <a:endParaRPr b="0" i="0" sz="1400" u="none" cap="none" strike="noStrike">
              <a:solidFill>
                <a:srgbClr val="000000"/>
              </a:solidFill>
              <a:latin typeface="Arial"/>
              <a:ea typeface="Arial"/>
              <a:cs typeface="Arial"/>
              <a:sym typeface="Arial"/>
            </a:endParaRPr>
          </a:p>
        </p:txBody>
      </p:sp>
      <p:cxnSp>
        <p:nvCxnSpPr>
          <p:cNvPr id="484" name="Google Shape;484;p47"/>
          <p:cNvCxnSpPr/>
          <p:nvPr/>
        </p:nvCxnSpPr>
        <p:spPr>
          <a:xfrm>
            <a:off x="4023360" y="2871216"/>
            <a:ext cx="310896"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485" name="Google Shape;485;p47"/>
          <p:cNvCxnSpPr/>
          <p:nvPr/>
        </p:nvCxnSpPr>
        <p:spPr>
          <a:xfrm flipH="1" rot="10800000">
            <a:off x="4210750" y="2871216"/>
            <a:ext cx="123506" cy="59659"/>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486" name="Google Shape;486;p47"/>
          <p:cNvCxnSpPr/>
          <p:nvPr/>
        </p:nvCxnSpPr>
        <p:spPr>
          <a:xfrm>
            <a:off x="4210750" y="2811556"/>
            <a:ext cx="123506" cy="5966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487" name="Google Shape;487;p47"/>
          <p:cNvCxnSpPr/>
          <p:nvPr/>
        </p:nvCxnSpPr>
        <p:spPr>
          <a:xfrm>
            <a:off x="7525512" y="2871216"/>
            <a:ext cx="310896"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488" name="Google Shape;488;p47"/>
          <p:cNvCxnSpPr/>
          <p:nvPr/>
        </p:nvCxnSpPr>
        <p:spPr>
          <a:xfrm flipH="1" rot="10800000">
            <a:off x="7712902" y="2871216"/>
            <a:ext cx="123506" cy="59659"/>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489" name="Google Shape;489;p47"/>
          <p:cNvCxnSpPr/>
          <p:nvPr/>
        </p:nvCxnSpPr>
        <p:spPr>
          <a:xfrm>
            <a:off x="7712902" y="2811556"/>
            <a:ext cx="123506" cy="5966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490" name="Google Shape;490;p47"/>
          <p:cNvSpPr txBox="1"/>
          <p:nvPr/>
        </p:nvSpPr>
        <p:spPr>
          <a:xfrm>
            <a:off x="932688" y="4572000"/>
            <a:ext cx="10424160" cy="93268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A8AFBF"/>
                </a:solidFill>
                <a:latin typeface="Arial"/>
                <a:ea typeface="Arial"/>
                <a:cs typeface="Arial"/>
                <a:sym typeface="Arial"/>
              </a:rPr>
              <a:t>LAYER 2 ANCESTOR   Pipes &amp; filters, workflow stages, durable step transitions.</a:t>
            </a:r>
            <a:endParaRPr b="0" i="0" sz="1400" u="none" cap="none" strike="noStrike">
              <a:solidFill>
                <a:srgbClr val="000000"/>
              </a:solidFill>
              <a:latin typeface="Arial"/>
              <a:ea typeface="Arial"/>
              <a:cs typeface="Arial"/>
              <a:sym typeface="Arial"/>
            </a:endParaRPr>
          </a:p>
        </p:txBody>
      </p:sp>
      <p:sp>
        <p:nvSpPr>
          <p:cNvPr id="491" name="Google Shape;491;p47"/>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23</a:t>
            </a:r>
            <a:endParaRPr b="0" i="0" sz="1400" u="none" cap="none" strike="noStrike">
              <a:solidFill>
                <a:srgbClr val="000000"/>
              </a:solidFill>
              <a:latin typeface="Arial"/>
              <a:ea typeface="Arial"/>
              <a:cs typeface="Arial"/>
              <a:sym typeface="Arial"/>
            </a:endParaRPr>
          </a:p>
        </p:txBody>
      </p:sp>
      <p:sp>
        <p:nvSpPr>
          <p:cNvPr id="492" name="Google Shape;492;p47"/>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
        <p:nvSpPr>
          <p:cNvPr id="493" name="Google Shape;493;p47"/>
          <p:cNvSpPr/>
          <p:nvPr/>
        </p:nvSpPr>
        <p:spPr>
          <a:xfrm>
            <a:off x="2419575" y="1709888"/>
            <a:ext cx="7057200" cy="3167100"/>
          </a:xfrm>
          <a:prstGeom prst="rect">
            <a:avLst/>
          </a:prstGeom>
          <a:solidFill>
            <a:schemeClr val="lt2"/>
          </a:solidFill>
          <a:ln cap="flat" cmpd="sng" w="762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CC0000"/>
                </a:solidFill>
                <a:latin typeface="Arial"/>
                <a:ea typeface="Arial"/>
                <a:cs typeface="Arial"/>
                <a:sym typeface="Arial"/>
              </a:rPr>
              <a:t>RELIABILITY QUESTION</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Arial"/>
                <a:ea typeface="Arial"/>
                <a:cs typeface="Arial"/>
                <a:sym typeface="Arial"/>
              </a:rPr>
              <a:t>what if the intermediate errors propagate as plausible-looking decisions</a:t>
            </a:r>
            <a:endParaRPr b="0" i="0" sz="25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93"/>
                                        </p:tgtEl>
                                        <p:attrNameLst>
                                          <p:attrName>style.visibility</p:attrName>
                                        </p:attrNameLst>
                                      </p:cBhvr>
                                      <p:to>
                                        <p:strVal val="visible"/>
                                      </p:to>
                                    </p:set>
                                    <p:anim calcmode="lin" valueType="num">
                                      <p:cBhvr additive="base">
                                        <p:cTn dur="1000"/>
                                        <p:tgtEl>
                                          <p:spTgt spid="4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1000"/>
                                        <p:tgtEl>
                                          <p:spTgt spid="4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497" name="Shape 497"/>
        <p:cNvGrpSpPr/>
        <p:nvPr/>
      </p:nvGrpSpPr>
      <p:grpSpPr>
        <a:xfrm>
          <a:off x="0" y="0"/>
          <a:ext cx="0" cy="0"/>
          <a:chOff x="0" y="0"/>
          <a:chExt cx="0" cy="0"/>
        </a:xfrm>
      </p:grpSpPr>
      <p:sp>
        <p:nvSpPr>
          <p:cNvPr id="498" name="Google Shape;498;hd1b175b31137957_0_3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99" name="Google Shape;499;hd1b175b31137957_0_328"/>
          <p:cNvSpPr txBox="1"/>
          <p:nvPr/>
        </p:nvSpPr>
        <p:spPr>
          <a:xfrm>
            <a:off x="731520" y="521207"/>
            <a:ext cx="107898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500" name="Google Shape;500;hd1b175b31137957_0_328"/>
          <p:cNvSpPr txBox="1"/>
          <p:nvPr/>
        </p:nvSpPr>
        <p:spPr>
          <a:xfrm>
            <a:off x="731520" y="941832"/>
            <a:ext cx="10972800" cy="4956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02  /  Sequential chain</a:t>
            </a:r>
            <a:endParaRPr b="0" i="0" sz="1400" u="none" cap="none" strike="noStrike">
              <a:solidFill>
                <a:srgbClr val="000000"/>
              </a:solidFill>
              <a:latin typeface="Arial"/>
              <a:ea typeface="Arial"/>
              <a:cs typeface="Arial"/>
              <a:sym typeface="Arial"/>
            </a:endParaRPr>
          </a:p>
        </p:txBody>
      </p:sp>
      <p:sp>
        <p:nvSpPr>
          <p:cNvPr id="501" name="Google Shape;501;hd1b175b31137957_0_328"/>
          <p:cNvSpPr txBox="1"/>
          <p:nvPr/>
        </p:nvSpPr>
        <p:spPr>
          <a:xfrm>
            <a:off x="758952" y="6126480"/>
            <a:ext cx="10698600" cy="2493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A workflow chooses the order; each agent owns a step.</a:t>
            </a:r>
            <a:endParaRPr b="0" i="0" sz="1400" u="none" cap="none" strike="noStrike">
              <a:solidFill>
                <a:srgbClr val="000000"/>
              </a:solidFill>
              <a:latin typeface="Arial"/>
              <a:ea typeface="Arial"/>
              <a:cs typeface="Arial"/>
              <a:sym typeface="Arial"/>
            </a:endParaRPr>
          </a:p>
        </p:txBody>
      </p:sp>
      <p:sp>
        <p:nvSpPr>
          <p:cNvPr id="502" name="Google Shape;502;hd1b175b31137957_0_328"/>
          <p:cNvSpPr/>
          <p:nvPr/>
        </p:nvSpPr>
        <p:spPr>
          <a:xfrm>
            <a:off x="914400" y="2194560"/>
            <a:ext cx="3063300" cy="1426500"/>
          </a:xfrm>
          <a:prstGeom prst="roundRect">
            <a:avLst>
              <a:gd fmla="val 16667" name="adj"/>
            </a:avLst>
          </a:prstGeom>
          <a:solidFill>
            <a:srgbClr val="121721"/>
          </a:solidFill>
          <a:ln cap="flat" cmpd="sng" w="12700">
            <a:solidFill>
              <a:srgbClr val="6FD3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hd1b175b31137957_0_328"/>
          <p:cNvSpPr txBox="1"/>
          <p:nvPr/>
        </p:nvSpPr>
        <p:spPr>
          <a:xfrm>
            <a:off x="1042416" y="2423160"/>
            <a:ext cx="2788800" cy="3417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6FD3E7"/>
                </a:solidFill>
                <a:latin typeface="Arial"/>
                <a:ea typeface="Arial"/>
                <a:cs typeface="Arial"/>
                <a:sym typeface="Arial"/>
              </a:rPr>
              <a:t>EXTRACT</a:t>
            </a:r>
            <a:endParaRPr b="0" i="0" sz="1400" u="none" cap="none" strike="noStrike">
              <a:solidFill>
                <a:srgbClr val="000000"/>
              </a:solidFill>
              <a:latin typeface="Arial"/>
              <a:ea typeface="Arial"/>
              <a:cs typeface="Arial"/>
              <a:sym typeface="Arial"/>
            </a:endParaRPr>
          </a:p>
        </p:txBody>
      </p:sp>
      <p:sp>
        <p:nvSpPr>
          <p:cNvPr id="504" name="Google Shape;504;hd1b175b31137957_0_328"/>
          <p:cNvSpPr txBox="1"/>
          <p:nvPr/>
        </p:nvSpPr>
        <p:spPr>
          <a:xfrm>
            <a:off x="1042416" y="2990088"/>
            <a:ext cx="2788800" cy="2802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F5F3EE"/>
                </a:solidFill>
                <a:latin typeface="Arial"/>
                <a:ea typeface="Arial"/>
                <a:cs typeface="Arial"/>
                <a:sym typeface="Arial"/>
              </a:rPr>
              <a:t>Agent A</a:t>
            </a:r>
            <a:endParaRPr b="0" i="0" sz="1400" u="none" cap="none" strike="noStrike">
              <a:solidFill>
                <a:srgbClr val="000000"/>
              </a:solidFill>
              <a:latin typeface="Arial"/>
              <a:ea typeface="Arial"/>
              <a:cs typeface="Arial"/>
              <a:sym typeface="Arial"/>
            </a:endParaRPr>
          </a:p>
        </p:txBody>
      </p:sp>
      <p:sp>
        <p:nvSpPr>
          <p:cNvPr id="505" name="Google Shape;505;hd1b175b31137957_0_328"/>
          <p:cNvSpPr/>
          <p:nvPr/>
        </p:nvSpPr>
        <p:spPr>
          <a:xfrm>
            <a:off x="4416552" y="2194560"/>
            <a:ext cx="3063300" cy="1426500"/>
          </a:xfrm>
          <a:prstGeom prst="roundRect">
            <a:avLst>
              <a:gd fmla="val 16667" name="adj"/>
            </a:avLst>
          </a:prstGeom>
          <a:solidFill>
            <a:srgbClr val="121721"/>
          </a:solidFill>
          <a:ln cap="flat" cmpd="sng" w="127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hd1b175b31137957_0_328"/>
          <p:cNvSpPr txBox="1"/>
          <p:nvPr/>
        </p:nvSpPr>
        <p:spPr>
          <a:xfrm>
            <a:off x="4544568" y="2423160"/>
            <a:ext cx="2788800" cy="3417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E8A33D"/>
                </a:solidFill>
                <a:latin typeface="Arial"/>
                <a:ea typeface="Arial"/>
                <a:cs typeface="Arial"/>
                <a:sym typeface="Arial"/>
              </a:rPr>
              <a:t>DECIDE</a:t>
            </a:r>
            <a:endParaRPr b="0" i="0" sz="1400" u="none" cap="none" strike="noStrike">
              <a:solidFill>
                <a:srgbClr val="000000"/>
              </a:solidFill>
              <a:latin typeface="Arial"/>
              <a:ea typeface="Arial"/>
              <a:cs typeface="Arial"/>
              <a:sym typeface="Arial"/>
            </a:endParaRPr>
          </a:p>
        </p:txBody>
      </p:sp>
      <p:sp>
        <p:nvSpPr>
          <p:cNvPr id="507" name="Google Shape;507;hd1b175b31137957_0_328"/>
          <p:cNvSpPr txBox="1"/>
          <p:nvPr/>
        </p:nvSpPr>
        <p:spPr>
          <a:xfrm>
            <a:off x="4544568" y="2990088"/>
            <a:ext cx="2788800" cy="2802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F5F3EE"/>
                </a:solidFill>
                <a:latin typeface="Arial"/>
                <a:ea typeface="Arial"/>
                <a:cs typeface="Arial"/>
                <a:sym typeface="Arial"/>
              </a:rPr>
              <a:t>Agent B</a:t>
            </a:r>
            <a:endParaRPr b="0" i="0" sz="1400" u="none" cap="none" strike="noStrike">
              <a:solidFill>
                <a:srgbClr val="000000"/>
              </a:solidFill>
              <a:latin typeface="Arial"/>
              <a:ea typeface="Arial"/>
              <a:cs typeface="Arial"/>
              <a:sym typeface="Arial"/>
            </a:endParaRPr>
          </a:p>
        </p:txBody>
      </p:sp>
      <p:sp>
        <p:nvSpPr>
          <p:cNvPr id="508" name="Google Shape;508;hd1b175b31137957_0_328"/>
          <p:cNvSpPr/>
          <p:nvPr/>
        </p:nvSpPr>
        <p:spPr>
          <a:xfrm>
            <a:off x="7918704" y="2194560"/>
            <a:ext cx="3063300" cy="1426500"/>
          </a:xfrm>
          <a:prstGeom prst="roundRect">
            <a:avLst>
              <a:gd fmla="val 16667" name="adj"/>
            </a:avLst>
          </a:prstGeom>
          <a:solidFill>
            <a:srgbClr val="121721"/>
          </a:solidFill>
          <a:ln cap="flat" cmpd="sng" w="1270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hd1b175b31137957_0_328"/>
          <p:cNvSpPr txBox="1"/>
          <p:nvPr/>
        </p:nvSpPr>
        <p:spPr>
          <a:xfrm>
            <a:off x="8046720" y="2423160"/>
            <a:ext cx="2788800" cy="3417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100"/>
              <a:buFont typeface="Arial"/>
              <a:buNone/>
            </a:pPr>
            <a:r>
              <a:rPr b="1" i="0" lang="en-US" sz="2100" u="none" cap="none" strike="noStrike">
                <a:solidFill>
                  <a:srgbClr val="C5A0F8"/>
                </a:solidFill>
                <a:latin typeface="Arial"/>
                <a:ea typeface="Arial"/>
                <a:cs typeface="Arial"/>
                <a:sym typeface="Arial"/>
              </a:rPr>
              <a:t>DRAFT</a:t>
            </a:r>
            <a:endParaRPr b="0" i="0" sz="1400" u="none" cap="none" strike="noStrike">
              <a:solidFill>
                <a:srgbClr val="000000"/>
              </a:solidFill>
              <a:latin typeface="Arial"/>
              <a:ea typeface="Arial"/>
              <a:cs typeface="Arial"/>
              <a:sym typeface="Arial"/>
            </a:endParaRPr>
          </a:p>
        </p:txBody>
      </p:sp>
      <p:sp>
        <p:nvSpPr>
          <p:cNvPr id="510" name="Google Shape;510;hd1b175b31137957_0_328"/>
          <p:cNvSpPr txBox="1"/>
          <p:nvPr/>
        </p:nvSpPr>
        <p:spPr>
          <a:xfrm>
            <a:off x="8046720" y="2990088"/>
            <a:ext cx="2788800" cy="2802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700"/>
              <a:buFont typeface="Arial"/>
              <a:buNone/>
            </a:pPr>
            <a:r>
              <a:rPr b="0" i="0" lang="en-US" sz="1700" u="none" cap="none" strike="noStrike">
                <a:solidFill>
                  <a:srgbClr val="F5F3EE"/>
                </a:solidFill>
                <a:latin typeface="Arial"/>
                <a:ea typeface="Arial"/>
                <a:cs typeface="Arial"/>
                <a:sym typeface="Arial"/>
              </a:rPr>
              <a:t>Agent C</a:t>
            </a:r>
            <a:endParaRPr b="0" i="0" sz="1400" u="none" cap="none" strike="noStrike">
              <a:solidFill>
                <a:srgbClr val="000000"/>
              </a:solidFill>
              <a:latin typeface="Arial"/>
              <a:ea typeface="Arial"/>
              <a:cs typeface="Arial"/>
              <a:sym typeface="Arial"/>
            </a:endParaRPr>
          </a:p>
        </p:txBody>
      </p:sp>
      <p:cxnSp>
        <p:nvCxnSpPr>
          <p:cNvPr id="511" name="Google Shape;511;hd1b175b31137957_0_328"/>
          <p:cNvCxnSpPr/>
          <p:nvPr/>
        </p:nvCxnSpPr>
        <p:spPr>
          <a:xfrm>
            <a:off x="4023360" y="2871216"/>
            <a:ext cx="310800"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12" name="Google Shape;512;hd1b175b31137957_0_328"/>
          <p:cNvCxnSpPr/>
          <p:nvPr/>
        </p:nvCxnSpPr>
        <p:spPr>
          <a:xfrm flipH="1" rot="10800000">
            <a:off x="4210750" y="2871175"/>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13" name="Google Shape;513;hd1b175b31137957_0_328"/>
          <p:cNvCxnSpPr/>
          <p:nvPr/>
        </p:nvCxnSpPr>
        <p:spPr>
          <a:xfrm>
            <a:off x="4210750" y="2811556"/>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14" name="Google Shape;514;hd1b175b31137957_0_328"/>
          <p:cNvCxnSpPr/>
          <p:nvPr/>
        </p:nvCxnSpPr>
        <p:spPr>
          <a:xfrm>
            <a:off x="7525512" y="2871216"/>
            <a:ext cx="310800"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15" name="Google Shape;515;hd1b175b31137957_0_328"/>
          <p:cNvCxnSpPr/>
          <p:nvPr/>
        </p:nvCxnSpPr>
        <p:spPr>
          <a:xfrm flipH="1" rot="10800000">
            <a:off x="7712902" y="2871175"/>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16" name="Google Shape;516;hd1b175b31137957_0_328"/>
          <p:cNvCxnSpPr/>
          <p:nvPr/>
        </p:nvCxnSpPr>
        <p:spPr>
          <a:xfrm>
            <a:off x="7712902" y="2811556"/>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517" name="Google Shape;517;hd1b175b31137957_0_328"/>
          <p:cNvSpPr txBox="1"/>
          <p:nvPr/>
        </p:nvSpPr>
        <p:spPr>
          <a:xfrm>
            <a:off x="932688" y="4572000"/>
            <a:ext cx="10424100" cy="3264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A8AFBF"/>
                </a:solidFill>
                <a:latin typeface="Arial"/>
                <a:ea typeface="Arial"/>
                <a:cs typeface="Arial"/>
                <a:sym typeface="Arial"/>
              </a:rPr>
              <a:t>LAYER 2 ANCESTOR   Pipes &amp; filters, workflow stages, durable step transitions.</a:t>
            </a:r>
            <a:endParaRPr b="0" i="0" sz="1400" u="none" cap="none" strike="noStrike">
              <a:solidFill>
                <a:srgbClr val="000000"/>
              </a:solidFill>
              <a:latin typeface="Arial"/>
              <a:ea typeface="Arial"/>
              <a:cs typeface="Arial"/>
              <a:sym typeface="Arial"/>
            </a:endParaRPr>
          </a:p>
        </p:txBody>
      </p:sp>
      <p:sp>
        <p:nvSpPr>
          <p:cNvPr id="518" name="Google Shape;518;hd1b175b31137957_0_328"/>
          <p:cNvSpPr txBox="1"/>
          <p:nvPr/>
        </p:nvSpPr>
        <p:spPr>
          <a:xfrm>
            <a:off x="11530584" y="6437376"/>
            <a:ext cx="4299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23</a:t>
            </a:r>
            <a:endParaRPr b="0" i="0" sz="1400" u="none" cap="none" strike="noStrike">
              <a:solidFill>
                <a:srgbClr val="000000"/>
              </a:solidFill>
              <a:latin typeface="Arial"/>
              <a:ea typeface="Arial"/>
              <a:cs typeface="Arial"/>
              <a:sym typeface="Arial"/>
            </a:endParaRPr>
          </a:p>
        </p:txBody>
      </p:sp>
      <p:sp>
        <p:nvSpPr>
          <p:cNvPr id="519" name="Google Shape;519;hd1b175b31137957_0_328"/>
          <p:cNvSpPr txBox="1"/>
          <p:nvPr/>
        </p:nvSpPr>
        <p:spPr>
          <a:xfrm>
            <a:off x="758952" y="6437376"/>
            <a:ext cx="31089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
        <p:nvSpPr>
          <p:cNvPr id="520" name="Google Shape;520;hd1b175b31137957_0_328"/>
          <p:cNvSpPr/>
          <p:nvPr/>
        </p:nvSpPr>
        <p:spPr>
          <a:xfrm>
            <a:off x="2419575" y="1709888"/>
            <a:ext cx="7057200" cy="3167100"/>
          </a:xfrm>
          <a:prstGeom prst="rect">
            <a:avLst/>
          </a:prstGeom>
          <a:solidFill>
            <a:schemeClr val="lt2"/>
          </a:solidFill>
          <a:ln cap="flat" cmpd="sng" w="762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CC0000"/>
                </a:solidFill>
                <a:latin typeface="Arial"/>
                <a:ea typeface="Arial"/>
                <a:cs typeface="Arial"/>
                <a:sym typeface="Arial"/>
              </a:rPr>
              <a:t>RELIABILITY QUESTION</a:t>
            </a:r>
            <a:endParaRPr b="1" i="0" sz="3100" u="none" cap="none" strike="noStrike">
              <a:solidFill>
                <a:srgbClr val="CC0000"/>
              </a:solidFill>
              <a:latin typeface="Arial"/>
              <a:ea typeface="Arial"/>
              <a:cs typeface="Arial"/>
              <a:sym typeface="Arial"/>
            </a:endParaRPr>
          </a:p>
          <a:p>
            <a:pPr indent="0" lvl="0" marL="457200" marR="0" rtl="0" algn="ctr">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Arial"/>
                <a:ea typeface="Arial"/>
                <a:cs typeface="Arial"/>
                <a:sym typeface="Arial"/>
              </a:rPr>
              <a:t>What happens when intermediate errors propagate as plausible-looking decisions?</a:t>
            </a:r>
            <a:endParaRPr b="1" i="0" sz="4600" u="none" cap="none" strike="noStrike">
              <a:solidFill>
                <a:srgbClr val="CC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520"/>
                                        </p:tgtEl>
                                        <p:attrNameLst>
                                          <p:attrName>style.visibility</p:attrName>
                                        </p:attrNameLst>
                                      </p:cBhvr>
                                      <p:to>
                                        <p:strVal val="visible"/>
                                      </p:to>
                                    </p:set>
                                    <p:anim calcmode="lin" valueType="num">
                                      <p:cBhvr additive="base">
                                        <p:cTn dur="1000"/>
                                        <p:tgtEl>
                                          <p:spTgt spid="52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524" name="Shape 524"/>
        <p:cNvGrpSpPr/>
        <p:nvPr/>
      </p:nvGrpSpPr>
      <p:grpSpPr>
        <a:xfrm>
          <a:off x="0" y="0"/>
          <a:ext cx="0" cy="0"/>
          <a:chOff x="0" y="0"/>
          <a:chExt cx="0" cy="0"/>
        </a:xfrm>
      </p:grpSpPr>
      <p:sp>
        <p:nvSpPr>
          <p:cNvPr id="525" name="Google Shape;525;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526" name="Google Shape;526;p48"/>
          <p:cNvSpPr txBox="1"/>
          <p:nvPr/>
        </p:nvSpPr>
        <p:spPr>
          <a:xfrm>
            <a:off x="731520" y="521207"/>
            <a:ext cx="10789920" cy="2926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527" name="Google Shape;527;p48"/>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03  /  Router + handoff</a:t>
            </a:r>
            <a:endParaRPr b="0" i="0" sz="1400" u="none" cap="none" strike="noStrike">
              <a:solidFill>
                <a:srgbClr val="000000"/>
              </a:solidFill>
              <a:latin typeface="Arial"/>
              <a:ea typeface="Arial"/>
              <a:cs typeface="Arial"/>
              <a:sym typeface="Arial"/>
            </a:endParaRPr>
          </a:p>
        </p:txBody>
      </p:sp>
      <p:sp>
        <p:nvSpPr>
          <p:cNvPr id="528" name="Google Shape;528;p48"/>
          <p:cNvSpPr/>
          <p:nvPr/>
        </p:nvSpPr>
        <p:spPr>
          <a:xfrm>
            <a:off x="932688" y="2834640"/>
            <a:ext cx="2039112" cy="59436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8"/>
          <p:cNvSpPr txBox="1"/>
          <p:nvPr/>
        </p:nvSpPr>
        <p:spPr>
          <a:xfrm>
            <a:off x="1005840" y="2944368"/>
            <a:ext cx="1892807"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TASK</a:t>
            </a:r>
            <a:endParaRPr b="0" i="0" sz="1400" u="none" cap="none" strike="noStrike">
              <a:solidFill>
                <a:srgbClr val="000000"/>
              </a:solidFill>
              <a:latin typeface="Arial"/>
              <a:ea typeface="Arial"/>
              <a:cs typeface="Arial"/>
              <a:sym typeface="Arial"/>
            </a:endParaRPr>
          </a:p>
        </p:txBody>
      </p:sp>
      <p:sp>
        <p:nvSpPr>
          <p:cNvPr id="530" name="Google Shape;530;p48"/>
          <p:cNvSpPr/>
          <p:nvPr/>
        </p:nvSpPr>
        <p:spPr>
          <a:xfrm>
            <a:off x="3749039" y="2514600"/>
            <a:ext cx="2560320" cy="1252728"/>
          </a:xfrm>
          <a:prstGeom prst="roundRect">
            <a:avLst>
              <a:gd fmla="val 16667" name="adj"/>
            </a:avLst>
          </a:prstGeom>
          <a:solidFill>
            <a:srgbClr val="121721"/>
          </a:solidFill>
          <a:ln cap="flat" cmpd="sng" w="127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8"/>
          <p:cNvSpPr txBox="1"/>
          <p:nvPr/>
        </p:nvSpPr>
        <p:spPr>
          <a:xfrm>
            <a:off x="3904487" y="2825496"/>
            <a:ext cx="2267712" cy="5029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E8A33D"/>
                </a:solidFill>
                <a:latin typeface="Arial"/>
                <a:ea typeface="Arial"/>
                <a:cs typeface="Arial"/>
                <a:sym typeface="Arial"/>
              </a:rPr>
              <a:t>ROUTER</a:t>
            </a:r>
            <a:endParaRPr b="0" i="0" sz="1400" u="none" cap="none" strike="noStrike">
              <a:solidFill>
                <a:srgbClr val="000000"/>
              </a:solidFill>
              <a:latin typeface="Arial"/>
              <a:ea typeface="Arial"/>
              <a:cs typeface="Arial"/>
              <a:sym typeface="Arial"/>
            </a:endParaRPr>
          </a:p>
        </p:txBody>
      </p:sp>
      <p:sp>
        <p:nvSpPr>
          <p:cNvPr id="532" name="Google Shape;532;p48"/>
          <p:cNvSpPr/>
          <p:nvPr/>
        </p:nvSpPr>
        <p:spPr>
          <a:xfrm>
            <a:off x="8247888" y="1691640"/>
            <a:ext cx="2898648" cy="704088"/>
          </a:xfrm>
          <a:prstGeom prst="roundRect">
            <a:avLst>
              <a:gd fmla="val 16667" name="adj"/>
            </a:avLst>
          </a:prstGeom>
          <a:solidFill>
            <a:srgbClr val="121721"/>
          </a:solidFill>
          <a:ln cap="flat" cmpd="sng" w="1270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8"/>
          <p:cNvSpPr txBox="1"/>
          <p:nvPr/>
        </p:nvSpPr>
        <p:spPr>
          <a:xfrm>
            <a:off x="8348472" y="1901952"/>
            <a:ext cx="2697480" cy="39319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BILLING AGENT</a:t>
            </a:r>
            <a:endParaRPr b="0" i="0" sz="1400" u="none" cap="none" strike="noStrike">
              <a:solidFill>
                <a:srgbClr val="000000"/>
              </a:solidFill>
              <a:latin typeface="Arial"/>
              <a:ea typeface="Arial"/>
              <a:cs typeface="Arial"/>
              <a:sym typeface="Arial"/>
            </a:endParaRPr>
          </a:p>
        </p:txBody>
      </p:sp>
      <p:cxnSp>
        <p:nvCxnSpPr>
          <p:cNvPr id="534" name="Google Shape;534;p48"/>
          <p:cNvCxnSpPr/>
          <p:nvPr/>
        </p:nvCxnSpPr>
        <p:spPr>
          <a:xfrm flipH="1" rot="10800000">
            <a:off x="6364224" y="2039112"/>
            <a:ext cx="1810512" cy="1106424"/>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35" name="Google Shape;535;p48"/>
          <p:cNvCxnSpPr/>
          <p:nvPr/>
        </p:nvCxnSpPr>
        <p:spPr>
          <a:xfrm flipH="1" rot="10800000">
            <a:off x="8100460" y="2039112"/>
            <a:ext cx="74276" cy="115308"/>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36" name="Google Shape;536;p48"/>
          <p:cNvCxnSpPr/>
          <p:nvPr/>
        </p:nvCxnSpPr>
        <p:spPr>
          <a:xfrm flipH="1" rot="10800000">
            <a:off x="8038241" y="2039112"/>
            <a:ext cx="136495" cy="13495"/>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sp>
        <p:nvSpPr>
          <p:cNvPr id="537" name="Google Shape;537;p48"/>
          <p:cNvSpPr/>
          <p:nvPr/>
        </p:nvSpPr>
        <p:spPr>
          <a:xfrm>
            <a:off x="8247888" y="2834640"/>
            <a:ext cx="2898648" cy="704088"/>
          </a:xfrm>
          <a:prstGeom prst="roundRect">
            <a:avLst>
              <a:gd fmla="val 16667" name="adj"/>
            </a:avLst>
          </a:prstGeom>
          <a:solidFill>
            <a:srgbClr val="121721"/>
          </a:solidFill>
          <a:ln cap="flat" cmpd="sng" w="1270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8"/>
          <p:cNvSpPr txBox="1"/>
          <p:nvPr/>
        </p:nvSpPr>
        <p:spPr>
          <a:xfrm>
            <a:off x="8348472" y="3044952"/>
            <a:ext cx="2697480" cy="39319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TRAVEL AGENT</a:t>
            </a:r>
            <a:endParaRPr b="0" i="0" sz="1400" u="none" cap="none" strike="noStrike">
              <a:solidFill>
                <a:srgbClr val="000000"/>
              </a:solidFill>
              <a:latin typeface="Arial"/>
              <a:ea typeface="Arial"/>
              <a:cs typeface="Arial"/>
              <a:sym typeface="Arial"/>
            </a:endParaRPr>
          </a:p>
        </p:txBody>
      </p:sp>
      <p:cxnSp>
        <p:nvCxnSpPr>
          <p:cNvPr id="539" name="Google Shape;539;p48"/>
          <p:cNvCxnSpPr/>
          <p:nvPr/>
        </p:nvCxnSpPr>
        <p:spPr>
          <a:xfrm>
            <a:off x="6364224" y="3145536"/>
            <a:ext cx="1810512" cy="36576"/>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40" name="Google Shape;540;p48"/>
          <p:cNvCxnSpPr/>
          <p:nvPr/>
        </p:nvCxnSpPr>
        <p:spPr>
          <a:xfrm flipH="1" rot="10800000">
            <a:off x="8050050" y="3182112"/>
            <a:ext cx="124686" cy="57153"/>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41" name="Google Shape;541;p48"/>
          <p:cNvCxnSpPr/>
          <p:nvPr/>
        </p:nvCxnSpPr>
        <p:spPr>
          <a:xfrm>
            <a:off x="8052460" y="3119969"/>
            <a:ext cx="122276" cy="62143"/>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sp>
        <p:nvSpPr>
          <p:cNvPr id="542" name="Google Shape;542;p48"/>
          <p:cNvSpPr/>
          <p:nvPr/>
        </p:nvSpPr>
        <p:spPr>
          <a:xfrm>
            <a:off x="8247888" y="3977639"/>
            <a:ext cx="2898648" cy="704088"/>
          </a:xfrm>
          <a:prstGeom prst="roundRect">
            <a:avLst>
              <a:gd fmla="val 16667" name="adj"/>
            </a:avLst>
          </a:prstGeom>
          <a:solidFill>
            <a:srgbClr val="121721"/>
          </a:solidFill>
          <a:ln cap="flat" cmpd="sng" w="12700">
            <a:solidFill>
              <a:srgbClr val="83D4A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8"/>
          <p:cNvSpPr txBox="1"/>
          <p:nvPr/>
        </p:nvSpPr>
        <p:spPr>
          <a:xfrm>
            <a:off x="8348472" y="4187952"/>
            <a:ext cx="2697480" cy="393192"/>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HUMAN ESCALATION</a:t>
            </a:r>
            <a:endParaRPr b="0" i="0" sz="1400" u="none" cap="none" strike="noStrike">
              <a:solidFill>
                <a:srgbClr val="000000"/>
              </a:solidFill>
              <a:latin typeface="Arial"/>
              <a:ea typeface="Arial"/>
              <a:cs typeface="Arial"/>
              <a:sym typeface="Arial"/>
            </a:endParaRPr>
          </a:p>
        </p:txBody>
      </p:sp>
      <p:cxnSp>
        <p:nvCxnSpPr>
          <p:cNvPr id="544" name="Google Shape;544;p48"/>
          <p:cNvCxnSpPr/>
          <p:nvPr/>
        </p:nvCxnSpPr>
        <p:spPr>
          <a:xfrm>
            <a:off x="6364224" y="3145536"/>
            <a:ext cx="1810512" cy="1179576"/>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45" name="Google Shape;545;p48"/>
          <p:cNvCxnSpPr/>
          <p:nvPr/>
        </p:nvCxnSpPr>
        <p:spPr>
          <a:xfrm>
            <a:off x="8038688" y="4307679"/>
            <a:ext cx="136048" cy="17433"/>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46" name="Google Shape;546;p48"/>
          <p:cNvCxnSpPr/>
          <p:nvPr/>
        </p:nvCxnSpPr>
        <p:spPr>
          <a:xfrm>
            <a:off x="8103822" y="4207706"/>
            <a:ext cx="70914" cy="117406"/>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47" name="Google Shape;547;p48"/>
          <p:cNvCxnSpPr/>
          <p:nvPr/>
        </p:nvCxnSpPr>
        <p:spPr>
          <a:xfrm>
            <a:off x="2999232" y="3136392"/>
            <a:ext cx="685800"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48" name="Google Shape;548;p48"/>
          <p:cNvCxnSpPr/>
          <p:nvPr/>
        </p:nvCxnSpPr>
        <p:spPr>
          <a:xfrm flipH="1" rot="10800000">
            <a:off x="3561526" y="3136392"/>
            <a:ext cx="123506" cy="59659"/>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49" name="Google Shape;549;p48"/>
          <p:cNvCxnSpPr/>
          <p:nvPr/>
        </p:nvCxnSpPr>
        <p:spPr>
          <a:xfrm>
            <a:off x="3561526" y="3076732"/>
            <a:ext cx="123506" cy="5966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550" name="Google Shape;550;p48"/>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24</a:t>
            </a:r>
            <a:endParaRPr b="0" i="0" sz="1400" u="none" cap="none" strike="noStrike">
              <a:solidFill>
                <a:srgbClr val="000000"/>
              </a:solidFill>
              <a:latin typeface="Arial"/>
              <a:ea typeface="Arial"/>
              <a:cs typeface="Arial"/>
              <a:sym typeface="Arial"/>
            </a:endParaRPr>
          </a:p>
        </p:txBody>
      </p:sp>
      <p:sp>
        <p:nvSpPr>
          <p:cNvPr id="551" name="Google Shape;551;p48"/>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
        <p:nvSpPr>
          <p:cNvPr id="552" name="Google Shape;552;p48"/>
          <p:cNvSpPr/>
          <p:nvPr/>
        </p:nvSpPr>
        <p:spPr>
          <a:xfrm>
            <a:off x="2419575" y="1709888"/>
            <a:ext cx="7057200" cy="3167100"/>
          </a:xfrm>
          <a:prstGeom prst="rect">
            <a:avLst/>
          </a:prstGeom>
          <a:solidFill>
            <a:schemeClr val="lt2"/>
          </a:solidFill>
          <a:ln cap="flat" cmpd="sng" w="762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CC0000"/>
                </a:solidFill>
                <a:latin typeface="Arial"/>
                <a:ea typeface="Arial"/>
                <a:cs typeface="Arial"/>
                <a:sym typeface="Arial"/>
              </a:rPr>
              <a:t>RELIABILITY QUESTION</a:t>
            </a:r>
            <a:endParaRPr b="1" i="0" sz="3100" u="none" cap="none" strike="noStrike">
              <a:solidFill>
                <a:srgbClr val="CC0000"/>
              </a:solidFill>
              <a:latin typeface="Arial"/>
              <a:ea typeface="Arial"/>
              <a:cs typeface="Arial"/>
              <a:sym typeface="Arial"/>
            </a:endParaRPr>
          </a:p>
          <a:p>
            <a:pPr indent="0" lvl="0" marL="1828800" marR="0" rtl="0" algn="l">
              <a:lnSpc>
                <a:spcPct val="100000"/>
              </a:lnSpc>
              <a:spcBef>
                <a:spcPts val="0"/>
              </a:spcBef>
              <a:spcAft>
                <a:spcPts val="0"/>
              </a:spcAft>
              <a:buClr>
                <a:srgbClr val="000000"/>
              </a:buClr>
              <a:buSzPts val="2300"/>
              <a:buFont typeface="Arial"/>
              <a:buNone/>
            </a:pPr>
            <a:r>
              <a:t/>
            </a:r>
            <a:endParaRPr b="1" i="0" sz="23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Arial"/>
              <a:buNone/>
            </a:pPr>
            <a:r>
              <a:t/>
            </a:r>
            <a:endParaRPr b="1" i="0" sz="31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52"/>
                                        </p:tgtEl>
                                        <p:attrNameLst>
                                          <p:attrName>style.visibility</p:attrName>
                                        </p:attrNameLst>
                                      </p:cBhvr>
                                      <p:to>
                                        <p:strVal val="visible"/>
                                      </p:to>
                                    </p:set>
                                    <p:anim calcmode="lin" valueType="num">
                                      <p:cBhvr additive="base">
                                        <p:cTn dur="1000"/>
                                        <p:tgtEl>
                                          <p:spTgt spid="55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556" name="Shape 556"/>
        <p:cNvGrpSpPr/>
        <p:nvPr/>
      </p:nvGrpSpPr>
      <p:grpSpPr>
        <a:xfrm>
          <a:off x="0" y="0"/>
          <a:ext cx="0" cy="0"/>
          <a:chOff x="0" y="0"/>
          <a:chExt cx="0" cy="0"/>
        </a:xfrm>
      </p:grpSpPr>
      <p:sp>
        <p:nvSpPr>
          <p:cNvPr id="557" name="Google Shape;557;hd1b175b31137957_0_3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558" name="Google Shape;558;hd1b175b31137957_0_354"/>
          <p:cNvSpPr txBox="1"/>
          <p:nvPr/>
        </p:nvSpPr>
        <p:spPr>
          <a:xfrm>
            <a:off x="731520" y="521207"/>
            <a:ext cx="107898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559" name="Google Shape;559;hd1b175b31137957_0_354"/>
          <p:cNvSpPr txBox="1"/>
          <p:nvPr/>
        </p:nvSpPr>
        <p:spPr>
          <a:xfrm>
            <a:off x="731520" y="941832"/>
            <a:ext cx="10972800" cy="4956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03  /  Router + handoff</a:t>
            </a:r>
            <a:endParaRPr b="0" i="0" sz="1400" u="none" cap="none" strike="noStrike">
              <a:solidFill>
                <a:srgbClr val="000000"/>
              </a:solidFill>
              <a:latin typeface="Arial"/>
              <a:ea typeface="Arial"/>
              <a:cs typeface="Arial"/>
              <a:sym typeface="Arial"/>
            </a:endParaRPr>
          </a:p>
        </p:txBody>
      </p:sp>
      <p:sp>
        <p:nvSpPr>
          <p:cNvPr id="560" name="Google Shape;560;hd1b175b31137957_0_354"/>
          <p:cNvSpPr txBox="1"/>
          <p:nvPr/>
        </p:nvSpPr>
        <p:spPr>
          <a:xfrm>
            <a:off x="758952" y="6126480"/>
            <a:ext cx="10698600" cy="2493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The next consumer is selected from the task context.</a:t>
            </a:r>
            <a:endParaRPr b="0" i="0" sz="1400" u="none" cap="none" strike="noStrike">
              <a:solidFill>
                <a:srgbClr val="000000"/>
              </a:solidFill>
              <a:latin typeface="Arial"/>
              <a:ea typeface="Arial"/>
              <a:cs typeface="Arial"/>
              <a:sym typeface="Arial"/>
            </a:endParaRPr>
          </a:p>
        </p:txBody>
      </p:sp>
      <p:sp>
        <p:nvSpPr>
          <p:cNvPr id="561" name="Google Shape;561;hd1b175b31137957_0_354"/>
          <p:cNvSpPr/>
          <p:nvPr/>
        </p:nvSpPr>
        <p:spPr>
          <a:xfrm>
            <a:off x="932688" y="2834640"/>
            <a:ext cx="2039100" cy="59430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hd1b175b31137957_0_354"/>
          <p:cNvSpPr txBox="1"/>
          <p:nvPr/>
        </p:nvSpPr>
        <p:spPr>
          <a:xfrm>
            <a:off x="1005840" y="2944368"/>
            <a:ext cx="18927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TASK</a:t>
            </a:r>
            <a:endParaRPr b="0" i="0" sz="1400" u="none" cap="none" strike="noStrike">
              <a:solidFill>
                <a:srgbClr val="000000"/>
              </a:solidFill>
              <a:latin typeface="Arial"/>
              <a:ea typeface="Arial"/>
              <a:cs typeface="Arial"/>
              <a:sym typeface="Arial"/>
            </a:endParaRPr>
          </a:p>
        </p:txBody>
      </p:sp>
      <p:sp>
        <p:nvSpPr>
          <p:cNvPr id="563" name="Google Shape;563;hd1b175b31137957_0_354"/>
          <p:cNvSpPr/>
          <p:nvPr/>
        </p:nvSpPr>
        <p:spPr>
          <a:xfrm>
            <a:off x="3749039" y="2514600"/>
            <a:ext cx="2560200" cy="1252800"/>
          </a:xfrm>
          <a:prstGeom prst="roundRect">
            <a:avLst>
              <a:gd fmla="val 16667" name="adj"/>
            </a:avLst>
          </a:prstGeom>
          <a:solidFill>
            <a:srgbClr val="121721"/>
          </a:solidFill>
          <a:ln cap="flat" cmpd="sng" w="127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hd1b175b31137957_0_354"/>
          <p:cNvSpPr txBox="1"/>
          <p:nvPr/>
        </p:nvSpPr>
        <p:spPr>
          <a:xfrm>
            <a:off x="3904487" y="2825496"/>
            <a:ext cx="2267700" cy="3570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2200"/>
              <a:buFont typeface="Arial"/>
              <a:buNone/>
            </a:pPr>
            <a:r>
              <a:rPr b="1" i="0" lang="en-US" sz="2200" u="none" cap="none" strike="noStrike">
                <a:solidFill>
                  <a:srgbClr val="E8A33D"/>
                </a:solidFill>
                <a:latin typeface="Arial"/>
                <a:ea typeface="Arial"/>
                <a:cs typeface="Arial"/>
                <a:sym typeface="Arial"/>
              </a:rPr>
              <a:t>ROUTER</a:t>
            </a:r>
            <a:endParaRPr b="0" i="0" sz="1400" u="none" cap="none" strike="noStrike">
              <a:solidFill>
                <a:srgbClr val="000000"/>
              </a:solidFill>
              <a:latin typeface="Arial"/>
              <a:ea typeface="Arial"/>
              <a:cs typeface="Arial"/>
              <a:sym typeface="Arial"/>
            </a:endParaRPr>
          </a:p>
        </p:txBody>
      </p:sp>
      <p:sp>
        <p:nvSpPr>
          <p:cNvPr id="565" name="Google Shape;565;hd1b175b31137957_0_354"/>
          <p:cNvSpPr/>
          <p:nvPr/>
        </p:nvSpPr>
        <p:spPr>
          <a:xfrm>
            <a:off x="8247888" y="1691640"/>
            <a:ext cx="2898600" cy="704100"/>
          </a:xfrm>
          <a:prstGeom prst="roundRect">
            <a:avLst>
              <a:gd fmla="val 16667" name="adj"/>
            </a:avLst>
          </a:prstGeom>
          <a:solidFill>
            <a:srgbClr val="121721"/>
          </a:solidFill>
          <a:ln cap="flat" cmpd="sng" w="1270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hd1b175b31137957_0_354"/>
          <p:cNvSpPr txBox="1"/>
          <p:nvPr/>
        </p:nvSpPr>
        <p:spPr>
          <a:xfrm>
            <a:off x="8348472" y="1901952"/>
            <a:ext cx="26976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BILLING AGENT</a:t>
            </a:r>
            <a:endParaRPr b="0" i="0" sz="1400" u="none" cap="none" strike="noStrike">
              <a:solidFill>
                <a:srgbClr val="000000"/>
              </a:solidFill>
              <a:latin typeface="Arial"/>
              <a:ea typeface="Arial"/>
              <a:cs typeface="Arial"/>
              <a:sym typeface="Arial"/>
            </a:endParaRPr>
          </a:p>
        </p:txBody>
      </p:sp>
      <p:cxnSp>
        <p:nvCxnSpPr>
          <p:cNvPr id="567" name="Google Shape;567;hd1b175b31137957_0_354"/>
          <p:cNvCxnSpPr/>
          <p:nvPr/>
        </p:nvCxnSpPr>
        <p:spPr>
          <a:xfrm flipH="1" rot="10800000">
            <a:off x="6364224" y="2039136"/>
            <a:ext cx="1810500" cy="11064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68" name="Google Shape;568;hd1b175b31137957_0_354"/>
          <p:cNvCxnSpPr/>
          <p:nvPr/>
        </p:nvCxnSpPr>
        <p:spPr>
          <a:xfrm flipH="1" rot="10800000">
            <a:off x="8100460" y="2039220"/>
            <a:ext cx="74400" cy="1152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69" name="Google Shape;569;hd1b175b31137957_0_354"/>
          <p:cNvCxnSpPr/>
          <p:nvPr/>
        </p:nvCxnSpPr>
        <p:spPr>
          <a:xfrm flipH="1" rot="10800000">
            <a:off x="8038241" y="2039107"/>
            <a:ext cx="136500" cy="135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sp>
        <p:nvSpPr>
          <p:cNvPr id="570" name="Google Shape;570;hd1b175b31137957_0_354"/>
          <p:cNvSpPr/>
          <p:nvPr/>
        </p:nvSpPr>
        <p:spPr>
          <a:xfrm>
            <a:off x="8247888" y="2834640"/>
            <a:ext cx="2898600" cy="704100"/>
          </a:xfrm>
          <a:prstGeom prst="roundRect">
            <a:avLst>
              <a:gd fmla="val 16667" name="adj"/>
            </a:avLst>
          </a:prstGeom>
          <a:solidFill>
            <a:srgbClr val="121721"/>
          </a:solidFill>
          <a:ln cap="flat" cmpd="sng" w="1270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hd1b175b31137957_0_354"/>
          <p:cNvSpPr txBox="1"/>
          <p:nvPr/>
        </p:nvSpPr>
        <p:spPr>
          <a:xfrm>
            <a:off x="8348472" y="3044952"/>
            <a:ext cx="26976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TRAVEL AGENT</a:t>
            </a:r>
            <a:endParaRPr b="0" i="0" sz="1400" u="none" cap="none" strike="noStrike">
              <a:solidFill>
                <a:srgbClr val="000000"/>
              </a:solidFill>
              <a:latin typeface="Arial"/>
              <a:ea typeface="Arial"/>
              <a:cs typeface="Arial"/>
              <a:sym typeface="Arial"/>
            </a:endParaRPr>
          </a:p>
        </p:txBody>
      </p:sp>
      <p:cxnSp>
        <p:nvCxnSpPr>
          <p:cNvPr id="572" name="Google Shape;572;hd1b175b31137957_0_354"/>
          <p:cNvCxnSpPr/>
          <p:nvPr/>
        </p:nvCxnSpPr>
        <p:spPr>
          <a:xfrm>
            <a:off x="6364224" y="3145536"/>
            <a:ext cx="1810500" cy="366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73" name="Google Shape;573;hd1b175b31137957_0_354"/>
          <p:cNvCxnSpPr/>
          <p:nvPr/>
        </p:nvCxnSpPr>
        <p:spPr>
          <a:xfrm flipH="1" rot="10800000">
            <a:off x="8050050" y="3181965"/>
            <a:ext cx="124800" cy="573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74" name="Google Shape;574;hd1b175b31137957_0_354"/>
          <p:cNvCxnSpPr/>
          <p:nvPr/>
        </p:nvCxnSpPr>
        <p:spPr>
          <a:xfrm>
            <a:off x="8052460" y="3119969"/>
            <a:ext cx="122400" cy="621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sp>
        <p:nvSpPr>
          <p:cNvPr id="575" name="Google Shape;575;hd1b175b31137957_0_354"/>
          <p:cNvSpPr/>
          <p:nvPr/>
        </p:nvSpPr>
        <p:spPr>
          <a:xfrm>
            <a:off x="8247888" y="3977639"/>
            <a:ext cx="2898600" cy="704100"/>
          </a:xfrm>
          <a:prstGeom prst="roundRect">
            <a:avLst>
              <a:gd fmla="val 16667" name="adj"/>
            </a:avLst>
          </a:prstGeom>
          <a:solidFill>
            <a:srgbClr val="121721"/>
          </a:solidFill>
          <a:ln cap="flat" cmpd="sng" w="12700">
            <a:solidFill>
              <a:srgbClr val="83D4A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hd1b175b31137957_0_354"/>
          <p:cNvSpPr txBox="1"/>
          <p:nvPr/>
        </p:nvSpPr>
        <p:spPr>
          <a:xfrm>
            <a:off x="8348472" y="4187952"/>
            <a:ext cx="26976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HUMAN ESCALATION</a:t>
            </a:r>
            <a:endParaRPr b="0" i="0" sz="1400" u="none" cap="none" strike="noStrike">
              <a:solidFill>
                <a:srgbClr val="000000"/>
              </a:solidFill>
              <a:latin typeface="Arial"/>
              <a:ea typeface="Arial"/>
              <a:cs typeface="Arial"/>
              <a:sym typeface="Arial"/>
            </a:endParaRPr>
          </a:p>
        </p:txBody>
      </p:sp>
      <p:cxnSp>
        <p:nvCxnSpPr>
          <p:cNvPr id="577" name="Google Shape;577;hd1b175b31137957_0_354"/>
          <p:cNvCxnSpPr/>
          <p:nvPr/>
        </p:nvCxnSpPr>
        <p:spPr>
          <a:xfrm>
            <a:off x="6364224" y="3145536"/>
            <a:ext cx="1810500" cy="11796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78" name="Google Shape;578;hd1b175b31137957_0_354"/>
          <p:cNvCxnSpPr/>
          <p:nvPr/>
        </p:nvCxnSpPr>
        <p:spPr>
          <a:xfrm>
            <a:off x="8038688" y="4307679"/>
            <a:ext cx="135900" cy="174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79" name="Google Shape;579;hd1b175b31137957_0_354"/>
          <p:cNvCxnSpPr/>
          <p:nvPr/>
        </p:nvCxnSpPr>
        <p:spPr>
          <a:xfrm>
            <a:off x="8103822" y="4207706"/>
            <a:ext cx="70800" cy="1173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580" name="Google Shape;580;hd1b175b31137957_0_354"/>
          <p:cNvCxnSpPr/>
          <p:nvPr/>
        </p:nvCxnSpPr>
        <p:spPr>
          <a:xfrm>
            <a:off x="2999232" y="3136392"/>
            <a:ext cx="685800"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81" name="Google Shape;581;hd1b175b31137957_0_354"/>
          <p:cNvCxnSpPr/>
          <p:nvPr/>
        </p:nvCxnSpPr>
        <p:spPr>
          <a:xfrm flipH="1" rot="10800000">
            <a:off x="3561526" y="3136351"/>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82" name="Google Shape;582;hd1b175b31137957_0_354"/>
          <p:cNvCxnSpPr/>
          <p:nvPr/>
        </p:nvCxnSpPr>
        <p:spPr>
          <a:xfrm>
            <a:off x="3561526" y="3076732"/>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583" name="Google Shape;583;hd1b175b31137957_0_354"/>
          <p:cNvSpPr txBox="1"/>
          <p:nvPr/>
        </p:nvSpPr>
        <p:spPr>
          <a:xfrm>
            <a:off x="11530584" y="6437376"/>
            <a:ext cx="4299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24</a:t>
            </a:r>
            <a:endParaRPr b="0" i="0" sz="1400" u="none" cap="none" strike="noStrike">
              <a:solidFill>
                <a:srgbClr val="000000"/>
              </a:solidFill>
              <a:latin typeface="Arial"/>
              <a:ea typeface="Arial"/>
              <a:cs typeface="Arial"/>
              <a:sym typeface="Arial"/>
            </a:endParaRPr>
          </a:p>
        </p:txBody>
      </p:sp>
      <p:sp>
        <p:nvSpPr>
          <p:cNvPr id="584" name="Google Shape;584;hd1b175b31137957_0_354"/>
          <p:cNvSpPr txBox="1"/>
          <p:nvPr/>
        </p:nvSpPr>
        <p:spPr>
          <a:xfrm>
            <a:off x="758952" y="6437376"/>
            <a:ext cx="31089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
        <p:nvSpPr>
          <p:cNvPr id="585" name="Google Shape;585;hd1b175b31137957_0_354"/>
          <p:cNvSpPr/>
          <p:nvPr/>
        </p:nvSpPr>
        <p:spPr>
          <a:xfrm>
            <a:off x="2419575" y="1709888"/>
            <a:ext cx="7057200" cy="3167100"/>
          </a:xfrm>
          <a:prstGeom prst="rect">
            <a:avLst/>
          </a:prstGeom>
          <a:solidFill>
            <a:schemeClr val="lt2"/>
          </a:solidFill>
          <a:ln cap="flat" cmpd="sng" w="762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CC0000"/>
                </a:solidFill>
                <a:latin typeface="Arial"/>
                <a:ea typeface="Arial"/>
                <a:cs typeface="Arial"/>
                <a:sym typeface="Arial"/>
              </a:rPr>
              <a:t>RELIABILITY QUESTION</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Who owns the task after a handoff? Who retries?</a:t>
            </a:r>
            <a:endParaRPr b="1" i="0" sz="31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1000"/>
                                        <p:tgtEl>
                                          <p:spTgt spid="585"/>
                                        </p:tgtEl>
                                        <p:attrNameLst>
                                          <p:attrName>ppt_y</p:attrName>
                                        </p:attrNameLst>
                                      </p:cBhvr>
                                      <p:tavLst>
                                        <p:tav fmla="" tm="0">
                                          <p:val>
                                            <p:strVal val="#ppt_y"/>
                                          </p:val>
                                        </p:tav>
                                        <p:tav fmla="" tm="100000">
                                          <p:val>
                                            <p:strVal val="#ppt_y+1"/>
                                          </p:val>
                                        </p:tav>
                                      </p:tavLst>
                                    </p:anim>
                                    <p:set>
                                      <p:cBhvr>
                                        <p:cTn dur="1" fill="hold">
                                          <p:stCondLst>
                                            <p:cond delay="1000"/>
                                          </p:stCondLst>
                                        </p:cTn>
                                        <p:tgtEl>
                                          <p:spTgt spid="5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589" name="Shape 589"/>
        <p:cNvGrpSpPr/>
        <p:nvPr/>
      </p:nvGrpSpPr>
      <p:grpSpPr>
        <a:xfrm>
          <a:off x="0" y="0"/>
          <a:ext cx="0" cy="0"/>
          <a:chOff x="0" y="0"/>
          <a:chExt cx="0" cy="0"/>
        </a:xfrm>
      </p:grpSpPr>
      <p:sp>
        <p:nvSpPr>
          <p:cNvPr id="590" name="Google Shape;590;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591" name="Google Shape;591;p49"/>
          <p:cNvSpPr txBox="1"/>
          <p:nvPr/>
        </p:nvSpPr>
        <p:spPr>
          <a:xfrm>
            <a:off x="731520" y="521207"/>
            <a:ext cx="10789920" cy="2926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592" name="Google Shape;592;p49"/>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04  /  Fan-out + fan-in</a:t>
            </a:r>
            <a:endParaRPr b="0" i="0" sz="1400" u="none" cap="none" strike="noStrike">
              <a:solidFill>
                <a:srgbClr val="000000"/>
              </a:solidFill>
              <a:latin typeface="Arial"/>
              <a:ea typeface="Arial"/>
              <a:cs typeface="Arial"/>
              <a:sym typeface="Arial"/>
            </a:endParaRPr>
          </a:p>
        </p:txBody>
      </p:sp>
      <p:sp>
        <p:nvSpPr>
          <p:cNvPr id="593" name="Google Shape;593;p49"/>
          <p:cNvSpPr/>
          <p:nvPr/>
        </p:nvSpPr>
        <p:spPr>
          <a:xfrm>
            <a:off x="822960" y="2834640"/>
            <a:ext cx="2011680" cy="59436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49"/>
          <p:cNvSpPr txBox="1"/>
          <p:nvPr/>
        </p:nvSpPr>
        <p:spPr>
          <a:xfrm>
            <a:off x="896112" y="2944368"/>
            <a:ext cx="1865376"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TRIGGER</a:t>
            </a:r>
            <a:endParaRPr b="0" i="0" sz="1400" u="none" cap="none" strike="noStrike">
              <a:solidFill>
                <a:srgbClr val="000000"/>
              </a:solidFill>
              <a:latin typeface="Arial"/>
              <a:ea typeface="Arial"/>
              <a:cs typeface="Arial"/>
              <a:sym typeface="Arial"/>
            </a:endParaRPr>
          </a:p>
        </p:txBody>
      </p:sp>
      <p:sp>
        <p:nvSpPr>
          <p:cNvPr id="595" name="Google Shape;595;p49"/>
          <p:cNvSpPr/>
          <p:nvPr/>
        </p:nvSpPr>
        <p:spPr>
          <a:xfrm>
            <a:off x="4160520" y="1783080"/>
            <a:ext cx="2240280" cy="59436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p49"/>
          <p:cNvSpPr txBox="1"/>
          <p:nvPr/>
        </p:nvSpPr>
        <p:spPr>
          <a:xfrm>
            <a:off x="4233672" y="1892807"/>
            <a:ext cx="2093976"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A0C12"/>
                </a:solidFill>
                <a:latin typeface="Arial"/>
                <a:ea typeface="Arial"/>
                <a:cs typeface="Arial"/>
                <a:sym typeface="Arial"/>
              </a:rPr>
              <a:t>ANALYZE</a:t>
            </a:r>
            <a:endParaRPr b="0" i="0" sz="1400" u="none" cap="none" strike="noStrike">
              <a:solidFill>
                <a:srgbClr val="000000"/>
              </a:solidFill>
              <a:latin typeface="Arial"/>
              <a:ea typeface="Arial"/>
              <a:cs typeface="Arial"/>
              <a:sym typeface="Arial"/>
            </a:endParaRPr>
          </a:p>
        </p:txBody>
      </p:sp>
      <p:cxnSp>
        <p:nvCxnSpPr>
          <p:cNvPr id="597" name="Google Shape;597;p49"/>
          <p:cNvCxnSpPr/>
          <p:nvPr/>
        </p:nvCxnSpPr>
        <p:spPr>
          <a:xfrm flipH="1" rot="10800000">
            <a:off x="2880360" y="2066543"/>
            <a:ext cx="1216152" cy="1033273"/>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98" name="Google Shape;598;p49"/>
          <p:cNvCxnSpPr/>
          <p:nvPr/>
        </p:nvCxnSpPr>
        <p:spPr>
          <a:xfrm flipH="1" rot="10800000">
            <a:off x="4041019" y="2066543"/>
            <a:ext cx="55493" cy="125434"/>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599" name="Google Shape;599;p49"/>
          <p:cNvCxnSpPr/>
          <p:nvPr/>
        </p:nvCxnSpPr>
        <p:spPr>
          <a:xfrm flipH="1" rot="10800000">
            <a:off x="3963762" y="2066543"/>
            <a:ext cx="132750" cy="34502"/>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00" name="Google Shape;600;p49"/>
          <p:cNvSpPr/>
          <p:nvPr/>
        </p:nvSpPr>
        <p:spPr>
          <a:xfrm>
            <a:off x="4160520" y="2862072"/>
            <a:ext cx="2240280" cy="59436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9"/>
          <p:cNvSpPr txBox="1"/>
          <p:nvPr/>
        </p:nvSpPr>
        <p:spPr>
          <a:xfrm>
            <a:off x="4233672" y="2971800"/>
            <a:ext cx="2093976"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A0C12"/>
                </a:solidFill>
                <a:latin typeface="Arial"/>
                <a:ea typeface="Arial"/>
                <a:cs typeface="Arial"/>
                <a:sym typeface="Arial"/>
              </a:rPr>
              <a:t>SEARCH</a:t>
            </a:r>
            <a:endParaRPr b="0" i="0" sz="1400" u="none" cap="none" strike="noStrike">
              <a:solidFill>
                <a:srgbClr val="000000"/>
              </a:solidFill>
              <a:latin typeface="Arial"/>
              <a:ea typeface="Arial"/>
              <a:cs typeface="Arial"/>
              <a:sym typeface="Arial"/>
            </a:endParaRPr>
          </a:p>
        </p:txBody>
      </p:sp>
      <p:cxnSp>
        <p:nvCxnSpPr>
          <p:cNvPr id="602" name="Google Shape;602;p49"/>
          <p:cNvCxnSpPr/>
          <p:nvPr/>
        </p:nvCxnSpPr>
        <p:spPr>
          <a:xfrm>
            <a:off x="2880360" y="3099816"/>
            <a:ext cx="1216152" cy="4572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03" name="Google Shape;603;p49"/>
          <p:cNvCxnSpPr/>
          <p:nvPr/>
        </p:nvCxnSpPr>
        <p:spPr>
          <a:xfrm flipH="1" rot="10800000">
            <a:off x="3970852" y="3145536"/>
            <a:ext cx="125660" cy="54977"/>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04" name="Google Shape;604;p49"/>
          <p:cNvCxnSpPr/>
          <p:nvPr/>
        </p:nvCxnSpPr>
        <p:spPr>
          <a:xfrm>
            <a:off x="3975335" y="3081278"/>
            <a:ext cx="121177" cy="64258"/>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05" name="Google Shape;605;p49"/>
          <p:cNvSpPr/>
          <p:nvPr/>
        </p:nvSpPr>
        <p:spPr>
          <a:xfrm>
            <a:off x="4160520" y="3941063"/>
            <a:ext cx="2240280" cy="59436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9"/>
          <p:cNvSpPr txBox="1"/>
          <p:nvPr/>
        </p:nvSpPr>
        <p:spPr>
          <a:xfrm>
            <a:off x="4233672" y="4050791"/>
            <a:ext cx="2093976"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A0C12"/>
                </a:solidFill>
                <a:latin typeface="Arial"/>
                <a:ea typeface="Arial"/>
                <a:cs typeface="Arial"/>
                <a:sym typeface="Arial"/>
              </a:rPr>
              <a:t>VERIFY</a:t>
            </a:r>
            <a:endParaRPr b="0" i="0" sz="1400" u="none" cap="none" strike="noStrike">
              <a:solidFill>
                <a:srgbClr val="000000"/>
              </a:solidFill>
              <a:latin typeface="Arial"/>
              <a:ea typeface="Arial"/>
              <a:cs typeface="Arial"/>
              <a:sym typeface="Arial"/>
            </a:endParaRPr>
          </a:p>
        </p:txBody>
      </p:sp>
      <p:cxnSp>
        <p:nvCxnSpPr>
          <p:cNvPr id="607" name="Google Shape;607;p49"/>
          <p:cNvCxnSpPr/>
          <p:nvPr/>
        </p:nvCxnSpPr>
        <p:spPr>
          <a:xfrm>
            <a:off x="2880360" y="3099816"/>
            <a:ext cx="1216152" cy="1124711"/>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08" name="Google Shape;608;p49"/>
          <p:cNvCxnSpPr/>
          <p:nvPr/>
        </p:nvCxnSpPr>
        <p:spPr>
          <a:xfrm>
            <a:off x="3965331" y="4184472"/>
            <a:ext cx="131181" cy="40055"/>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09" name="Google Shape;609;p49"/>
          <p:cNvCxnSpPr/>
          <p:nvPr/>
        </p:nvCxnSpPr>
        <p:spPr>
          <a:xfrm>
            <a:off x="4046345" y="4096871"/>
            <a:ext cx="50167" cy="127656"/>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10" name="Google Shape;610;p49"/>
          <p:cNvSpPr/>
          <p:nvPr/>
        </p:nvSpPr>
        <p:spPr>
          <a:xfrm>
            <a:off x="8302752" y="2862072"/>
            <a:ext cx="2761488" cy="594360"/>
          </a:xfrm>
          <a:prstGeom prst="roundRect">
            <a:avLst>
              <a:gd fmla="val 16667" name="adj"/>
            </a:avLst>
          </a:prstGeom>
          <a:solidFill>
            <a:srgbClr val="E8A33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49"/>
          <p:cNvSpPr txBox="1"/>
          <p:nvPr/>
        </p:nvSpPr>
        <p:spPr>
          <a:xfrm>
            <a:off x="8375904" y="2971800"/>
            <a:ext cx="2615184"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C12"/>
                </a:solidFill>
                <a:latin typeface="Arial"/>
                <a:ea typeface="Arial"/>
                <a:cs typeface="Arial"/>
                <a:sym typeface="Arial"/>
              </a:rPr>
              <a:t>JOIN / DECIDE</a:t>
            </a:r>
            <a:endParaRPr b="0" i="0" sz="1400" u="none" cap="none" strike="noStrike">
              <a:solidFill>
                <a:srgbClr val="000000"/>
              </a:solidFill>
              <a:latin typeface="Arial"/>
              <a:ea typeface="Arial"/>
              <a:cs typeface="Arial"/>
              <a:sym typeface="Arial"/>
            </a:endParaRPr>
          </a:p>
        </p:txBody>
      </p:sp>
      <p:cxnSp>
        <p:nvCxnSpPr>
          <p:cNvPr id="612" name="Google Shape;612;p49"/>
          <p:cNvCxnSpPr/>
          <p:nvPr/>
        </p:nvCxnSpPr>
        <p:spPr>
          <a:xfrm>
            <a:off x="6455664" y="2084831"/>
            <a:ext cx="1773936" cy="1078993"/>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13" name="Google Shape;613;p49"/>
          <p:cNvCxnSpPr/>
          <p:nvPr/>
        </p:nvCxnSpPr>
        <p:spPr>
          <a:xfrm>
            <a:off x="8093077" y="3150613"/>
            <a:ext cx="136523" cy="13211"/>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14" name="Google Shape;614;p49"/>
          <p:cNvCxnSpPr/>
          <p:nvPr/>
        </p:nvCxnSpPr>
        <p:spPr>
          <a:xfrm>
            <a:off x="8155084" y="3048670"/>
            <a:ext cx="74516" cy="115154"/>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15" name="Google Shape;615;p49"/>
          <p:cNvCxnSpPr/>
          <p:nvPr/>
        </p:nvCxnSpPr>
        <p:spPr>
          <a:xfrm>
            <a:off x="6455664" y="3163824"/>
            <a:ext cx="1773936" cy="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16" name="Google Shape;616;p49"/>
          <p:cNvCxnSpPr/>
          <p:nvPr/>
        </p:nvCxnSpPr>
        <p:spPr>
          <a:xfrm flipH="1" rot="10800000">
            <a:off x="8106094" y="3163824"/>
            <a:ext cx="123506" cy="59659"/>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17" name="Google Shape;617;p49"/>
          <p:cNvCxnSpPr/>
          <p:nvPr/>
        </p:nvCxnSpPr>
        <p:spPr>
          <a:xfrm>
            <a:off x="8106094" y="3104164"/>
            <a:ext cx="123506" cy="5966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18" name="Google Shape;618;p49"/>
          <p:cNvCxnSpPr/>
          <p:nvPr/>
        </p:nvCxnSpPr>
        <p:spPr>
          <a:xfrm flipH="1" rot="10800000">
            <a:off x="6455664" y="3163824"/>
            <a:ext cx="1773936" cy="1078992"/>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19" name="Google Shape;619;p49"/>
          <p:cNvCxnSpPr/>
          <p:nvPr/>
        </p:nvCxnSpPr>
        <p:spPr>
          <a:xfrm flipH="1" rot="10800000">
            <a:off x="8155084" y="3163824"/>
            <a:ext cx="74516" cy="115153"/>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20" name="Google Shape;620;p49"/>
          <p:cNvCxnSpPr/>
          <p:nvPr/>
        </p:nvCxnSpPr>
        <p:spPr>
          <a:xfrm flipH="1" rot="10800000">
            <a:off x="8093077" y="3163824"/>
            <a:ext cx="136523" cy="1321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sp>
        <p:nvSpPr>
          <p:cNvPr id="621" name="Google Shape;621;p49"/>
          <p:cNvSpPr txBox="1"/>
          <p:nvPr/>
        </p:nvSpPr>
        <p:spPr>
          <a:xfrm>
            <a:off x="950976" y="5321808"/>
            <a:ext cx="10515600" cy="310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F5F3EE"/>
                </a:solidFill>
                <a:latin typeface="Arial"/>
                <a:ea typeface="Arial"/>
                <a:cs typeface="Arial"/>
                <a:sym typeface="Arial"/>
              </a:rPr>
              <a:t>Layer 2 ancestor: pub/sub fan-out, scatter/gather.  </a:t>
            </a:r>
            <a:endParaRPr b="0" i="0" sz="1400" u="none" cap="none" strike="noStrike">
              <a:solidFill>
                <a:srgbClr val="000000"/>
              </a:solidFill>
              <a:latin typeface="Arial"/>
              <a:ea typeface="Arial"/>
              <a:cs typeface="Arial"/>
              <a:sym typeface="Arial"/>
            </a:endParaRPr>
          </a:p>
        </p:txBody>
      </p:sp>
      <p:sp>
        <p:nvSpPr>
          <p:cNvPr id="622" name="Google Shape;622;p49"/>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25</a:t>
            </a:r>
            <a:endParaRPr b="0" i="0" sz="1400" u="none" cap="none" strike="noStrike">
              <a:solidFill>
                <a:srgbClr val="000000"/>
              </a:solidFill>
              <a:latin typeface="Arial"/>
              <a:ea typeface="Arial"/>
              <a:cs typeface="Arial"/>
              <a:sym typeface="Arial"/>
            </a:endParaRPr>
          </a:p>
        </p:txBody>
      </p:sp>
      <p:sp>
        <p:nvSpPr>
          <p:cNvPr id="623" name="Google Shape;623;p49"/>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
        <p:nvSpPr>
          <p:cNvPr id="624" name="Google Shape;624;p49"/>
          <p:cNvSpPr/>
          <p:nvPr/>
        </p:nvSpPr>
        <p:spPr>
          <a:xfrm>
            <a:off x="2419575" y="1709888"/>
            <a:ext cx="7057200" cy="3167100"/>
          </a:xfrm>
          <a:prstGeom prst="rect">
            <a:avLst/>
          </a:prstGeom>
          <a:solidFill>
            <a:schemeClr val="lt2"/>
          </a:solidFill>
          <a:ln cap="flat" cmpd="sng" w="762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CC0000"/>
                </a:solidFill>
                <a:latin typeface="Arial"/>
                <a:ea typeface="Arial"/>
                <a:cs typeface="Arial"/>
                <a:sym typeface="Arial"/>
              </a:rPr>
              <a:t>RELIABILITY QUESTION</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00"/>
              <a:buFont typeface="Arial"/>
              <a:buNone/>
            </a:pPr>
            <a:r>
              <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rPr b="1" i="0" lang="en-US" sz="3600" u="none" cap="none" strike="noStrike">
                <a:solidFill>
                  <a:schemeClr val="dk1"/>
                </a:solidFill>
                <a:highlight>
                  <a:schemeClr val="lt1"/>
                </a:highlight>
                <a:latin typeface="Arial"/>
                <a:ea typeface="Arial"/>
                <a:cs typeface="Arial"/>
                <a:sym typeface="Arial"/>
              </a:rPr>
              <a:t> </a:t>
            </a:r>
            <a:r>
              <a:rPr b="0" i="0" lang="en-US" sz="2400" u="none" cap="none" strike="noStrike">
                <a:solidFill>
                  <a:schemeClr val="dk1"/>
                </a:solidFill>
                <a:highlight>
                  <a:schemeClr val="lt1"/>
                </a:highlight>
                <a:latin typeface="Arial"/>
                <a:ea typeface="Arial"/>
                <a:cs typeface="Arial"/>
                <a:sym typeface="Arial"/>
              </a:rPr>
              <a:t>New pain: conflicting answers.</a:t>
            </a:r>
            <a:endParaRPr b="1" i="0" sz="5100" u="none" cap="none" strike="noStrike">
              <a:solidFill>
                <a:schemeClr val="dk1"/>
              </a:solidFill>
              <a:highlight>
                <a:schemeClr val="lt1"/>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621"/>
                                        </p:tgtEl>
                                        <p:attrNameLst>
                                          <p:attrName>style.visibility</p:attrName>
                                        </p:attrNameLst>
                                      </p:cBhvr>
                                      <p:to>
                                        <p:strVal val="visible"/>
                                      </p:to>
                                    </p:set>
                                    <p:anim calcmode="lin" valueType="num">
                                      <p:cBhvr additive="base">
                                        <p:cTn dur="1000"/>
                                        <p:tgtEl>
                                          <p:spTgt spid="62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628" name="Shape 628"/>
        <p:cNvGrpSpPr/>
        <p:nvPr/>
      </p:nvGrpSpPr>
      <p:grpSpPr>
        <a:xfrm>
          <a:off x="0" y="0"/>
          <a:ext cx="0" cy="0"/>
          <a:chOff x="0" y="0"/>
          <a:chExt cx="0" cy="0"/>
        </a:xfrm>
      </p:grpSpPr>
      <p:sp>
        <p:nvSpPr>
          <p:cNvPr id="629" name="Google Shape;629;hd1b175b31137957_0_6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630" name="Google Shape;630;hd1b175b31137957_0_628"/>
          <p:cNvSpPr txBox="1"/>
          <p:nvPr/>
        </p:nvSpPr>
        <p:spPr>
          <a:xfrm>
            <a:off x="731520" y="521207"/>
            <a:ext cx="107898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631" name="Google Shape;631;hd1b175b31137957_0_628"/>
          <p:cNvSpPr txBox="1"/>
          <p:nvPr/>
        </p:nvSpPr>
        <p:spPr>
          <a:xfrm>
            <a:off x="731520" y="941832"/>
            <a:ext cx="10972800" cy="4956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04  /  Fan-out + fan-in</a:t>
            </a:r>
            <a:endParaRPr b="0" i="0" sz="1400" u="none" cap="none" strike="noStrike">
              <a:solidFill>
                <a:srgbClr val="000000"/>
              </a:solidFill>
              <a:latin typeface="Arial"/>
              <a:ea typeface="Arial"/>
              <a:cs typeface="Arial"/>
              <a:sym typeface="Arial"/>
            </a:endParaRPr>
          </a:p>
        </p:txBody>
      </p:sp>
      <p:sp>
        <p:nvSpPr>
          <p:cNvPr id="632" name="Google Shape;632;hd1b175b31137957_0_628"/>
          <p:cNvSpPr txBox="1"/>
          <p:nvPr/>
        </p:nvSpPr>
        <p:spPr>
          <a:xfrm>
            <a:off x="758952" y="6126480"/>
            <a:ext cx="10698600" cy="2493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Parallelism buys time, then creates a consistency problem.</a:t>
            </a:r>
            <a:endParaRPr b="0" i="0" sz="1400" u="none" cap="none" strike="noStrike">
              <a:solidFill>
                <a:srgbClr val="000000"/>
              </a:solidFill>
              <a:latin typeface="Arial"/>
              <a:ea typeface="Arial"/>
              <a:cs typeface="Arial"/>
              <a:sym typeface="Arial"/>
            </a:endParaRPr>
          </a:p>
        </p:txBody>
      </p:sp>
      <p:sp>
        <p:nvSpPr>
          <p:cNvPr id="633" name="Google Shape;633;hd1b175b31137957_0_628"/>
          <p:cNvSpPr/>
          <p:nvPr/>
        </p:nvSpPr>
        <p:spPr>
          <a:xfrm>
            <a:off x="822960" y="2834640"/>
            <a:ext cx="2011800" cy="59430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hd1b175b31137957_0_628"/>
          <p:cNvSpPr txBox="1"/>
          <p:nvPr/>
        </p:nvSpPr>
        <p:spPr>
          <a:xfrm>
            <a:off x="896112" y="2944368"/>
            <a:ext cx="18654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TRIGGER</a:t>
            </a:r>
            <a:endParaRPr b="0" i="0" sz="1400" u="none" cap="none" strike="noStrike">
              <a:solidFill>
                <a:srgbClr val="000000"/>
              </a:solidFill>
              <a:latin typeface="Arial"/>
              <a:ea typeface="Arial"/>
              <a:cs typeface="Arial"/>
              <a:sym typeface="Arial"/>
            </a:endParaRPr>
          </a:p>
        </p:txBody>
      </p:sp>
      <p:sp>
        <p:nvSpPr>
          <p:cNvPr id="635" name="Google Shape;635;hd1b175b31137957_0_628"/>
          <p:cNvSpPr/>
          <p:nvPr/>
        </p:nvSpPr>
        <p:spPr>
          <a:xfrm>
            <a:off x="4160520" y="1783080"/>
            <a:ext cx="2240400" cy="59430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hd1b175b31137957_0_628"/>
          <p:cNvSpPr txBox="1"/>
          <p:nvPr/>
        </p:nvSpPr>
        <p:spPr>
          <a:xfrm>
            <a:off x="4233672" y="1892807"/>
            <a:ext cx="2094000" cy="2184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A0C12"/>
                </a:solidFill>
                <a:latin typeface="Arial"/>
                <a:ea typeface="Arial"/>
                <a:cs typeface="Arial"/>
                <a:sym typeface="Arial"/>
              </a:rPr>
              <a:t>ANALYZE</a:t>
            </a:r>
            <a:endParaRPr b="0" i="0" sz="1400" u="none" cap="none" strike="noStrike">
              <a:solidFill>
                <a:srgbClr val="000000"/>
              </a:solidFill>
              <a:latin typeface="Arial"/>
              <a:ea typeface="Arial"/>
              <a:cs typeface="Arial"/>
              <a:sym typeface="Arial"/>
            </a:endParaRPr>
          </a:p>
        </p:txBody>
      </p:sp>
      <p:cxnSp>
        <p:nvCxnSpPr>
          <p:cNvPr id="637" name="Google Shape;637;hd1b175b31137957_0_628"/>
          <p:cNvCxnSpPr/>
          <p:nvPr/>
        </p:nvCxnSpPr>
        <p:spPr>
          <a:xfrm flipH="1" rot="10800000">
            <a:off x="2880360" y="2066616"/>
            <a:ext cx="1216200" cy="10332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38" name="Google Shape;638;hd1b175b31137957_0_628"/>
          <p:cNvCxnSpPr/>
          <p:nvPr/>
        </p:nvCxnSpPr>
        <p:spPr>
          <a:xfrm flipH="1" rot="10800000">
            <a:off x="4041019" y="2066577"/>
            <a:ext cx="55500" cy="1254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39" name="Google Shape;639;hd1b175b31137957_0_628"/>
          <p:cNvCxnSpPr/>
          <p:nvPr/>
        </p:nvCxnSpPr>
        <p:spPr>
          <a:xfrm flipH="1" rot="10800000">
            <a:off x="3963762" y="2066545"/>
            <a:ext cx="132900" cy="345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40" name="Google Shape;640;hd1b175b31137957_0_628"/>
          <p:cNvSpPr/>
          <p:nvPr/>
        </p:nvSpPr>
        <p:spPr>
          <a:xfrm>
            <a:off x="4160520" y="2862072"/>
            <a:ext cx="2240400" cy="59430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hd1b175b31137957_0_628"/>
          <p:cNvSpPr txBox="1"/>
          <p:nvPr/>
        </p:nvSpPr>
        <p:spPr>
          <a:xfrm>
            <a:off x="4233672" y="2971800"/>
            <a:ext cx="2094000" cy="2184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A0C12"/>
                </a:solidFill>
                <a:latin typeface="Arial"/>
                <a:ea typeface="Arial"/>
                <a:cs typeface="Arial"/>
                <a:sym typeface="Arial"/>
              </a:rPr>
              <a:t>SEARCH</a:t>
            </a:r>
            <a:endParaRPr b="0" i="0" sz="1400" u="none" cap="none" strike="noStrike">
              <a:solidFill>
                <a:srgbClr val="000000"/>
              </a:solidFill>
              <a:latin typeface="Arial"/>
              <a:ea typeface="Arial"/>
              <a:cs typeface="Arial"/>
              <a:sym typeface="Arial"/>
            </a:endParaRPr>
          </a:p>
        </p:txBody>
      </p:sp>
      <p:cxnSp>
        <p:nvCxnSpPr>
          <p:cNvPr id="642" name="Google Shape;642;hd1b175b31137957_0_628"/>
          <p:cNvCxnSpPr/>
          <p:nvPr/>
        </p:nvCxnSpPr>
        <p:spPr>
          <a:xfrm>
            <a:off x="2880360" y="3099816"/>
            <a:ext cx="1216200" cy="456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43" name="Google Shape;643;hd1b175b31137957_0_628"/>
          <p:cNvCxnSpPr/>
          <p:nvPr/>
        </p:nvCxnSpPr>
        <p:spPr>
          <a:xfrm flipH="1" rot="10800000">
            <a:off x="3970852" y="3145613"/>
            <a:ext cx="125700" cy="549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44" name="Google Shape;644;hd1b175b31137957_0_628"/>
          <p:cNvCxnSpPr/>
          <p:nvPr/>
        </p:nvCxnSpPr>
        <p:spPr>
          <a:xfrm>
            <a:off x="3975335" y="3081278"/>
            <a:ext cx="121200" cy="642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45" name="Google Shape;645;hd1b175b31137957_0_628"/>
          <p:cNvSpPr/>
          <p:nvPr/>
        </p:nvSpPr>
        <p:spPr>
          <a:xfrm>
            <a:off x="4160520" y="3941063"/>
            <a:ext cx="2240400" cy="59430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hd1b175b31137957_0_628"/>
          <p:cNvSpPr txBox="1"/>
          <p:nvPr/>
        </p:nvSpPr>
        <p:spPr>
          <a:xfrm>
            <a:off x="4233672" y="4050791"/>
            <a:ext cx="2094000" cy="2184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A0C12"/>
                </a:solidFill>
                <a:latin typeface="Arial"/>
                <a:ea typeface="Arial"/>
                <a:cs typeface="Arial"/>
                <a:sym typeface="Arial"/>
              </a:rPr>
              <a:t>VERIFY</a:t>
            </a:r>
            <a:endParaRPr b="0" i="0" sz="1400" u="none" cap="none" strike="noStrike">
              <a:solidFill>
                <a:srgbClr val="000000"/>
              </a:solidFill>
              <a:latin typeface="Arial"/>
              <a:ea typeface="Arial"/>
              <a:cs typeface="Arial"/>
              <a:sym typeface="Arial"/>
            </a:endParaRPr>
          </a:p>
        </p:txBody>
      </p:sp>
      <p:cxnSp>
        <p:nvCxnSpPr>
          <p:cNvPr id="647" name="Google Shape;647;hd1b175b31137957_0_628"/>
          <p:cNvCxnSpPr/>
          <p:nvPr/>
        </p:nvCxnSpPr>
        <p:spPr>
          <a:xfrm>
            <a:off x="2880360" y="3099816"/>
            <a:ext cx="1216200" cy="11247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48" name="Google Shape;648;hd1b175b31137957_0_628"/>
          <p:cNvCxnSpPr/>
          <p:nvPr/>
        </p:nvCxnSpPr>
        <p:spPr>
          <a:xfrm>
            <a:off x="3965331" y="4184472"/>
            <a:ext cx="131100" cy="402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49" name="Google Shape;649;hd1b175b31137957_0_628"/>
          <p:cNvCxnSpPr/>
          <p:nvPr/>
        </p:nvCxnSpPr>
        <p:spPr>
          <a:xfrm>
            <a:off x="4046345" y="4096871"/>
            <a:ext cx="50100" cy="1278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50" name="Google Shape;650;hd1b175b31137957_0_628"/>
          <p:cNvSpPr/>
          <p:nvPr/>
        </p:nvSpPr>
        <p:spPr>
          <a:xfrm>
            <a:off x="8302752" y="2862072"/>
            <a:ext cx="2761500" cy="594300"/>
          </a:xfrm>
          <a:prstGeom prst="roundRect">
            <a:avLst>
              <a:gd fmla="val 16667" name="adj"/>
            </a:avLst>
          </a:prstGeom>
          <a:solidFill>
            <a:srgbClr val="E8A33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hd1b175b31137957_0_628"/>
          <p:cNvSpPr txBox="1"/>
          <p:nvPr/>
        </p:nvSpPr>
        <p:spPr>
          <a:xfrm>
            <a:off x="8375904" y="2971800"/>
            <a:ext cx="2615100" cy="2340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A0C12"/>
                </a:solidFill>
                <a:latin typeface="Arial"/>
                <a:ea typeface="Arial"/>
                <a:cs typeface="Arial"/>
                <a:sym typeface="Arial"/>
              </a:rPr>
              <a:t>JOIN / DECIDE</a:t>
            </a:r>
            <a:endParaRPr b="0" i="0" sz="1400" u="none" cap="none" strike="noStrike">
              <a:solidFill>
                <a:srgbClr val="000000"/>
              </a:solidFill>
              <a:latin typeface="Arial"/>
              <a:ea typeface="Arial"/>
              <a:cs typeface="Arial"/>
              <a:sym typeface="Arial"/>
            </a:endParaRPr>
          </a:p>
        </p:txBody>
      </p:sp>
      <p:cxnSp>
        <p:nvCxnSpPr>
          <p:cNvPr id="652" name="Google Shape;652;hd1b175b31137957_0_628"/>
          <p:cNvCxnSpPr/>
          <p:nvPr/>
        </p:nvCxnSpPr>
        <p:spPr>
          <a:xfrm>
            <a:off x="6455664" y="2084831"/>
            <a:ext cx="1773900" cy="10791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53" name="Google Shape;653;hd1b175b31137957_0_628"/>
          <p:cNvCxnSpPr/>
          <p:nvPr/>
        </p:nvCxnSpPr>
        <p:spPr>
          <a:xfrm>
            <a:off x="8093077" y="3150613"/>
            <a:ext cx="136500" cy="132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54" name="Google Shape;654;hd1b175b31137957_0_628"/>
          <p:cNvCxnSpPr/>
          <p:nvPr/>
        </p:nvCxnSpPr>
        <p:spPr>
          <a:xfrm>
            <a:off x="8155084" y="3048670"/>
            <a:ext cx="74400" cy="1152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55" name="Google Shape;655;hd1b175b31137957_0_628"/>
          <p:cNvCxnSpPr/>
          <p:nvPr/>
        </p:nvCxnSpPr>
        <p:spPr>
          <a:xfrm>
            <a:off x="6455664" y="3163824"/>
            <a:ext cx="1773900" cy="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56" name="Google Shape;656;hd1b175b31137957_0_628"/>
          <p:cNvCxnSpPr/>
          <p:nvPr/>
        </p:nvCxnSpPr>
        <p:spPr>
          <a:xfrm flipH="1" rot="10800000">
            <a:off x="8106094" y="3163783"/>
            <a:ext cx="123600" cy="597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57" name="Google Shape;657;hd1b175b31137957_0_628"/>
          <p:cNvCxnSpPr/>
          <p:nvPr/>
        </p:nvCxnSpPr>
        <p:spPr>
          <a:xfrm>
            <a:off x="8106094" y="3104164"/>
            <a:ext cx="123600" cy="597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58" name="Google Shape;658;hd1b175b31137957_0_628"/>
          <p:cNvCxnSpPr/>
          <p:nvPr/>
        </p:nvCxnSpPr>
        <p:spPr>
          <a:xfrm flipH="1" rot="10800000">
            <a:off x="6455664" y="3163716"/>
            <a:ext cx="1773900" cy="10791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59" name="Google Shape;659;hd1b175b31137957_0_628"/>
          <p:cNvCxnSpPr/>
          <p:nvPr/>
        </p:nvCxnSpPr>
        <p:spPr>
          <a:xfrm flipH="1" rot="10800000">
            <a:off x="8155084" y="3163777"/>
            <a:ext cx="74400" cy="1152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660" name="Google Shape;660;hd1b175b31137957_0_628"/>
          <p:cNvCxnSpPr/>
          <p:nvPr/>
        </p:nvCxnSpPr>
        <p:spPr>
          <a:xfrm flipH="1" rot="10800000">
            <a:off x="8093077" y="3163834"/>
            <a:ext cx="136500" cy="13200"/>
          </a:xfrm>
          <a:prstGeom prst="straightConnector1">
            <a:avLst/>
          </a:prstGeom>
          <a:noFill/>
          <a:ln cap="flat" cmpd="sng" w="254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sp>
        <p:nvSpPr>
          <p:cNvPr id="661" name="Google Shape;661;hd1b175b31137957_0_628"/>
          <p:cNvSpPr txBox="1"/>
          <p:nvPr/>
        </p:nvSpPr>
        <p:spPr>
          <a:xfrm>
            <a:off x="950976" y="5321808"/>
            <a:ext cx="10515600" cy="3108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F5F3EE"/>
                </a:solidFill>
                <a:latin typeface="Arial"/>
                <a:ea typeface="Arial"/>
                <a:cs typeface="Arial"/>
                <a:sym typeface="Arial"/>
              </a:rPr>
              <a:t>Layer 2 ancestor: pub/sub fan-out, scatter/gather.  </a:t>
            </a:r>
            <a:endParaRPr b="0" i="0" sz="1400" u="none" cap="none" strike="noStrike">
              <a:solidFill>
                <a:srgbClr val="000000"/>
              </a:solidFill>
              <a:latin typeface="Arial"/>
              <a:ea typeface="Arial"/>
              <a:cs typeface="Arial"/>
              <a:sym typeface="Arial"/>
            </a:endParaRPr>
          </a:p>
        </p:txBody>
      </p:sp>
      <p:sp>
        <p:nvSpPr>
          <p:cNvPr id="662" name="Google Shape;662;hd1b175b31137957_0_628"/>
          <p:cNvSpPr txBox="1"/>
          <p:nvPr/>
        </p:nvSpPr>
        <p:spPr>
          <a:xfrm>
            <a:off x="11530584" y="6437376"/>
            <a:ext cx="4299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25</a:t>
            </a:r>
            <a:endParaRPr b="0" i="0" sz="1400" u="none" cap="none" strike="noStrike">
              <a:solidFill>
                <a:srgbClr val="000000"/>
              </a:solidFill>
              <a:latin typeface="Arial"/>
              <a:ea typeface="Arial"/>
              <a:cs typeface="Arial"/>
              <a:sym typeface="Arial"/>
            </a:endParaRPr>
          </a:p>
        </p:txBody>
      </p:sp>
      <p:sp>
        <p:nvSpPr>
          <p:cNvPr id="663" name="Google Shape;663;hd1b175b31137957_0_628"/>
          <p:cNvSpPr txBox="1"/>
          <p:nvPr/>
        </p:nvSpPr>
        <p:spPr>
          <a:xfrm>
            <a:off x="758952" y="6437376"/>
            <a:ext cx="31089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667" name="Shape 667"/>
        <p:cNvGrpSpPr/>
        <p:nvPr/>
      </p:nvGrpSpPr>
      <p:grpSpPr>
        <a:xfrm>
          <a:off x="0" y="0"/>
          <a:ext cx="0" cy="0"/>
          <a:chOff x="0" y="0"/>
          <a:chExt cx="0" cy="0"/>
        </a:xfrm>
      </p:grpSpPr>
      <p:sp>
        <p:nvSpPr>
          <p:cNvPr id="668" name="Google Shape;668;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669" name="Google Shape;669;p50"/>
          <p:cNvSpPr txBox="1"/>
          <p:nvPr/>
        </p:nvSpPr>
        <p:spPr>
          <a:xfrm>
            <a:off x="731520" y="521207"/>
            <a:ext cx="10789920" cy="2926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670" name="Google Shape;670;p50"/>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05  /  Orchestrator + workers</a:t>
            </a:r>
            <a:endParaRPr b="0" i="0" sz="1400" u="none" cap="none" strike="noStrike">
              <a:solidFill>
                <a:srgbClr val="000000"/>
              </a:solidFill>
              <a:latin typeface="Arial"/>
              <a:ea typeface="Arial"/>
              <a:cs typeface="Arial"/>
              <a:sym typeface="Arial"/>
            </a:endParaRPr>
          </a:p>
        </p:txBody>
      </p:sp>
      <p:sp>
        <p:nvSpPr>
          <p:cNvPr id="671" name="Google Shape;671;p50"/>
          <p:cNvSpPr txBox="1"/>
          <p:nvPr/>
        </p:nvSpPr>
        <p:spPr>
          <a:xfrm>
            <a:off x="758952" y="6126480"/>
            <a:ext cx="10698600" cy="2493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The task graph is discovered while the system is running.</a:t>
            </a:r>
            <a:endParaRPr b="0" i="0" sz="1400" u="none" cap="none" strike="noStrike">
              <a:solidFill>
                <a:srgbClr val="000000"/>
              </a:solidFill>
              <a:latin typeface="Arial"/>
              <a:ea typeface="Arial"/>
              <a:cs typeface="Arial"/>
              <a:sym typeface="Arial"/>
            </a:endParaRPr>
          </a:p>
        </p:txBody>
      </p:sp>
      <p:sp>
        <p:nvSpPr>
          <p:cNvPr id="672" name="Google Shape;672;p50"/>
          <p:cNvSpPr/>
          <p:nvPr/>
        </p:nvSpPr>
        <p:spPr>
          <a:xfrm>
            <a:off x="786384" y="2002536"/>
            <a:ext cx="3749039" cy="2660904"/>
          </a:xfrm>
          <a:prstGeom prst="roundRect">
            <a:avLst>
              <a:gd fmla="val 16667" name="adj"/>
            </a:avLst>
          </a:prstGeom>
          <a:solidFill>
            <a:srgbClr val="121721"/>
          </a:solidFill>
          <a:ln cap="flat" cmpd="sng" w="254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0"/>
          <p:cNvSpPr txBox="1"/>
          <p:nvPr/>
        </p:nvSpPr>
        <p:spPr>
          <a:xfrm>
            <a:off x="1115568" y="2322576"/>
            <a:ext cx="3108960" cy="50292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E8A33D"/>
                </a:solidFill>
                <a:latin typeface="Arial"/>
                <a:ea typeface="Arial"/>
                <a:cs typeface="Arial"/>
                <a:sym typeface="Arial"/>
              </a:rPr>
              <a:t>ORCHESTRATOR</a:t>
            </a:r>
            <a:endParaRPr b="0" i="0" sz="1400" u="none" cap="none" strike="noStrike">
              <a:solidFill>
                <a:srgbClr val="000000"/>
              </a:solidFill>
              <a:latin typeface="Arial"/>
              <a:ea typeface="Arial"/>
              <a:cs typeface="Arial"/>
              <a:sym typeface="Arial"/>
            </a:endParaRPr>
          </a:p>
        </p:txBody>
      </p:sp>
      <p:sp>
        <p:nvSpPr>
          <p:cNvPr id="674" name="Google Shape;674;p50"/>
          <p:cNvSpPr txBox="1"/>
          <p:nvPr/>
        </p:nvSpPr>
        <p:spPr>
          <a:xfrm>
            <a:off x="1124712" y="2953512"/>
            <a:ext cx="3035808" cy="11430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5F3EE"/>
                </a:solidFill>
                <a:latin typeface="Arial"/>
                <a:ea typeface="Arial"/>
                <a:cs typeface="Arial"/>
                <a:sym typeface="Arial"/>
              </a:rPr>
              <a:t>Plan  ·  delegate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5F3EE"/>
                </a:solidFill>
                <a:latin typeface="Arial"/>
                <a:ea typeface="Arial"/>
                <a:cs typeface="Arial"/>
                <a:sym typeface="Arial"/>
              </a:rPr>
              <a:t>observe  ·  replan</a:t>
            </a:r>
            <a:endParaRPr b="0" i="0" sz="1400" u="none" cap="none" strike="noStrike">
              <a:solidFill>
                <a:srgbClr val="000000"/>
              </a:solidFill>
              <a:latin typeface="Arial"/>
              <a:ea typeface="Arial"/>
              <a:cs typeface="Arial"/>
              <a:sym typeface="Arial"/>
            </a:endParaRPr>
          </a:p>
        </p:txBody>
      </p:sp>
      <p:sp>
        <p:nvSpPr>
          <p:cNvPr id="675" name="Google Shape;675;p50"/>
          <p:cNvSpPr/>
          <p:nvPr/>
        </p:nvSpPr>
        <p:spPr>
          <a:xfrm>
            <a:off x="7452360" y="2011680"/>
            <a:ext cx="2852928" cy="59436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0"/>
          <p:cNvSpPr txBox="1"/>
          <p:nvPr/>
        </p:nvSpPr>
        <p:spPr>
          <a:xfrm>
            <a:off x="7525512" y="2121408"/>
            <a:ext cx="2706624"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WORKER A</a:t>
            </a:r>
            <a:endParaRPr b="0" i="0" sz="1400" u="none" cap="none" strike="noStrike">
              <a:solidFill>
                <a:srgbClr val="000000"/>
              </a:solidFill>
              <a:latin typeface="Arial"/>
              <a:ea typeface="Arial"/>
              <a:cs typeface="Arial"/>
              <a:sym typeface="Arial"/>
            </a:endParaRPr>
          </a:p>
        </p:txBody>
      </p:sp>
      <p:cxnSp>
        <p:nvCxnSpPr>
          <p:cNvPr id="677" name="Google Shape;677;p50"/>
          <p:cNvCxnSpPr/>
          <p:nvPr/>
        </p:nvCxnSpPr>
        <p:spPr>
          <a:xfrm flipH="1" rot="10800000">
            <a:off x="4562856" y="2313432"/>
            <a:ext cx="2825496" cy="96012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78" name="Google Shape;678;p50"/>
          <p:cNvCxnSpPr/>
          <p:nvPr/>
        </p:nvCxnSpPr>
        <p:spPr>
          <a:xfrm flipH="1" rot="10800000">
            <a:off x="7290608" y="2313432"/>
            <a:ext cx="97744" cy="96224"/>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79" name="Google Shape;679;p50"/>
          <p:cNvCxnSpPr/>
          <p:nvPr/>
        </p:nvCxnSpPr>
        <p:spPr>
          <a:xfrm>
            <a:off x="7252218" y="2296680"/>
            <a:ext cx="136134" cy="16752"/>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80" name="Google Shape;680;p50"/>
          <p:cNvSpPr/>
          <p:nvPr/>
        </p:nvSpPr>
        <p:spPr>
          <a:xfrm>
            <a:off x="7452360" y="3044952"/>
            <a:ext cx="2852928" cy="59436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0"/>
          <p:cNvSpPr txBox="1"/>
          <p:nvPr/>
        </p:nvSpPr>
        <p:spPr>
          <a:xfrm>
            <a:off x="7525512" y="3154680"/>
            <a:ext cx="2706624"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WORKER B</a:t>
            </a:r>
            <a:endParaRPr b="0" i="0" sz="1400" u="none" cap="none" strike="noStrike">
              <a:solidFill>
                <a:srgbClr val="000000"/>
              </a:solidFill>
              <a:latin typeface="Arial"/>
              <a:ea typeface="Arial"/>
              <a:cs typeface="Arial"/>
              <a:sym typeface="Arial"/>
            </a:endParaRPr>
          </a:p>
        </p:txBody>
      </p:sp>
      <p:cxnSp>
        <p:nvCxnSpPr>
          <p:cNvPr id="682" name="Google Shape;682;p50"/>
          <p:cNvCxnSpPr/>
          <p:nvPr/>
        </p:nvCxnSpPr>
        <p:spPr>
          <a:xfrm>
            <a:off x="4562856" y="3273552"/>
            <a:ext cx="2825496" cy="73152"/>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83" name="Google Shape;683;p50"/>
          <p:cNvCxnSpPr/>
          <p:nvPr/>
        </p:nvCxnSpPr>
        <p:spPr>
          <a:xfrm flipH="1" rot="10800000">
            <a:off x="7263343" y="3346704"/>
            <a:ext cx="125009" cy="56443"/>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84" name="Google Shape;684;p50"/>
          <p:cNvCxnSpPr/>
          <p:nvPr/>
        </p:nvCxnSpPr>
        <p:spPr>
          <a:xfrm>
            <a:off x="7266432" y="3283867"/>
            <a:ext cx="121920" cy="62837"/>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85" name="Google Shape;685;p50"/>
          <p:cNvSpPr/>
          <p:nvPr/>
        </p:nvSpPr>
        <p:spPr>
          <a:xfrm>
            <a:off x="7452360" y="4078224"/>
            <a:ext cx="2852928" cy="59436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0"/>
          <p:cNvSpPr txBox="1"/>
          <p:nvPr/>
        </p:nvSpPr>
        <p:spPr>
          <a:xfrm>
            <a:off x="7525512" y="4187952"/>
            <a:ext cx="2706624"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WORKER C</a:t>
            </a:r>
            <a:endParaRPr b="0" i="0" sz="1400" u="none" cap="none" strike="noStrike">
              <a:solidFill>
                <a:srgbClr val="000000"/>
              </a:solidFill>
              <a:latin typeface="Arial"/>
              <a:ea typeface="Arial"/>
              <a:cs typeface="Arial"/>
              <a:sym typeface="Arial"/>
            </a:endParaRPr>
          </a:p>
        </p:txBody>
      </p:sp>
      <p:cxnSp>
        <p:nvCxnSpPr>
          <p:cNvPr id="687" name="Google Shape;687;p50"/>
          <p:cNvCxnSpPr/>
          <p:nvPr/>
        </p:nvCxnSpPr>
        <p:spPr>
          <a:xfrm>
            <a:off x="4562856" y="3273552"/>
            <a:ext cx="2825496" cy="1106424"/>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88" name="Google Shape;688;p50"/>
          <p:cNvCxnSpPr/>
          <p:nvPr/>
        </p:nvCxnSpPr>
        <p:spPr>
          <a:xfrm flipH="1" rot="10800000">
            <a:off x="7251595" y="4379976"/>
            <a:ext cx="136757" cy="10519"/>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689" name="Google Shape;689;p50"/>
          <p:cNvCxnSpPr/>
          <p:nvPr/>
        </p:nvCxnSpPr>
        <p:spPr>
          <a:xfrm>
            <a:off x="7295103" y="4279390"/>
            <a:ext cx="93249" cy="100586"/>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690" name="Google Shape;690;p50"/>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26</a:t>
            </a:r>
            <a:endParaRPr b="0" i="0" sz="1400" u="none" cap="none" strike="noStrike">
              <a:solidFill>
                <a:srgbClr val="000000"/>
              </a:solidFill>
              <a:latin typeface="Arial"/>
              <a:ea typeface="Arial"/>
              <a:cs typeface="Arial"/>
              <a:sym typeface="Arial"/>
            </a:endParaRPr>
          </a:p>
        </p:txBody>
      </p:sp>
      <p:sp>
        <p:nvSpPr>
          <p:cNvPr id="691" name="Google Shape;691;p50"/>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671"/>
                                        </p:tgtEl>
                                        <p:attrNameLst>
                                          <p:attrName>style.visibility</p:attrName>
                                        </p:attrNameLst>
                                      </p:cBhvr>
                                      <p:to>
                                        <p:strVal val="visible"/>
                                      </p:to>
                                    </p:set>
                                    <p:anim calcmode="lin" valueType="num">
                                      <p:cBhvr additive="base">
                                        <p:cTn dur="1000"/>
                                        <p:tgtEl>
                                          <p:spTgt spid="67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695" name="Shape 695"/>
        <p:cNvGrpSpPr/>
        <p:nvPr/>
      </p:nvGrpSpPr>
      <p:grpSpPr>
        <a:xfrm>
          <a:off x="0" y="0"/>
          <a:ext cx="0" cy="0"/>
          <a:chOff x="0" y="0"/>
          <a:chExt cx="0" cy="0"/>
        </a:xfrm>
      </p:grpSpPr>
      <p:sp>
        <p:nvSpPr>
          <p:cNvPr id="696" name="Google Shape;696;hd1b175b31137957_0_57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697" name="Google Shape;697;hd1b175b31137957_0_570"/>
          <p:cNvSpPr txBox="1"/>
          <p:nvPr/>
        </p:nvSpPr>
        <p:spPr>
          <a:xfrm>
            <a:off x="731520" y="521207"/>
            <a:ext cx="107898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698" name="Google Shape;698;hd1b175b31137957_0_570"/>
          <p:cNvSpPr txBox="1"/>
          <p:nvPr/>
        </p:nvSpPr>
        <p:spPr>
          <a:xfrm>
            <a:off x="731520" y="941832"/>
            <a:ext cx="10972800" cy="4956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05  /  Orchestrator + workers</a:t>
            </a:r>
            <a:endParaRPr b="0" i="0" sz="1400" u="none" cap="none" strike="noStrike">
              <a:solidFill>
                <a:srgbClr val="000000"/>
              </a:solidFill>
              <a:latin typeface="Arial"/>
              <a:ea typeface="Arial"/>
              <a:cs typeface="Arial"/>
              <a:sym typeface="Arial"/>
            </a:endParaRPr>
          </a:p>
        </p:txBody>
      </p:sp>
      <p:sp>
        <p:nvSpPr>
          <p:cNvPr id="699" name="Google Shape;699;hd1b175b31137957_0_570"/>
          <p:cNvSpPr txBox="1"/>
          <p:nvPr/>
        </p:nvSpPr>
        <p:spPr>
          <a:xfrm>
            <a:off x="758952" y="6126480"/>
            <a:ext cx="10698600" cy="2493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The task graph is discovered while the system is running.</a:t>
            </a:r>
            <a:endParaRPr b="0" i="0" sz="1400" u="none" cap="none" strike="noStrike">
              <a:solidFill>
                <a:srgbClr val="000000"/>
              </a:solidFill>
              <a:latin typeface="Arial"/>
              <a:ea typeface="Arial"/>
              <a:cs typeface="Arial"/>
              <a:sym typeface="Arial"/>
            </a:endParaRPr>
          </a:p>
        </p:txBody>
      </p:sp>
      <p:sp>
        <p:nvSpPr>
          <p:cNvPr id="700" name="Google Shape;700;hd1b175b31137957_0_570"/>
          <p:cNvSpPr/>
          <p:nvPr/>
        </p:nvSpPr>
        <p:spPr>
          <a:xfrm>
            <a:off x="786384" y="2002536"/>
            <a:ext cx="3749100" cy="2661000"/>
          </a:xfrm>
          <a:prstGeom prst="roundRect">
            <a:avLst>
              <a:gd fmla="val 16667" name="adj"/>
            </a:avLst>
          </a:prstGeom>
          <a:solidFill>
            <a:srgbClr val="121721"/>
          </a:solidFill>
          <a:ln cap="flat" cmpd="sng" w="254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1" name="Google Shape;701;hd1b175b31137957_0_570"/>
          <p:cNvSpPr txBox="1"/>
          <p:nvPr/>
        </p:nvSpPr>
        <p:spPr>
          <a:xfrm>
            <a:off x="1115568" y="2322576"/>
            <a:ext cx="3108900" cy="3417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E8A33D"/>
                </a:solidFill>
                <a:latin typeface="Arial"/>
                <a:ea typeface="Arial"/>
                <a:cs typeface="Arial"/>
                <a:sym typeface="Arial"/>
              </a:rPr>
              <a:t>ORCHESTRATOR</a:t>
            </a:r>
            <a:endParaRPr b="0" i="0" sz="1400" u="none" cap="none" strike="noStrike">
              <a:solidFill>
                <a:srgbClr val="000000"/>
              </a:solidFill>
              <a:latin typeface="Arial"/>
              <a:ea typeface="Arial"/>
              <a:cs typeface="Arial"/>
              <a:sym typeface="Arial"/>
            </a:endParaRPr>
          </a:p>
        </p:txBody>
      </p:sp>
      <p:sp>
        <p:nvSpPr>
          <p:cNvPr id="702" name="Google Shape;702;hd1b175b31137957_0_570"/>
          <p:cNvSpPr txBox="1"/>
          <p:nvPr/>
        </p:nvSpPr>
        <p:spPr>
          <a:xfrm>
            <a:off x="1124712" y="2953512"/>
            <a:ext cx="3035700" cy="6342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5F3EE"/>
                </a:solidFill>
                <a:latin typeface="Arial"/>
                <a:ea typeface="Arial"/>
                <a:cs typeface="Arial"/>
                <a:sym typeface="Arial"/>
              </a:rPr>
              <a:t>Plan  ·  delegate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5F3EE"/>
                </a:solidFill>
                <a:latin typeface="Arial"/>
                <a:ea typeface="Arial"/>
                <a:cs typeface="Arial"/>
                <a:sym typeface="Arial"/>
              </a:rPr>
              <a:t>observe  ·  replan</a:t>
            </a:r>
            <a:endParaRPr b="0" i="0" sz="1400" u="none" cap="none" strike="noStrike">
              <a:solidFill>
                <a:srgbClr val="000000"/>
              </a:solidFill>
              <a:latin typeface="Arial"/>
              <a:ea typeface="Arial"/>
              <a:cs typeface="Arial"/>
              <a:sym typeface="Arial"/>
            </a:endParaRPr>
          </a:p>
        </p:txBody>
      </p:sp>
      <p:sp>
        <p:nvSpPr>
          <p:cNvPr id="703" name="Google Shape;703;hd1b175b31137957_0_570"/>
          <p:cNvSpPr/>
          <p:nvPr/>
        </p:nvSpPr>
        <p:spPr>
          <a:xfrm>
            <a:off x="7452360" y="2011680"/>
            <a:ext cx="2853000" cy="59430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hd1b175b31137957_0_570"/>
          <p:cNvSpPr txBox="1"/>
          <p:nvPr/>
        </p:nvSpPr>
        <p:spPr>
          <a:xfrm>
            <a:off x="7525512" y="2121408"/>
            <a:ext cx="27066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WORKER A</a:t>
            </a:r>
            <a:endParaRPr b="0" i="0" sz="1400" u="none" cap="none" strike="noStrike">
              <a:solidFill>
                <a:srgbClr val="000000"/>
              </a:solidFill>
              <a:latin typeface="Arial"/>
              <a:ea typeface="Arial"/>
              <a:cs typeface="Arial"/>
              <a:sym typeface="Arial"/>
            </a:endParaRPr>
          </a:p>
        </p:txBody>
      </p:sp>
      <p:cxnSp>
        <p:nvCxnSpPr>
          <p:cNvPr id="705" name="Google Shape;705;hd1b175b31137957_0_570"/>
          <p:cNvCxnSpPr/>
          <p:nvPr/>
        </p:nvCxnSpPr>
        <p:spPr>
          <a:xfrm flipH="1" rot="10800000">
            <a:off x="4562856" y="2313552"/>
            <a:ext cx="2825400" cy="9600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06" name="Google Shape;706;hd1b175b31137957_0_570"/>
          <p:cNvCxnSpPr/>
          <p:nvPr/>
        </p:nvCxnSpPr>
        <p:spPr>
          <a:xfrm flipH="1" rot="10800000">
            <a:off x="7290608" y="2313356"/>
            <a:ext cx="97800" cy="963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07" name="Google Shape;707;hd1b175b31137957_0_570"/>
          <p:cNvCxnSpPr/>
          <p:nvPr/>
        </p:nvCxnSpPr>
        <p:spPr>
          <a:xfrm>
            <a:off x="7252218" y="2296680"/>
            <a:ext cx="136200" cy="168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708" name="Google Shape;708;hd1b175b31137957_0_570"/>
          <p:cNvSpPr/>
          <p:nvPr/>
        </p:nvSpPr>
        <p:spPr>
          <a:xfrm>
            <a:off x="7452360" y="3044952"/>
            <a:ext cx="2853000" cy="59430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hd1b175b31137957_0_570"/>
          <p:cNvSpPr txBox="1"/>
          <p:nvPr/>
        </p:nvSpPr>
        <p:spPr>
          <a:xfrm>
            <a:off x="7525512" y="3154680"/>
            <a:ext cx="27066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WORKER B</a:t>
            </a:r>
            <a:endParaRPr b="0" i="0" sz="1400" u="none" cap="none" strike="noStrike">
              <a:solidFill>
                <a:srgbClr val="000000"/>
              </a:solidFill>
              <a:latin typeface="Arial"/>
              <a:ea typeface="Arial"/>
              <a:cs typeface="Arial"/>
              <a:sym typeface="Arial"/>
            </a:endParaRPr>
          </a:p>
        </p:txBody>
      </p:sp>
      <p:cxnSp>
        <p:nvCxnSpPr>
          <p:cNvPr id="710" name="Google Shape;710;hd1b175b31137957_0_570"/>
          <p:cNvCxnSpPr/>
          <p:nvPr/>
        </p:nvCxnSpPr>
        <p:spPr>
          <a:xfrm>
            <a:off x="4562856" y="3273552"/>
            <a:ext cx="2825400" cy="732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11" name="Google Shape;711;hd1b175b31137957_0_570"/>
          <p:cNvCxnSpPr/>
          <p:nvPr/>
        </p:nvCxnSpPr>
        <p:spPr>
          <a:xfrm flipH="1" rot="10800000">
            <a:off x="7263343" y="3346747"/>
            <a:ext cx="125100" cy="564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12" name="Google Shape;712;hd1b175b31137957_0_570"/>
          <p:cNvCxnSpPr/>
          <p:nvPr/>
        </p:nvCxnSpPr>
        <p:spPr>
          <a:xfrm>
            <a:off x="7266432" y="3283867"/>
            <a:ext cx="121800" cy="627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713" name="Google Shape;713;hd1b175b31137957_0_570"/>
          <p:cNvSpPr/>
          <p:nvPr/>
        </p:nvSpPr>
        <p:spPr>
          <a:xfrm>
            <a:off x="7452360" y="4078224"/>
            <a:ext cx="2853000" cy="59430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hd1b175b31137957_0_570"/>
          <p:cNvSpPr txBox="1"/>
          <p:nvPr/>
        </p:nvSpPr>
        <p:spPr>
          <a:xfrm>
            <a:off x="7525512" y="4187952"/>
            <a:ext cx="27066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WORKER C</a:t>
            </a:r>
            <a:endParaRPr b="0" i="0" sz="1400" u="none" cap="none" strike="noStrike">
              <a:solidFill>
                <a:srgbClr val="000000"/>
              </a:solidFill>
              <a:latin typeface="Arial"/>
              <a:ea typeface="Arial"/>
              <a:cs typeface="Arial"/>
              <a:sym typeface="Arial"/>
            </a:endParaRPr>
          </a:p>
        </p:txBody>
      </p:sp>
      <p:cxnSp>
        <p:nvCxnSpPr>
          <p:cNvPr id="715" name="Google Shape;715;hd1b175b31137957_0_570"/>
          <p:cNvCxnSpPr/>
          <p:nvPr/>
        </p:nvCxnSpPr>
        <p:spPr>
          <a:xfrm>
            <a:off x="4562856" y="3273552"/>
            <a:ext cx="2825400" cy="11064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16" name="Google Shape;716;hd1b175b31137957_0_570"/>
          <p:cNvCxnSpPr/>
          <p:nvPr/>
        </p:nvCxnSpPr>
        <p:spPr>
          <a:xfrm flipH="1" rot="10800000">
            <a:off x="7251595" y="4379995"/>
            <a:ext cx="136800" cy="105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17" name="Google Shape;717;hd1b175b31137957_0_570"/>
          <p:cNvCxnSpPr/>
          <p:nvPr/>
        </p:nvCxnSpPr>
        <p:spPr>
          <a:xfrm>
            <a:off x="7295103" y="4279390"/>
            <a:ext cx="93300" cy="10050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718" name="Google Shape;718;hd1b175b31137957_0_570"/>
          <p:cNvSpPr txBox="1"/>
          <p:nvPr/>
        </p:nvSpPr>
        <p:spPr>
          <a:xfrm>
            <a:off x="11530584" y="6437376"/>
            <a:ext cx="4299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26</a:t>
            </a:r>
            <a:endParaRPr b="0" i="0" sz="1400" u="none" cap="none" strike="noStrike">
              <a:solidFill>
                <a:srgbClr val="000000"/>
              </a:solidFill>
              <a:latin typeface="Arial"/>
              <a:ea typeface="Arial"/>
              <a:cs typeface="Arial"/>
              <a:sym typeface="Arial"/>
            </a:endParaRPr>
          </a:p>
        </p:txBody>
      </p:sp>
      <p:sp>
        <p:nvSpPr>
          <p:cNvPr id="719" name="Google Shape;719;hd1b175b31137957_0_570"/>
          <p:cNvSpPr txBox="1"/>
          <p:nvPr/>
        </p:nvSpPr>
        <p:spPr>
          <a:xfrm>
            <a:off x="758952" y="6437376"/>
            <a:ext cx="31089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
        <p:nvSpPr>
          <p:cNvPr id="720" name="Google Shape;720;hd1b175b31137957_0_570"/>
          <p:cNvSpPr/>
          <p:nvPr/>
        </p:nvSpPr>
        <p:spPr>
          <a:xfrm>
            <a:off x="2419575" y="2121399"/>
            <a:ext cx="7057200" cy="2755500"/>
          </a:xfrm>
          <a:prstGeom prst="rect">
            <a:avLst/>
          </a:prstGeom>
          <a:solidFill>
            <a:schemeClr val="lt2"/>
          </a:solidFill>
          <a:ln cap="flat" cmpd="sng" w="762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CC0000"/>
                </a:solidFill>
                <a:latin typeface="Arial"/>
                <a:ea typeface="Arial"/>
                <a:cs typeface="Arial"/>
                <a:sym typeface="Arial"/>
              </a:rPr>
              <a:t>RELIABILITY QUESTION</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How do we cap work that did</a:t>
            </a:r>
            <a:endParaRPr b="1" i="0" sz="19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900"/>
              <a:buFont typeface="Arial"/>
              <a:buNone/>
            </a:pPr>
            <a:r>
              <a:rPr b="1" i="0" lang="en-US" sz="1900" u="none" cap="none" strike="noStrike">
                <a:solidFill>
                  <a:schemeClr val="dk1"/>
                </a:solidFill>
                <a:latin typeface="Arial"/>
                <a:ea typeface="Arial"/>
                <a:cs typeface="Arial"/>
                <a:sym typeface="Arial"/>
              </a:rPr>
              <a:t> not exist in the original plan?</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00"/>
              <a:buFont typeface="Arial"/>
              <a:buNone/>
            </a:pPr>
            <a:r>
              <a:t/>
            </a:r>
            <a:endParaRPr b="1" i="0" sz="3100" u="none" cap="none" strike="noStrike">
              <a:solidFill>
                <a:srgbClr val="CC0000"/>
              </a:solidFill>
              <a:latin typeface="Arial"/>
              <a:ea typeface="Arial"/>
              <a:cs typeface="Arial"/>
              <a:sym typeface="Arial"/>
            </a:endParaRPr>
          </a:p>
          <a:p>
            <a:pPr indent="0" lvl="0" marL="457200" marR="0" rtl="0" algn="ctr">
              <a:lnSpc>
                <a:spcPct val="100000"/>
              </a:lnSpc>
              <a:spcBef>
                <a:spcPts val="0"/>
              </a:spcBef>
              <a:spcAft>
                <a:spcPts val="0"/>
              </a:spcAft>
              <a:buClr>
                <a:srgbClr val="000000"/>
              </a:buClr>
              <a:buSzPts val="4600"/>
              <a:buFont typeface="Arial"/>
              <a:buNone/>
            </a:pPr>
            <a:r>
              <a:t/>
            </a:r>
            <a:endParaRPr b="1" i="0" sz="4600" u="none" cap="none" strike="noStrike">
              <a:solidFill>
                <a:srgbClr val="CC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699"/>
                                        </p:tgtEl>
                                        <p:attrNameLst>
                                          <p:attrName>style.visibility</p:attrName>
                                        </p:attrNameLst>
                                      </p:cBhvr>
                                      <p:to>
                                        <p:strVal val="visible"/>
                                      </p:to>
                                    </p:set>
                                    <p:anim calcmode="lin" valueType="num">
                                      <p:cBhvr additive="base">
                                        <p:cTn dur="1000"/>
                                        <p:tgtEl>
                                          <p:spTgt spid="69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724" name="Shape 724"/>
        <p:cNvGrpSpPr/>
        <p:nvPr/>
      </p:nvGrpSpPr>
      <p:grpSpPr>
        <a:xfrm>
          <a:off x="0" y="0"/>
          <a:ext cx="0" cy="0"/>
          <a:chOff x="0" y="0"/>
          <a:chExt cx="0" cy="0"/>
        </a:xfrm>
      </p:grpSpPr>
      <p:sp>
        <p:nvSpPr>
          <p:cNvPr id="725" name="Google Shape;725;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726" name="Google Shape;726;p51"/>
          <p:cNvSpPr txBox="1"/>
          <p:nvPr/>
        </p:nvSpPr>
        <p:spPr>
          <a:xfrm>
            <a:off x="731520" y="521207"/>
            <a:ext cx="10789920" cy="2926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727" name="Google Shape;727;p51"/>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06  /  Evaluate, retry, escalate</a:t>
            </a:r>
            <a:endParaRPr b="0" i="0" sz="1400" u="none" cap="none" strike="noStrike">
              <a:solidFill>
                <a:srgbClr val="000000"/>
              </a:solidFill>
              <a:latin typeface="Arial"/>
              <a:ea typeface="Arial"/>
              <a:cs typeface="Arial"/>
              <a:sym typeface="Arial"/>
            </a:endParaRPr>
          </a:p>
        </p:txBody>
      </p:sp>
      <p:sp>
        <p:nvSpPr>
          <p:cNvPr id="728" name="Google Shape;728;p51"/>
          <p:cNvSpPr/>
          <p:nvPr/>
        </p:nvSpPr>
        <p:spPr>
          <a:xfrm>
            <a:off x="886968" y="2340864"/>
            <a:ext cx="2743200" cy="59436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1"/>
          <p:cNvSpPr txBox="1"/>
          <p:nvPr/>
        </p:nvSpPr>
        <p:spPr>
          <a:xfrm>
            <a:off x="960120" y="2450592"/>
            <a:ext cx="2596896"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DRAFT</a:t>
            </a:r>
            <a:endParaRPr b="0" i="0" sz="1400" u="none" cap="none" strike="noStrike">
              <a:solidFill>
                <a:srgbClr val="000000"/>
              </a:solidFill>
              <a:latin typeface="Arial"/>
              <a:ea typeface="Arial"/>
              <a:cs typeface="Arial"/>
              <a:sym typeface="Arial"/>
            </a:endParaRPr>
          </a:p>
        </p:txBody>
      </p:sp>
      <p:sp>
        <p:nvSpPr>
          <p:cNvPr id="730" name="Google Shape;730;p51"/>
          <p:cNvSpPr/>
          <p:nvPr/>
        </p:nvSpPr>
        <p:spPr>
          <a:xfrm>
            <a:off x="4690872" y="2340864"/>
            <a:ext cx="2743200" cy="59436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51"/>
          <p:cNvSpPr txBox="1"/>
          <p:nvPr/>
        </p:nvSpPr>
        <p:spPr>
          <a:xfrm>
            <a:off x="4764024" y="2450592"/>
            <a:ext cx="2596896"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732" name="Google Shape;732;p51"/>
          <p:cNvSpPr/>
          <p:nvPr/>
        </p:nvSpPr>
        <p:spPr>
          <a:xfrm>
            <a:off x="8595360" y="2340864"/>
            <a:ext cx="2624328" cy="594360"/>
          </a:xfrm>
          <a:prstGeom prst="roundRect">
            <a:avLst>
              <a:gd fmla="val 16667" name="adj"/>
            </a:avLst>
          </a:prstGeom>
          <a:solidFill>
            <a:srgbClr val="83D4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p51"/>
          <p:cNvSpPr txBox="1"/>
          <p:nvPr/>
        </p:nvSpPr>
        <p:spPr>
          <a:xfrm>
            <a:off x="8668512" y="2450592"/>
            <a:ext cx="2478024" cy="420624"/>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COMMIT</a:t>
            </a:r>
            <a:endParaRPr b="0" i="0" sz="1400" u="none" cap="none" strike="noStrike">
              <a:solidFill>
                <a:srgbClr val="000000"/>
              </a:solidFill>
              <a:latin typeface="Arial"/>
              <a:ea typeface="Arial"/>
              <a:cs typeface="Arial"/>
              <a:sym typeface="Arial"/>
            </a:endParaRPr>
          </a:p>
        </p:txBody>
      </p:sp>
      <p:cxnSp>
        <p:nvCxnSpPr>
          <p:cNvPr id="734" name="Google Shape;734;p51"/>
          <p:cNvCxnSpPr/>
          <p:nvPr/>
        </p:nvCxnSpPr>
        <p:spPr>
          <a:xfrm>
            <a:off x="3675887" y="2633472"/>
            <a:ext cx="950977"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35" name="Google Shape;735;p51"/>
          <p:cNvCxnSpPr/>
          <p:nvPr/>
        </p:nvCxnSpPr>
        <p:spPr>
          <a:xfrm flipH="1" rot="10800000">
            <a:off x="4503358" y="2633472"/>
            <a:ext cx="123506" cy="59659"/>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36" name="Google Shape;736;p51"/>
          <p:cNvCxnSpPr/>
          <p:nvPr/>
        </p:nvCxnSpPr>
        <p:spPr>
          <a:xfrm>
            <a:off x="4503358" y="2573812"/>
            <a:ext cx="123506" cy="5966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37" name="Google Shape;737;p51"/>
          <p:cNvCxnSpPr/>
          <p:nvPr/>
        </p:nvCxnSpPr>
        <p:spPr>
          <a:xfrm>
            <a:off x="7498079" y="2633472"/>
            <a:ext cx="1033273" cy="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738" name="Google Shape;738;p51"/>
          <p:cNvCxnSpPr/>
          <p:nvPr/>
        </p:nvCxnSpPr>
        <p:spPr>
          <a:xfrm flipH="1" rot="10800000">
            <a:off x="8407846" y="2633472"/>
            <a:ext cx="123506" cy="59659"/>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739" name="Google Shape;739;p51"/>
          <p:cNvCxnSpPr/>
          <p:nvPr/>
        </p:nvCxnSpPr>
        <p:spPr>
          <a:xfrm>
            <a:off x="8407846" y="2573812"/>
            <a:ext cx="123506" cy="5966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sp>
        <p:nvSpPr>
          <p:cNvPr id="740" name="Google Shape;740;p51"/>
          <p:cNvSpPr txBox="1"/>
          <p:nvPr/>
        </p:nvSpPr>
        <p:spPr>
          <a:xfrm>
            <a:off x="4800600" y="3310128"/>
            <a:ext cx="2743200" cy="32004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38D83"/>
                </a:solidFill>
                <a:latin typeface="Arial"/>
                <a:ea typeface="Arial"/>
                <a:cs typeface="Arial"/>
                <a:sym typeface="Arial"/>
              </a:rPr>
              <a:t>FAIL / FEEDBACK</a:t>
            </a:r>
            <a:endParaRPr b="0" i="0" sz="1400" u="none" cap="none" strike="noStrike">
              <a:solidFill>
                <a:srgbClr val="000000"/>
              </a:solidFill>
              <a:latin typeface="Arial"/>
              <a:ea typeface="Arial"/>
              <a:cs typeface="Arial"/>
              <a:sym typeface="Arial"/>
            </a:endParaRPr>
          </a:p>
        </p:txBody>
      </p:sp>
      <p:cxnSp>
        <p:nvCxnSpPr>
          <p:cNvPr id="741" name="Google Shape;741;p51"/>
          <p:cNvCxnSpPr/>
          <p:nvPr/>
        </p:nvCxnSpPr>
        <p:spPr>
          <a:xfrm>
            <a:off x="5641848" y="3648456"/>
            <a:ext cx="0" cy="484631"/>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cxnSp>
        <p:nvCxnSpPr>
          <p:cNvPr id="742" name="Google Shape;742;p51"/>
          <p:cNvCxnSpPr/>
          <p:nvPr/>
        </p:nvCxnSpPr>
        <p:spPr>
          <a:xfrm rot="10800000">
            <a:off x="2157984" y="4133087"/>
            <a:ext cx="3483864" cy="0"/>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cxnSp>
        <p:nvCxnSpPr>
          <p:cNvPr id="743" name="Google Shape;743;p51"/>
          <p:cNvCxnSpPr/>
          <p:nvPr/>
        </p:nvCxnSpPr>
        <p:spPr>
          <a:xfrm rot="10800000">
            <a:off x="2157984" y="3017520"/>
            <a:ext cx="0" cy="1115567"/>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cxnSp>
        <p:nvCxnSpPr>
          <p:cNvPr id="744" name="Google Shape;744;p51"/>
          <p:cNvCxnSpPr/>
          <p:nvPr/>
        </p:nvCxnSpPr>
        <p:spPr>
          <a:xfrm rot="10800000">
            <a:off x="2157984" y="3017520"/>
            <a:ext cx="59659" cy="123505"/>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cxnSp>
        <p:nvCxnSpPr>
          <p:cNvPr id="745" name="Google Shape;745;p51"/>
          <p:cNvCxnSpPr/>
          <p:nvPr/>
        </p:nvCxnSpPr>
        <p:spPr>
          <a:xfrm flipH="1" rot="10800000">
            <a:off x="2098324" y="3017520"/>
            <a:ext cx="59660" cy="123505"/>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sp>
        <p:nvSpPr>
          <p:cNvPr id="746" name="Google Shape;746;p51"/>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27</a:t>
            </a:r>
            <a:endParaRPr b="0" i="0" sz="1400" u="none" cap="none" strike="noStrike">
              <a:solidFill>
                <a:srgbClr val="000000"/>
              </a:solidFill>
              <a:latin typeface="Arial"/>
              <a:ea typeface="Arial"/>
              <a:cs typeface="Arial"/>
              <a:sym typeface="Arial"/>
            </a:endParaRPr>
          </a:p>
        </p:txBody>
      </p:sp>
      <p:sp>
        <p:nvSpPr>
          <p:cNvPr id="747" name="Google Shape;747;p51"/>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751" name="Shape 751"/>
        <p:cNvGrpSpPr/>
        <p:nvPr/>
      </p:nvGrpSpPr>
      <p:grpSpPr>
        <a:xfrm>
          <a:off x="0" y="0"/>
          <a:ext cx="0" cy="0"/>
          <a:chOff x="0" y="0"/>
          <a:chExt cx="0" cy="0"/>
        </a:xfrm>
      </p:grpSpPr>
      <p:sp>
        <p:nvSpPr>
          <p:cNvPr id="752" name="Google Shape;752;hd1b175b31137957_0_5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753" name="Google Shape;753;hd1b175b31137957_0_599"/>
          <p:cNvSpPr txBox="1"/>
          <p:nvPr/>
        </p:nvSpPr>
        <p:spPr>
          <a:xfrm>
            <a:off x="731520" y="521207"/>
            <a:ext cx="107898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AGENTIC SYSTEM PATTERNS</a:t>
            </a:r>
            <a:endParaRPr b="0" i="0" sz="1400" u="none" cap="none" strike="noStrike">
              <a:solidFill>
                <a:srgbClr val="000000"/>
              </a:solidFill>
              <a:latin typeface="Arial"/>
              <a:ea typeface="Arial"/>
              <a:cs typeface="Arial"/>
              <a:sym typeface="Arial"/>
            </a:endParaRPr>
          </a:p>
        </p:txBody>
      </p:sp>
      <p:sp>
        <p:nvSpPr>
          <p:cNvPr id="754" name="Google Shape;754;hd1b175b31137957_0_599"/>
          <p:cNvSpPr txBox="1"/>
          <p:nvPr/>
        </p:nvSpPr>
        <p:spPr>
          <a:xfrm>
            <a:off x="731520" y="941832"/>
            <a:ext cx="10972800" cy="4956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06  /  Evaluate, retry, escalate</a:t>
            </a:r>
            <a:endParaRPr b="0" i="0" sz="1400" u="none" cap="none" strike="noStrike">
              <a:solidFill>
                <a:srgbClr val="000000"/>
              </a:solidFill>
              <a:latin typeface="Arial"/>
              <a:ea typeface="Arial"/>
              <a:cs typeface="Arial"/>
              <a:sym typeface="Arial"/>
            </a:endParaRPr>
          </a:p>
        </p:txBody>
      </p:sp>
      <p:sp>
        <p:nvSpPr>
          <p:cNvPr id="755" name="Google Shape;755;hd1b175b31137957_0_599"/>
          <p:cNvSpPr txBox="1"/>
          <p:nvPr/>
        </p:nvSpPr>
        <p:spPr>
          <a:xfrm>
            <a:off x="758952" y="6126480"/>
            <a:ext cx="10698600" cy="2493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A feedback loop needs a stopping condition.</a:t>
            </a:r>
            <a:endParaRPr b="0" i="0" sz="1400" u="none" cap="none" strike="noStrike">
              <a:solidFill>
                <a:srgbClr val="000000"/>
              </a:solidFill>
              <a:latin typeface="Arial"/>
              <a:ea typeface="Arial"/>
              <a:cs typeface="Arial"/>
              <a:sym typeface="Arial"/>
            </a:endParaRPr>
          </a:p>
        </p:txBody>
      </p:sp>
      <p:sp>
        <p:nvSpPr>
          <p:cNvPr id="756" name="Google Shape;756;hd1b175b31137957_0_599"/>
          <p:cNvSpPr/>
          <p:nvPr/>
        </p:nvSpPr>
        <p:spPr>
          <a:xfrm>
            <a:off x="886968" y="2340864"/>
            <a:ext cx="2743200" cy="59430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7" name="Google Shape;757;hd1b175b31137957_0_599"/>
          <p:cNvSpPr txBox="1"/>
          <p:nvPr/>
        </p:nvSpPr>
        <p:spPr>
          <a:xfrm>
            <a:off x="960120" y="2450592"/>
            <a:ext cx="25968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DRAFT</a:t>
            </a:r>
            <a:endParaRPr b="0" i="0" sz="1400" u="none" cap="none" strike="noStrike">
              <a:solidFill>
                <a:srgbClr val="000000"/>
              </a:solidFill>
              <a:latin typeface="Arial"/>
              <a:ea typeface="Arial"/>
              <a:cs typeface="Arial"/>
              <a:sym typeface="Arial"/>
            </a:endParaRPr>
          </a:p>
        </p:txBody>
      </p:sp>
      <p:sp>
        <p:nvSpPr>
          <p:cNvPr id="758" name="Google Shape;758;hd1b175b31137957_0_599"/>
          <p:cNvSpPr/>
          <p:nvPr/>
        </p:nvSpPr>
        <p:spPr>
          <a:xfrm>
            <a:off x="4690872" y="2340864"/>
            <a:ext cx="2743200" cy="594300"/>
          </a:xfrm>
          <a:prstGeom prst="roundRect">
            <a:avLst>
              <a:gd fmla="val 16667" name="adj"/>
            </a:avLst>
          </a:prstGeom>
          <a:solidFill>
            <a:srgbClr val="C5A0F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hd1b175b31137957_0_599"/>
          <p:cNvSpPr txBox="1"/>
          <p:nvPr/>
        </p:nvSpPr>
        <p:spPr>
          <a:xfrm>
            <a:off x="4764024" y="2450592"/>
            <a:ext cx="25968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EVALUATE</a:t>
            </a:r>
            <a:endParaRPr b="0" i="0" sz="1400" u="none" cap="none" strike="noStrike">
              <a:solidFill>
                <a:srgbClr val="000000"/>
              </a:solidFill>
              <a:latin typeface="Arial"/>
              <a:ea typeface="Arial"/>
              <a:cs typeface="Arial"/>
              <a:sym typeface="Arial"/>
            </a:endParaRPr>
          </a:p>
        </p:txBody>
      </p:sp>
      <p:sp>
        <p:nvSpPr>
          <p:cNvPr id="760" name="Google Shape;760;hd1b175b31137957_0_599"/>
          <p:cNvSpPr/>
          <p:nvPr/>
        </p:nvSpPr>
        <p:spPr>
          <a:xfrm>
            <a:off x="8595360" y="2340864"/>
            <a:ext cx="2624400" cy="594300"/>
          </a:xfrm>
          <a:prstGeom prst="roundRect">
            <a:avLst>
              <a:gd fmla="val 16667" name="adj"/>
            </a:avLst>
          </a:prstGeom>
          <a:solidFill>
            <a:srgbClr val="83D4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hd1b175b31137957_0_599"/>
          <p:cNvSpPr txBox="1"/>
          <p:nvPr/>
        </p:nvSpPr>
        <p:spPr>
          <a:xfrm>
            <a:off x="8668512" y="2450592"/>
            <a:ext cx="2478000" cy="24930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COMMIT</a:t>
            </a:r>
            <a:endParaRPr b="0" i="0" sz="1400" u="none" cap="none" strike="noStrike">
              <a:solidFill>
                <a:srgbClr val="000000"/>
              </a:solidFill>
              <a:latin typeface="Arial"/>
              <a:ea typeface="Arial"/>
              <a:cs typeface="Arial"/>
              <a:sym typeface="Arial"/>
            </a:endParaRPr>
          </a:p>
        </p:txBody>
      </p:sp>
      <p:cxnSp>
        <p:nvCxnSpPr>
          <p:cNvPr id="762" name="Google Shape;762;hd1b175b31137957_0_599"/>
          <p:cNvCxnSpPr/>
          <p:nvPr/>
        </p:nvCxnSpPr>
        <p:spPr>
          <a:xfrm>
            <a:off x="3675887" y="2633472"/>
            <a:ext cx="951000"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63" name="Google Shape;763;hd1b175b31137957_0_599"/>
          <p:cNvCxnSpPr/>
          <p:nvPr/>
        </p:nvCxnSpPr>
        <p:spPr>
          <a:xfrm flipH="1" rot="10800000">
            <a:off x="4503358" y="2633431"/>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64" name="Google Shape;764;hd1b175b31137957_0_599"/>
          <p:cNvCxnSpPr/>
          <p:nvPr/>
        </p:nvCxnSpPr>
        <p:spPr>
          <a:xfrm>
            <a:off x="4503358" y="2573812"/>
            <a:ext cx="123600" cy="5970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765" name="Google Shape;765;hd1b175b31137957_0_599"/>
          <p:cNvCxnSpPr/>
          <p:nvPr/>
        </p:nvCxnSpPr>
        <p:spPr>
          <a:xfrm>
            <a:off x="7498079" y="2633472"/>
            <a:ext cx="1033200" cy="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766" name="Google Shape;766;hd1b175b31137957_0_599"/>
          <p:cNvCxnSpPr/>
          <p:nvPr/>
        </p:nvCxnSpPr>
        <p:spPr>
          <a:xfrm flipH="1" rot="10800000">
            <a:off x="8407846" y="2633431"/>
            <a:ext cx="123600" cy="5970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767" name="Google Shape;767;hd1b175b31137957_0_599"/>
          <p:cNvCxnSpPr/>
          <p:nvPr/>
        </p:nvCxnSpPr>
        <p:spPr>
          <a:xfrm>
            <a:off x="8407846" y="2573812"/>
            <a:ext cx="123600" cy="59700"/>
          </a:xfrm>
          <a:prstGeom prst="straightConnector1">
            <a:avLst/>
          </a:prstGeom>
          <a:noFill/>
          <a:ln cap="flat" cmpd="sng" w="381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sp>
        <p:nvSpPr>
          <p:cNvPr id="768" name="Google Shape;768;hd1b175b31137957_0_599"/>
          <p:cNvSpPr txBox="1"/>
          <p:nvPr/>
        </p:nvSpPr>
        <p:spPr>
          <a:xfrm>
            <a:off x="4800600" y="3310128"/>
            <a:ext cx="2743200" cy="2340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F38D83"/>
                </a:solidFill>
                <a:latin typeface="Arial"/>
                <a:ea typeface="Arial"/>
                <a:cs typeface="Arial"/>
                <a:sym typeface="Arial"/>
              </a:rPr>
              <a:t>FAIL / FEEDBACK</a:t>
            </a:r>
            <a:endParaRPr b="0" i="0" sz="1400" u="none" cap="none" strike="noStrike">
              <a:solidFill>
                <a:srgbClr val="000000"/>
              </a:solidFill>
              <a:latin typeface="Arial"/>
              <a:ea typeface="Arial"/>
              <a:cs typeface="Arial"/>
              <a:sym typeface="Arial"/>
            </a:endParaRPr>
          </a:p>
        </p:txBody>
      </p:sp>
      <p:cxnSp>
        <p:nvCxnSpPr>
          <p:cNvPr id="769" name="Google Shape;769;hd1b175b31137957_0_599"/>
          <p:cNvCxnSpPr/>
          <p:nvPr/>
        </p:nvCxnSpPr>
        <p:spPr>
          <a:xfrm>
            <a:off x="5641848" y="3648456"/>
            <a:ext cx="0" cy="484500"/>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cxnSp>
        <p:nvCxnSpPr>
          <p:cNvPr id="770" name="Google Shape;770;hd1b175b31137957_0_599"/>
          <p:cNvCxnSpPr/>
          <p:nvPr/>
        </p:nvCxnSpPr>
        <p:spPr>
          <a:xfrm rot="10800000">
            <a:off x="2157948" y="4133087"/>
            <a:ext cx="3483900" cy="0"/>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cxnSp>
        <p:nvCxnSpPr>
          <p:cNvPr id="771" name="Google Shape;771;hd1b175b31137957_0_599"/>
          <p:cNvCxnSpPr/>
          <p:nvPr/>
        </p:nvCxnSpPr>
        <p:spPr>
          <a:xfrm rot="10800000">
            <a:off x="2157984" y="3017387"/>
            <a:ext cx="0" cy="1115700"/>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cxnSp>
        <p:nvCxnSpPr>
          <p:cNvPr id="772" name="Google Shape;772;hd1b175b31137957_0_599"/>
          <p:cNvCxnSpPr/>
          <p:nvPr/>
        </p:nvCxnSpPr>
        <p:spPr>
          <a:xfrm rot="10800000">
            <a:off x="2157943" y="3017425"/>
            <a:ext cx="59700" cy="123600"/>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cxnSp>
        <p:nvCxnSpPr>
          <p:cNvPr id="773" name="Google Shape;773;hd1b175b31137957_0_599"/>
          <p:cNvCxnSpPr/>
          <p:nvPr/>
        </p:nvCxnSpPr>
        <p:spPr>
          <a:xfrm flipH="1" rot="10800000">
            <a:off x="2098324" y="3017425"/>
            <a:ext cx="59700" cy="123600"/>
          </a:xfrm>
          <a:prstGeom prst="straightConnector1">
            <a:avLst/>
          </a:prstGeom>
          <a:noFill/>
          <a:ln cap="flat" cmpd="sng" w="25400">
            <a:solidFill>
              <a:srgbClr val="F38D83"/>
            </a:solidFill>
            <a:prstDash val="solid"/>
            <a:round/>
            <a:headEnd len="sm" w="sm" type="none"/>
            <a:tailEnd len="sm" w="sm" type="none"/>
          </a:ln>
          <a:effectLst>
            <a:outerShdw blurRad="40000" rotWithShape="0" dir="5400000" dist="20000">
              <a:srgbClr val="000000">
                <a:alpha val="38039"/>
              </a:srgbClr>
            </a:outerShdw>
          </a:effectLst>
        </p:spPr>
      </p:cxnSp>
      <p:sp>
        <p:nvSpPr>
          <p:cNvPr id="774" name="Google Shape;774;hd1b175b31137957_0_599"/>
          <p:cNvSpPr txBox="1"/>
          <p:nvPr/>
        </p:nvSpPr>
        <p:spPr>
          <a:xfrm>
            <a:off x="868680" y="4910328"/>
            <a:ext cx="10607100" cy="3264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5F3EE"/>
                </a:solidFill>
                <a:latin typeface="Arial"/>
                <a:ea typeface="Arial"/>
                <a:cs typeface="Arial"/>
                <a:sym typeface="Arial"/>
              </a:rPr>
              <a:t>Max iterations  ·  acceptance criteria  ·  human approval for irreversible actions</a:t>
            </a:r>
            <a:endParaRPr b="0" i="0" sz="1400" u="none" cap="none" strike="noStrike">
              <a:solidFill>
                <a:srgbClr val="000000"/>
              </a:solidFill>
              <a:latin typeface="Arial"/>
              <a:ea typeface="Arial"/>
              <a:cs typeface="Arial"/>
              <a:sym typeface="Arial"/>
            </a:endParaRPr>
          </a:p>
        </p:txBody>
      </p:sp>
      <p:sp>
        <p:nvSpPr>
          <p:cNvPr id="775" name="Google Shape;775;hd1b175b31137957_0_599"/>
          <p:cNvSpPr txBox="1"/>
          <p:nvPr/>
        </p:nvSpPr>
        <p:spPr>
          <a:xfrm>
            <a:off x="11530584" y="6437376"/>
            <a:ext cx="429900" cy="1725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27</a:t>
            </a:r>
            <a:endParaRPr b="0" i="0" sz="1400" u="none" cap="none" strike="noStrike">
              <a:solidFill>
                <a:srgbClr val="000000"/>
              </a:solidFill>
              <a:latin typeface="Arial"/>
              <a:ea typeface="Arial"/>
              <a:cs typeface="Arial"/>
              <a:sym typeface="Arial"/>
            </a:endParaRPr>
          </a:p>
        </p:txBody>
      </p:sp>
      <p:sp>
        <p:nvSpPr>
          <p:cNvPr id="776" name="Google Shape;776;hd1b175b31137957_0_599"/>
          <p:cNvSpPr txBox="1"/>
          <p:nvPr/>
        </p:nvSpPr>
        <p:spPr>
          <a:xfrm>
            <a:off x="758952" y="6437376"/>
            <a:ext cx="3108900" cy="153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
        <p:nvSpPr>
          <p:cNvPr id="777" name="Google Shape;777;hd1b175b31137957_0_599"/>
          <p:cNvSpPr/>
          <p:nvPr/>
        </p:nvSpPr>
        <p:spPr>
          <a:xfrm rot="797801">
            <a:off x="8848968" y="3369439"/>
            <a:ext cx="1770051" cy="1367434"/>
          </a:xfrm>
          <a:prstGeom prst="rect">
            <a:avLst/>
          </a:prstGeom>
          <a:solidFill>
            <a:schemeClr val="lt2"/>
          </a:solidFill>
          <a:ln cap="flat" cmpd="sng" w="76200">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00"/>
              <a:buFont typeface="Arial"/>
              <a:buNone/>
            </a:pPr>
            <a:r>
              <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00"/>
              <a:buFont typeface="Arial"/>
              <a:buNone/>
            </a:pPr>
            <a:r>
              <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00"/>
              <a:buFont typeface="Arial"/>
              <a:buNone/>
            </a:pPr>
            <a:r>
              <a:rPr b="1" i="0" lang="en-US" sz="3100" u="none" cap="none" strike="noStrike">
                <a:solidFill>
                  <a:srgbClr val="CC0000"/>
                </a:solidFill>
                <a:latin typeface="Arial"/>
                <a:ea typeface="Arial"/>
                <a:cs typeface="Arial"/>
                <a:sym typeface="Arial"/>
              </a:rPr>
              <a:t>???</a:t>
            </a:r>
            <a:endParaRPr b="1" i="0" sz="3100" u="none" cap="none" strike="noStrike">
              <a:solidFill>
                <a:srgbClr val="CC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100"/>
              <a:buFont typeface="Arial"/>
              <a:buNone/>
            </a:pPr>
            <a:r>
              <a:t/>
            </a:r>
            <a:endParaRPr b="1" i="0" sz="3100" u="none" cap="none" strike="noStrike">
              <a:solidFill>
                <a:srgbClr val="CC0000"/>
              </a:solidFill>
              <a:latin typeface="Arial"/>
              <a:ea typeface="Arial"/>
              <a:cs typeface="Arial"/>
              <a:sym typeface="Arial"/>
            </a:endParaRPr>
          </a:p>
          <a:p>
            <a:pPr indent="0" lvl="0" marL="457200" marR="0" rtl="0" algn="ctr">
              <a:lnSpc>
                <a:spcPct val="100000"/>
              </a:lnSpc>
              <a:spcBef>
                <a:spcPts val="0"/>
              </a:spcBef>
              <a:spcAft>
                <a:spcPts val="0"/>
              </a:spcAft>
              <a:buClr>
                <a:srgbClr val="000000"/>
              </a:buClr>
              <a:buSzPts val="4600"/>
              <a:buFont typeface="Arial"/>
              <a:buNone/>
            </a:pPr>
            <a:r>
              <a:t/>
            </a:r>
            <a:endParaRPr b="1" i="0" sz="4600" u="none" cap="none" strike="noStrike">
              <a:solidFill>
                <a:srgbClr val="CC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81" name="Shape 781"/>
        <p:cNvGrpSpPr/>
        <p:nvPr/>
      </p:nvGrpSpPr>
      <p:grpSpPr>
        <a:xfrm>
          <a:off x="0" y="0"/>
          <a:ext cx="0" cy="0"/>
          <a:chOff x="0" y="0"/>
          <a:chExt cx="0" cy="0"/>
        </a:xfrm>
      </p:grpSpPr>
      <p:pic>
        <p:nvPicPr>
          <p:cNvPr id="782" name="Google Shape;782;p59" title="Untitled Design.png"/>
          <p:cNvPicPr preferRelativeResize="0"/>
          <p:nvPr/>
        </p:nvPicPr>
        <p:blipFill rotWithShape="1">
          <a:blip r:embed="rId3">
            <a:alphaModFix/>
          </a:blip>
          <a:srcRect b="0" l="0" r="0" t="0"/>
          <a:stretch/>
        </p:blipFill>
        <p:spPr>
          <a:xfrm>
            <a:off x="-161" y="0"/>
            <a:ext cx="12191985"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786" name="Shape 786"/>
        <p:cNvGrpSpPr/>
        <p:nvPr/>
      </p:nvGrpSpPr>
      <p:grpSpPr>
        <a:xfrm>
          <a:off x="0" y="0"/>
          <a:ext cx="0" cy="0"/>
          <a:chOff x="0" y="0"/>
          <a:chExt cx="0" cy="0"/>
        </a:xfrm>
      </p:grpSpPr>
      <p:sp>
        <p:nvSpPr>
          <p:cNvPr id="787" name="Google Shape;787;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788" name="Google Shape;788;p6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789" name="Google Shape;789;p6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790" name="Google Shape;790;p6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791" name="Google Shape;791;p6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792" name="Google Shape;792;p60"/>
          <p:cNvSpPr txBox="1"/>
          <p:nvPr/>
        </p:nvSpPr>
        <p:spPr>
          <a:xfrm>
            <a:off x="731520" y="521207"/>
            <a:ext cx="10789920"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EVENT-DRIVEN AGENT PATTERNS</a:t>
            </a:r>
            <a:endParaRPr b="0" i="0" sz="1400" u="none" cap="none" strike="noStrike">
              <a:solidFill>
                <a:srgbClr val="000000"/>
              </a:solidFill>
              <a:latin typeface="Arial"/>
              <a:ea typeface="Arial"/>
              <a:cs typeface="Arial"/>
              <a:sym typeface="Arial"/>
            </a:endParaRPr>
          </a:p>
        </p:txBody>
      </p:sp>
      <p:sp>
        <p:nvSpPr>
          <p:cNvPr id="793" name="Google Shape;793;p60"/>
          <p:cNvSpPr txBox="1"/>
          <p:nvPr/>
        </p:nvSpPr>
        <p:spPr>
          <a:xfrm>
            <a:off x="731520" y="932688"/>
            <a:ext cx="10972800" cy="64008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07  /  Reactive agent consumer</a:t>
            </a:r>
            <a:endParaRPr b="0" i="0" sz="1400" u="none" cap="none" strike="noStrike">
              <a:solidFill>
                <a:srgbClr val="000000"/>
              </a:solidFill>
              <a:latin typeface="Arial"/>
              <a:ea typeface="Arial"/>
              <a:cs typeface="Arial"/>
              <a:sym typeface="Arial"/>
            </a:endParaRPr>
          </a:p>
        </p:txBody>
      </p:sp>
      <p:sp>
        <p:nvSpPr>
          <p:cNvPr id="794" name="Google Shape;794;p60"/>
          <p:cNvSpPr txBox="1"/>
          <p:nvPr/>
        </p:nvSpPr>
        <p:spPr>
          <a:xfrm>
            <a:off x="758952" y="1645920"/>
            <a:ext cx="107899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Events become observations. Decisions become commands or new events.</a:t>
            </a:r>
            <a:endParaRPr b="0" i="0" sz="1400" u="none" cap="none" strike="noStrike">
              <a:solidFill>
                <a:srgbClr val="000000"/>
              </a:solidFill>
              <a:latin typeface="Arial"/>
              <a:ea typeface="Arial"/>
              <a:cs typeface="Arial"/>
              <a:sym typeface="Arial"/>
            </a:endParaRPr>
          </a:p>
        </p:txBody>
      </p:sp>
      <p:sp>
        <p:nvSpPr>
          <p:cNvPr id="795" name="Google Shape;795;p60"/>
          <p:cNvSpPr/>
          <p:nvPr/>
        </p:nvSpPr>
        <p:spPr>
          <a:xfrm>
            <a:off x="758952" y="5907024"/>
            <a:ext cx="10652760" cy="7315"/>
          </a:xfrm>
          <a:prstGeom prst="rect">
            <a:avLst/>
          </a:prstGeom>
          <a:solidFill>
            <a:srgbClr val="303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60"/>
          <p:cNvSpPr txBox="1"/>
          <p:nvPr/>
        </p:nvSpPr>
        <p:spPr>
          <a:xfrm>
            <a:off x="786384" y="5998464"/>
            <a:ext cx="105612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A8AFBF"/>
                </a:solidFill>
                <a:latin typeface="Arial"/>
                <a:ea typeface="Arial"/>
                <a:cs typeface="Arial"/>
                <a:sym typeface="Arial"/>
              </a:rPr>
              <a:t>QUESTION   Which events deserve reasoning—and who is authorized to act?</a:t>
            </a:r>
            <a:endParaRPr b="0" i="0" sz="1400" u="none" cap="none" strike="noStrike">
              <a:solidFill>
                <a:srgbClr val="000000"/>
              </a:solidFill>
              <a:latin typeface="Arial"/>
              <a:ea typeface="Arial"/>
              <a:cs typeface="Arial"/>
              <a:sym typeface="Arial"/>
            </a:endParaRPr>
          </a:p>
        </p:txBody>
      </p:sp>
      <p:sp>
        <p:nvSpPr>
          <p:cNvPr id="797" name="Google Shape;797;p60"/>
          <p:cNvSpPr txBox="1"/>
          <p:nvPr/>
        </p:nvSpPr>
        <p:spPr>
          <a:xfrm>
            <a:off x="11530584" y="6437376"/>
            <a:ext cx="42976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29</a:t>
            </a:r>
            <a:endParaRPr b="0" i="0" sz="1400" u="none" cap="none" strike="noStrike">
              <a:solidFill>
                <a:srgbClr val="000000"/>
              </a:solidFill>
              <a:latin typeface="Arial"/>
              <a:ea typeface="Arial"/>
              <a:cs typeface="Arial"/>
              <a:sym typeface="Arial"/>
            </a:endParaRPr>
          </a:p>
        </p:txBody>
      </p:sp>
      <p:sp>
        <p:nvSpPr>
          <p:cNvPr id="798" name="Google Shape;798;p60"/>
          <p:cNvSpPr/>
          <p:nvPr/>
        </p:nvSpPr>
        <p:spPr>
          <a:xfrm>
            <a:off x="822960" y="2633472"/>
            <a:ext cx="1920240" cy="1024128"/>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60"/>
          <p:cNvSpPr txBox="1"/>
          <p:nvPr/>
        </p:nvSpPr>
        <p:spPr>
          <a:xfrm>
            <a:off x="923544" y="2715768"/>
            <a:ext cx="1719072" cy="8595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0A0C12"/>
                </a:solidFill>
                <a:latin typeface="Arial"/>
                <a:ea typeface="Arial"/>
                <a:cs typeface="Arial"/>
                <a:sym typeface="Arial"/>
              </a:rPr>
              <a:t>BUSINESS</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0A0C12"/>
                </a:solidFill>
                <a:latin typeface="Arial"/>
                <a:ea typeface="Arial"/>
                <a:cs typeface="Arial"/>
                <a:sym typeface="Arial"/>
              </a:rPr>
              <a:t>EVENT</a:t>
            </a:r>
            <a:endParaRPr b="0" i="0" sz="1400" u="none" cap="none" strike="noStrike">
              <a:solidFill>
                <a:srgbClr val="000000"/>
              </a:solidFill>
              <a:latin typeface="Arial"/>
              <a:ea typeface="Arial"/>
              <a:cs typeface="Arial"/>
              <a:sym typeface="Arial"/>
            </a:endParaRPr>
          </a:p>
        </p:txBody>
      </p:sp>
      <p:sp>
        <p:nvSpPr>
          <p:cNvPr id="800" name="Google Shape;800;p60"/>
          <p:cNvSpPr/>
          <p:nvPr/>
        </p:nvSpPr>
        <p:spPr>
          <a:xfrm>
            <a:off x="3218688" y="2633472"/>
            <a:ext cx="2057400" cy="1024128"/>
          </a:xfrm>
          <a:prstGeom prst="roundRect">
            <a:avLst>
              <a:gd fmla="val 16667" name="adj"/>
            </a:avLst>
          </a:prstGeom>
          <a:solidFill>
            <a:srgbClr val="121721"/>
          </a:solidFill>
          <a:ln cap="flat" cmpd="sng" w="20300">
            <a:solidFill>
              <a:srgbClr val="303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60"/>
          <p:cNvSpPr txBox="1"/>
          <p:nvPr/>
        </p:nvSpPr>
        <p:spPr>
          <a:xfrm>
            <a:off x="3319272" y="2715768"/>
            <a:ext cx="1856231" cy="8595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F5F3EE"/>
                </a:solidFill>
                <a:latin typeface="Arial"/>
                <a:ea typeface="Arial"/>
                <a:cs typeface="Arial"/>
                <a:sym typeface="Arial"/>
              </a:rPr>
              <a:t>EVENT</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F5F3EE"/>
                </a:solidFill>
                <a:latin typeface="Arial"/>
                <a:ea typeface="Arial"/>
                <a:cs typeface="Arial"/>
                <a:sym typeface="Arial"/>
              </a:rPr>
              <a:t>BACKBONE</a:t>
            </a:r>
            <a:endParaRPr b="0" i="0" sz="1400" u="none" cap="none" strike="noStrike">
              <a:solidFill>
                <a:srgbClr val="000000"/>
              </a:solidFill>
              <a:latin typeface="Arial"/>
              <a:ea typeface="Arial"/>
              <a:cs typeface="Arial"/>
              <a:sym typeface="Arial"/>
            </a:endParaRPr>
          </a:p>
        </p:txBody>
      </p:sp>
      <p:sp>
        <p:nvSpPr>
          <p:cNvPr id="802" name="Google Shape;802;p60"/>
          <p:cNvSpPr/>
          <p:nvPr/>
        </p:nvSpPr>
        <p:spPr>
          <a:xfrm>
            <a:off x="5742432" y="2633472"/>
            <a:ext cx="1965960" cy="1024128"/>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60"/>
          <p:cNvSpPr txBox="1"/>
          <p:nvPr/>
        </p:nvSpPr>
        <p:spPr>
          <a:xfrm>
            <a:off x="5843016" y="2715768"/>
            <a:ext cx="1764792" cy="8595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2000"/>
              <a:buFont typeface="Arial"/>
              <a:buNone/>
            </a:pPr>
            <a:r>
              <a:rPr b="1" i="0" lang="en-US" sz="2000" u="none" cap="none" strike="noStrike">
                <a:solidFill>
                  <a:srgbClr val="E8A33D"/>
                </a:solidFill>
                <a:latin typeface="Arial"/>
                <a:ea typeface="Arial"/>
                <a:cs typeface="Arial"/>
                <a:sym typeface="Arial"/>
              </a:rPr>
              <a:t>AGENT</a:t>
            </a:r>
            <a:endParaRPr b="0" i="0" sz="1400" u="none" cap="none" strike="noStrike">
              <a:solidFill>
                <a:srgbClr val="000000"/>
              </a:solidFill>
              <a:latin typeface="Arial"/>
              <a:ea typeface="Arial"/>
              <a:cs typeface="Arial"/>
              <a:sym typeface="Arial"/>
            </a:endParaRPr>
          </a:p>
        </p:txBody>
      </p:sp>
      <p:sp>
        <p:nvSpPr>
          <p:cNvPr id="804" name="Google Shape;804;p60"/>
          <p:cNvSpPr/>
          <p:nvPr/>
        </p:nvSpPr>
        <p:spPr>
          <a:xfrm>
            <a:off x="8229600" y="2633472"/>
            <a:ext cx="2971800" cy="1024128"/>
          </a:xfrm>
          <a:prstGeom prst="roundRect">
            <a:avLst>
              <a:gd fmla="val 16667" name="adj"/>
            </a:avLst>
          </a:prstGeom>
          <a:solidFill>
            <a:srgbClr val="83D4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60"/>
          <p:cNvSpPr txBox="1"/>
          <p:nvPr/>
        </p:nvSpPr>
        <p:spPr>
          <a:xfrm>
            <a:off x="8330183" y="2715768"/>
            <a:ext cx="2770632" cy="8595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0A0C12"/>
                </a:solidFill>
                <a:latin typeface="Arial"/>
                <a:ea typeface="Arial"/>
                <a:cs typeface="Arial"/>
                <a:sym typeface="Arial"/>
              </a:rPr>
              <a:t>COMMAND /</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0A0C12"/>
                </a:solidFill>
                <a:latin typeface="Arial"/>
                <a:ea typeface="Arial"/>
                <a:cs typeface="Arial"/>
                <a:sym typeface="Arial"/>
              </a:rPr>
              <a:t>NEW EVENT</a:t>
            </a:r>
            <a:endParaRPr b="0" i="0" sz="1400" u="none" cap="none" strike="noStrike">
              <a:solidFill>
                <a:srgbClr val="000000"/>
              </a:solidFill>
              <a:latin typeface="Arial"/>
              <a:ea typeface="Arial"/>
              <a:cs typeface="Arial"/>
              <a:sym typeface="Arial"/>
            </a:endParaRPr>
          </a:p>
        </p:txBody>
      </p:sp>
      <p:cxnSp>
        <p:nvCxnSpPr>
          <p:cNvPr id="806" name="Google Shape;806;p60"/>
          <p:cNvCxnSpPr/>
          <p:nvPr/>
        </p:nvCxnSpPr>
        <p:spPr>
          <a:xfrm>
            <a:off x="2788920" y="3145536"/>
            <a:ext cx="374904"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07" name="Google Shape;807;p60"/>
          <p:cNvCxnSpPr/>
          <p:nvPr/>
        </p:nvCxnSpPr>
        <p:spPr>
          <a:xfrm flipH="1">
            <a:off x="3070070" y="3145536"/>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08" name="Google Shape;808;p60"/>
          <p:cNvCxnSpPr/>
          <p:nvPr/>
        </p:nvCxnSpPr>
        <p:spPr>
          <a:xfrm rot="10800000">
            <a:off x="3070070" y="3097912"/>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09" name="Google Shape;809;p60"/>
          <p:cNvCxnSpPr/>
          <p:nvPr/>
        </p:nvCxnSpPr>
        <p:spPr>
          <a:xfrm>
            <a:off x="5312664" y="3145536"/>
            <a:ext cx="365760"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10" name="Google Shape;810;p60"/>
          <p:cNvCxnSpPr/>
          <p:nvPr/>
        </p:nvCxnSpPr>
        <p:spPr>
          <a:xfrm flipH="1">
            <a:off x="5584670" y="3145536"/>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11" name="Google Shape;811;p60"/>
          <p:cNvCxnSpPr/>
          <p:nvPr/>
        </p:nvCxnSpPr>
        <p:spPr>
          <a:xfrm rot="10800000">
            <a:off x="5584670" y="3097912"/>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12" name="Google Shape;812;p60"/>
          <p:cNvCxnSpPr/>
          <p:nvPr/>
        </p:nvCxnSpPr>
        <p:spPr>
          <a:xfrm>
            <a:off x="7754112" y="3145536"/>
            <a:ext cx="411480"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13" name="Google Shape;813;p60"/>
          <p:cNvCxnSpPr/>
          <p:nvPr/>
        </p:nvCxnSpPr>
        <p:spPr>
          <a:xfrm flipH="1">
            <a:off x="8071838" y="3145536"/>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14" name="Google Shape;814;p60"/>
          <p:cNvCxnSpPr/>
          <p:nvPr/>
        </p:nvCxnSpPr>
        <p:spPr>
          <a:xfrm rot="10800000">
            <a:off x="8071838" y="3097912"/>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815" name="Google Shape;815;p60"/>
          <p:cNvSpPr txBox="1"/>
          <p:nvPr/>
        </p:nvSpPr>
        <p:spPr>
          <a:xfrm>
            <a:off x="1024128" y="4251960"/>
            <a:ext cx="10104000" cy="292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900"/>
              <a:buFont typeface="Arial"/>
              <a:buNone/>
            </a:pPr>
            <a:r>
              <a:rPr b="0" i="0" lang="en-US" sz="1900" u="none" cap="none" strike="noStrike">
                <a:solidFill>
                  <a:srgbClr val="F5F3EE"/>
                </a:solidFill>
                <a:latin typeface="Arial"/>
                <a:ea typeface="Arial"/>
                <a:cs typeface="Arial"/>
                <a:sym typeface="Arial"/>
              </a:rPr>
              <a:t>An agent is an event consumer - - - but its next action is selected at runtime.</a:t>
            </a:r>
            <a:endParaRPr b="0" i="0" sz="1400" u="none" cap="none" strike="noStrike">
              <a:solidFill>
                <a:srgbClr val="000000"/>
              </a:solidFill>
              <a:latin typeface="Arial"/>
              <a:ea typeface="Arial"/>
              <a:cs typeface="Arial"/>
              <a:sym typeface="Arial"/>
            </a:endParaRPr>
          </a:p>
        </p:txBody>
      </p:sp>
      <p:sp>
        <p:nvSpPr>
          <p:cNvPr id="816" name="Google Shape;816;p60"/>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820" name="Shape 820"/>
        <p:cNvGrpSpPr/>
        <p:nvPr/>
      </p:nvGrpSpPr>
      <p:grpSpPr>
        <a:xfrm>
          <a:off x="0" y="0"/>
          <a:ext cx="0" cy="0"/>
          <a:chOff x="0" y="0"/>
          <a:chExt cx="0" cy="0"/>
        </a:xfrm>
      </p:grpSpPr>
      <p:sp>
        <p:nvSpPr>
          <p:cNvPr id="821" name="Google Shape;821;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822" name="Google Shape;822;p6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823" name="Google Shape;823;p6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824" name="Google Shape;824;p6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825" name="Google Shape;825;p6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826" name="Google Shape;826;p61"/>
          <p:cNvSpPr txBox="1"/>
          <p:nvPr/>
        </p:nvSpPr>
        <p:spPr>
          <a:xfrm>
            <a:off x="731520" y="521207"/>
            <a:ext cx="10789920"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EVENT-DRIVEN AGENT PATTERNS</a:t>
            </a:r>
            <a:endParaRPr b="0" i="0" sz="1400" u="none" cap="none" strike="noStrike">
              <a:solidFill>
                <a:srgbClr val="000000"/>
              </a:solidFill>
              <a:latin typeface="Arial"/>
              <a:ea typeface="Arial"/>
              <a:cs typeface="Arial"/>
              <a:sym typeface="Arial"/>
            </a:endParaRPr>
          </a:p>
        </p:txBody>
      </p:sp>
      <p:sp>
        <p:nvSpPr>
          <p:cNvPr id="827" name="Google Shape;827;p61"/>
          <p:cNvSpPr txBox="1"/>
          <p:nvPr/>
        </p:nvSpPr>
        <p:spPr>
          <a:xfrm>
            <a:off x="731520" y="932688"/>
            <a:ext cx="10972800" cy="64008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08  /  Agent choreography</a:t>
            </a:r>
            <a:endParaRPr b="0" i="0" sz="1400" u="none" cap="none" strike="noStrike">
              <a:solidFill>
                <a:srgbClr val="000000"/>
              </a:solidFill>
              <a:latin typeface="Arial"/>
              <a:ea typeface="Arial"/>
              <a:cs typeface="Arial"/>
              <a:sym typeface="Arial"/>
            </a:endParaRPr>
          </a:p>
        </p:txBody>
      </p:sp>
      <p:sp>
        <p:nvSpPr>
          <p:cNvPr id="828" name="Google Shape;828;p61"/>
          <p:cNvSpPr txBox="1"/>
          <p:nvPr/>
        </p:nvSpPr>
        <p:spPr>
          <a:xfrm>
            <a:off x="758952" y="1645920"/>
            <a:ext cx="107899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No central manager. Specialized agents react to each other’s events.</a:t>
            </a:r>
            <a:endParaRPr b="0" i="0" sz="1400" u="none" cap="none" strike="noStrike">
              <a:solidFill>
                <a:srgbClr val="000000"/>
              </a:solidFill>
              <a:latin typeface="Arial"/>
              <a:ea typeface="Arial"/>
              <a:cs typeface="Arial"/>
              <a:sym typeface="Arial"/>
            </a:endParaRPr>
          </a:p>
        </p:txBody>
      </p:sp>
      <p:sp>
        <p:nvSpPr>
          <p:cNvPr id="829" name="Google Shape;829;p61"/>
          <p:cNvSpPr/>
          <p:nvPr/>
        </p:nvSpPr>
        <p:spPr>
          <a:xfrm>
            <a:off x="758952" y="5907024"/>
            <a:ext cx="10652760" cy="7315"/>
          </a:xfrm>
          <a:prstGeom prst="rect">
            <a:avLst/>
          </a:prstGeom>
          <a:solidFill>
            <a:srgbClr val="303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61"/>
          <p:cNvSpPr txBox="1"/>
          <p:nvPr/>
        </p:nvSpPr>
        <p:spPr>
          <a:xfrm>
            <a:off x="786384" y="5998464"/>
            <a:ext cx="105612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A8AFBF"/>
                </a:solidFill>
                <a:latin typeface="Arial"/>
                <a:ea typeface="Arial"/>
                <a:cs typeface="Arial"/>
                <a:sym typeface="Arial"/>
              </a:rPr>
              <a:t>RELIABILITY QUESTION   What stops an event storm or cyclic delegation?</a:t>
            </a:r>
            <a:endParaRPr b="0" i="0" sz="1400" u="none" cap="none" strike="noStrike">
              <a:solidFill>
                <a:srgbClr val="000000"/>
              </a:solidFill>
              <a:latin typeface="Arial"/>
              <a:ea typeface="Arial"/>
              <a:cs typeface="Arial"/>
              <a:sym typeface="Arial"/>
            </a:endParaRPr>
          </a:p>
        </p:txBody>
      </p:sp>
      <p:sp>
        <p:nvSpPr>
          <p:cNvPr id="831" name="Google Shape;831;p61"/>
          <p:cNvSpPr txBox="1"/>
          <p:nvPr/>
        </p:nvSpPr>
        <p:spPr>
          <a:xfrm>
            <a:off x="11530584" y="6437376"/>
            <a:ext cx="42976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30</a:t>
            </a:r>
            <a:endParaRPr b="0" i="0" sz="1400" u="none" cap="none" strike="noStrike">
              <a:solidFill>
                <a:srgbClr val="000000"/>
              </a:solidFill>
              <a:latin typeface="Arial"/>
              <a:ea typeface="Arial"/>
              <a:cs typeface="Arial"/>
              <a:sym typeface="Arial"/>
            </a:endParaRPr>
          </a:p>
        </p:txBody>
      </p:sp>
      <p:sp>
        <p:nvSpPr>
          <p:cNvPr id="832" name="Google Shape;832;p61"/>
          <p:cNvSpPr/>
          <p:nvPr/>
        </p:nvSpPr>
        <p:spPr>
          <a:xfrm>
            <a:off x="1097280" y="3072384"/>
            <a:ext cx="10012680" cy="640080"/>
          </a:xfrm>
          <a:prstGeom prst="roundRect">
            <a:avLst>
              <a:gd fmla="val 16667" name="adj"/>
            </a:avLst>
          </a:prstGeom>
          <a:solidFill>
            <a:srgbClr val="161D29"/>
          </a:solidFill>
          <a:ln cap="flat" cmpd="sng" w="20300">
            <a:solidFill>
              <a:srgbClr val="6FD3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p61"/>
          <p:cNvSpPr txBox="1"/>
          <p:nvPr/>
        </p:nvSpPr>
        <p:spPr>
          <a:xfrm>
            <a:off x="1234440" y="3191256"/>
            <a:ext cx="9692640" cy="34747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6FD3E7"/>
                </a:solidFill>
                <a:latin typeface="Arial"/>
                <a:ea typeface="Arial"/>
                <a:cs typeface="Arial"/>
                <a:sym typeface="Arial"/>
              </a:rPr>
              <a:t>SHARED EVENT CHANNEL  •  typed facts + correlation IDs</a:t>
            </a:r>
            <a:endParaRPr b="0" i="0" sz="1400" u="none" cap="none" strike="noStrike">
              <a:solidFill>
                <a:srgbClr val="000000"/>
              </a:solidFill>
              <a:latin typeface="Arial"/>
              <a:ea typeface="Arial"/>
              <a:cs typeface="Arial"/>
              <a:sym typeface="Arial"/>
            </a:endParaRPr>
          </a:p>
        </p:txBody>
      </p:sp>
      <p:sp>
        <p:nvSpPr>
          <p:cNvPr id="834" name="Google Shape;834;p61"/>
          <p:cNvSpPr/>
          <p:nvPr/>
        </p:nvSpPr>
        <p:spPr>
          <a:xfrm>
            <a:off x="1051560" y="2121408"/>
            <a:ext cx="2971800" cy="658368"/>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61"/>
          <p:cNvSpPr txBox="1"/>
          <p:nvPr/>
        </p:nvSpPr>
        <p:spPr>
          <a:xfrm>
            <a:off x="1152144" y="2203703"/>
            <a:ext cx="2770632" cy="49377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700"/>
              <a:buFont typeface="Arial"/>
              <a:buNone/>
            </a:pPr>
            <a:r>
              <a:rPr b="1" i="0" lang="en-US" sz="1700" u="none" cap="none" strike="noStrike">
                <a:solidFill>
                  <a:srgbClr val="E8A33D"/>
                </a:solidFill>
                <a:latin typeface="Arial"/>
                <a:ea typeface="Arial"/>
                <a:cs typeface="Arial"/>
                <a:sym typeface="Arial"/>
              </a:rPr>
              <a:t>OBSERVE</a:t>
            </a:r>
            <a:endParaRPr b="0" i="0" sz="1400" u="none" cap="none" strike="noStrike">
              <a:solidFill>
                <a:srgbClr val="000000"/>
              </a:solidFill>
              <a:latin typeface="Arial"/>
              <a:ea typeface="Arial"/>
              <a:cs typeface="Arial"/>
              <a:sym typeface="Arial"/>
            </a:endParaRPr>
          </a:p>
        </p:txBody>
      </p:sp>
      <p:sp>
        <p:nvSpPr>
          <p:cNvPr id="836" name="Google Shape;836;p61"/>
          <p:cNvSpPr txBox="1"/>
          <p:nvPr/>
        </p:nvSpPr>
        <p:spPr>
          <a:xfrm>
            <a:off x="1051560" y="4041648"/>
            <a:ext cx="2971800" cy="34747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0" i="0" lang="en-US" sz="1200" u="none" cap="none" strike="noStrike">
                <a:solidFill>
                  <a:srgbClr val="A8AFBF"/>
                </a:solidFill>
                <a:latin typeface="Arial"/>
                <a:ea typeface="Arial"/>
                <a:cs typeface="Arial"/>
                <a:sym typeface="Arial"/>
              </a:rPr>
              <a:t>Signal detected</a:t>
            </a:r>
            <a:endParaRPr b="0" i="0" sz="1400" u="none" cap="none" strike="noStrike">
              <a:solidFill>
                <a:srgbClr val="000000"/>
              </a:solidFill>
              <a:latin typeface="Arial"/>
              <a:ea typeface="Arial"/>
              <a:cs typeface="Arial"/>
              <a:sym typeface="Arial"/>
            </a:endParaRPr>
          </a:p>
        </p:txBody>
      </p:sp>
      <p:cxnSp>
        <p:nvCxnSpPr>
          <p:cNvPr id="837" name="Google Shape;837;p61"/>
          <p:cNvCxnSpPr/>
          <p:nvPr/>
        </p:nvCxnSpPr>
        <p:spPr>
          <a:xfrm>
            <a:off x="2423160" y="2825496"/>
            <a:ext cx="0" cy="201168"/>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38" name="Google Shape;838;p61"/>
          <p:cNvCxnSpPr/>
          <p:nvPr/>
        </p:nvCxnSpPr>
        <p:spPr>
          <a:xfrm rot="10800000">
            <a:off x="2375536" y="2932910"/>
            <a:ext cx="47624" cy="93754"/>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39" name="Google Shape;839;p61"/>
          <p:cNvCxnSpPr/>
          <p:nvPr/>
        </p:nvCxnSpPr>
        <p:spPr>
          <a:xfrm flipH="1" rot="10800000">
            <a:off x="2423160" y="2932910"/>
            <a:ext cx="47623" cy="93754"/>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40" name="Google Shape;840;p61"/>
          <p:cNvCxnSpPr/>
          <p:nvPr/>
        </p:nvCxnSpPr>
        <p:spPr>
          <a:xfrm rot="10800000">
            <a:off x="2770632" y="3648456"/>
            <a:ext cx="0" cy="137159"/>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cxnSp>
        <p:nvCxnSpPr>
          <p:cNvPr id="841" name="Google Shape;841;p61"/>
          <p:cNvCxnSpPr/>
          <p:nvPr/>
        </p:nvCxnSpPr>
        <p:spPr>
          <a:xfrm>
            <a:off x="2770632" y="3648456"/>
            <a:ext cx="47623" cy="93753"/>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cxnSp>
        <p:nvCxnSpPr>
          <p:cNvPr id="842" name="Google Shape;842;p61"/>
          <p:cNvCxnSpPr/>
          <p:nvPr/>
        </p:nvCxnSpPr>
        <p:spPr>
          <a:xfrm flipH="1">
            <a:off x="2723008" y="3648456"/>
            <a:ext cx="47624" cy="93753"/>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sp>
        <p:nvSpPr>
          <p:cNvPr id="843" name="Google Shape;843;p61"/>
          <p:cNvSpPr/>
          <p:nvPr/>
        </p:nvSpPr>
        <p:spPr>
          <a:xfrm>
            <a:off x="4572000" y="2121408"/>
            <a:ext cx="2971800" cy="658368"/>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4" name="Google Shape;844;p61"/>
          <p:cNvSpPr txBox="1"/>
          <p:nvPr/>
        </p:nvSpPr>
        <p:spPr>
          <a:xfrm>
            <a:off x="4672584" y="2203703"/>
            <a:ext cx="2770632" cy="49377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700"/>
              <a:buFont typeface="Arial"/>
              <a:buNone/>
            </a:pPr>
            <a:r>
              <a:rPr b="1" i="0" lang="en-US" sz="1700" u="none" cap="none" strike="noStrike">
                <a:solidFill>
                  <a:srgbClr val="E8A33D"/>
                </a:solidFill>
                <a:latin typeface="Arial"/>
                <a:ea typeface="Arial"/>
                <a:cs typeface="Arial"/>
                <a:sym typeface="Arial"/>
              </a:rPr>
              <a:t>INVESTIGATE</a:t>
            </a:r>
            <a:endParaRPr b="0" i="0" sz="1400" u="none" cap="none" strike="noStrike">
              <a:solidFill>
                <a:srgbClr val="000000"/>
              </a:solidFill>
              <a:latin typeface="Arial"/>
              <a:ea typeface="Arial"/>
              <a:cs typeface="Arial"/>
              <a:sym typeface="Arial"/>
            </a:endParaRPr>
          </a:p>
        </p:txBody>
      </p:sp>
      <p:sp>
        <p:nvSpPr>
          <p:cNvPr id="845" name="Google Shape;845;p61"/>
          <p:cNvSpPr txBox="1"/>
          <p:nvPr/>
        </p:nvSpPr>
        <p:spPr>
          <a:xfrm>
            <a:off x="4572000" y="4041648"/>
            <a:ext cx="2971800" cy="34747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0" i="0" lang="en-US" sz="1200" u="none" cap="none" strike="noStrike">
                <a:solidFill>
                  <a:srgbClr val="A8AFBF"/>
                </a:solidFill>
                <a:latin typeface="Arial"/>
                <a:ea typeface="Arial"/>
                <a:cs typeface="Arial"/>
                <a:sym typeface="Arial"/>
              </a:rPr>
              <a:t>Finding ready</a:t>
            </a:r>
            <a:endParaRPr b="0" i="0" sz="1400" u="none" cap="none" strike="noStrike">
              <a:solidFill>
                <a:srgbClr val="000000"/>
              </a:solidFill>
              <a:latin typeface="Arial"/>
              <a:ea typeface="Arial"/>
              <a:cs typeface="Arial"/>
              <a:sym typeface="Arial"/>
            </a:endParaRPr>
          </a:p>
        </p:txBody>
      </p:sp>
      <p:cxnSp>
        <p:nvCxnSpPr>
          <p:cNvPr id="846" name="Google Shape;846;p61"/>
          <p:cNvCxnSpPr/>
          <p:nvPr/>
        </p:nvCxnSpPr>
        <p:spPr>
          <a:xfrm>
            <a:off x="5943600" y="2825496"/>
            <a:ext cx="0" cy="201168"/>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47" name="Google Shape;847;p61"/>
          <p:cNvCxnSpPr/>
          <p:nvPr/>
        </p:nvCxnSpPr>
        <p:spPr>
          <a:xfrm rot="10800000">
            <a:off x="5895976" y="2932910"/>
            <a:ext cx="47624" cy="93754"/>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48" name="Google Shape;848;p61"/>
          <p:cNvCxnSpPr/>
          <p:nvPr/>
        </p:nvCxnSpPr>
        <p:spPr>
          <a:xfrm flipH="1" rot="10800000">
            <a:off x="5943600" y="2932910"/>
            <a:ext cx="47623" cy="93754"/>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49" name="Google Shape;849;p61"/>
          <p:cNvCxnSpPr/>
          <p:nvPr/>
        </p:nvCxnSpPr>
        <p:spPr>
          <a:xfrm rot="10800000">
            <a:off x="6291072" y="3648456"/>
            <a:ext cx="0" cy="137159"/>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cxnSp>
        <p:nvCxnSpPr>
          <p:cNvPr id="850" name="Google Shape;850;p61"/>
          <p:cNvCxnSpPr/>
          <p:nvPr/>
        </p:nvCxnSpPr>
        <p:spPr>
          <a:xfrm>
            <a:off x="6291072" y="3648456"/>
            <a:ext cx="47623" cy="93753"/>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cxnSp>
        <p:nvCxnSpPr>
          <p:cNvPr id="851" name="Google Shape;851;p61"/>
          <p:cNvCxnSpPr/>
          <p:nvPr/>
        </p:nvCxnSpPr>
        <p:spPr>
          <a:xfrm flipH="1">
            <a:off x="6243448" y="3648456"/>
            <a:ext cx="47624" cy="93753"/>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sp>
        <p:nvSpPr>
          <p:cNvPr id="852" name="Google Shape;852;p61"/>
          <p:cNvSpPr/>
          <p:nvPr/>
        </p:nvSpPr>
        <p:spPr>
          <a:xfrm>
            <a:off x="8092440" y="2121408"/>
            <a:ext cx="2971800" cy="658368"/>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61"/>
          <p:cNvSpPr txBox="1"/>
          <p:nvPr/>
        </p:nvSpPr>
        <p:spPr>
          <a:xfrm>
            <a:off x="8193023" y="2203703"/>
            <a:ext cx="2770632" cy="49377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700"/>
              <a:buFont typeface="Arial"/>
              <a:buNone/>
            </a:pPr>
            <a:r>
              <a:rPr b="1" i="0" lang="en-US" sz="1700" u="none" cap="none" strike="noStrike">
                <a:solidFill>
                  <a:srgbClr val="E8A33D"/>
                </a:solidFill>
                <a:latin typeface="Arial"/>
                <a:ea typeface="Arial"/>
                <a:cs typeface="Arial"/>
                <a:sym typeface="Arial"/>
              </a:rPr>
              <a:t>RESPOND</a:t>
            </a:r>
            <a:endParaRPr b="0" i="0" sz="1400" u="none" cap="none" strike="noStrike">
              <a:solidFill>
                <a:srgbClr val="000000"/>
              </a:solidFill>
              <a:latin typeface="Arial"/>
              <a:ea typeface="Arial"/>
              <a:cs typeface="Arial"/>
              <a:sym typeface="Arial"/>
            </a:endParaRPr>
          </a:p>
        </p:txBody>
      </p:sp>
      <p:sp>
        <p:nvSpPr>
          <p:cNvPr id="854" name="Google Shape;854;p61"/>
          <p:cNvSpPr txBox="1"/>
          <p:nvPr/>
        </p:nvSpPr>
        <p:spPr>
          <a:xfrm>
            <a:off x="8092440" y="4041648"/>
            <a:ext cx="2971800" cy="34747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0" i="0" lang="en-US" sz="1200" u="none" cap="none" strike="noStrike">
                <a:solidFill>
                  <a:srgbClr val="A8AFBF"/>
                </a:solidFill>
                <a:latin typeface="Arial"/>
                <a:ea typeface="Arial"/>
                <a:cs typeface="Arial"/>
                <a:sym typeface="Arial"/>
              </a:rPr>
              <a:t>Action proposed</a:t>
            </a:r>
            <a:endParaRPr b="0" i="0" sz="1400" u="none" cap="none" strike="noStrike">
              <a:solidFill>
                <a:srgbClr val="000000"/>
              </a:solidFill>
              <a:latin typeface="Arial"/>
              <a:ea typeface="Arial"/>
              <a:cs typeface="Arial"/>
              <a:sym typeface="Arial"/>
            </a:endParaRPr>
          </a:p>
        </p:txBody>
      </p:sp>
      <p:cxnSp>
        <p:nvCxnSpPr>
          <p:cNvPr id="855" name="Google Shape;855;p61"/>
          <p:cNvCxnSpPr/>
          <p:nvPr/>
        </p:nvCxnSpPr>
        <p:spPr>
          <a:xfrm>
            <a:off x="9464040" y="2825496"/>
            <a:ext cx="0" cy="201168"/>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56" name="Google Shape;856;p61"/>
          <p:cNvCxnSpPr/>
          <p:nvPr/>
        </p:nvCxnSpPr>
        <p:spPr>
          <a:xfrm rot="10800000">
            <a:off x="9416416" y="2932910"/>
            <a:ext cx="47624" cy="93754"/>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57" name="Google Shape;857;p61"/>
          <p:cNvCxnSpPr/>
          <p:nvPr/>
        </p:nvCxnSpPr>
        <p:spPr>
          <a:xfrm flipH="1" rot="10800000">
            <a:off x="9464040" y="2932910"/>
            <a:ext cx="47623" cy="93754"/>
          </a:xfrm>
          <a:prstGeom prst="straightConnector1">
            <a:avLst/>
          </a:prstGeom>
          <a:noFill/>
          <a:ln cap="flat" cmpd="sng" w="215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58" name="Google Shape;858;p61"/>
          <p:cNvCxnSpPr/>
          <p:nvPr/>
        </p:nvCxnSpPr>
        <p:spPr>
          <a:xfrm rot="10800000">
            <a:off x="9811512" y="3648456"/>
            <a:ext cx="0" cy="137159"/>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cxnSp>
        <p:nvCxnSpPr>
          <p:cNvPr id="859" name="Google Shape;859;p61"/>
          <p:cNvCxnSpPr/>
          <p:nvPr/>
        </p:nvCxnSpPr>
        <p:spPr>
          <a:xfrm>
            <a:off x="9811512" y="3648456"/>
            <a:ext cx="47623" cy="93753"/>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cxnSp>
        <p:nvCxnSpPr>
          <p:cNvPr id="860" name="Google Shape;860;p61"/>
          <p:cNvCxnSpPr/>
          <p:nvPr/>
        </p:nvCxnSpPr>
        <p:spPr>
          <a:xfrm flipH="1">
            <a:off x="9763888" y="3648456"/>
            <a:ext cx="47624" cy="93753"/>
          </a:xfrm>
          <a:prstGeom prst="straightConnector1">
            <a:avLst/>
          </a:prstGeom>
          <a:noFill/>
          <a:ln cap="flat" cmpd="sng" w="21575">
            <a:solidFill>
              <a:srgbClr val="E8A33D"/>
            </a:solidFill>
            <a:prstDash val="solid"/>
            <a:round/>
            <a:headEnd len="sm" w="sm" type="none"/>
            <a:tailEnd len="sm" w="sm" type="none"/>
          </a:ln>
          <a:effectLst>
            <a:outerShdw blurRad="40000" rotWithShape="0" dir="5400000" dist="20000">
              <a:srgbClr val="000000">
                <a:alpha val="38039"/>
              </a:srgbClr>
            </a:outerShdw>
          </a:effectLst>
        </p:spPr>
      </p:cxnSp>
      <p:sp>
        <p:nvSpPr>
          <p:cNvPr id="861" name="Google Shape;861;p61"/>
          <p:cNvSpPr txBox="1"/>
          <p:nvPr/>
        </p:nvSpPr>
        <p:spPr>
          <a:xfrm>
            <a:off x="914400" y="4754880"/>
            <a:ext cx="10515600" cy="512064"/>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800"/>
              <a:buFont typeface="Arial"/>
              <a:buNone/>
            </a:pPr>
            <a:r>
              <a:rPr b="0" i="0" lang="en-US" sz="1800" u="none" cap="none" strike="noStrike">
                <a:solidFill>
                  <a:srgbClr val="F5F3EE"/>
                </a:solidFill>
                <a:latin typeface="Arial"/>
                <a:ea typeface="Arial"/>
                <a:cs typeface="Arial"/>
                <a:sym typeface="Arial"/>
              </a:rPr>
              <a:t>Each agent owns its capability; nobody owns the whole story by default.</a:t>
            </a:r>
            <a:endParaRPr b="0" i="0" sz="1400" u="none" cap="none" strike="noStrike">
              <a:solidFill>
                <a:srgbClr val="000000"/>
              </a:solidFill>
              <a:latin typeface="Arial"/>
              <a:ea typeface="Arial"/>
              <a:cs typeface="Arial"/>
              <a:sym typeface="Arial"/>
            </a:endParaRPr>
          </a:p>
        </p:txBody>
      </p:sp>
      <p:sp>
        <p:nvSpPr>
          <p:cNvPr id="862" name="Google Shape;862;p61"/>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866" name="Shape 866"/>
        <p:cNvGrpSpPr/>
        <p:nvPr/>
      </p:nvGrpSpPr>
      <p:grpSpPr>
        <a:xfrm>
          <a:off x="0" y="0"/>
          <a:ext cx="0" cy="0"/>
          <a:chOff x="0" y="0"/>
          <a:chExt cx="0" cy="0"/>
        </a:xfrm>
      </p:grpSpPr>
      <p:sp>
        <p:nvSpPr>
          <p:cNvPr id="867" name="Google Shape;867;p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868" name="Google Shape;868;p6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869" name="Google Shape;869;p6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870" name="Google Shape;870;p6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871" name="Google Shape;871;p6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872" name="Google Shape;872;p62"/>
          <p:cNvSpPr txBox="1"/>
          <p:nvPr/>
        </p:nvSpPr>
        <p:spPr>
          <a:xfrm>
            <a:off x="731520" y="521207"/>
            <a:ext cx="10789920"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EVENT-DRIVEN AGENT PATTERNS</a:t>
            </a:r>
            <a:endParaRPr b="0" i="0" sz="1400" u="none" cap="none" strike="noStrike">
              <a:solidFill>
                <a:srgbClr val="000000"/>
              </a:solidFill>
              <a:latin typeface="Arial"/>
              <a:ea typeface="Arial"/>
              <a:cs typeface="Arial"/>
              <a:sym typeface="Arial"/>
            </a:endParaRPr>
          </a:p>
        </p:txBody>
      </p:sp>
      <p:sp>
        <p:nvSpPr>
          <p:cNvPr id="873" name="Google Shape;873;p62"/>
          <p:cNvSpPr txBox="1"/>
          <p:nvPr/>
        </p:nvSpPr>
        <p:spPr>
          <a:xfrm>
            <a:off x="731520" y="932688"/>
            <a:ext cx="10972800" cy="64008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09  /  Streaming context</a:t>
            </a:r>
            <a:endParaRPr b="0" i="0" sz="1400" u="none" cap="none" strike="noStrike">
              <a:solidFill>
                <a:srgbClr val="000000"/>
              </a:solidFill>
              <a:latin typeface="Arial"/>
              <a:ea typeface="Arial"/>
              <a:cs typeface="Arial"/>
              <a:sym typeface="Arial"/>
            </a:endParaRPr>
          </a:p>
        </p:txBody>
      </p:sp>
      <p:sp>
        <p:nvSpPr>
          <p:cNvPr id="874" name="Google Shape;874;p62"/>
          <p:cNvSpPr txBox="1"/>
          <p:nvPr/>
        </p:nvSpPr>
        <p:spPr>
          <a:xfrm>
            <a:off x="758952" y="1645920"/>
            <a:ext cx="107899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The agent reasons over live state—not just the last message it received.</a:t>
            </a:r>
            <a:endParaRPr b="0" i="0" sz="1400" u="none" cap="none" strike="noStrike">
              <a:solidFill>
                <a:srgbClr val="000000"/>
              </a:solidFill>
              <a:latin typeface="Arial"/>
              <a:ea typeface="Arial"/>
              <a:cs typeface="Arial"/>
              <a:sym typeface="Arial"/>
            </a:endParaRPr>
          </a:p>
        </p:txBody>
      </p:sp>
      <p:sp>
        <p:nvSpPr>
          <p:cNvPr id="875" name="Google Shape;875;p62"/>
          <p:cNvSpPr/>
          <p:nvPr/>
        </p:nvSpPr>
        <p:spPr>
          <a:xfrm>
            <a:off x="758952" y="5907024"/>
            <a:ext cx="10652760" cy="7315"/>
          </a:xfrm>
          <a:prstGeom prst="rect">
            <a:avLst/>
          </a:prstGeom>
          <a:solidFill>
            <a:srgbClr val="303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62"/>
          <p:cNvSpPr txBox="1"/>
          <p:nvPr/>
        </p:nvSpPr>
        <p:spPr>
          <a:xfrm>
            <a:off x="786384" y="5998464"/>
            <a:ext cx="105613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A8AFBF"/>
                </a:solidFill>
                <a:latin typeface="Arial"/>
                <a:ea typeface="Arial"/>
                <a:cs typeface="Arial"/>
                <a:sym typeface="Arial"/>
              </a:rPr>
              <a:t>KEY DISTINCTION   A durable log is history. A stateful projection is current context.</a:t>
            </a:r>
            <a:endParaRPr b="0" i="0" sz="1400" u="none" cap="none" strike="noStrike">
              <a:solidFill>
                <a:srgbClr val="000000"/>
              </a:solidFill>
              <a:latin typeface="Arial"/>
              <a:ea typeface="Arial"/>
              <a:cs typeface="Arial"/>
              <a:sym typeface="Arial"/>
            </a:endParaRPr>
          </a:p>
        </p:txBody>
      </p:sp>
      <p:sp>
        <p:nvSpPr>
          <p:cNvPr id="877" name="Google Shape;877;p62"/>
          <p:cNvSpPr txBox="1"/>
          <p:nvPr/>
        </p:nvSpPr>
        <p:spPr>
          <a:xfrm>
            <a:off x="11530584" y="6437376"/>
            <a:ext cx="42976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31</a:t>
            </a:r>
            <a:endParaRPr b="0" i="0" sz="1400" u="none" cap="none" strike="noStrike">
              <a:solidFill>
                <a:srgbClr val="000000"/>
              </a:solidFill>
              <a:latin typeface="Arial"/>
              <a:ea typeface="Arial"/>
              <a:cs typeface="Arial"/>
              <a:sym typeface="Arial"/>
            </a:endParaRPr>
          </a:p>
        </p:txBody>
      </p:sp>
      <p:sp>
        <p:nvSpPr>
          <p:cNvPr id="878" name="Google Shape;878;p62"/>
          <p:cNvSpPr/>
          <p:nvPr/>
        </p:nvSpPr>
        <p:spPr>
          <a:xfrm>
            <a:off x="1051560" y="2212848"/>
            <a:ext cx="1572768" cy="50292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62"/>
          <p:cNvSpPr txBox="1"/>
          <p:nvPr/>
        </p:nvSpPr>
        <p:spPr>
          <a:xfrm>
            <a:off x="1106424" y="2244852"/>
            <a:ext cx="1463040" cy="4480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1" i="0" lang="en-US" sz="1200" u="none" cap="none" strike="noStrike">
                <a:solidFill>
                  <a:srgbClr val="0A0C12"/>
                </a:solidFill>
                <a:latin typeface="Arial"/>
                <a:ea typeface="Arial"/>
                <a:cs typeface="Arial"/>
                <a:sym typeface="Arial"/>
              </a:rPr>
              <a:t>CDC</a:t>
            </a:r>
            <a:endParaRPr b="0" i="0" sz="1400" u="none" cap="none" strike="noStrike">
              <a:solidFill>
                <a:srgbClr val="000000"/>
              </a:solidFill>
              <a:latin typeface="Arial"/>
              <a:ea typeface="Arial"/>
              <a:cs typeface="Arial"/>
              <a:sym typeface="Arial"/>
            </a:endParaRPr>
          </a:p>
        </p:txBody>
      </p:sp>
      <p:cxnSp>
        <p:nvCxnSpPr>
          <p:cNvPr id="880" name="Google Shape;880;p62"/>
          <p:cNvCxnSpPr/>
          <p:nvPr/>
        </p:nvCxnSpPr>
        <p:spPr>
          <a:xfrm>
            <a:off x="1837943" y="2734056"/>
            <a:ext cx="4059937" cy="393192"/>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81" name="Google Shape;881;p62"/>
          <p:cNvCxnSpPr/>
          <p:nvPr/>
        </p:nvCxnSpPr>
        <p:spPr>
          <a:xfrm flipH="1">
            <a:off x="5799972" y="3127248"/>
            <a:ext cx="97908" cy="38364"/>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82" name="Google Shape;882;p62"/>
          <p:cNvCxnSpPr/>
          <p:nvPr/>
        </p:nvCxnSpPr>
        <p:spPr>
          <a:xfrm rot="10800000">
            <a:off x="5809153" y="3070808"/>
            <a:ext cx="88727" cy="56440"/>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883" name="Google Shape;883;p62"/>
          <p:cNvSpPr/>
          <p:nvPr/>
        </p:nvSpPr>
        <p:spPr>
          <a:xfrm>
            <a:off x="2907792" y="2212848"/>
            <a:ext cx="1572768" cy="50292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p62"/>
          <p:cNvSpPr txBox="1"/>
          <p:nvPr/>
        </p:nvSpPr>
        <p:spPr>
          <a:xfrm>
            <a:off x="2962656" y="2244852"/>
            <a:ext cx="1463040" cy="4480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1" i="0" lang="en-US" sz="1200" u="none" cap="none" strike="noStrike">
                <a:solidFill>
                  <a:srgbClr val="0A0C12"/>
                </a:solidFill>
                <a:latin typeface="Arial"/>
                <a:ea typeface="Arial"/>
                <a:cs typeface="Arial"/>
                <a:sym typeface="Arial"/>
              </a:rPr>
              <a:t>TELEMETRY</a:t>
            </a:r>
            <a:endParaRPr b="0" i="0" sz="1400" u="none" cap="none" strike="noStrike">
              <a:solidFill>
                <a:srgbClr val="000000"/>
              </a:solidFill>
              <a:latin typeface="Arial"/>
              <a:ea typeface="Arial"/>
              <a:cs typeface="Arial"/>
              <a:sym typeface="Arial"/>
            </a:endParaRPr>
          </a:p>
        </p:txBody>
      </p:sp>
      <p:cxnSp>
        <p:nvCxnSpPr>
          <p:cNvPr id="885" name="Google Shape;885;p62"/>
          <p:cNvCxnSpPr/>
          <p:nvPr/>
        </p:nvCxnSpPr>
        <p:spPr>
          <a:xfrm>
            <a:off x="3694176" y="2734056"/>
            <a:ext cx="2203704" cy="393192"/>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86" name="Google Shape;886;p62"/>
          <p:cNvCxnSpPr/>
          <p:nvPr/>
        </p:nvCxnSpPr>
        <p:spPr>
          <a:xfrm flipH="1">
            <a:off x="5797218" y="3127248"/>
            <a:ext cx="100662" cy="30415"/>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87" name="Google Shape;887;p62"/>
          <p:cNvCxnSpPr/>
          <p:nvPr/>
        </p:nvCxnSpPr>
        <p:spPr>
          <a:xfrm rot="10800000">
            <a:off x="5813948" y="3063896"/>
            <a:ext cx="83932" cy="63352"/>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888" name="Google Shape;888;p62"/>
          <p:cNvSpPr/>
          <p:nvPr/>
        </p:nvSpPr>
        <p:spPr>
          <a:xfrm>
            <a:off x="4773168" y="2212848"/>
            <a:ext cx="1572768" cy="50292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62"/>
          <p:cNvSpPr txBox="1"/>
          <p:nvPr/>
        </p:nvSpPr>
        <p:spPr>
          <a:xfrm>
            <a:off x="4828031" y="2244852"/>
            <a:ext cx="1463040" cy="4480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1" i="0" lang="en-US" sz="1200" u="none" cap="none" strike="noStrike">
                <a:solidFill>
                  <a:srgbClr val="0A0C12"/>
                </a:solidFill>
                <a:latin typeface="Arial"/>
                <a:ea typeface="Arial"/>
                <a:cs typeface="Arial"/>
                <a:sym typeface="Arial"/>
              </a:rPr>
              <a:t>USER EVENTS</a:t>
            </a:r>
            <a:endParaRPr b="0" i="0" sz="1400" u="none" cap="none" strike="noStrike">
              <a:solidFill>
                <a:srgbClr val="000000"/>
              </a:solidFill>
              <a:latin typeface="Arial"/>
              <a:ea typeface="Arial"/>
              <a:cs typeface="Arial"/>
              <a:sym typeface="Arial"/>
            </a:endParaRPr>
          </a:p>
        </p:txBody>
      </p:sp>
      <p:cxnSp>
        <p:nvCxnSpPr>
          <p:cNvPr id="890" name="Google Shape;890;p62"/>
          <p:cNvCxnSpPr/>
          <p:nvPr/>
        </p:nvCxnSpPr>
        <p:spPr>
          <a:xfrm>
            <a:off x="5559552" y="2734056"/>
            <a:ext cx="338328" cy="393192"/>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91" name="Google Shape;891;p62"/>
          <p:cNvCxnSpPr/>
          <p:nvPr/>
        </p:nvCxnSpPr>
        <p:spPr>
          <a:xfrm rot="10800000">
            <a:off x="5800630" y="3087243"/>
            <a:ext cx="97250" cy="40005"/>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892" name="Google Shape;892;p62"/>
          <p:cNvCxnSpPr/>
          <p:nvPr/>
        </p:nvCxnSpPr>
        <p:spPr>
          <a:xfrm rot="10800000">
            <a:off x="5872829" y="3025119"/>
            <a:ext cx="25051" cy="102129"/>
          </a:xfrm>
          <a:prstGeom prst="straightConnector1">
            <a:avLst/>
          </a:prstGeom>
          <a:noFill/>
          <a:ln cap="flat" cmpd="sng" w="19675">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893" name="Google Shape;893;p62"/>
          <p:cNvSpPr/>
          <p:nvPr/>
        </p:nvSpPr>
        <p:spPr>
          <a:xfrm>
            <a:off x="4892040" y="3246120"/>
            <a:ext cx="2240280" cy="1051560"/>
          </a:xfrm>
          <a:prstGeom prst="roundRect">
            <a:avLst>
              <a:gd fmla="val 16667" name="adj"/>
            </a:avLst>
          </a:prstGeom>
          <a:solidFill>
            <a:srgbClr val="121721"/>
          </a:solidFill>
          <a:ln cap="flat" cmpd="sng" w="20300">
            <a:solidFill>
              <a:srgbClr val="303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62"/>
          <p:cNvSpPr txBox="1"/>
          <p:nvPr/>
        </p:nvSpPr>
        <p:spPr>
          <a:xfrm>
            <a:off x="4983479" y="3410712"/>
            <a:ext cx="2057400" cy="39319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F5F3EE"/>
                </a:solidFill>
                <a:latin typeface="Arial"/>
                <a:ea typeface="Arial"/>
                <a:cs typeface="Arial"/>
                <a:sym typeface="Arial"/>
              </a:rPr>
              <a:t>LIVE STATE</a:t>
            </a:r>
            <a:endParaRPr b="0" i="0" sz="1400" u="none" cap="none" strike="noStrike">
              <a:solidFill>
                <a:srgbClr val="000000"/>
              </a:solidFill>
              <a:latin typeface="Arial"/>
              <a:ea typeface="Arial"/>
              <a:cs typeface="Arial"/>
              <a:sym typeface="Arial"/>
            </a:endParaRPr>
          </a:p>
        </p:txBody>
      </p:sp>
      <p:sp>
        <p:nvSpPr>
          <p:cNvPr id="895" name="Google Shape;895;p62"/>
          <p:cNvSpPr txBox="1"/>
          <p:nvPr/>
        </p:nvSpPr>
        <p:spPr>
          <a:xfrm>
            <a:off x="4983479" y="3913631"/>
            <a:ext cx="2057400" cy="4023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100"/>
              <a:buFont typeface="Arial"/>
              <a:buNone/>
            </a:pPr>
            <a:r>
              <a:rPr b="0" i="0" lang="en-US" sz="1100" u="none" cap="none" strike="noStrike">
                <a:solidFill>
                  <a:srgbClr val="A8AFBF"/>
                </a:solidFill>
                <a:latin typeface="Arial"/>
                <a:ea typeface="Arial"/>
                <a:cs typeface="Arial"/>
                <a:sym typeface="Arial"/>
              </a:rPr>
              <a:t>Materialized context</a:t>
            </a:r>
            <a:endParaRPr b="0" i="0" sz="1400" u="none" cap="none" strike="noStrike">
              <a:solidFill>
                <a:srgbClr val="000000"/>
              </a:solidFill>
              <a:latin typeface="Arial"/>
              <a:ea typeface="Arial"/>
              <a:cs typeface="Arial"/>
              <a:sym typeface="Arial"/>
            </a:endParaRPr>
          </a:p>
        </p:txBody>
      </p:sp>
      <p:sp>
        <p:nvSpPr>
          <p:cNvPr id="896" name="Google Shape;896;p62"/>
          <p:cNvSpPr/>
          <p:nvPr/>
        </p:nvSpPr>
        <p:spPr>
          <a:xfrm>
            <a:off x="8366760" y="3246120"/>
            <a:ext cx="2377440" cy="1051560"/>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62"/>
          <p:cNvSpPr txBox="1"/>
          <p:nvPr/>
        </p:nvSpPr>
        <p:spPr>
          <a:xfrm>
            <a:off x="8458200" y="3410712"/>
            <a:ext cx="2194560" cy="39319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800"/>
              <a:buFont typeface="Arial"/>
              <a:buNone/>
            </a:pPr>
            <a:r>
              <a:rPr b="1" i="0" lang="en-US" sz="1800" u="none" cap="none" strike="noStrike">
                <a:solidFill>
                  <a:srgbClr val="E8A33D"/>
                </a:solidFill>
                <a:latin typeface="Arial"/>
                <a:ea typeface="Arial"/>
                <a:cs typeface="Arial"/>
                <a:sym typeface="Arial"/>
              </a:rPr>
              <a:t>AGENT</a:t>
            </a:r>
            <a:endParaRPr b="0" i="0" sz="1400" u="none" cap="none" strike="noStrike">
              <a:solidFill>
                <a:srgbClr val="000000"/>
              </a:solidFill>
              <a:latin typeface="Arial"/>
              <a:ea typeface="Arial"/>
              <a:cs typeface="Arial"/>
              <a:sym typeface="Arial"/>
            </a:endParaRPr>
          </a:p>
        </p:txBody>
      </p:sp>
      <p:sp>
        <p:nvSpPr>
          <p:cNvPr id="898" name="Google Shape;898;p62"/>
          <p:cNvSpPr txBox="1"/>
          <p:nvPr/>
        </p:nvSpPr>
        <p:spPr>
          <a:xfrm>
            <a:off x="8458200" y="3913631"/>
            <a:ext cx="2194560" cy="4023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0" i="0" lang="en-US" sz="1200" u="none" cap="none" strike="noStrike">
                <a:solidFill>
                  <a:srgbClr val="A8AFBF"/>
                </a:solidFill>
                <a:latin typeface="Arial"/>
                <a:ea typeface="Arial"/>
                <a:cs typeface="Arial"/>
                <a:sym typeface="Arial"/>
              </a:rPr>
              <a:t>Grounded decision</a:t>
            </a:r>
            <a:endParaRPr b="0" i="0" sz="1400" u="none" cap="none" strike="noStrike">
              <a:solidFill>
                <a:srgbClr val="000000"/>
              </a:solidFill>
              <a:latin typeface="Arial"/>
              <a:ea typeface="Arial"/>
              <a:cs typeface="Arial"/>
              <a:sym typeface="Arial"/>
            </a:endParaRPr>
          </a:p>
        </p:txBody>
      </p:sp>
      <p:cxnSp>
        <p:nvCxnSpPr>
          <p:cNvPr id="899" name="Google Shape;899;p62"/>
          <p:cNvCxnSpPr/>
          <p:nvPr/>
        </p:nvCxnSpPr>
        <p:spPr>
          <a:xfrm>
            <a:off x="7242048" y="3758184"/>
            <a:ext cx="1060704"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00" name="Google Shape;900;p62"/>
          <p:cNvCxnSpPr/>
          <p:nvPr/>
        </p:nvCxnSpPr>
        <p:spPr>
          <a:xfrm flipH="1">
            <a:off x="8208998" y="3758184"/>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01" name="Google Shape;901;p62"/>
          <p:cNvCxnSpPr/>
          <p:nvPr/>
        </p:nvCxnSpPr>
        <p:spPr>
          <a:xfrm rot="10800000">
            <a:off x="8208998" y="3710560"/>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902" name="Google Shape;902;p62"/>
          <p:cNvSpPr txBox="1"/>
          <p:nvPr/>
        </p:nvSpPr>
        <p:spPr>
          <a:xfrm>
            <a:off x="1005840" y="4718304"/>
            <a:ext cx="10195560" cy="5486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2000"/>
              <a:buFont typeface="Arial"/>
              <a:buNone/>
            </a:pPr>
            <a:r>
              <a:rPr b="0" i="0" lang="en-US" sz="2000" u="none" cap="none" strike="noStrike">
                <a:solidFill>
                  <a:srgbClr val="F5F3EE"/>
                </a:solidFill>
                <a:latin typeface="Arial"/>
                <a:ea typeface="Arial"/>
                <a:cs typeface="Arial"/>
                <a:sym typeface="Arial"/>
              </a:rPr>
              <a:t>Events → stateful processing → fresh context → decisions</a:t>
            </a:r>
            <a:endParaRPr b="0" i="0" sz="1400" u="none" cap="none" strike="noStrike">
              <a:solidFill>
                <a:srgbClr val="000000"/>
              </a:solidFill>
              <a:latin typeface="Arial"/>
              <a:ea typeface="Arial"/>
              <a:cs typeface="Arial"/>
              <a:sym typeface="Arial"/>
            </a:endParaRPr>
          </a:p>
        </p:txBody>
      </p:sp>
      <p:sp>
        <p:nvSpPr>
          <p:cNvPr id="903" name="Google Shape;903;p62"/>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907" name="Shape 907"/>
        <p:cNvGrpSpPr/>
        <p:nvPr/>
      </p:nvGrpSpPr>
      <p:grpSpPr>
        <a:xfrm>
          <a:off x="0" y="0"/>
          <a:ext cx="0" cy="0"/>
          <a:chOff x="0" y="0"/>
          <a:chExt cx="0" cy="0"/>
        </a:xfrm>
      </p:grpSpPr>
      <p:sp>
        <p:nvSpPr>
          <p:cNvPr id="908" name="Google Shape;908;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909" name="Google Shape;909;p6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910" name="Google Shape;910;p6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911" name="Google Shape;911;p6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912" name="Google Shape;912;p6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913" name="Google Shape;913;p63"/>
          <p:cNvSpPr txBox="1"/>
          <p:nvPr/>
        </p:nvSpPr>
        <p:spPr>
          <a:xfrm>
            <a:off x="731520" y="521207"/>
            <a:ext cx="10789920"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EVENT-DRIVEN AGENT PATTERNS</a:t>
            </a:r>
            <a:endParaRPr b="0" i="0" sz="1400" u="none" cap="none" strike="noStrike">
              <a:solidFill>
                <a:srgbClr val="000000"/>
              </a:solidFill>
              <a:latin typeface="Arial"/>
              <a:ea typeface="Arial"/>
              <a:cs typeface="Arial"/>
              <a:sym typeface="Arial"/>
            </a:endParaRPr>
          </a:p>
        </p:txBody>
      </p:sp>
      <p:sp>
        <p:nvSpPr>
          <p:cNvPr id="914" name="Google Shape;914;p63"/>
          <p:cNvSpPr txBox="1"/>
          <p:nvPr/>
        </p:nvSpPr>
        <p:spPr>
          <a:xfrm>
            <a:off x="731520" y="932688"/>
            <a:ext cx="10972800" cy="64008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10  /  Durable, event-waiting agents</a:t>
            </a:r>
            <a:endParaRPr b="0" i="0" sz="1400" u="none" cap="none" strike="noStrike">
              <a:solidFill>
                <a:srgbClr val="000000"/>
              </a:solidFill>
              <a:latin typeface="Arial"/>
              <a:ea typeface="Arial"/>
              <a:cs typeface="Arial"/>
              <a:sym typeface="Arial"/>
            </a:endParaRPr>
          </a:p>
        </p:txBody>
      </p:sp>
      <p:sp>
        <p:nvSpPr>
          <p:cNvPr id="915" name="Google Shape;915;p63"/>
          <p:cNvSpPr txBox="1"/>
          <p:nvPr/>
        </p:nvSpPr>
        <p:spPr>
          <a:xfrm>
            <a:off x="758952" y="1645920"/>
            <a:ext cx="107899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A task can pause for hours, survive a crash, and resume on a new event.</a:t>
            </a:r>
            <a:endParaRPr b="0" i="0" sz="1400" u="none" cap="none" strike="noStrike">
              <a:solidFill>
                <a:srgbClr val="000000"/>
              </a:solidFill>
              <a:latin typeface="Arial"/>
              <a:ea typeface="Arial"/>
              <a:cs typeface="Arial"/>
              <a:sym typeface="Arial"/>
            </a:endParaRPr>
          </a:p>
        </p:txBody>
      </p:sp>
      <p:sp>
        <p:nvSpPr>
          <p:cNvPr id="916" name="Google Shape;916;p63"/>
          <p:cNvSpPr/>
          <p:nvPr/>
        </p:nvSpPr>
        <p:spPr>
          <a:xfrm>
            <a:off x="758952" y="5907024"/>
            <a:ext cx="10652760" cy="7315"/>
          </a:xfrm>
          <a:prstGeom prst="rect">
            <a:avLst/>
          </a:prstGeom>
          <a:solidFill>
            <a:srgbClr val="303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7" name="Google Shape;917;p63"/>
          <p:cNvSpPr txBox="1"/>
          <p:nvPr/>
        </p:nvSpPr>
        <p:spPr>
          <a:xfrm>
            <a:off x="786384" y="5998464"/>
            <a:ext cx="105613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A8AFBF"/>
                </a:solidFill>
                <a:latin typeface="Arial"/>
                <a:ea typeface="Arial"/>
                <a:cs typeface="Arial"/>
                <a:sym typeface="Arial"/>
              </a:rPr>
              <a:t>RELIABILITY QUESTION   Who owns the wait, timeout, dedupe and cancellation?</a:t>
            </a:r>
            <a:endParaRPr b="0" i="0" sz="1400" u="none" cap="none" strike="noStrike">
              <a:solidFill>
                <a:srgbClr val="000000"/>
              </a:solidFill>
              <a:latin typeface="Arial"/>
              <a:ea typeface="Arial"/>
              <a:cs typeface="Arial"/>
              <a:sym typeface="Arial"/>
            </a:endParaRPr>
          </a:p>
        </p:txBody>
      </p:sp>
      <p:sp>
        <p:nvSpPr>
          <p:cNvPr id="918" name="Google Shape;918;p63"/>
          <p:cNvSpPr txBox="1"/>
          <p:nvPr/>
        </p:nvSpPr>
        <p:spPr>
          <a:xfrm>
            <a:off x="11530584" y="6437376"/>
            <a:ext cx="42976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32</a:t>
            </a:r>
            <a:endParaRPr b="0" i="0" sz="1400" u="none" cap="none" strike="noStrike">
              <a:solidFill>
                <a:srgbClr val="000000"/>
              </a:solidFill>
              <a:latin typeface="Arial"/>
              <a:ea typeface="Arial"/>
              <a:cs typeface="Arial"/>
              <a:sym typeface="Arial"/>
            </a:endParaRPr>
          </a:p>
        </p:txBody>
      </p:sp>
      <p:sp>
        <p:nvSpPr>
          <p:cNvPr id="919" name="Google Shape;919;p63"/>
          <p:cNvSpPr/>
          <p:nvPr/>
        </p:nvSpPr>
        <p:spPr>
          <a:xfrm>
            <a:off x="960120" y="2770632"/>
            <a:ext cx="2194560" cy="91440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63"/>
          <p:cNvSpPr txBox="1"/>
          <p:nvPr/>
        </p:nvSpPr>
        <p:spPr>
          <a:xfrm>
            <a:off x="1060704" y="2852927"/>
            <a:ext cx="1993391" cy="74980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START TASK</a:t>
            </a:r>
            <a:endParaRPr b="0" i="0" sz="1400" u="none" cap="none" strike="noStrike">
              <a:solidFill>
                <a:srgbClr val="000000"/>
              </a:solidFill>
              <a:latin typeface="Arial"/>
              <a:ea typeface="Arial"/>
              <a:cs typeface="Arial"/>
              <a:sym typeface="Arial"/>
            </a:endParaRPr>
          </a:p>
        </p:txBody>
      </p:sp>
      <p:sp>
        <p:nvSpPr>
          <p:cNvPr id="921" name="Google Shape;921;p63"/>
          <p:cNvSpPr/>
          <p:nvPr/>
        </p:nvSpPr>
        <p:spPr>
          <a:xfrm>
            <a:off x="3767328" y="2770632"/>
            <a:ext cx="2331720" cy="914400"/>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63"/>
          <p:cNvSpPr txBox="1"/>
          <p:nvPr/>
        </p:nvSpPr>
        <p:spPr>
          <a:xfrm>
            <a:off x="3867912" y="2852927"/>
            <a:ext cx="2130551" cy="74980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00"/>
              <a:buFont typeface="Arial"/>
              <a:buNone/>
            </a:pPr>
            <a:r>
              <a:rPr b="1" i="0" lang="en-US" sz="1500" u="none" cap="none" strike="noStrike">
                <a:solidFill>
                  <a:srgbClr val="E8A33D"/>
                </a:solidFill>
                <a:latin typeface="Arial"/>
                <a:ea typeface="Arial"/>
                <a:cs typeface="Arial"/>
                <a:sym typeface="Arial"/>
              </a:rPr>
              <a:t>WAIT / SLEEP</a:t>
            </a:r>
            <a:endParaRPr b="0" i="0" sz="1400" u="none" cap="none" strike="noStrike">
              <a:solidFill>
                <a:srgbClr val="000000"/>
              </a:solidFill>
              <a:latin typeface="Arial"/>
              <a:ea typeface="Arial"/>
              <a:cs typeface="Arial"/>
              <a:sym typeface="Arial"/>
            </a:endParaRPr>
          </a:p>
        </p:txBody>
      </p:sp>
      <p:sp>
        <p:nvSpPr>
          <p:cNvPr id="923" name="Google Shape;923;p63"/>
          <p:cNvSpPr/>
          <p:nvPr/>
        </p:nvSpPr>
        <p:spPr>
          <a:xfrm>
            <a:off x="6720840" y="2770632"/>
            <a:ext cx="2194560" cy="914400"/>
          </a:xfrm>
          <a:prstGeom prst="roundRect">
            <a:avLst>
              <a:gd fmla="val 16667" name="adj"/>
            </a:avLst>
          </a:prstGeom>
          <a:solidFill>
            <a:srgbClr val="121721"/>
          </a:solidFill>
          <a:ln cap="flat" cmpd="sng" w="20300">
            <a:solidFill>
              <a:srgbClr val="303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63"/>
          <p:cNvSpPr txBox="1"/>
          <p:nvPr/>
        </p:nvSpPr>
        <p:spPr>
          <a:xfrm>
            <a:off x="6821424" y="2852927"/>
            <a:ext cx="1993391" cy="74980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EVENT ARRIVES</a:t>
            </a:r>
            <a:endParaRPr b="0" i="0" sz="1400" u="none" cap="none" strike="noStrike">
              <a:solidFill>
                <a:srgbClr val="000000"/>
              </a:solidFill>
              <a:latin typeface="Arial"/>
              <a:ea typeface="Arial"/>
              <a:cs typeface="Arial"/>
              <a:sym typeface="Arial"/>
            </a:endParaRPr>
          </a:p>
        </p:txBody>
      </p:sp>
      <p:sp>
        <p:nvSpPr>
          <p:cNvPr id="925" name="Google Shape;925;p63"/>
          <p:cNvSpPr/>
          <p:nvPr/>
        </p:nvSpPr>
        <p:spPr>
          <a:xfrm>
            <a:off x="9281160" y="2770632"/>
            <a:ext cx="1965960" cy="914400"/>
          </a:xfrm>
          <a:prstGeom prst="roundRect">
            <a:avLst>
              <a:gd fmla="val 16667" name="adj"/>
            </a:avLst>
          </a:prstGeom>
          <a:solidFill>
            <a:srgbClr val="83D4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6" name="Google Shape;926;p63"/>
          <p:cNvSpPr txBox="1"/>
          <p:nvPr/>
        </p:nvSpPr>
        <p:spPr>
          <a:xfrm>
            <a:off x="9381744" y="2852927"/>
            <a:ext cx="1764792" cy="74980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00"/>
              <a:buFont typeface="Arial"/>
              <a:buNone/>
            </a:pPr>
            <a:r>
              <a:rPr b="1" i="0" lang="en-US" sz="1500" u="none" cap="none" strike="noStrike">
                <a:solidFill>
                  <a:srgbClr val="0A0C12"/>
                </a:solidFill>
                <a:latin typeface="Arial"/>
                <a:ea typeface="Arial"/>
                <a:cs typeface="Arial"/>
                <a:sym typeface="Arial"/>
              </a:rPr>
              <a:t>RESUME</a:t>
            </a:r>
            <a:endParaRPr b="0" i="0" sz="1400" u="none" cap="none" strike="noStrike">
              <a:solidFill>
                <a:srgbClr val="000000"/>
              </a:solidFill>
              <a:latin typeface="Arial"/>
              <a:ea typeface="Arial"/>
              <a:cs typeface="Arial"/>
              <a:sym typeface="Arial"/>
            </a:endParaRPr>
          </a:p>
        </p:txBody>
      </p:sp>
      <p:cxnSp>
        <p:nvCxnSpPr>
          <p:cNvPr id="927" name="Google Shape;927;p63"/>
          <p:cNvCxnSpPr/>
          <p:nvPr/>
        </p:nvCxnSpPr>
        <p:spPr>
          <a:xfrm>
            <a:off x="3191256" y="3227832"/>
            <a:ext cx="512064"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28" name="Google Shape;928;p63"/>
          <p:cNvCxnSpPr/>
          <p:nvPr/>
        </p:nvCxnSpPr>
        <p:spPr>
          <a:xfrm flipH="1">
            <a:off x="3609566" y="3227832"/>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29" name="Google Shape;929;p63"/>
          <p:cNvCxnSpPr/>
          <p:nvPr/>
        </p:nvCxnSpPr>
        <p:spPr>
          <a:xfrm rot="10800000">
            <a:off x="3609566" y="3180208"/>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30" name="Google Shape;930;p63"/>
          <p:cNvCxnSpPr/>
          <p:nvPr/>
        </p:nvCxnSpPr>
        <p:spPr>
          <a:xfrm>
            <a:off x="6144768" y="3227832"/>
            <a:ext cx="512064"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31" name="Google Shape;931;p63"/>
          <p:cNvCxnSpPr/>
          <p:nvPr/>
        </p:nvCxnSpPr>
        <p:spPr>
          <a:xfrm flipH="1">
            <a:off x="6563078" y="3227832"/>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32" name="Google Shape;932;p63"/>
          <p:cNvCxnSpPr/>
          <p:nvPr/>
        </p:nvCxnSpPr>
        <p:spPr>
          <a:xfrm rot="10800000">
            <a:off x="6563078" y="3180208"/>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33" name="Google Shape;933;p63"/>
          <p:cNvCxnSpPr/>
          <p:nvPr/>
        </p:nvCxnSpPr>
        <p:spPr>
          <a:xfrm>
            <a:off x="8979408" y="3227832"/>
            <a:ext cx="237744"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34" name="Google Shape;934;p63"/>
          <p:cNvCxnSpPr/>
          <p:nvPr/>
        </p:nvCxnSpPr>
        <p:spPr>
          <a:xfrm flipH="1">
            <a:off x="9123398" y="3227832"/>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35" name="Google Shape;935;p63"/>
          <p:cNvCxnSpPr/>
          <p:nvPr/>
        </p:nvCxnSpPr>
        <p:spPr>
          <a:xfrm rot="10800000">
            <a:off x="9123398" y="3180208"/>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936" name="Google Shape;936;p63"/>
          <p:cNvSpPr/>
          <p:nvPr/>
        </p:nvSpPr>
        <p:spPr>
          <a:xfrm>
            <a:off x="4169663" y="4050791"/>
            <a:ext cx="1572768" cy="411480"/>
          </a:xfrm>
          <a:prstGeom prst="roundRect">
            <a:avLst>
              <a:gd fmla="val 16667" name="adj"/>
            </a:avLst>
          </a:prstGeom>
          <a:solidFill>
            <a:srgbClr val="121721"/>
          </a:solidFill>
          <a:ln cap="flat" cmpd="sng" w="15225">
            <a:solidFill>
              <a:srgbClr val="303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p63"/>
          <p:cNvSpPr txBox="1"/>
          <p:nvPr/>
        </p:nvSpPr>
        <p:spPr>
          <a:xfrm>
            <a:off x="4206240" y="4105656"/>
            <a:ext cx="1508760" cy="30175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100"/>
              <a:buFont typeface="Arial"/>
              <a:buNone/>
            </a:pPr>
            <a:r>
              <a:rPr b="1" i="0" lang="en-US" sz="1100" u="none" cap="none" strike="noStrike">
                <a:solidFill>
                  <a:srgbClr val="6FD3E7"/>
                </a:solidFill>
                <a:latin typeface="Arial"/>
                <a:ea typeface="Arial"/>
                <a:cs typeface="Arial"/>
                <a:sym typeface="Arial"/>
              </a:rPr>
              <a:t>CHECKPOINTED</a:t>
            </a:r>
            <a:endParaRPr b="0" i="0" sz="1400" u="none" cap="none" strike="noStrike">
              <a:solidFill>
                <a:srgbClr val="000000"/>
              </a:solidFill>
              <a:latin typeface="Arial"/>
              <a:ea typeface="Arial"/>
              <a:cs typeface="Arial"/>
              <a:sym typeface="Arial"/>
            </a:endParaRPr>
          </a:p>
        </p:txBody>
      </p:sp>
      <p:sp>
        <p:nvSpPr>
          <p:cNvPr id="938" name="Google Shape;938;p63"/>
          <p:cNvSpPr txBox="1"/>
          <p:nvPr/>
        </p:nvSpPr>
        <p:spPr>
          <a:xfrm>
            <a:off x="987552" y="4773168"/>
            <a:ext cx="10515600" cy="43891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2000"/>
              <a:buFont typeface="Arial"/>
              <a:buNone/>
            </a:pPr>
            <a:r>
              <a:rPr b="0" i="0" lang="en-US" sz="2000" u="none" cap="none" strike="noStrike">
                <a:solidFill>
                  <a:srgbClr val="F5F3EE"/>
                </a:solidFill>
                <a:latin typeface="Arial"/>
                <a:ea typeface="Arial"/>
                <a:cs typeface="Arial"/>
                <a:sym typeface="Arial"/>
              </a:rPr>
              <a:t>An agent is not a process that must stay awake.</a:t>
            </a:r>
            <a:endParaRPr b="0" i="0" sz="1400" u="none" cap="none" strike="noStrike">
              <a:solidFill>
                <a:srgbClr val="000000"/>
              </a:solidFill>
              <a:latin typeface="Arial"/>
              <a:ea typeface="Arial"/>
              <a:cs typeface="Arial"/>
              <a:sym typeface="Arial"/>
            </a:endParaRPr>
          </a:p>
        </p:txBody>
      </p:sp>
      <p:sp>
        <p:nvSpPr>
          <p:cNvPr id="939" name="Google Shape;939;p63"/>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943" name="Shape 943"/>
        <p:cNvGrpSpPr/>
        <p:nvPr/>
      </p:nvGrpSpPr>
      <p:grpSpPr>
        <a:xfrm>
          <a:off x="0" y="0"/>
          <a:ext cx="0" cy="0"/>
          <a:chOff x="0" y="0"/>
          <a:chExt cx="0" cy="0"/>
        </a:xfrm>
      </p:grpSpPr>
      <p:sp>
        <p:nvSpPr>
          <p:cNvPr id="944" name="Google Shape;944;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945" name="Google Shape;945;p6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946" name="Google Shape;946;p6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947" name="Google Shape;947;p6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948" name="Google Shape;948;p6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949" name="Google Shape;949;p64"/>
          <p:cNvSpPr txBox="1"/>
          <p:nvPr/>
        </p:nvSpPr>
        <p:spPr>
          <a:xfrm>
            <a:off x="731520" y="521207"/>
            <a:ext cx="10789920"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EVENT-DRIVEN AGENT PATTERNS</a:t>
            </a:r>
            <a:endParaRPr b="0" i="0" sz="1400" u="none" cap="none" strike="noStrike">
              <a:solidFill>
                <a:srgbClr val="000000"/>
              </a:solidFill>
              <a:latin typeface="Arial"/>
              <a:ea typeface="Arial"/>
              <a:cs typeface="Arial"/>
              <a:sym typeface="Arial"/>
            </a:endParaRPr>
          </a:p>
        </p:txBody>
      </p:sp>
      <p:sp>
        <p:nvSpPr>
          <p:cNvPr id="950" name="Google Shape;950;p64"/>
          <p:cNvSpPr txBox="1"/>
          <p:nvPr/>
        </p:nvSpPr>
        <p:spPr>
          <a:xfrm>
            <a:off x="731520" y="932688"/>
            <a:ext cx="10972800" cy="64008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11  /  Asynchronous agent delegation</a:t>
            </a:r>
            <a:endParaRPr b="0" i="0" sz="1400" u="none" cap="none" strike="noStrike">
              <a:solidFill>
                <a:srgbClr val="000000"/>
              </a:solidFill>
              <a:latin typeface="Arial"/>
              <a:ea typeface="Arial"/>
              <a:cs typeface="Arial"/>
              <a:sym typeface="Arial"/>
            </a:endParaRPr>
          </a:p>
        </p:txBody>
      </p:sp>
      <p:sp>
        <p:nvSpPr>
          <p:cNvPr id="951" name="Google Shape;951;p64"/>
          <p:cNvSpPr txBox="1"/>
          <p:nvPr/>
        </p:nvSpPr>
        <p:spPr>
          <a:xfrm>
            <a:off x="758952" y="1645920"/>
            <a:ext cx="10789800" cy="231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Agent-to-agent exchange is a task lifecycle.</a:t>
            </a:r>
            <a:endParaRPr b="0" i="0" sz="1400" u="none" cap="none" strike="noStrike">
              <a:solidFill>
                <a:srgbClr val="000000"/>
              </a:solidFill>
              <a:latin typeface="Arial"/>
              <a:ea typeface="Arial"/>
              <a:cs typeface="Arial"/>
              <a:sym typeface="Arial"/>
            </a:endParaRPr>
          </a:p>
        </p:txBody>
      </p:sp>
      <p:sp>
        <p:nvSpPr>
          <p:cNvPr id="952" name="Google Shape;952;p64"/>
          <p:cNvSpPr/>
          <p:nvPr/>
        </p:nvSpPr>
        <p:spPr>
          <a:xfrm>
            <a:off x="758952" y="5907024"/>
            <a:ext cx="10652760" cy="7315"/>
          </a:xfrm>
          <a:prstGeom prst="rect">
            <a:avLst/>
          </a:prstGeom>
          <a:solidFill>
            <a:srgbClr val="303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64"/>
          <p:cNvSpPr txBox="1"/>
          <p:nvPr/>
        </p:nvSpPr>
        <p:spPr>
          <a:xfrm>
            <a:off x="786384" y="5998464"/>
            <a:ext cx="105613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A8AFBF"/>
                </a:solidFill>
                <a:latin typeface="Arial"/>
                <a:ea typeface="Arial"/>
                <a:cs typeface="Arial"/>
                <a:sym typeface="Arial"/>
              </a:rPr>
              <a:t>DESIGN CONTRACT   Task ID · owner · progress · deadline · completion event</a:t>
            </a:r>
            <a:endParaRPr b="0" i="0" sz="1400" u="none" cap="none" strike="noStrike">
              <a:solidFill>
                <a:srgbClr val="000000"/>
              </a:solidFill>
              <a:latin typeface="Arial"/>
              <a:ea typeface="Arial"/>
              <a:cs typeface="Arial"/>
              <a:sym typeface="Arial"/>
            </a:endParaRPr>
          </a:p>
        </p:txBody>
      </p:sp>
      <p:sp>
        <p:nvSpPr>
          <p:cNvPr id="954" name="Google Shape;954;p64"/>
          <p:cNvSpPr txBox="1"/>
          <p:nvPr/>
        </p:nvSpPr>
        <p:spPr>
          <a:xfrm>
            <a:off x="11530584" y="6437376"/>
            <a:ext cx="42976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33</a:t>
            </a:r>
            <a:endParaRPr b="0" i="0" sz="1400" u="none" cap="none" strike="noStrike">
              <a:solidFill>
                <a:srgbClr val="000000"/>
              </a:solidFill>
              <a:latin typeface="Arial"/>
              <a:ea typeface="Arial"/>
              <a:cs typeface="Arial"/>
              <a:sym typeface="Arial"/>
            </a:endParaRPr>
          </a:p>
        </p:txBody>
      </p:sp>
      <p:sp>
        <p:nvSpPr>
          <p:cNvPr id="955" name="Google Shape;955;p64"/>
          <p:cNvSpPr/>
          <p:nvPr/>
        </p:nvSpPr>
        <p:spPr>
          <a:xfrm>
            <a:off x="941832" y="2578608"/>
            <a:ext cx="2148840" cy="1078992"/>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64"/>
          <p:cNvSpPr txBox="1"/>
          <p:nvPr/>
        </p:nvSpPr>
        <p:spPr>
          <a:xfrm>
            <a:off x="1033272" y="2743200"/>
            <a:ext cx="1965960" cy="39319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2000"/>
              <a:buFont typeface="Arial"/>
              <a:buNone/>
            </a:pPr>
            <a:r>
              <a:rPr b="1" i="0" lang="en-US" sz="2000" u="none" cap="none" strike="noStrike">
                <a:solidFill>
                  <a:srgbClr val="E8A33D"/>
                </a:solidFill>
                <a:latin typeface="Arial"/>
                <a:ea typeface="Arial"/>
                <a:cs typeface="Arial"/>
                <a:sym typeface="Arial"/>
              </a:rPr>
              <a:t>AGENT A</a:t>
            </a:r>
            <a:endParaRPr b="0" i="0" sz="1400" u="none" cap="none" strike="noStrike">
              <a:solidFill>
                <a:srgbClr val="000000"/>
              </a:solidFill>
              <a:latin typeface="Arial"/>
              <a:ea typeface="Arial"/>
              <a:cs typeface="Arial"/>
              <a:sym typeface="Arial"/>
            </a:endParaRPr>
          </a:p>
        </p:txBody>
      </p:sp>
      <p:sp>
        <p:nvSpPr>
          <p:cNvPr id="957" name="Google Shape;957;p64"/>
          <p:cNvSpPr txBox="1"/>
          <p:nvPr/>
        </p:nvSpPr>
        <p:spPr>
          <a:xfrm>
            <a:off x="1033272" y="3246120"/>
            <a:ext cx="1965960" cy="4023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0" i="0" lang="en-US" sz="1200" u="none" cap="none" strike="noStrike">
                <a:solidFill>
                  <a:srgbClr val="A8AFBF"/>
                </a:solidFill>
                <a:latin typeface="Arial"/>
                <a:ea typeface="Arial"/>
                <a:cs typeface="Arial"/>
                <a:sym typeface="Arial"/>
              </a:rPr>
              <a:t>Delegates</a:t>
            </a:r>
            <a:endParaRPr b="0" i="0" sz="1400" u="none" cap="none" strike="noStrike">
              <a:solidFill>
                <a:srgbClr val="000000"/>
              </a:solidFill>
              <a:latin typeface="Arial"/>
              <a:ea typeface="Arial"/>
              <a:cs typeface="Arial"/>
              <a:sym typeface="Arial"/>
            </a:endParaRPr>
          </a:p>
        </p:txBody>
      </p:sp>
      <p:sp>
        <p:nvSpPr>
          <p:cNvPr id="958" name="Google Shape;958;p64"/>
          <p:cNvSpPr/>
          <p:nvPr/>
        </p:nvSpPr>
        <p:spPr>
          <a:xfrm>
            <a:off x="3931920" y="2578608"/>
            <a:ext cx="3822191" cy="1078992"/>
          </a:xfrm>
          <a:prstGeom prst="roundRect">
            <a:avLst>
              <a:gd fmla="val 16667" name="adj"/>
            </a:avLst>
          </a:prstGeom>
          <a:solidFill>
            <a:srgbClr val="121721"/>
          </a:solidFill>
          <a:ln cap="flat" cmpd="sng" w="20300">
            <a:solidFill>
              <a:srgbClr val="303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p64"/>
          <p:cNvSpPr txBox="1"/>
          <p:nvPr/>
        </p:nvSpPr>
        <p:spPr>
          <a:xfrm>
            <a:off x="4023359" y="2743200"/>
            <a:ext cx="3639311" cy="39319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900"/>
              <a:buFont typeface="Arial"/>
              <a:buNone/>
            </a:pPr>
            <a:r>
              <a:rPr b="1" i="0" lang="en-US" sz="1900" u="none" cap="none" strike="noStrike">
                <a:solidFill>
                  <a:srgbClr val="F5F3EE"/>
                </a:solidFill>
                <a:latin typeface="Arial"/>
                <a:ea typeface="Arial"/>
                <a:cs typeface="Arial"/>
                <a:sym typeface="Arial"/>
              </a:rPr>
              <a:t>TASK  #1842</a:t>
            </a:r>
            <a:endParaRPr b="0" i="0" sz="1400" u="none" cap="none" strike="noStrike">
              <a:solidFill>
                <a:srgbClr val="000000"/>
              </a:solidFill>
              <a:latin typeface="Arial"/>
              <a:ea typeface="Arial"/>
              <a:cs typeface="Arial"/>
              <a:sym typeface="Arial"/>
            </a:endParaRPr>
          </a:p>
        </p:txBody>
      </p:sp>
      <p:sp>
        <p:nvSpPr>
          <p:cNvPr id="960" name="Google Shape;960;p64"/>
          <p:cNvSpPr txBox="1"/>
          <p:nvPr/>
        </p:nvSpPr>
        <p:spPr>
          <a:xfrm>
            <a:off x="4023359" y="3246120"/>
            <a:ext cx="3639311" cy="4023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0" i="0" lang="en-US" sz="1200" u="none" cap="none" strike="noStrike">
                <a:solidFill>
                  <a:srgbClr val="A8AFBF"/>
                </a:solidFill>
                <a:latin typeface="Arial"/>
                <a:ea typeface="Arial"/>
                <a:cs typeface="Arial"/>
                <a:sym typeface="Arial"/>
              </a:rPr>
              <a:t>accepted → working → completed</a:t>
            </a:r>
            <a:endParaRPr b="0" i="0" sz="1400" u="none" cap="none" strike="noStrike">
              <a:solidFill>
                <a:srgbClr val="000000"/>
              </a:solidFill>
              <a:latin typeface="Arial"/>
              <a:ea typeface="Arial"/>
              <a:cs typeface="Arial"/>
              <a:sym typeface="Arial"/>
            </a:endParaRPr>
          </a:p>
        </p:txBody>
      </p:sp>
      <p:sp>
        <p:nvSpPr>
          <p:cNvPr id="961" name="Google Shape;961;p64"/>
          <p:cNvSpPr/>
          <p:nvPr/>
        </p:nvSpPr>
        <p:spPr>
          <a:xfrm>
            <a:off x="8595360" y="2578608"/>
            <a:ext cx="2148840" cy="1078992"/>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p64"/>
          <p:cNvSpPr txBox="1"/>
          <p:nvPr/>
        </p:nvSpPr>
        <p:spPr>
          <a:xfrm>
            <a:off x="8686800" y="2743200"/>
            <a:ext cx="1965960" cy="393192"/>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2000"/>
              <a:buFont typeface="Arial"/>
              <a:buNone/>
            </a:pPr>
            <a:r>
              <a:rPr b="1" i="0" lang="en-US" sz="2000" u="none" cap="none" strike="noStrike">
                <a:solidFill>
                  <a:srgbClr val="E8A33D"/>
                </a:solidFill>
                <a:latin typeface="Arial"/>
                <a:ea typeface="Arial"/>
                <a:cs typeface="Arial"/>
                <a:sym typeface="Arial"/>
              </a:rPr>
              <a:t>AGENT B</a:t>
            </a:r>
            <a:endParaRPr b="0" i="0" sz="1400" u="none" cap="none" strike="noStrike">
              <a:solidFill>
                <a:srgbClr val="000000"/>
              </a:solidFill>
              <a:latin typeface="Arial"/>
              <a:ea typeface="Arial"/>
              <a:cs typeface="Arial"/>
              <a:sym typeface="Arial"/>
            </a:endParaRPr>
          </a:p>
        </p:txBody>
      </p:sp>
      <p:sp>
        <p:nvSpPr>
          <p:cNvPr id="963" name="Google Shape;963;p64"/>
          <p:cNvSpPr txBox="1"/>
          <p:nvPr/>
        </p:nvSpPr>
        <p:spPr>
          <a:xfrm>
            <a:off x="8686800" y="3246120"/>
            <a:ext cx="1965960" cy="40233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200"/>
              <a:buFont typeface="Arial"/>
              <a:buNone/>
            </a:pPr>
            <a:r>
              <a:rPr b="0" i="0" lang="en-US" sz="1200" u="none" cap="none" strike="noStrike">
                <a:solidFill>
                  <a:srgbClr val="A8AFBF"/>
                </a:solidFill>
                <a:latin typeface="Arial"/>
                <a:ea typeface="Arial"/>
                <a:cs typeface="Arial"/>
                <a:sym typeface="Arial"/>
              </a:rPr>
              <a:t>Specialist</a:t>
            </a:r>
            <a:endParaRPr b="0" i="0" sz="1400" u="none" cap="none" strike="noStrike">
              <a:solidFill>
                <a:srgbClr val="000000"/>
              </a:solidFill>
              <a:latin typeface="Arial"/>
              <a:ea typeface="Arial"/>
              <a:cs typeface="Arial"/>
              <a:sym typeface="Arial"/>
            </a:endParaRPr>
          </a:p>
        </p:txBody>
      </p:sp>
      <p:cxnSp>
        <p:nvCxnSpPr>
          <p:cNvPr id="964" name="Google Shape;964;p64"/>
          <p:cNvCxnSpPr/>
          <p:nvPr/>
        </p:nvCxnSpPr>
        <p:spPr>
          <a:xfrm>
            <a:off x="3163824" y="3108960"/>
            <a:ext cx="676656"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65" name="Google Shape;965;p64"/>
          <p:cNvCxnSpPr/>
          <p:nvPr/>
        </p:nvCxnSpPr>
        <p:spPr>
          <a:xfrm flipH="1">
            <a:off x="3746726" y="3108960"/>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66" name="Google Shape;966;p64"/>
          <p:cNvCxnSpPr/>
          <p:nvPr/>
        </p:nvCxnSpPr>
        <p:spPr>
          <a:xfrm rot="10800000">
            <a:off x="3746726" y="3061336"/>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67" name="Google Shape;967;p64"/>
          <p:cNvCxnSpPr/>
          <p:nvPr/>
        </p:nvCxnSpPr>
        <p:spPr>
          <a:xfrm>
            <a:off x="7818120" y="3108960"/>
            <a:ext cx="685800"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68" name="Google Shape;968;p64"/>
          <p:cNvCxnSpPr/>
          <p:nvPr/>
        </p:nvCxnSpPr>
        <p:spPr>
          <a:xfrm flipH="1">
            <a:off x="8410166" y="3108960"/>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69" name="Google Shape;969;p64"/>
          <p:cNvCxnSpPr/>
          <p:nvPr/>
        </p:nvCxnSpPr>
        <p:spPr>
          <a:xfrm rot="10800000">
            <a:off x="8410166" y="3061336"/>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970" name="Google Shape;970;p64"/>
          <p:cNvSpPr txBox="1"/>
          <p:nvPr/>
        </p:nvSpPr>
        <p:spPr>
          <a:xfrm>
            <a:off x="539495" y="4480552"/>
            <a:ext cx="10607100" cy="292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900"/>
              <a:buFont typeface="Arial"/>
              <a:buNone/>
            </a:pPr>
            <a:r>
              <a:rPr b="0" i="0" lang="en-US" sz="1900" u="none" cap="none" strike="noStrike">
                <a:solidFill>
                  <a:srgbClr val="F5F3EE"/>
                </a:solidFill>
                <a:latin typeface="Arial"/>
                <a:ea typeface="Arial"/>
                <a:cs typeface="Arial"/>
                <a:sym typeface="Arial"/>
              </a:rPr>
              <a:t>A2A-style task semantics complement durable messaging; neither replaces the other.</a:t>
            </a:r>
            <a:endParaRPr b="0" i="0" sz="1400" u="none" cap="none" strike="noStrike">
              <a:solidFill>
                <a:srgbClr val="000000"/>
              </a:solidFill>
              <a:latin typeface="Arial"/>
              <a:ea typeface="Arial"/>
              <a:cs typeface="Arial"/>
              <a:sym typeface="Arial"/>
            </a:endParaRPr>
          </a:p>
        </p:txBody>
      </p:sp>
      <p:sp>
        <p:nvSpPr>
          <p:cNvPr id="971" name="Google Shape;971;p64"/>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975" name="Shape 975"/>
        <p:cNvGrpSpPr/>
        <p:nvPr/>
      </p:nvGrpSpPr>
      <p:grpSpPr>
        <a:xfrm>
          <a:off x="0" y="0"/>
          <a:ext cx="0" cy="0"/>
          <a:chOff x="0" y="0"/>
          <a:chExt cx="0" cy="0"/>
        </a:xfrm>
      </p:grpSpPr>
      <p:sp>
        <p:nvSpPr>
          <p:cNvPr id="976" name="Google Shape;976;p6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977" name="Google Shape;977;p6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978" name="Google Shape;978;p6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979" name="Google Shape;979;p6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980" name="Google Shape;980;p6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981" name="Google Shape;981;p65"/>
          <p:cNvSpPr txBox="1"/>
          <p:nvPr/>
        </p:nvSpPr>
        <p:spPr>
          <a:xfrm>
            <a:off x="731520" y="521207"/>
            <a:ext cx="10789920"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EVENT-DRIVEN AGENT PATTERNS</a:t>
            </a:r>
            <a:endParaRPr b="0" i="0" sz="1400" u="none" cap="none" strike="noStrike">
              <a:solidFill>
                <a:srgbClr val="000000"/>
              </a:solidFill>
              <a:latin typeface="Arial"/>
              <a:ea typeface="Arial"/>
              <a:cs typeface="Arial"/>
              <a:sym typeface="Arial"/>
            </a:endParaRPr>
          </a:p>
        </p:txBody>
      </p:sp>
      <p:sp>
        <p:nvSpPr>
          <p:cNvPr id="982" name="Google Shape;982;p65"/>
          <p:cNvSpPr txBox="1"/>
          <p:nvPr/>
        </p:nvSpPr>
        <p:spPr>
          <a:xfrm>
            <a:off x="731520" y="932688"/>
            <a:ext cx="10972800" cy="477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12  /  Agentic saga</a:t>
            </a:r>
            <a:endParaRPr b="0" i="0" sz="1400" u="none" cap="none" strike="noStrike">
              <a:solidFill>
                <a:srgbClr val="000000"/>
              </a:solidFill>
              <a:latin typeface="Arial"/>
              <a:ea typeface="Arial"/>
              <a:cs typeface="Arial"/>
              <a:sym typeface="Arial"/>
            </a:endParaRPr>
          </a:p>
        </p:txBody>
      </p:sp>
      <p:sp>
        <p:nvSpPr>
          <p:cNvPr id="983" name="Google Shape;983;p65"/>
          <p:cNvSpPr txBox="1"/>
          <p:nvPr/>
        </p:nvSpPr>
        <p:spPr>
          <a:xfrm>
            <a:off x="758952" y="1645920"/>
            <a:ext cx="107899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Autonomy crosses systems. Business actions do not share one transaction.</a:t>
            </a:r>
            <a:endParaRPr b="0" i="0" sz="1400" u="none" cap="none" strike="noStrike">
              <a:solidFill>
                <a:srgbClr val="000000"/>
              </a:solidFill>
              <a:latin typeface="Arial"/>
              <a:ea typeface="Arial"/>
              <a:cs typeface="Arial"/>
              <a:sym typeface="Arial"/>
            </a:endParaRPr>
          </a:p>
        </p:txBody>
      </p:sp>
      <p:sp>
        <p:nvSpPr>
          <p:cNvPr id="984" name="Google Shape;984;p65"/>
          <p:cNvSpPr/>
          <p:nvPr/>
        </p:nvSpPr>
        <p:spPr>
          <a:xfrm>
            <a:off x="758952" y="5907024"/>
            <a:ext cx="10652760" cy="7315"/>
          </a:xfrm>
          <a:prstGeom prst="rect">
            <a:avLst/>
          </a:prstGeom>
          <a:solidFill>
            <a:srgbClr val="303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65"/>
          <p:cNvSpPr txBox="1"/>
          <p:nvPr/>
        </p:nvSpPr>
        <p:spPr>
          <a:xfrm>
            <a:off x="786384" y="5998464"/>
            <a:ext cx="105612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A8AFBF"/>
                </a:solidFill>
                <a:latin typeface="Arial"/>
                <a:ea typeface="Arial"/>
                <a:cs typeface="Arial"/>
                <a:sym typeface="Arial"/>
              </a:rPr>
              <a:t>RELIABILITY QUESTION   What can be safely reversed? and what cannot?</a:t>
            </a:r>
            <a:endParaRPr b="0" i="0" sz="1400" u="none" cap="none" strike="noStrike">
              <a:solidFill>
                <a:srgbClr val="000000"/>
              </a:solidFill>
              <a:latin typeface="Arial"/>
              <a:ea typeface="Arial"/>
              <a:cs typeface="Arial"/>
              <a:sym typeface="Arial"/>
            </a:endParaRPr>
          </a:p>
        </p:txBody>
      </p:sp>
      <p:sp>
        <p:nvSpPr>
          <p:cNvPr id="986" name="Google Shape;986;p65"/>
          <p:cNvSpPr txBox="1"/>
          <p:nvPr/>
        </p:nvSpPr>
        <p:spPr>
          <a:xfrm>
            <a:off x="11530584" y="6437376"/>
            <a:ext cx="42976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34</a:t>
            </a:r>
            <a:endParaRPr b="0" i="0" sz="1400" u="none" cap="none" strike="noStrike">
              <a:solidFill>
                <a:srgbClr val="000000"/>
              </a:solidFill>
              <a:latin typeface="Arial"/>
              <a:ea typeface="Arial"/>
              <a:cs typeface="Arial"/>
              <a:sym typeface="Arial"/>
            </a:endParaRPr>
          </a:p>
        </p:txBody>
      </p:sp>
      <p:sp>
        <p:nvSpPr>
          <p:cNvPr id="987" name="Google Shape;987;p65"/>
          <p:cNvSpPr/>
          <p:nvPr/>
        </p:nvSpPr>
        <p:spPr>
          <a:xfrm>
            <a:off x="960120" y="2505456"/>
            <a:ext cx="2148840" cy="731520"/>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65"/>
          <p:cNvSpPr txBox="1"/>
          <p:nvPr/>
        </p:nvSpPr>
        <p:spPr>
          <a:xfrm>
            <a:off x="1060704" y="2587752"/>
            <a:ext cx="1947672" cy="56692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0A0C12"/>
                </a:solidFill>
                <a:latin typeface="Arial"/>
                <a:ea typeface="Arial"/>
                <a:cs typeface="Arial"/>
                <a:sym typeface="Arial"/>
              </a:rPr>
              <a:t>RESERVE</a:t>
            </a:r>
            <a:endParaRPr b="0" i="0" sz="1400" u="none" cap="none" strike="noStrike">
              <a:solidFill>
                <a:srgbClr val="000000"/>
              </a:solidFill>
              <a:latin typeface="Arial"/>
              <a:ea typeface="Arial"/>
              <a:cs typeface="Arial"/>
              <a:sym typeface="Arial"/>
            </a:endParaRPr>
          </a:p>
        </p:txBody>
      </p:sp>
      <p:sp>
        <p:nvSpPr>
          <p:cNvPr id="989" name="Google Shape;989;p65"/>
          <p:cNvSpPr/>
          <p:nvPr/>
        </p:nvSpPr>
        <p:spPr>
          <a:xfrm>
            <a:off x="3803904" y="2505456"/>
            <a:ext cx="2148840" cy="731520"/>
          </a:xfrm>
          <a:prstGeom prst="roundRect">
            <a:avLst>
              <a:gd fmla="val 16667" name="adj"/>
            </a:avLst>
          </a:prstGeom>
          <a:solidFill>
            <a:srgbClr val="E8A33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p65"/>
          <p:cNvSpPr txBox="1"/>
          <p:nvPr/>
        </p:nvSpPr>
        <p:spPr>
          <a:xfrm>
            <a:off x="3904488" y="2587752"/>
            <a:ext cx="1947672" cy="56692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0A0C12"/>
                </a:solidFill>
                <a:latin typeface="Arial"/>
                <a:ea typeface="Arial"/>
                <a:cs typeface="Arial"/>
                <a:sym typeface="Arial"/>
              </a:rPr>
              <a:t>AUTHORIZE</a:t>
            </a:r>
            <a:endParaRPr b="0" i="0" sz="1400" u="none" cap="none" strike="noStrike">
              <a:solidFill>
                <a:srgbClr val="000000"/>
              </a:solidFill>
              <a:latin typeface="Arial"/>
              <a:ea typeface="Arial"/>
              <a:cs typeface="Arial"/>
              <a:sym typeface="Arial"/>
            </a:endParaRPr>
          </a:p>
        </p:txBody>
      </p:sp>
      <p:sp>
        <p:nvSpPr>
          <p:cNvPr id="991" name="Google Shape;991;p65"/>
          <p:cNvSpPr/>
          <p:nvPr/>
        </p:nvSpPr>
        <p:spPr>
          <a:xfrm>
            <a:off x="6656832" y="2505456"/>
            <a:ext cx="2148840" cy="731520"/>
          </a:xfrm>
          <a:prstGeom prst="roundRect">
            <a:avLst>
              <a:gd fmla="val 16667" name="adj"/>
            </a:avLst>
          </a:prstGeom>
          <a:solidFill>
            <a:srgbClr val="83D4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2" name="Google Shape;992;p65"/>
          <p:cNvSpPr txBox="1"/>
          <p:nvPr/>
        </p:nvSpPr>
        <p:spPr>
          <a:xfrm>
            <a:off x="6757416" y="2587752"/>
            <a:ext cx="1947672" cy="56692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0A0C12"/>
                </a:solidFill>
                <a:latin typeface="Arial"/>
                <a:ea typeface="Arial"/>
                <a:cs typeface="Arial"/>
                <a:sym typeface="Arial"/>
              </a:rPr>
              <a:t>CONFIRM</a:t>
            </a:r>
            <a:endParaRPr b="0" i="0" sz="1400" u="none" cap="none" strike="noStrike">
              <a:solidFill>
                <a:srgbClr val="000000"/>
              </a:solidFill>
              <a:latin typeface="Arial"/>
              <a:ea typeface="Arial"/>
              <a:cs typeface="Arial"/>
              <a:sym typeface="Arial"/>
            </a:endParaRPr>
          </a:p>
        </p:txBody>
      </p:sp>
      <p:sp>
        <p:nvSpPr>
          <p:cNvPr id="993" name="Google Shape;993;p65"/>
          <p:cNvSpPr/>
          <p:nvPr/>
        </p:nvSpPr>
        <p:spPr>
          <a:xfrm>
            <a:off x="9509760" y="2505456"/>
            <a:ext cx="1682496" cy="731520"/>
          </a:xfrm>
          <a:prstGeom prst="roundRect">
            <a:avLst>
              <a:gd fmla="val 16667" name="adj"/>
            </a:avLst>
          </a:prstGeom>
          <a:solidFill>
            <a:srgbClr val="121721"/>
          </a:solidFill>
          <a:ln cap="flat" cmpd="sng" w="20300">
            <a:solidFill>
              <a:srgbClr val="303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4" name="Google Shape;994;p65"/>
          <p:cNvSpPr txBox="1"/>
          <p:nvPr/>
        </p:nvSpPr>
        <p:spPr>
          <a:xfrm>
            <a:off x="9610344" y="2587752"/>
            <a:ext cx="1481328" cy="56692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F5F3EE"/>
                </a:solidFill>
                <a:latin typeface="Arial"/>
                <a:ea typeface="Arial"/>
                <a:cs typeface="Arial"/>
                <a:sym typeface="Arial"/>
              </a:rPr>
              <a:t>DONE</a:t>
            </a:r>
            <a:endParaRPr b="0" i="0" sz="1400" u="none" cap="none" strike="noStrike">
              <a:solidFill>
                <a:srgbClr val="000000"/>
              </a:solidFill>
              <a:latin typeface="Arial"/>
              <a:ea typeface="Arial"/>
              <a:cs typeface="Arial"/>
              <a:sym typeface="Arial"/>
            </a:endParaRPr>
          </a:p>
        </p:txBody>
      </p:sp>
      <p:cxnSp>
        <p:nvCxnSpPr>
          <p:cNvPr id="995" name="Google Shape;995;p65"/>
          <p:cNvCxnSpPr/>
          <p:nvPr/>
        </p:nvCxnSpPr>
        <p:spPr>
          <a:xfrm>
            <a:off x="3182112" y="2871216"/>
            <a:ext cx="557784"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96" name="Google Shape;996;p65"/>
          <p:cNvCxnSpPr/>
          <p:nvPr/>
        </p:nvCxnSpPr>
        <p:spPr>
          <a:xfrm flipH="1">
            <a:off x="3646142" y="2871216"/>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97" name="Google Shape;997;p65"/>
          <p:cNvCxnSpPr/>
          <p:nvPr/>
        </p:nvCxnSpPr>
        <p:spPr>
          <a:xfrm rot="10800000">
            <a:off x="3646142" y="2823592"/>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98" name="Google Shape;998;p65"/>
          <p:cNvCxnSpPr/>
          <p:nvPr/>
        </p:nvCxnSpPr>
        <p:spPr>
          <a:xfrm>
            <a:off x="6035040" y="2871216"/>
            <a:ext cx="557784"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999" name="Google Shape;999;p65"/>
          <p:cNvCxnSpPr/>
          <p:nvPr/>
        </p:nvCxnSpPr>
        <p:spPr>
          <a:xfrm flipH="1">
            <a:off x="6499070" y="2871216"/>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00" name="Google Shape;1000;p65"/>
          <p:cNvCxnSpPr/>
          <p:nvPr/>
        </p:nvCxnSpPr>
        <p:spPr>
          <a:xfrm rot="10800000">
            <a:off x="6499070" y="2823592"/>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01" name="Google Shape;1001;p65"/>
          <p:cNvCxnSpPr/>
          <p:nvPr/>
        </p:nvCxnSpPr>
        <p:spPr>
          <a:xfrm>
            <a:off x="8887968" y="2871216"/>
            <a:ext cx="557784"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02" name="Google Shape;1002;p65"/>
          <p:cNvCxnSpPr/>
          <p:nvPr/>
        </p:nvCxnSpPr>
        <p:spPr>
          <a:xfrm flipH="1">
            <a:off x="9351998" y="2871216"/>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03" name="Google Shape;1003;p65"/>
          <p:cNvCxnSpPr/>
          <p:nvPr/>
        </p:nvCxnSpPr>
        <p:spPr>
          <a:xfrm rot="10800000">
            <a:off x="9351998" y="2823592"/>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sp>
        <p:nvSpPr>
          <p:cNvPr id="1004" name="Google Shape;1004;p65"/>
          <p:cNvSpPr/>
          <p:nvPr/>
        </p:nvSpPr>
        <p:spPr>
          <a:xfrm>
            <a:off x="1901952" y="3785615"/>
            <a:ext cx="8430768" cy="749808"/>
          </a:xfrm>
          <a:prstGeom prst="roundRect">
            <a:avLst>
              <a:gd fmla="val 16667" name="adj"/>
            </a:avLst>
          </a:prstGeom>
          <a:solidFill>
            <a:srgbClr val="121721"/>
          </a:solidFill>
          <a:ln cap="flat" cmpd="sng" w="15225">
            <a:solidFill>
              <a:srgbClr val="303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65"/>
          <p:cNvSpPr txBox="1"/>
          <p:nvPr/>
        </p:nvSpPr>
        <p:spPr>
          <a:xfrm>
            <a:off x="1984248" y="3950208"/>
            <a:ext cx="8266175" cy="42976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E8A33D"/>
                </a:solidFill>
                <a:latin typeface="Arial"/>
                <a:ea typeface="Arial"/>
                <a:cs typeface="Arial"/>
                <a:sym typeface="Arial"/>
              </a:rPr>
              <a:t>ON FAILURE:   RELEASE HOLD     •     COMPENSATE     •     ESCALATE</a:t>
            </a:r>
            <a:endParaRPr b="0" i="0" sz="1400" u="none" cap="none" strike="noStrike">
              <a:solidFill>
                <a:srgbClr val="000000"/>
              </a:solidFill>
              <a:latin typeface="Arial"/>
              <a:ea typeface="Arial"/>
              <a:cs typeface="Arial"/>
              <a:sym typeface="Arial"/>
            </a:endParaRPr>
          </a:p>
        </p:txBody>
      </p:sp>
      <p:sp>
        <p:nvSpPr>
          <p:cNvPr id="1006" name="Google Shape;1006;p65"/>
          <p:cNvSpPr txBox="1"/>
          <p:nvPr/>
        </p:nvSpPr>
        <p:spPr>
          <a:xfrm>
            <a:off x="1051560" y="4837176"/>
            <a:ext cx="10149840" cy="475488"/>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900"/>
              <a:buFont typeface="Arial"/>
              <a:buNone/>
            </a:pPr>
            <a:r>
              <a:rPr b="0" i="0" lang="en-US" sz="1900" u="none" cap="none" strike="noStrike">
                <a:solidFill>
                  <a:srgbClr val="F5F3EE"/>
                </a:solidFill>
                <a:latin typeface="Arial"/>
                <a:ea typeface="Arial"/>
                <a:cs typeface="Arial"/>
                <a:sym typeface="Arial"/>
              </a:rPr>
              <a:t>A model proposes; policy and application logic commit.</a:t>
            </a:r>
            <a:endParaRPr b="0" i="0" sz="1400" u="none" cap="none" strike="noStrike">
              <a:solidFill>
                <a:srgbClr val="000000"/>
              </a:solidFill>
              <a:latin typeface="Arial"/>
              <a:ea typeface="Arial"/>
              <a:cs typeface="Arial"/>
              <a:sym typeface="Arial"/>
            </a:endParaRPr>
          </a:p>
        </p:txBody>
      </p:sp>
      <p:sp>
        <p:nvSpPr>
          <p:cNvPr id="1007" name="Google Shape;1007;p65"/>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011" name="Shape 1011"/>
        <p:cNvGrpSpPr/>
        <p:nvPr/>
      </p:nvGrpSpPr>
      <p:grpSpPr>
        <a:xfrm>
          <a:off x="0" y="0"/>
          <a:ext cx="0" cy="0"/>
          <a:chOff x="0" y="0"/>
          <a:chExt cx="0" cy="0"/>
        </a:xfrm>
      </p:grpSpPr>
      <p:sp>
        <p:nvSpPr>
          <p:cNvPr id="1012" name="Google Shape;1012;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sp>
        <p:nvSpPr>
          <p:cNvPr id="1013" name="Google Shape;1013;p6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1014" name="Google Shape;1014;p6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1015" name="Google Shape;1015;p6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b="1" sz="2400"/>
          </a:p>
        </p:txBody>
      </p:sp>
      <p:sp>
        <p:nvSpPr>
          <p:cNvPr id="1016" name="Google Shape;1016;p6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480"/>
              </a:spcBef>
              <a:spcAft>
                <a:spcPts val="0"/>
              </a:spcAft>
              <a:buClr>
                <a:schemeClr val="dk1"/>
              </a:buClr>
              <a:buSzPts val="2400"/>
              <a:buNone/>
            </a:pPr>
            <a:r>
              <a:t/>
            </a:r>
            <a:endParaRPr sz="2400"/>
          </a:p>
        </p:txBody>
      </p:sp>
      <p:sp>
        <p:nvSpPr>
          <p:cNvPr id="1017" name="Google Shape;1017;p66"/>
          <p:cNvSpPr txBox="1"/>
          <p:nvPr/>
        </p:nvSpPr>
        <p:spPr>
          <a:xfrm>
            <a:off x="731520" y="521207"/>
            <a:ext cx="10789920" cy="292608"/>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EVENT-DRIVEN AGENT PATTERNS</a:t>
            </a:r>
            <a:endParaRPr b="0" i="0" sz="1400" u="none" cap="none" strike="noStrike">
              <a:solidFill>
                <a:srgbClr val="000000"/>
              </a:solidFill>
              <a:latin typeface="Arial"/>
              <a:ea typeface="Arial"/>
              <a:cs typeface="Arial"/>
              <a:sym typeface="Arial"/>
            </a:endParaRPr>
          </a:p>
        </p:txBody>
      </p:sp>
      <p:sp>
        <p:nvSpPr>
          <p:cNvPr id="1018" name="Google Shape;1018;p66"/>
          <p:cNvSpPr txBox="1"/>
          <p:nvPr/>
        </p:nvSpPr>
        <p:spPr>
          <a:xfrm>
            <a:off x="731520" y="932688"/>
            <a:ext cx="10972800" cy="64008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PATTERN 13  /  Closed-loop autonomous control</a:t>
            </a:r>
            <a:endParaRPr b="0" i="0" sz="1400" u="none" cap="none" strike="noStrike">
              <a:solidFill>
                <a:srgbClr val="000000"/>
              </a:solidFill>
              <a:latin typeface="Arial"/>
              <a:ea typeface="Arial"/>
              <a:cs typeface="Arial"/>
              <a:sym typeface="Arial"/>
            </a:endParaRPr>
          </a:p>
        </p:txBody>
      </p:sp>
      <p:sp>
        <p:nvSpPr>
          <p:cNvPr id="1019" name="Google Shape;1019;p66"/>
          <p:cNvSpPr txBox="1"/>
          <p:nvPr/>
        </p:nvSpPr>
        <p:spPr>
          <a:xfrm>
            <a:off x="758952" y="1645920"/>
            <a:ext cx="10789920" cy="35661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Agents can react to the outcomes of their own previous actions.</a:t>
            </a:r>
            <a:endParaRPr b="0" i="0" sz="1400" u="none" cap="none" strike="noStrike">
              <a:solidFill>
                <a:srgbClr val="000000"/>
              </a:solidFill>
              <a:latin typeface="Arial"/>
              <a:ea typeface="Arial"/>
              <a:cs typeface="Arial"/>
              <a:sym typeface="Arial"/>
            </a:endParaRPr>
          </a:p>
        </p:txBody>
      </p:sp>
      <p:sp>
        <p:nvSpPr>
          <p:cNvPr id="1020" name="Google Shape;1020;p66"/>
          <p:cNvSpPr/>
          <p:nvPr/>
        </p:nvSpPr>
        <p:spPr>
          <a:xfrm>
            <a:off x="758952" y="5907024"/>
            <a:ext cx="10652760" cy="7315"/>
          </a:xfrm>
          <a:prstGeom prst="rect">
            <a:avLst/>
          </a:prstGeom>
          <a:solidFill>
            <a:srgbClr val="303B4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66"/>
          <p:cNvSpPr txBox="1"/>
          <p:nvPr/>
        </p:nvSpPr>
        <p:spPr>
          <a:xfrm>
            <a:off x="786384" y="5998464"/>
            <a:ext cx="105612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A8AFBF"/>
                </a:solidFill>
                <a:latin typeface="Arial"/>
                <a:ea typeface="Arial"/>
                <a:cs typeface="Arial"/>
                <a:sym typeface="Arial"/>
              </a:rPr>
              <a:t>THE DANGER   Need a damping and a kill switch, without it the feedback loop is unpredictable</a:t>
            </a:r>
            <a:endParaRPr b="0" i="0" sz="1400" u="none" cap="none" strike="noStrike">
              <a:solidFill>
                <a:srgbClr val="000000"/>
              </a:solidFill>
              <a:latin typeface="Arial"/>
              <a:ea typeface="Arial"/>
              <a:cs typeface="Arial"/>
              <a:sym typeface="Arial"/>
            </a:endParaRPr>
          </a:p>
        </p:txBody>
      </p:sp>
      <p:sp>
        <p:nvSpPr>
          <p:cNvPr id="1022" name="Google Shape;1022;p66"/>
          <p:cNvSpPr txBox="1"/>
          <p:nvPr/>
        </p:nvSpPr>
        <p:spPr>
          <a:xfrm>
            <a:off x="11530584" y="6437376"/>
            <a:ext cx="429768" cy="256032"/>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35</a:t>
            </a:r>
            <a:endParaRPr b="0" i="0" sz="1400" u="none" cap="none" strike="noStrike">
              <a:solidFill>
                <a:srgbClr val="000000"/>
              </a:solidFill>
              <a:latin typeface="Arial"/>
              <a:ea typeface="Arial"/>
              <a:cs typeface="Arial"/>
              <a:sym typeface="Arial"/>
            </a:endParaRPr>
          </a:p>
        </p:txBody>
      </p:sp>
      <p:sp>
        <p:nvSpPr>
          <p:cNvPr id="1023" name="Google Shape;1023;p66"/>
          <p:cNvSpPr/>
          <p:nvPr/>
        </p:nvSpPr>
        <p:spPr>
          <a:xfrm>
            <a:off x="941832" y="2523744"/>
            <a:ext cx="1975104" cy="850392"/>
          </a:xfrm>
          <a:prstGeom prst="roundRect">
            <a:avLst>
              <a:gd fmla="val 16667" name="adj"/>
            </a:avLst>
          </a:prstGeom>
          <a:solidFill>
            <a:srgbClr val="6FD3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66"/>
          <p:cNvSpPr txBox="1"/>
          <p:nvPr/>
        </p:nvSpPr>
        <p:spPr>
          <a:xfrm>
            <a:off x="1042416" y="2606039"/>
            <a:ext cx="1773936" cy="6858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0A0C12"/>
                </a:solidFill>
                <a:latin typeface="Arial"/>
                <a:ea typeface="Arial"/>
                <a:cs typeface="Arial"/>
                <a:sym typeface="Arial"/>
              </a:rPr>
              <a:t>SIGNAL</a:t>
            </a:r>
            <a:endParaRPr b="0" i="0" sz="1400" u="none" cap="none" strike="noStrike">
              <a:solidFill>
                <a:srgbClr val="000000"/>
              </a:solidFill>
              <a:latin typeface="Arial"/>
              <a:ea typeface="Arial"/>
              <a:cs typeface="Arial"/>
              <a:sym typeface="Arial"/>
            </a:endParaRPr>
          </a:p>
        </p:txBody>
      </p:sp>
      <p:sp>
        <p:nvSpPr>
          <p:cNvPr id="1025" name="Google Shape;1025;p66"/>
          <p:cNvSpPr/>
          <p:nvPr/>
        </p:nvSpPr>
        <p:spPr>
          <a:xfrm>
            <a:off x="3438144" y="2523744"/>
            <a:ext cx="2029968" cy="850392"/>
          </a:xfrm>
          <a:prstGeom prst="roundRect">
            <a:avLst>
              <a:gd fmla="val 16667" name="adj"/>
            </a:avLst>
          </a:prstGeom>
          <a:solidFill>
            <a:srgbClr val="161D29"/>
          </a:solidFill>
          <a:ln cap="flat" cmpd="sng" w="2030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66"/>
          <p:cNvSpPr txBox="1"/>
          <p:nvPr/>
        </p:nvSpPr>
        <p:spPr>
          <a:xfrm>
            <a:off x="3538727" y="2606039"/>
            <a:ext cx="1828800" cy="6858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E8A33D"/>
                </a:solidFill>
                <a:latin typeface="Arial"/>
                <a:ea typeface="Arial"/>
                <a:cs typeface="Arial"/>
                <a:sym typeface="Arial"/>
              </a:rPr>
              <a:t>AGENT</a:t>
            </a:r>
            <a:endParaRPr b="0" i="0" sz="1400" u="none" cap="none" strike="noStrike">
              <a:solidFill>
                <a:srgbClr val="000000"/>
              </a:solidFill>
              <a:latin typeface="Arial"/>
              <a:ea typeface="Arial"/>
              <a:cs typeface="Arial"/>
              <a:sym typeface="Arial"/>
            </a:endParaRPr>
          </a:p>
        </p:txBody>
      </p:sp>
      <p:sp>
        <p:nvSpPr>
          <p:cNvPr id="1027" name="Google Shape;1027;p66"/>
          <p:cNvSpPr/>
          <p:nvPr/>
        </p:nvSpPr>
        <p:spPr>
          <a:xfrm>
            <a:off x="6016752" y="2523744"/>
            <a:ext cx="2066543" cy="850392"/>
          </a:xfrm>
          <a:prstGeom prst="roundRect">
            <a:avLst>
              <a:gd fmla="val 16667" name="adj"/>
            </a:avLst>
          </a:prstGeom>
          <a:solidFill>
            <a:srgbClr val="E8A33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8" name="Google Shape;1028;p66"/>
          <p:cNvSpPr txBox="1"/>
          <p:nvPr/>
        </p:nvSpPr>
        <p:spPr>
          <a:xfrm>
            <a:off x="6117336" y="2606039"/>
            <a:ext cx="1865375" cy="6858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0A0C12"/>
                </a:solidFill>
                <a:latin typeface="Arial"/>
                <a:ea typeface="Arial"/>
                <a:cs typeface="Arial"/>
                <a:sym typeface="Arial"/>
              </a:rPr>
              <a:t>POLICY GATE</a:t>
            </a:r>
            <a:endParaRPr b="0" i="0" sz="1400" u="none" cap="none" strike="noStrike">
              <a:solidFill>
                <a:srgbClr val="000000"/>
              </a:solidFill>
              <a:latin typeface="Arial"/>
              <a:ea typeface="Arial"/>
              <a:cs typeface="Arial"/>
              <a:sym typeface="Arial"/>
            </a:endParaRPr>
          </a:p>
        </p:txBody>
      </p:sp>
      <p:sp>
        <p:nvSpPr>
          <p:cNvPr id="1029" name="Google Shape;1029;p66"/>
          <p:cNvSpPr/>
          <p:nvPr/>
        </p:nvSpPr>
        <p:spPr>
          <a:xfrm>
            <a:off x="8595360" y="2523744"/>
            <a:ext cx="2459736" cy="850392"/>
          </a:xfrm>
          <a:prstGeom prst="roundRect">
            <a:avLst>
              <a:gd fmla="val 16667" name="adj"/>
            </a:avLst>
          </a:prstGeom>
          <a:solidFill>
            <a:srgbClr val="83D4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66"/>
          <p:cNvSpPr txBox="1"/>
          <p:nvPr/>
        </p:nvSpPr>
        <p:spPr>
          <a:xfrm>
            <a:off x="8695944" y="2606039"/>
            <a:ext cx="2258568" cy="6858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600"/>
              <a:buFont typeface="Arial"/>
              <a:buNone/>
            </a:pPr>
            <a:r>
              <a:rPr b="1" i="0" lang="en-US" sz="1600" u="none" cap="none" strike="noStrike">
                <a:solidFill>
                  <a:srgbClr val="0A0C12"/>
                </a:solidFill>
                <a:latin typeface="Arial"/>
                <a:ea typeface="Arial"/>
                <a:cs typeface="Arial"/>
                <a:sym typeface="Arial"/>
              </a:rPr>
              <a:t>ACTION</a:t>
            </a:r>
            <a:endParaRPr b="0" i="0" sz="1400" u="none" cap="none" strike="noStrike">
              <a:solidFill>
                <a:srgbClr val="000000"/>
              </a:solidFill>
              <a:latin typeface="Arial"/>
              <a:ea typeface="Arial"/>
              <a:cs typeface="Arial"/>
              <a:sym typeface="Arial"/>
            </a:endParaRPr>
          </a:p>
        </p:txBody>
      </p:sp>
      <p:cxnSp>
        <p:nvCxnSpPr>
          <p:cNvPr id="1031" name="Google Shape;1031;p66"/>
          <p:cNvCxnSpPr/>
          <p:nvPr/>
        </p:nvCxnSpPr>
        <p:spPr>
          <a:xfrm>
            <a:off x="2962656" y="2944368"/>
            <a:ext cx="411480"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32" name="Google Shape;1032;p66"/>
          <p:cNvCxnSpPr/>
          <p:nvPr/>
        </p:nvCxnSpPr>
        <p:spPr>
          <a:xfrm flipH="1">
            <a:off x="3280382" y="2944368"/>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33" name="Google Shape;1033;p66"/>
          <p:cNvCxnSpPr/>
          <p:nvPr/>
        </p:nvCxnSpPr>
        <p:spPr>
          <a:xfrm rot="10800000">
            <a:off x="3280382" y="2896744"/>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34" name="Google Shape;1034;p66"/>
          <p:cNvCxnSpPr/>
          <p:nvPr/>
        </p:nvCxnSpPr>
        <p:spPr>
          <a:xfrm>
            <a:off x="5513832" y="2944368"/>
            <a:ext cx="438912"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35" name="Google Shape;1035;p66"/>
          <p:cNvCxnSpPr/>
          <p:nvPr/>
        </p:nvCxnSpPr>
        <p:spPr>
          <a:xfrm flipH="1">
            <a:off x="5858990" y="2944368"/>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36" name="Google Shape;1036;p66"/>
          <p:cNvCxnSpPr/>
          <p:nvPr/>
        </p:nvCxnSpPr>
        <p:spPr>
          <a:xfrm rot="10800000">
            <a:off x="5858990" y="2896744"/>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37" name="Google Shape;1037;p66"/>
          <p:cNvCxnSpPr/>
          <p:nvPr/>
        </p:nvCxnSpPr>
        <p:spPr>
          <a:xfrm>
            <a:off x="8147304" y="2944368"/>
            <a:ext cx="384048" cy="0"/>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38" name="Google Shape;1038;p66"/>
          <p:cNvCxnSpPr/>
          <p:nvPr/>
        </p:nvCxnSpPr>
        <p:spPr>
          <a:xfrm flipH="1">
            <a:off x="8437598" y="2944368"/>
            <a:ext cx="93754" cy="47623"/>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39" name="Google Shape;1039;p66"/>
          <p:cNvCxnSpPr/>
          <p:nvPr/>
        </p:nvCxnSpPr>
        <p:spPr>
          <a:xfrm rot="10800000">
            <a:off x="8437598" y="2896744"/>
            <a:ext cx="93754" cy="47624"/>
          </a:xfrm>
          <a:prstGeom prst="straightConnector1">
            <a:avLst/>
          </a:prstGeom>
          <a:noFill/>
          <a:ln cap="flat" cmpd="sng" w="2665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040" name="Google Shape;1040;p66"/>
          <p:cNvCxnSpPr/>
          <p:nvPr/>
        </p:nvCxnSpPr>
        <p:spPr>
          <a:xfrm>
            <a:off x="9784080" y="3465576"/>
            <a:ext cx="0" cy="685800"/>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1041" name="Google Shape;1041;p66"/>
          <p:cNvCxnSpPr/>
          <p:nvPr/>
        </p:nvCxnSpPr>
        <p:spPr>
          <a:xfrm rot="10800000">
            <a:off x="9736456" y="4057622"/>
            <a:ext cx="47624" cy="93754"/>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1042" name="Google Shape;1042;p66"/>
          <p:cNvCxnSpPr/>
          <p:nvPr/>
        </p:nvCxnSpPr>
        <p:spPr>
          <a:xfrm flipH="1" rot="10800000">
            <a:off x="9784080" y="4057622"/>
            <a:ext cx="47623" cy="93754"/>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1043" name="Google Shape;1043;p66"/>
          <p:cNvCxnSpPr/>
          <p:nvPr/>
        </p:nvCxnSpPr>
        <p:spPr>
          <a:xfrm rot="10800000">
            <a:off x="1975104" y="4151376"/>
            <a:ext cx="7808976" cy="0"/>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1044" name="Google Shape;1044;p66"/>
          <p:cNvCxnSpPr/>
          <p:nvPr/>
        </p:nvCxnSpPr>
        <p:spPr>
          <a:xfrm flipH="1" rot="10800000">
            <a:off x="1975104" y="4103752"/>
            <a:ext cx="93753" cy="47624"/>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1045" name="Google Shape;1045;p66"/>
          <p:cNvCxnSpPr/>
          <p:nvPr/>
        </p:nvCxnSpPr>
        <p:spPr>
          <a:xfrm>
            <a:off x="1975104" y="4151376"/>
            <a:ext cx="93753" cy="47623"/>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1046" name="Google Shape;1046;p66"/>
          <p:cNvCxnSpPr/>
          <p:nvPr/>
        </p:nvCxnSpPr>
        <p:spPr>
          <a:xfrm rot="10800000">
            <a:off x="1975104" y="3483864"/>
            <a:ext cx="0" cy="667512"/>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1047" name="Google Shape;1047;p66"/>
          <p:cNvCxnSpPr/>
          <p:nvPr/>
        </p:nvCxnSpPr>
        <p:spPr>
          <a:xfrm>
            <a:off x="1975104" y="3483864"/>
            <a:ext cx="47623" cy="93753"/>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cxnSp>
        <p:nvCxnSpPr>
          <p:cNvPr id="1048" name="Google Shape;1048;p66"/>
          <p:cNvCxnSpPr/>
          <p:nvPr/>
        </p:nvCxnSpPr>
        <p:spPr>
          <a:xfrm flipH="1">
            <a:off x="1927480" y="3483864"/>
            <a:ext cx="47624" cy="93753"/>
          </a:xfrm>
          <a:prstGeom prst="straightConnector1">
            <a:avLst/>
          </a:prstGeom>
          <a:noFill/>
          <a:ln cap="flat" cmpd="sng" w="20300">
            <a:solidFill>
              <a:srgbClr val="83D4A0"/>
            </a:solidFill>
            <a:prstDash val="solid"/>
            <a:round/>
            <a:headEnd len="sm" w="sm" type="none"/>
            <a:tailEnd len="sm" w="sm" type="none"/>
          </a:ln>
          <a:effectLst>
            <a:outerShdw blurRad="40000" rotWithShape="0" dir="5400000" dist="20000">
              <a:srgbClr val="000000">
                <a:alpha val="38039"/>
              </a:srgbClr>
            </a:outerShdw>
          </a:effectLst>
        </p:spPr>
      </p:cxnSp>
      <p:sp>
        <p:nvSpPr>
          <p:cNvPr id="1049" name="Google Shape;1049;p66"/>
          <p:cNvSpPr/>
          <p:nvPr/>
        </p:nvSpPr>
        <p:spPr>
          <a:xfrm>
            <a:off x="3886200" y="3959352"/>
            <a:ext cx="3840480" cy="429768"/>
          </a:xfrm>
          <a:prstGeom prst="roundRect">
            <a:avLst>
              <a:gd fmla="val 16667" name="adj"/>
            </a:avLst>
          </a:prstGeom>
          <a:solidFill>
            <a:srgbClr val="121721"/>
          </a:solidFill>
          <a:ln cap="flat" cmpd="sng" w="15225">
            <a:solidFill>
              <a:srgbClr val="303B4C"/>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66"/>
          <p:cNvSpPr txBox="1"/>
          <p:nvPr/>
        </p:nvSpPr>
        <p:spPr>
          <a:xfrm>
            <a:off x="3922776" y="4005072"/>
            <a:ext cx="3758184" cy="32004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83D4A0"/>
                </a:solidFill>
                <a:latin typeface="Arial"/>
                <a:ea typeface="Arial"/>
                <a:cs typeface="Arial"/>
                <a:sym typeface="Arial"/>
              </a:rPr>
              <a:t>OUTCOME EVENT  /  OBSERVE AGAIN</a:t>
            </a:r>
            <a:endParaRPr b="0" i="0" sz="1400" u="none" cap="none" strike="noStrike">
              <a:solidFill>
                <a:srgbClr val="000000"/>
              </a:solidFill>
              <a:latin typeface="Arial"/>
              <a:ea typeface="Arial"/>
              <a:cs typeface="Arial"/>
              <a:sym typeface="Arial"/>
            </a:endParaRPr>
          </a:p>
        </p:txBody>
      </p:sp>
      <p:sp>
        <p:nvSpPr>
          <p:cNvPr id="1051" name="Google Shape;1051;p66"/>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pic>
        <p:nvPicPr>
          <p:cNvPr descr="image.gif" id="1056" name="Google Shape;1056;p67"/>
          <p:cNvPicPr preferRelativeResize="0"/>
          <p:nvPr/>
        </p:nvPicPr>
        <p:blipFill rotWithShape="1">
          <a:blip r:embed="rId3">
            <a:alphaModFix/>
          </a:blip>
          <a:srcRect b="0" l="0" r="0" t="0"/>
          <a:stretch/>
        </p:blipFill>
        <p:spPr>
          <a:xfrm>
            <a:off x="-442763" y="-266900"/>
            <a:ext cx="12634438" cy="7124900"/>
          </a:xfrm>
          <a:prstGeom prst="rect">
            <a:avLst/>
          </a:prstGeom>
          <a:noFill/>
          <a:ln>
            <a:noFill/>
          </a:ln>
        </p:spPr>
      </p:pic>
      <p:sp>
        <p:nvSpPr>
          <p:cNvPr id="1057" name="Google Shape;1057;p67"/>
          <p:cNvSpPr txBox="1"/>
          <p:nvPr/>
        </p:nvSpPr>
        <p:spPr>
          <a:xfrm>
            <a:off x="896100" y="2164850"/>
            <a:ext cx="80127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500"/>
              <a:buFont typeface="Arial"/>
              <a:buNone/>
            </a:pPr>
            <a:r>
              <a:rPr b="1" i="0" lang="en-US" sz="4500" u="none" cap="none" strike="noStrike">
                <a:solidFill>
                  <a:schemeClr val="lt2"/>
                </a:solidFill>
                <a:latin typeface="Calibri"/>
                <a:ea typeface="Calibri"/>
                <a:cs typeface="Calibri"/>
                <a:sym typeface="Calibri"/>
              </a:rPr>
              <a:t>Can the System</a:t>
            </a:r>
            <a:endParaRPr b="1" i="0" sz="4500" u="none" cap="none" strike="noStrike">
              <a:solidFill>
                <a:schemeClr val="lt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500"/>
              <a:buFont typeface="Arial"/>
              <a:buNone/>
            </a:pPr>
            <a:r>
              <a:rPr b="1" i="0" lang="en-US" sz="4500" u="none" cap="none" strike="noStrike">
                <a:solidFill>
                  <a:schemeClr val="lt2"/>
                </a:solidFill>
                <a:latin typeface="Calibri"/>
                <a:ea typeface="Calibri"/>
                <a:cs typeface="Calibri"/>
                <a:sym typeface="Calibri"/>
              </a:rPr>
              <a:t> handle this?</a:t>
            </a:r>
            <a:endParaRPr b="1" i="0" sz="4500" u="none" cap="none" strike="noStrike">
              <a:solidFill>
                <a:schemeClr val="lt2"/>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11E"/>
        </a:solidFill>
      </p:bgPr>
    </p:bg>
    <p:spTree>
      <p:nvGrpSpPr>
        <p:cNvPr id="1062" name="Shape 1062"/>
        <p:cNvGrpSpPr/>
        <p:nvPr/>
      </p:nvGrpSpPr>
      <p:grpSpPr>
        <a:xfrm>
          <a:off x="0" y="0"/>
          <a:ext cx="0" cy="0"/>
          <a:chOff x="0" y="0"/>
          <a:chExt cx="0" cy="0"/>
        </a:xfrm>
      </p:grpSpPr>
      <p:sp>
        <p:nvSpPr>
          <p:cNvPr id="1063" name="Google Shape;1063;hd1b175b31137957_0_152"/>
          <p:cNvSpPr/>
          <p:nvPr/>
        </p:nvSpPr>
        <p:spPr>
          <a:xfrm>
            <a:off x="0" y="0"/>
            <a:ext cx="12191400" cy="41100"/>
          </a:xfrm>
          <a:prstGeom prst="rect">
            <a:avLst/>
          </a:prstGeom>
          <a:solidFill>
            <a:srgbClr val="69E9BE"/>
          </a:solidFill>
          <a:ln cap="flat" cmpd="sng" w="12700">
            <a:solidFill>
              <a:srgbClr val="69E9B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hd1b175b31137957_0_152"/>
          <p:cNvSpPr/>
          <p:nvPr/>
        </p:nvSpPr>
        <p:spPr>
          <a:xfrm>
            <a:off x="658350" y="356616"/>
            <a:ext cx="91437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9E9BE"/>
              </a:buClr>
              <a:buSzPts val="1060"/>
              <a:buFont typeface="Inter"/>
              <a:buNone/>
            </a:pPr>
            <a:r>
              <a:rPr b="1" i="0" lang="en-US" sz="1060" u="none" cap="none" strike="noStrike">
                <a:solidFill>
                  <a:srgbClr val="69E9BE"/>
                </a:solidFill>
                <a:latin typeface="Inter"/>
                <a:ea typeface="Inter"/>
                <a:cs typeface="Inter"/>
                <a:sym typeface="Inter"/>
              </a:rPr>
              <a:t>MESSAGING SYSTEMS  /  AGENTIC WORKFLOWS</a:t>
            </a:r>
            <a:endParaRPr b="0" i="0" sz="1060" u="none" cap="none" strike="noStrike">
              <a:solidFill>
                <a:schemeClr val="dk1"/>
              </a:solidFill>
              <a:latin typeface="Inter"/>
              <a:ea typeface="Inter"/>
              <a:cs typeface="Inter"/>
              <a:sym typeface="Inter"/>
            </a:endParaRPr>
          </a:p>
        </p:txBody>
      </p:sp>
      <p:sp>
        <p:nvSpPr>
          <p:cNvPr id="1065" name="Google Shape;1065;hd1b175b31137957_0_152"/>
          <p:cNvSpPr/>
          <p:nvPr/>
        </p:nvSpPr>
        <p:spPr>
          <a:xfrm>
            <a:off x="658350" y="731520"/>
            <a:ext cx="10972500" cy="466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2940"/>
              <a:buFont typeface="Inter"/>
              <a:buNone/>
            </a:pPr>
            <a:r>
              <a:rPr b="1" i="0" lang="en-US" sz="2940" u="none" cap="none" strike="noStrike">
                <a:solidFill>
                  <a:srgbClr val="F4F7FC"/>
                </a:solidFill>
                <a:latin typeface="Inter"/>
                <a:ea typeface="Inter"/>
                <a:cs typeface="Inter"/>
                <a:sym typeface="Inter"/>
              </a:rPr>
              <a:t>What changes when the consumer is an agent?</a:t>
            </a:r>
            <a:endParaRPr b="0" i="0" sz="2940" u="none" cap="none" strike="noStrike">
              <a:solidFill>
                <a:schemeClr val="dk1"/>
              </a:solidFill>
              <a:latin typeface="Inter"/>
              <a:ea typeface="Inter"/>
              <a:cs typeface="Inter"/>
              <a:sym typeface="Inter"/>
            </a:endParaRPr>
          </a:p>
        </p:txBody>
      </p:sp>
      <p:sp>
        <p:nvSpPr>
          <p:cNvPr id="1066" name="Google Shape;1066;hd1b175b31137957_0_152"/>
          <p:cNvSpPr/>
          <p:nvPr/>
        </p:nvSpPr>
        <p:spPr>
          <a:xfrm>
            <a:off x="676638" y="1261872"/>
            <a:ext cx="10789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AC7D7"/>
              </a:buClr>
              <a:buSzPts val="1430"/>
              <a:buFont typeface="Inter"/>
              <a:buNone/>
            </a:pPr>
            <a:r>
              <a:rPr b="0" i="0" lang="en-US" sz="1430" u="none" cap="none" strike="noStrike">
                <a:solidFill>
                  <a:srgbClr val="BAC7D7"/>
                </a:solidFill>
                <a:latin typeface="Inter"/>
                <a:ea typeface="Inter"/>
                <a:cs typeface="Inter"/>
                <a:sym typeface="Inter"/>
              </a:rPr>
              <a:t>The infrastructure is familiar. The failure modes are not.</a:t>
            </a:r>
            <a:endParaRPr b="0" i="0" sz="1430" u="none" cap="none" strike="noStrike">
              <a:solidFill>
                <a:schemeClr val="dk1"/>
              </a:solidFill>
              <a:latin typeface="Inter"/>
              <a:ea typeface="Inter"/>
              <a:cs typeface="Inter"/>
              <a:sym typeface="Inter"/>
            </a:endParaRPr>
          </a:p>
        </p:txBody>
      </p:sp>
      <p:sp>
        <p:nvSpPr>
          <p:cNvPr id="1067" name="Google Shape;1067;hd1b175b31137957_0_152"/>
          <p:cNvSpPr/>
          <p:nvPr/>
        </p:nvSpPr>
        <p:spPr>
          <a:xfrm>
            <a:off x="914376" y="1819656"/>
            <a:ext cx="2286000" cy="26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1A7"/>
              </a:buClr>
              <a:buSzPts val="1030"/>
              <a:buFont typeface="Inter"/>
              <a:buNone/>
            </a:pPr>
            <a:r>
              <a:rPr b="1" i="0" lang="en-US" sz="1030" u="none" cap="none" strike="noStrike">
                <a:solidFill>
                  <a:srgbClr val="7E91A7"/>
                </a:solidFill>
                <a:latin typeface="Inter"/>
                <a:ea typeface="Inter"/>
                <a:cs typeface="Inter"/>
                <a:sym typeface="Inter"/>
              </a:rPr>
              <a:t>FOUNDATIONAL GUARANTEE</a:t>
            </a:r>
            <a:endParaRPr b="0" i="0" sz="1030" u="none" cap="none" strike="noStrike">
              <a:solidFill>
                <a:schemeClr val="dk1"/>
              </a:solidFill>
              <a:latin typeface="Inter"/>
              <a:ea typeface="Inter"/>
              <a:cs typeface="Inter"/>
              <a:sym typeface="Inter"/>
            </a:endParaRPr>
          </a:p>
        </p:txBody>
      </p:sp>
      <p:sp>
        <p:nvSpPr>
          <p:cNvPr id="1068" name="Google Shape;1068;hd1b175b31137957_0_152"/>
          <p:cNvSpPr/>
          <p:nvPr/>
        </p:nvSpPr>
        <p:spPr>
          <a:xfrm>
            <a:off x="3538634" y="1819656"/>
            <a:ext cx="3703200" cy="26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1A7"/>
              </a:buClr>
              <a:buSzPts val="1030"/>
              <a:buFont typeface="Inter"/>
              <a:buNone/>
            </a:pPr>
            <a:r>
              <a:rPr b="1" i="0" lang="en-US" sz="1030" u="none" cap="none" strike="noStrike">
                <a:solidFill>
                  <a:srgbClr val="7E91A7"/>
                </a:solidFill>
                <a:latin typeface="Inter"/>
                <a:ea typeface="Inter"/>
                <a:cs typeface="Inter"/>
                <a:sym typeface="Inter"/>
              </a:rPr>
              <a:t>WHAT CHANGES WITH AGENTS</a:t>
            </a:r>
            <a:endParaRPr b="0" i="0" sz="1030" u="none" cap="none" strike="noStrike">
              <a:solidFill>
                <a:schemeClr val="dk1"/>
              </a:solidFill>
              <a:latin typeface="Inter"/>
              <a:ea typeface="Inter"/>
              <a:cs typeface="Inter"/>
              <a:sym typeface="Inter"/>
            </a:endParaRPr>
          </a:p>
        </p:txBody>
      </p:sp>
      <p:sp>
        <p:nvSpPr>
          <p:cNvPr id="1069" name="Google Shape;1069;hd1b175b31137957_0_152"/>
          <p:cNvSpPr/>
          <p:nvPr/>
        </p:nvSpPr>
        <p:spPr>
          <a:xfrm>
            <a:off x="7635036" y="1819656"/>
            <a:ext cx="3474600" cy="26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E91A7"/>
              </a:buClr>
              <a:buSzPts val="1030"/>
              <a:buFont typeface="Inter"/>
              <a:buNone/>
            </a:pPr>
            <a:r>
              <a:rPr b="1" i="0" lang="en-US" sz="1030" u="none" cap="none" strike="noStrike">
                <a:solidFill>
                  <a:srgbClr val="7E91A7"/>
                </a:solidFill>
                <a:latin typeface="Inter"/>
                <a:ea typeface="Inter"/>
                <a:cs typeface="Inter"/>
                <a:sym typeface="Inter"/>
              </a:rPr>
              <a:t>THE FLIGHT UPGRADE BOT</a:t>
            </a:r>
            <a:endParaRPr b="0" i="0" sz="1030" u="none" cap="none" strike="noStrike">
              <a:solidFill>
                <a:schemeClr val="dk1"/>
              </a:solidFill>
              <a:latin typeface="Inter"/>
              <a:ea typeface="Inter"/>
              <a:cs typeface="Inter"/>
              <a:sym typeface="Inter"/>
            </a:endParaRPr>
          </a:p>
        </p:txBody>
      </p:sp>
      <p:cxnSp>
        <p:nvCxnSpPr>
          <p:cNvPr id="1070" name="Google Shape;1070;hd1b175b31137957_0_152"/>
          <p:cNvCxnSpPr/>
          <p:nvPr/>
        </p:nvCxnSpPr>
        <p:spPr>
          <a:xfrm>
            <a:off x="640063" y="2194560"/>
            <a:ext cx="10908600" cy="0"/>
          </a:xfrm>
          <a:prstGeom prst="straightConnector1">
            <a:avLst/>
          </a:prstGeom>
          <a:noFill/>
          <a:ln cap="flat" cmpd="sng" w="13950">
            <a:solidFill>
              <a:srgbClr val="293849"/>
            </a:solidFill>
            <a:prstDash val="solid"/>
            <a:round/>
            <a:headEnd len="sm" w="sm" type="none"/>
            <a:tailEnd len="sm" w="sm" type="none"/>
          </a:ln>
        </p:spPr>
      </p:cxnSp>
      <p:sp>
        <p:nvSpPr>
          <p:cNvPr id="1071" name="Google Shape;1071;hd1b175b31137957_0_152"/>
          <p:cNvSpPr/>
          <p:nvPr/>
        </p:nvSpPr>
        <p:spPr>
          <a:xfrm>
            <a:off x="640063" y="2322576"/>
            <a:ext cx="10908600" cy="777300"/>
          </a:xfrm>
          <a:prstGeom prst="roundRect">
            <a:avLst>
              <a:gd fmla="val 16471" name="adj"/>
            </a:avLst>
          </a:prstGeom>
          <a:solidFill>
            <a:srgbClr val="111E2E"/>
          </a:solidFill>
          <a:ln cap="flat" cmpd="sng" w="12700">
            <a:solidFill>
              <a:srgbClr val="111E2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hd1b175b31137957_0_152"/>
          <p:cNvSpPr/>
          <p:nvPr/>
        </p:nvSpPr>
        <p:spPr>
          <a:xfrm>
            <a:off x="640063" y="2322576"/>
            <a:ext cx="59400" cy="777300"/>
          </a:xfrm>
          <a:prstGeom prst="rect">
            <a:avLst/>
          </a:prstGeom>
          <a:solidFill>
            <a:srgbClr val="69E9BE"/>
          </a:solidFill>
          <a:ln cap="flat" cmpd="sng" w="12700">
            <a:solidFill>
              <a:srgbClr val="69E9B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3" name="Google Shape;1073;hd1b175b31137957_0_152"/>
          <p:cNvSpPr/>
          <p:nvPr/>
        </p:nvSpPr>
        <p:spPr>
          <a:xfrm>
            <a:off x="914376" y="2510028"/>
            <a:ext cx="384000" cy="384000"/>
          </a:xfrm>
          <a:prstGeom prst="roundRect">
            <a:avLst>
              <a:gd fmla="val 23810" name="adj"/>
            </a:avLst>
          </a:prstGeom>
          <a:solidFill>
            <a:srgbClr val="1B3F3D"/>
          </a:solidFill>
          <a:ln cap="flat" cmpd="sng" w="12700">
            <a:solidFill>
              <a:srgbClr val="1B3F3D">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hd1b175b31137957_0_152"/>
          <p:cNvSpPr/>
          <p:nvPr/>
        </p:nvSpPr>
        <p:spPr>
          <a:xfrm>
            <a:off x="1040402" y="2551175"/>
            <a:ext cx="239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9E9BE"/>
              </a:buClr>
              <a:buSzPts val="1210"/>
              <a:buFont typeface="Inter"/>
              <a:buNone/>
            </a:pPr>
            <a:r>
              <a:rPr b="1" i="0" lang="en-US" sz="1210" u="none" cap="none" strike="noStrike">
                <a:solidFill>
                  <a:srgbClr val="69E9BE"/>
                </a:solidFill>
                <a:latin typeface="Inter"/>
                <a:ea typeface="Inter"/>
                <a:cs typeface="Inter"/>
                <a:sym typeface="Inter"/>
              </a:rPr>
              <a:t>01</a:t>
            </a:r>
            <a:endParaRPr b="0" i="0" sz="1210" u="none" cap="none" strike="noStrike">
              <a:solidFill>
                <a:schemeClr val="dk1"/>
              </a:solidFill>
              <a:latin typeface="Inter"/>
              <a:ea typeface="Inter"/>
              <a:cs typeface="Inter"/>
              <a:sym typeface="Inter"/>
            </a:endParaRPr>
          </a:p>
        </p:txBody>
      </p:sp>
      <p:sp>
        <p:nvSpPr>
          <p:cNvPr id="1075" name="Google Shape;1075;hd1b175b31137957_0_152"/>
          <p:cNvSpPr/>
          <p:nvPr/>
        </p:nvSpPr>
        <p:spPr>
          <a:xfrm>
            <a:off x="1444713" y="2478024"/>
            <a:ext cx="16917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430"/>
              <a:buFont typeface="Inter"/>
              <a:buNone/>
            </a:pPr>
            <a:r>
              <a:rPr b="1" i="0" lang="en-US" sz="1430" u="none" cap="none" strike="noStrike">
                <a:solidFill>
                  <a:srgbClr val="F4F7FC"/>
                </a:solidFill>
                <a:latin typeface="Inter"/>
                <a:ea typeface="Inter"/>
                <a:cs typeface="Inter"/>
                <a:sym typeface="Inter"/>
              </a:rPr>
              <a:t>ORDERING</a:t>
            </a:r>
            <a:endParaRPr b="0" i="0" sz="1430" u="none" cap="none" strike="noStrike">
              <a:solidFill>
                <a:schemeClr val="dk1"/>
              </a:solidFill>
              <a:latin typeface="Inter"/>
              <a:ea typeface="Inter"/>
              <a:cs typeface="Inter"/>
              <a:sym typeface="Inter"/>
            </a:endParaRPr>
          </a:p>
        </p:txBody>
      </p:sp>
      <p:cxnSp>
        <p:nvCxnSpPr>
          <p:cNvPr id="1076" name="Google Shape;1076;hd1b175b31137957_0_152"/>
          <p:cNvCxnSpPr/>
          <p:nvPr/>
        </p:nvCxnSpPr>
        <p:spPr>
          <a:xfrm>
            <a:off x="3346615" y="2478024"/>
            <a:ext cx="0" cy="466200"/>
          </a:xfrm>
          <a:prstGeom prst="straightConnector1">
            <a:avLst/>
          </a:prstGeom>
          <a:noFill/>
          <a:ln cap="flat" cmpd="sng" w="10150">
            <a:solidFill>
              <a:srgbClr val="293849"/>
            </a:solidFill>
            <a:prstDash val="solid"/>
            <a:round/>
            <a:headEnd len="sm" w="sm" type="none"/>
            <a:tailEnd len="sm" w="sm" type="none"/>
          </a:ln>
        </p:spPr>
      </p:cxnSp>
      <p:cxnSp>
        <p:nvCxnSpPr>
          <p:cNvPr id="1077" name="Google Shape;1077;hd1b175b31137957_0_152"/>
          <p:cNvCxnSpPr/>
          <p:nvPr/>
        </p:nvCxnSpPr>
        <p:spPr>
          <a:xfrm>
            <a:off x="7461305" y="2478024"/>
            <a:ext cx="0" cy="466200"/>
          </a:xfrm>
          <a:prstGeom prst="straightConnector1">
            <a:avLst/>
          </a:prstGeom>
          <a:noFill/>
          <a:ln cap="flat" cmpd="sng" w="10150">
            <a:solidFill>
              <a:srgbClr val="293849"/>
            </a:solidFill>
            <a:prstDash val="solid"/>
            <a:round/>
            <a:headEnd len="sm" w="sm" type="none"/>
            <a:tailEnd len="sm" w="sm" type="none"/>
          </a:ln>
        </p:spPr>
      </p:cxnSp>
      <p:sp>
        <p:nvSpPr>
          <p:cNvPr id="1078" name="Google Shape;1078;hd1b175b31137957_0_152"/>
          <p:cNvSpPr/>
          <p:nvPr/>
        </p:nvSpPr>
        <p:spPr>
          <a:xfrm>
            <a:off x="3538634" y="2455164"/>
            <a:ext cx="36759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390"/>
              <a:buFont typeface="Inter"/>
              <a:buNone/>
            </a:pPr>
            <a:r>
              <a:rPr b="0" i="0" lang="en-US" sz="1390" u="none" cap="none" strike="noStrike">
                <a:solidFill>
                  <a:srgbClr val="F4F7FC"/>
                </a:solidFill>
                <a:latin typeface="Inter"/>
                <a:ea typeface="Inter"/>
                <a:cs typeface="Inter"/>
                <a:sym typeface="Inter"/>
              </a:rPr>
              <a:t>Events arrive in order, but decisions also depend on external observations.</a:t>
            </a:r>
            <a:endParaRPr b="0" i="0" sz="1390" u="none" cap="none" strike="noStrike">
              <a:solidFill>
                <a:schemeClr val="dk1"/>
              </a:solidFill>
              <a:latin typeface="Inter"/>
              <a:ea typeface="Inter"/>
              <a:cs typeface="Inter"/>
              <a:sym typeface="Inter"/>
            </a:endParaRPr>
          </a:p>
        </p:txBody>
      </p:sp>
      <p:sp>
        <p:nvSpPr>
          <p:cNvPr id="1079" name="Google Shape;1079;hd1b175b31137957_0_152"/>
          <p:cNvSpPr/>
          <p:nvPr/>
        </p:nvSpPr>
        <p:spPr>
          <a:xfrm>
            <a:off x="7635036" y="2455164"/>
            <a:ext cx="40692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AC7D7"/>
              </a:buClr>
              <a:buSzPts val="1380"/>
              <a:buFont typeface="Inter"/>
              <a:buNone/>
            </a:pPr>
            <a:r>
              <a:rPr b="0" i="0" lang="en-US" sz="1380" u="none" cap="none" strike="noStrike">
                <a:solidFill>
                  <a:srgbClr val="BAC7D7"/>
                </a:solidFill>
                <a:latin typeface="Inter"/>
                <a:ea typeface="Inter"/>
                <a:cs typeface="Inter"/>
                <a:sym typeface="Inter"/>
              </a:rPr>
              <a:t>Seat available when checked, gone before the bot books.</a:t>
            </a:r>
            <a:endParaRPr b="0" i="0" sz="1380" u="none" cap="none" strike="noStrike">
              <a:solidFill>
                <a:schemeClr val="dk1"/>
              </a:solidFill>
              <a:latin typeface="Inter"/>
              <a:ea typeface="Inter"/>
              <a:cs typeface="Inter"/>
              <a:sym typeface="Inter"/>
            </a:endParaRPr>
          </a:p>
        </p:txBody>
      </p:sp>
      <p:sp>
        <p:nvSpPr>
          <p:cNvPr id="1080" name="Google Shape;1080;hd1b175b31137957_0_152"/>
          <p:cNvSpPr/>
          <p:nvPr/>
        </p:nvSpPr>
        <p:spPr>
          <a:xfrm>
            <a:off x="640063" y="3218688"/>
            <a:ext cx="10908600" cy="777300"/>
          </a:xfrm>
          <a:prstGeom prst="roundRect">
            <a:avLst>
              <a:gd fmla="val 16471" name="adj"/>
            </a:avLst>
          </a:prstGeom>
          <a:solidFill>
            <a:srgbClr val="132134"/>
          </a:solidFill>
          <a:ln cap="flat" cmpd="sng" w="12700">
            <a:solidFill>
              <a:srgbClr val="13213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hd1b175b31137957_0_152"/>
          <p:cNvSpPr/>
          <p:nvPr/>
        </p:nvSpPr>
        <p:spPr>
          <a:xfrm>
            <a:off x="640063" y="3218688"/>
            <a:ext cx="59400" cy="777300"/>
          </a:xfrm>
          <a:prstGeom prst="rect">
            <a:avLst/>
          </a:prstGeom>
          <a:solidFill>
            <a:srgbClr val="BEACFF"/>
          </a:solidFill>
          <a:ln cap="flat" cmpd="sng" w="12700">
            <a:solidFill>
              <a:srgbClr val="BEAC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hd1b175b31137957_0_152"/>
          <p:cNvSpPr/>
          <p:nvPr/>
        </p:nvSpPr>
        <p:spPr>
          <a:xfrm>
            <a:off x="914376" y="3406140"/>
            <a:ext cx="384000" cy="384000"/>
          </a:xfrm>
          <a:prstGeom prst="roundRect">
            <a:avLst>
              <a:gd fmla="val 23810" name="adj"/>
            </a:avLst>
          </a:prstGeom>
          <a:solidFill>
            <a:srgbClr val="342F52"/>
          </a:solidFill>
          <a:ln cap="flat" cmpd="sng" w="12700">
            <a:solidFill>
              <a:srgbClr val="342F5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hd1b175b31137957_0_152"/>
          <p:cNvSpPr/>
          <p:nvPr/>
        </p:nvSpPr>
        <p:spPr>
          <a:xfrm>
            <a:off x="1040501" y="3447300"/>
            <a:ext cx="239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EACFF"/>
              </a:buClr>
              <a:buSzPts val="1210"/>
              <a:buFont typeface="Inter"/>
              <a:buNone/>
            </a:pPr>
            <a:r>
              <a:rPr b="1" i="0" lang="en-US" sz="1210" u="none" cap="none" strike="noStrike">
                <a:solidFill>
                  <a:srgbClr val="BEACFF"/>
                </a:solidFill>
                <a:latin typeface="Inter"/>
                <a:ea typeface="Inter"/>
                <a:cs typeface="Inter"/>
                <a:sym typeface="Inter"/>
              </a:rPr>
              <a:t>02</a:t>
            </a:r>
            <a:endParaRPr b="0" i="0" sz="1210" u="none" cap="none" strike="noStrike">
              <a:solidFill>
                <a:schemeClr val="dk1"/>
              </a:solidFill>
              <a:latin typeface="Inter"/>
              <a:ea typeface="Inter"/>
              <a:cs typeface="Inter"/>
              <a:sym typeface="Inter"/>
            </a:endParaRPr>
          </a:p>
        </p:txBody>
      </p:sp>
      <p:sp>
        <p:nvSpPr>
          <p:cNvPr id="1084" name="Google Shape;1084;hd1b175b31137957_0_152"/>
          <p:cNvSpPr/>
          <p:nvPr/>
        </p:nvSpPr>
        <p:spPr>
          <a:xfrm>
            <a:off x="1444713" y="3374136"/>
            <a:ext cx="16917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430"/>
              <a:buFont typeface="Inter"/>
              <a:buNone/>
            </a:pPr>
            <a:r>
              <a:rPr b="1" i="0" lang="en-US" sz="1430" u="none" cap="none" strike="noStrike">
                <a:solidFill>
                  <a:srgbClr val="F4F7FC"/>
                </a:solidFill>
                <a:latin typeface="Inter"/>
                <a:ea typeface="Inter"/>
                <a:cs typeface="Inter"/>
                <a:sym typeface="Inter"/>
              </a:rPr>
              <a:t>EXACTLY-ONCE</a:t>
            </a:r>
            <a:endParaRPr b="0" i="0" sz="1430" u="none" cap="none" strike="noStrike">
              <a:solidFill>
                <a:schemeClr val="dk1"/>
              </a:solidFill>
              <a:latin typeface="Inter"/>
              <a:ea typeface="Inter"/>
              <a:cs typeface="Inter"/>
              <a:sym typeface="Inter"/>
            </a:endParaRPr>
          </a:p>
        </p:txBody>
      </p:sp>
      <p:cxnSp>
        <p:nvCxnSpPr>
          <p:cNvPr id="1085" name="Google Shape;1085;hd1b175b31137957_0_152"/>
          <p:cNvCxnSpPr/>
          <p:nvPr/>
        </p:nvCxnSpPr>
        <p:spPr>
          <a:xfrm>
            <a:off x="3346615" y="3374136"/>
            <a:ext cx="0" cy="466200"/>
          </a:xfrm>
          <a:prstGeom prst="straightConnector1">
            <a:avLst/>
          </a:prstGeom>
          <a:noFill/>
          <a:ln cap="flat" cmpd="sng" w="10150">
            <a:solidFill>
              <a:srgbClr val="293849"/>
            </a:solidFill>
            <a:prstDash val="solid"/>
            <a:round/>
            <a:headEnd len="sm" w="sm" type="none"/>
            <a:tailEnd len="sm" w="sm" type="none"/>
          </a:ln>
        </p:spPr>
      </p:cxnSp>
      <p:cxnSp>
        <p:nvCxnSpPr>
          <p:cNvPr id="1086" name="Google Shape;1086;hd1b175b31137957_0_152"/>
          <p:cNvCxnSpPr/>
          <p:nvPr/>
        </p:nvCxnSpPr>
        <p:spPr>
          <a:xfrm>
            <a:off x="7461305" y="3374136"/>
            <a:ext cx="0" cy="466200"/>
          </a:xfrm>
          <a:prstGeom prst="straightConnector1">
            <a:avLst/>
          </a:prstGeom>
          <a:noFill/>
          <a:ln cap="flat" cmpd="sng" w="10150">
            <a:solidFill>
              <a:srgbClr val="293849"/>
            </a:solidFill>
            <a:prstDash val="solid"/>
            <a:round/>
            <a:headEnd len="sm" w="sm" type="none"/>
            <a:tailEnd len="sm" w="sm" type="none"/>
          </a:ln>
        </p:spPr>
      </p:cxnSp>
      <p:sp>
        <p:nvSpPr>
          <p:cNvPr id="1087" name="Google Shape;1087;hd1b175b31137957_0_152"/>
          <p:cNvSpPr/>
          <p:nvPr/>
        </p:nvSpPr>
        <p:spPr>
          <a:xfrm>
            <a:off x="3538634" y="3351276"/>
            <a:ext cx="36759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390"/>
              <a:buFont typeface="Inter"/>
              <a:buNone/>
            </a:pPr>
            <a:r>
              <a:rPr b="0" i="0" lang="en-US" sz="1390" u="none" cap="none" strike="noStrike">
                <a:solidFill>
                  <a:srgbClr val="F4F7FC"/>
                </a:solidFill>
                <a:latin typeface="Inter"/>
                <a:ea typeface="Inter"/>
                <a:cs typeface="Inter"/>
                <a:sym typeface="Inter"/>
              </a:rPr>
              <a:t>Processing guarantees don’t automatically cover external business actions.</a:t>
            </a:r>
            <a:endParaRPr b="0" i="0" sz="1390" u="none" cap="none" strike="noStrike">
              <a:solidFill>
                <a:schemeClr val="dk1"/>
              </a:solidFill>
              <a:latin typeface="Inter"/>
              <a:ea typeface="Inter"/>
              <a:cs typeface="Inter"/>
              <a:sym typeface="Inter"/>
            </a:endParaRPr>
          </a:p>
        </p:txBody>
      </p:sp>
      <p:sp>
        <p:nvSpPr>
          <p:cNvPr id="1088" name="Google Shape;1088;hd1b175b31137957_0_152"/>
          <p:cNvSpPr/>
          <p:nvPr/>
        </p:nvSpPr>
        <p:spPr>
          <a:xfrm>
            <a:off x="7635036" y="3351276"/>
            <a:ext cx="40692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AC7D7"/>
              </a:buClr>
              <a:buSzPts val="1380"/>
              <a:buFont typeface="Inter"/>
              <a:buNone/>
            </a:pPr>
            <a:r>
              <a:rPr b="0" i="0" lang="en-US" sz="1380" u="none" cap="none" strike="noStrike">
                <a:solidFill>
                  <a:srgbClr val="BAC7D7"/>
                </a:solidFill>
                <a:latin typeface="Inter"/>
                <a:ea typeface="Inter"/>
                <a:cs typeface="Inter"/>
                <a:sym typeface="Inter"/>
              </a:rPr>
              <a:t>Booking succeeds → timeout → retry risks a second upgrade.</a:t>
            </a:r>
            <a:endParaRPr b="0" i="0" sz="1380" u="none" cap="none" strike="noStrike">
              <a:solidFill>
                <a:schemeClr val="dk1"/>
              </a:solidFill>
              <a:latin typeface="Inter"/>
              <a:ea typeface="Inter"/>
              <a:cs typeface="Inter"/>
              <a:sym typeface="Inter"/>
            </a:endParaRPr>
          </a:p>
        </p:txBody>
      </p:sp>
      <p:sp>
        <p:nvSpPr>
          <p:cNvPr id="1089" name="Google Shape;1089;hd1b175b31137957_0_152"/>
          <p:cNvSpPr/>
          <p:nvPr/>
        </p:nvSpPr>
        <p:spPr>
          <a:xfrm>
            <a:off x="640063" y="4114800"/>
            <a:ext cx="10908600" cy="777300"/>
          </a:xfrm>
          <a:prstGeom prst="roundRect">
            <a:avLst>
              <a:gd fmla="val 16471" name="adj"/>
            </a:avLst>
          </a:prstGeom>
          <a:solidFill>
            <a:srgbClr val="111E2E"/>
          </a:solidFill>
          <a:ln cap="flat" cmpd="sng" w="12700">
            <a:solidFill>
              <a:srgbClr val="111E2E">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hd1b175b31137957_0_152"/>
          <p:cNvSpPr/>
          <p:nvPr/>
        </p:nvSpPr>
        <p:spPr>
          <a:xfrm>
            <a:off x="640063" y="4114800"/>
            <a:ext cx="59400" cy="777300"/>
          </a:xfrm>
          <a:prstGeom prst="rect">
            <a:avLst/>
          </a:prstGeom>
          <a:solidFill>
            <a:srgbClr val="FFCA7C"/>
          </a:solidFill>
          <a:ln cap="flat" cmpd="sng" w="12700">
            <a:solidFill>
              <a:srgbClr val="FFCA7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hd1b175b31137957_0_152"/>
          <p:cNvSpPr/>
          <p:nvPr/>
        </p:nvSpPr>
        <p:spPr>
          <a:xfrm>
            <a:off x="914376" y="4302252"/>
            <a:ext cx="384000" cy="384000"/>
          </a:xfrm>
          <a:prstGeom prst="roundRect">
            <a:avLst>
              <a:gd fmla="val 23810" name="adj"/>
            </a:avLst>
          </a:prstGeom>
          <a:solidFill>
            <a:srgbClr val="493B2C"/>
          </a:solidFill>
          <a:ln cap="flat" cmpd="sng" w="12700">
            <a:solidFill>
              <a:srgbClr val="493B2C">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hd1b175b31137957_0_152"/>
          <p:cNvSpPr/>
          <p:nvPr/>
        </p:nvSpPr>
        <p:spPr>
          <a:xfrm>
            <a:off x="1040501" y="4343400"/>
            <a:ext cx="239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CA7C"/>
              </a:buClr>
              <a:buSzPts val="1210"/>
              <a:buFont typeface="Inter"/>
              <a:buNone/>
            </a:pPr>
            <a:r>
              <a:rPr b="1" i="0" lang="en-US" sz="1210" u="none" cap="none" strike="noStrike">
                <a:solidFill>
                  <a:srgbClr val="FFCA7C"/>
                </a:solidFill>
                <a:latin typeface="Inter"/>
                <a:ea typeface="Inter"/>
                <a:cs typeface="Inter"/>
                <a:sym typeface="Inter"/>
              </a:rPr>
              <a:t>03</a:t>
            </a:r>
            <a:endParaRPr b="0" i="0" sz="1210" u="none" cap="none" strike="noStrike">
              <a:solidFill>
                <a:schemeClr val="dk1"/>
              </a:solidFill>
              <a:latin typeface="Inter"/>
              <a:ea typeface="Inter"/>
              <a:cs typeface="Inter"/>
              <a:sym typeface="Inter"/>
            </a:endParaRPr>
          </a:p>
        </p:txBody>
      </p:sp>
      <p:sp>
        <p:nvSpPr>
          <p:cNvPr id="1093" name="Google Shape;1093;hd1b175b31137957_0_152"/>
          <p:cNvSpPr/>
          <p:nvPr/>
        </p:nvSpPr>
        <p:spPr>
          <a:xfrm>
            <a:off x="1444713" y="4270248"/>
            <a:ext cx="16917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430"/>
              <a:buFont typeface="Inter"/>
              <a:buNone/>
            </a:pPr>
            <a:r>
              <a:rPr b="1" i="0" lang="en-US" sz="1430" u="none" cap="none" strike="noStrike">
                <a:solidFill>
                  <a:srgbClr val="F4F7FC"/>
                </a:solidFill>
                <a:latin typeface="Inter"/>
                <a:ea typeface="Inter"/>
                <a:cs typeface="Inter"/>
                <a:sym typeface="Inter"/>
              </a:rPr>
              <a:t>BACKPRESSURE</a:t>
            </a:r>
            <a:endParaRPr b="0" i="0" sz="1430" u="none" cap="none" strike="noStrike">
              <a:solidFill>
                <a:schemeClr val="dk1"/>
              </a:solidFill>
              <a:latin typeface="Inter"/>
              <a:ea typeface="Inter"/>
              <a:cs typeface="Inter"/>
              <a:sym typeface="Inter"/>
            </a:endParaRPr>
          </a:p>
        </p:txBody>
      </p:sp>
      <p:cxnSp>
        <p:nvCxnSpPr>
          <p:cNvPr id="1094" name="Google Shape;1094;hd1b175b31137957_0_152"/>
          <p:cNvCxnSpPr/>
          <p:nvPr/>
        </p:nvCxnSpPr>
        <p:spPr>
          <a:xfrm>
            <a:off x="3346615" y="4270248"/>
            <a:ext cx="0" cy="466200"/>
          </a:xfrm>
          <a:prstGeom prst="straightConnector1">
            <a:avLst/>
          </a:prstGeom>
          <a:noFill/>
          <a:ln cap="flat" cmpd="sng" w="10150">
            <a:solidFill>
              <a:srgbClr val="293849"/>
            </a:solidFill>
            <a:prstDash val="solid"/>
            <a:round/>
            <a:headEnd len="sm" w="sm" type="none"/>
            <a:tailEnd len="sm" w="sm" type="none"/>
          </a:ln>
        </p:spPr>
      </p:cxnSp>
      <p:cxnSp>
        <p:nvCxnSpPr>
          <p:cNvPr id="1095" name="Google Shape;1095;hd1b175b31137957_0_152"/>
          <p:cNvCxnSpPr/>
          <p:nvPr/>
        </p:nvCxnSpPr>
        <p:spPr>
          <a:xfrm>
            <a:off x="7461305" y="4270248"/>
            <a:ext cx="0" cy="466200"/>
          </a:xfrm>
          <a:prstGeom prst="straightConnector1">
            <a:avLst/>
          </a:prstGeom>
          <a:noFill/>
          <a:ln cap="flat" cmpd="sng" w="10150">
            <a:solidFill>
              <a:srgbClr val="293849"/>
            </a:solidFill>
            <a:prstDash val="solid"/>
            <a:round/>
            <a:headEnd len="sm" w="sm" type="none"/>
            <a:tailEnd len="sm" w="sm" type="none"/>
          </a:ln>
        </p:spPr>
      </p:cxnSp>
      <p:sp>
        <p:nvSpPr>
          <p:cNvPr id="1096" name="Google Shape;1096;hd1b175b31137957_0_152"/>
          <p:cNvSpPr/>
          <p:nvPr/>
        </p:nvSpPr>
        <p:spPr>
          <a:xfrm>
            <a:off x="3538634" y="4247388"/>
            <a:ext cx="36759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390"/>
              <a:buFont typeface="Inter"/>
              <a:buNone/>
            </a:pPr>
            <a:r>
              <a:rPr b="0" i="0" lang="en-US" sz="1390" u="none" cap="none" strike="noStrike">
                <a:solidFill>
                  <a:srgbClr val="F4F7FC"/>
                </a:solidFill>
                <a:latin typeface="Inter"/>
                <a:ea typeface="Inter"/>
                <a:cs typeface="Inter"/>
                <a:sym typeface="Inter"/>
              </a:rPr>
              <a:t>One message can spawn an expanding graph of tool calls, tasks, and retries.</a:t>
            </a:r>
            <a:endParaRPr b="0" i="0" sz="1390" u="none" cap="none" strike="noStrike">
              <a:solidFill>
                <a:schemeClr val="dk1"/>
              </a:solidFill>
              <a:latin typeface="Inter"/>
              <a:ea typeface="Inter"/>
              <a:cs typeface="Inter"/>
              <a:sym typeface="Inter"/>
            </a:endParaRPr>
          </a:p>
        </p:txBody>
      </p:sp>
      <p:sp>
        <p:nvSpPr>
          <p:cNvPr id="1097" name="Google Shape;1097;hd1b175b31137957_0_152"/>
          <p:cNvSpPr/>
          <p:nvPr/>
        </p:nvSpPr>
        <p:spPr>
          <a:xfrm>
            <a:off x="7635036" y="4247388"/>
            <a:ext cx="40692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AC7D7"/>
              </a:buClr>
              <a:buSzPts val="1380"/>
              <a:buFont typeface="Inter"/>
              <a:buNone/>
            </a:pPr>
            <a:r>
              <a:rPr b="0" i="0" lang="en-US" sz="1380" u="none" cap="none" strike="noStrike">
                <a:solidFill>
                  <a:srgbClr val="BAC7D7"/>
                </a:solidFill>
                <a:latin typeface="Inter"/>
                <a:ea typeface="Inter"/>
                <a:cs typeface="Inter"/>
                <a:sym typeface="Inter"/>
              </a:rPr>
              <a:t>One request fans out into searches, checks, and delegated work.</a:t>
            </a:r>
            <a:endParaRPr b="0" i="0" sz="1380" u="none" cap="none" strike="noStrike">
              <a:solidFill>
                <a:schemeClr val="dk1"/>
              </a:solidFill>
              <a:latin typeface="Inter"/>
              <a:ea typeface="Inter"/>
              <a:cs typeface="Inter"/>
              <a:sym typeface="Inter"/>
            </a:endParaRPr>
          </a:p>
        </p:txBody>
      </p:sp>
      <p:sp>
        <p:nvSpPr>
          <p:cNvPr id="1098" name="Google Shape;1098;hd1b175b31137957_0_152"/>
          <p:cNvSpPr/>
          <p:nvPr/>
        </p:nvSpPr>
        <p:spPr>
          <a:xfrm>
            <a:off x="640063" y="5010912"/>
            <a:ext cx="10908600" cy="777300"/>
          </a:xfrm>
          <a:prstGeom prst="roundRect">
            <a:avLst>
              <a:gd fmla="val 16471" name="adj"/>
            </a:avLst>
          </a:prstGeom>
          <a:solidFill>
            <a:srgbClr val="132134"/>
          </a:solidFill>
          <a:ln cap="flat" cmpd="sng" w="12700">
            <a:solidFill>
              <a:srgbClr val="13213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hd1b175b31137957_0_152"/>
          <p:cNvSpPr/>
          <p:nvPr/>
        </p:nvSpPr>
        <p:spPr>
          <a:xfrm>
            <a:off x="640063" y="5010912"/>
            <a:ext cx="59400" cy="777300"/>
          </a:xfrm>
          <a:prstGeom prst="rect">
            <a:avLst/>
          </a:prstGeom>
          <a:solidFill>
            <a:srgbClr val="93CDFF"/>
          </a:solidFill>
          <a:ln cap="flat" cmpd="sng" w="12700">
            <a:solidFill>
              <a:srgbClr val="93CDF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hd1b175b31137957_0_152"/>
          <p:cNvSpPr/>
          <p:nvPr/>
        </p:nvSpPr>
        <p:spPr>
          <a:xfrm>
            <a:off x="914376" y="5198364"/>
            <a:ext cx="384000" cy="384000"/>
          </a:xfrm>
          <a:prstGeom prst="roundRect">
            <a:avLst>
              <a:gd fmla="val 23810" name="adj"/>
            </a:avLst>
          </a:prstGeom>
          <a:solidFill>
            <a:srgbClr val="263E57"/>
          </a:solidFill>
          <a:ln cap="flat" cmpd="sng" w="12700">
            <a:solidFill>
              <a:srgbClr val="263E57">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1" name="Google Shape;1101;hd1b175b31137957_0_152"/>
          <p:cNvSpPr/>
          <p:nvPr/>
        </p:nvSpPr>
        <p:spPr>
          <a:xfrm>
            <a:off x="1040501" y="5239500"/>
            <a:ext cx="2397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3CDFF"/>
              </a:buClr>
              <a:buSzPts val="1210"/>
              <a:buFont typeface="Inter"/>
              <a:buNone/>
            </a:pPr>
            <a:r>
              <a:rPr b="1" i="0" lang="en-US" sz="1210" u="none" cap="none" strike="noStrike">
                <a:solidFill>
                  <a:srgbClr val="93CDFF"/>
                </a:solidFill>
                <a:latin typeface="Inter"/>
                <a:ea typeface="Inter"/>
                <a:cs typeface="Inter"/>
                <a:sym typeface="Inter"/>
              </a:rPr>
              <a:t>04</a:t>
            </a:r>
            <a:endParaRPr b="0" i="0" sz="1210" u="none" cap="none" strike="noStrike">
              <a:solidFill>
                <a:schemeClr val="dk1"/>
              </a:solidFill>
              <a:latin typeface="Inter"/>
              <a:ea typeface="Inter"/>
              <a:cs typeface="Inter"/>
              <a:sym typeface="Inter"/>
            </a:endParaRPr>
          </a:p>
        </p:txBody>
      </p:sp>
      <p:sp>
        <p:nvSpPr>
          <p:cNvPr id="1102" name="Google Shape;1102;hd1b175b31137957_0_152"/>
          <p:cNvSpPr/>
          <p:nvPr/>
        </p:nvSpPr>
        <p:spPr>
          <a:xfrm>
            <a:off x="1444713" y="5166360"/>
            <a:ext cx="16917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430"/>
              <a:buFont typeface="Inter"/>
              <a:buNone/>
            </a:pPr>
            <a:r>
              <a:rPr b="1" i="0" lang="en-US" sz="1430" u="none" cap="none" strike="noStrike">
                <a:solidFill>
                  <a:srgbClr val="F4F7FC"/>
                </a:solidFill>
                <a:latin typeface="Inter"/>
                <a:ea typeface="Inter"/>
                <a:cs typeface="Inter"/>
                <a:sym typeface="Inter"/>
              </a:rPr>
              <a:t>REPLAY</a:t>
            </a:r>
            <a:endParaRPr b="0" i="0" sz="1430" u="none" cap="none" strike="noStrike">
              <a:solidFill>
                <a:schemeClr val="dk1"/>
              </a:solidFill>
              <a:latin typeface="Inter"/>
              <a:ea typeface="Inter"/>
              <a:cs typeface="Inter"/>
              <a:sym typeface="Inter"/>
            </a:endParaRPr>
          </a:p>
        </p:txBody>
      </p:sp>
      <p:cxnSp>
        <p:nvCxnSpPr>
          <p:cNvPr id="1103" name="Google Shape;1103;hd1b175b31137957_0_152"/>
          <p:cNvCxnSpPr/>
          <p:nvPr/>
        </p:nvCxnSpPr>
        <p:spPr>
          <a:xfrm>
            <a:off x="3346615" y="5166360"/>
            <a:ext cx="0" cy="466200"/>
          </a:xfrm>
          <a:prstGeom prst="straightConnector1">
            <a:avLst/>
          </a:prstGeom>
          <a:noFill/>
          <a:ln cap="flat" cmpd="sng" w="10150">
            <a:solidFill>
              <a:srgbClr val="293849"/>
            </a:solidFill>
            <a:prstDash val="solid"/>
            <a:round/>
            <a:headEnd len="sm" w="sm" type="none"/>
            <a:tailEnd len="sm" w="sm" type="none"/>
          </a:ln>
        </p:spPr>
      </p:cxnSp>
      <p:cxnSp>
        <p:nvCxnSpPr>
          <p:cNvPr id="1104" name="Google Shape;1104;hd1b175b31137957_0_152"/>
          <p:cNvCxnSpPr/>
          <p:nvPr/>
        </p:nvCxnSpPr>
        <p:spPr>
          <a:xfrm>
            <a:off x="7461305" y="5166360"/>
            <a:ext cx="0" cy="466200"/>
          </a:xfrm>
          <a:prstGeom prst="straightConnector1">
            <a:avLst/>
          </a:prstGeom>
          <a:noFill/>
          <a:ln cap="flat" cmpd="sng" w="10150">
            <a:solidFill>
              <a:srgbClr val="293849"/>
            </a:solidFill>
            <a:prstDash val="solid"/>
            <a:round/>
            <a:headEnd len="sm" w="sm" type="none"/>
            <a:tailEnd len="sm" w="sm" type="none"/>
          </a:ln>
        </p:spPr>
      </p:cxnSp>
      <p:sp>
        <p:nvSpPr>
          <p:cNvPr id="1105" name="Google Shape;1105;hd1b175b31137957_0_152"/>
          <p:cNvSpPr/>
          <p:nvPr/>
        </p:nvSpPr>
        <p:spPr>
          <a:xfrm>
            <a:off x="3538634" y="5143500"/>
            <a:ext cx="36759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390"/>
              <a:buFont typeface="Inter"/>
              <a:buNone/>
            </a:pPr>
            <a:r>
              <a:rPr b="0" i="0" lang="en-US" sz="1390" u="none" cap="none" strike="noStrike">
                <a:solidFill>
                  <a:srgbClr val="F4F7FC"/>
                </a:solidFill>
                <a:latin typeface="Inter"/>
                <a:ea typeface="Inter"/>
                <a:cs typeface="Inter"/>
                <a:sym typeface="Inter"/>
              </a:rPr>
              <a:t>The same input may produce different decisions,or repeat side effects.</a:t>
            </a:r>
            <a:endParaRPr b="0" i="0" sz="1390" u="none" cap="none" strike="noStrike">
              <a:solidFill>
                <a:schemeClr val="dk1"/>
              </a:solidFill>
              <a:latin typeface="Inter"/>
              <a:ea typeface="Inter"/>
              <a:cs typeface="Inter"/>
              <a:sym typeface="Inter"/>
            </a:endParaRPr>
          </a:p>
        </p:txBody>
      </p:sp>
      <p:sp>
        <p:nvSpPr>
          <p:cNvPr id="1106" name="Google Shape;1106;hd1b175b31137957_0_152"/>
          <p:cNvSpPr/>
          <p:nvPr/>
        </p:nvSpPr>
        <p:spPr>
          <a:xfrm>
            <a:off x="7635036" y="5143500"/>
            <a:ext cx="40692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AC7D7"/>
              </a:buClr>
              <a:buSzPts val="1380"/>
              <a:buFont typeface="Inter"/>
              <a:buNone/>
            </a:pPr>
            <a:r>
              <a:rPr b="0" i="0" lang="en-US" sz="1380" u="none" cap="none" strike="noStrike">
                <a:solidFill>
                  <a:srgbClr val="BAC7D7"/>
                </a:solidFill>
                <a:latin typeface="Inter"/>
                <a:ea typeface="Inter"/>
                <a:cs typeface="Inter"/>
                <a:sym typeface="Inter"/>
              </a:rPr>
              <a:t>A replay must not trigger another purchase or booking.</a:t>
            </a:r>
            <a:endParaRPr b="0" i="0" sz="1380" u="none" cap="none" strike="noStrike">
              <a:solidFill>
                <a:schemeClr val="dk1"/>
              </a:solidFill>
              <a:latin typeface="Inter"/>
              <a:ea typeface="Inter"/>
              <a:cs typeface="Inter"/>
              <a:sym typeface="Inter"/>
            </a:endParaRPr>
          </a:p>
        </p:txBody>
      </p:sp>
      <p:cxnSp>
        <p:nvCxnSpPr>
          <p:cNvPr id="1107" name="Google Shape;1107;hd1b175b31137957_0_152"/>
          <p:cNvCxnSpPr/>
          <p:nvPr/>
        </p:nvCxnSpPr>
        <p:spPr>
          <a:xfrm>
            <a:off x="685782" y="6035040"/>
            <a:ext cx="10798800" cy="0"/>
          </a:xfrm>
          <a:prstGeom prst="straightConnector1">
            <a:avLst/>
          </a:prstGeom>
          <a:noFill/>
          <a:ln cap="flat" cmpd="sng" w="12700">
            <a:solidFill>
              <a:srgbClr val="293849"/>
            </a:solidFill>
            <a:prstDash val="solid"/>
            <a:round/>
            <a:headEnd len="sm" w="sm" type="none"/>
            <a:tailEnd len="sm" w="sm" type="none"/>
          </a:ln>
        </p:spPr>
      </p:cxnSp>
      <p:sp>
        <p:nvSpPr>
          <p:cNvPr id="1108" name="Google Shape;1108;hd1b175b31137957_0_152"/>
          <p:cNvSpPr/>
          <p:nvPr/>
        </p:nvSpPr>
        <p:spPr>
          <a:xfrm>
            <a:off x="694925" y="6291072"/>
            <a:ext cx="1051500" cy="21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9E9BE"/>
              </a:buClr>
              <a:buSzPts val="1050"/>
              <a:buFont typeface="Inter"/>
              <a:buNone/>
            </a:pPr>
            <a:r>
              <a:rPr b="1" i="0" lang="en-US" sz="1050" u="none" cap="none" strike="noStrike">
                <a:solidFill>
                  <a:srgbClr val="69E9BE"/>
                </a:solidFill>
                <a:latin typeface="Inter"/>
                <a:ea typeface="Inter"/>
                <a:cs typeface="Inter"/>
                <a:sym typeface="Inter"/>
              </a:rPr>
              <a:t>THE SHIFT</a:t>
            </a:r>
            <a:endParaRPr b="0" i="0" sz="1050" u="none" cap="none" strike="noStrike">
              <a:solidFill>
                <a:schemeClr val="dk1"/>
              </a:solidFill>
              <a:latin typeface="Inter"/>
              <a:ea typeface="Inter"/>
              <a:cs typeface="Inter"/>
              <a:sym typeface="Inter"/>
            </a:endParaRPr>
          </a:p>
        </p:txBody>
      </p:sp>
      <p:sp>
        <p:nvSpPr>
          <p:cNvPr id="1109" name="Google Shape;1109;hd1b175b31137957_0_152"/>
          <p:cNvSpPr/>
          <p:nvPr/>
        </p:nvSpPr>
        <p:spPr>
          <a:xfrm>
            <a:off x="1828751" y="6208776"/>
            <a:ext cx="9463800" cy="39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4F7FC"/>
              </a:buClr>
              <a:buSzPts val="1840"/>
              <a:buFont typeface="Inter"/>
              <a:buNone/>
            </a:pPr>
            <a:r>
              <a:rPr b="1" i="0" lang="en-US" sz="1840" u="none" cap="none" strike="noStrike">
                <a:solidFill>
                  <a:srgbClr val="F4F7FC"/>
                </a:solidFill>
                <a:latin typeface="Inter"/>
                <a:ea typeface="Inter"/>
                <a:cs typeface="Inter"/>
                <a:sym typeface="Inter"/>
              </a:rPr>
              <a:t>Reliable message delivery no longer guarantees reliable outcomes.</a:t>
            </a:r>
            <a:endParaRPr b="0" i="0" sz="1840" u="none" cap="none" strike="noStrike">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pic>
        <p:nvPicPr>
          <p:cNvPr id="1114" name="Google Shape;1114;hd1b175b31137957_0_387" title="Untitled Design (2).png"/>
          <p:cNvPicPr preferRelativeResize="0"/>
          <p:nvPr/>
        </p:nvPicPr>
        <p:blipFill rotWithShape="1">
          <a:blip r:embed="rId3">
            <a:alphaModFix/>
          </a:blip>
          <a:srcRect b="0" l="0" r="0" t="0"/>
          <a:stretch/>
        </p:blipFill>
        <p:spPr>
          <a:xfrm>
            <a:off x="-389475" y="-152400"/>
            <a:ext cx="12716974" cy="715330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119" name="Shape 1119"/>
        <p:cNvGrpSpPr/>
        <p:nvPr/>
      </p:nvGrpSpPr>
      <p:grpSpPr>
        <a:xfrm>
          <a:off x="0" y="0"/>
          <a:ext cx="0" cy="0"/>
          <a:chOff x="0" y="0"/>
          <a:chExt cx="0" cy="0"/>
        </a:xfrm>
      </p:grpSpPr>
      <p:sp>
        <p:nvSpPr>
          <p:cNvPr id="1120" name="Google Shape;1120;p16"/>
          <p:cNvSpPr txBox="1"/>
          <p:nvPr/>
        </p:nvSpPr>
        <p:spPr>
          <a:xfrm>
            <a:off x="822960" y="731520"/>
            <a:ext cx="1051560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6FD3E7"/>
                </a:solidFill>
                <a:latin typeface="Arial"/>
                <a:ea typeface="Arial"/>
                <a:cs typeface="Arial"/>
                <a:sym typeface="Arial"/>
              </a:rPr>
              <a:t>THE TASK IS THE UNIT OF ACCOUNTABILITY</a:t>
            </a:r>
            <a:endParaRPr b="0" i="0" sz="1400" u="none" cap="none" strike="noStrike">
              <a:solidFill>
                <a:srgbClr val="000000"/>
              </a:solidFill>
              <a:latin typeface="Arial"/>
              <a:ea typeface="Arial"/>
              <a:cs typeface="Arial"/>
              <a:sym typeface="Arial"/>
            </a:endParaRPr>
          </a:p>
        </p:txBody>
      </p:sp>
      <p:sp>
        <p:nvSpPr>
          <p:cNvPr id="1121" name="Google Shape;1121;p16"/>
          <p:cNvSpPr/>
          <p:nvPr/>
        </p:nvSpPr>
        <p:spPr>
          <a:xfrm>
            <a:off x="822960" y="2423160"/>
            <a:ext cx="2011680" cy="1188720"/>
          </a:xfrm>
          <a:prstGeom prst="roundRect">
            <a:avLst>
              <a:gd fmla="val 16667" name="adj"/>
            </a:avLst>
          </a:prstGeom>
          <a:solidFill>
            <a:srgbClr val="E8A3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2" name="Google Shape;1122;p16"/>
          <p:cNvSpPr txBox="1"/>
          <p:nvPr/>
        </p:nvSpPr>
        <p:spPr>
          <a:xfrm>
            <a:off x="932688" y="2679191"/>
            <a:ext cx="1792224" cy="77724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2400"/>
              <a:buFont typeface="Arial"/>
              <a:buNone/>
            </a:pPr>
            <a:r>
              <a:rPr b="1" i="0" lang="en-US" sz="2400" u="none" cap="none" strike="noStrike">
                <a:solidFill>
                  <a:srgbClr val="0A0C12"/>
                </a:solidFill>
                <a:latin typeface="Arial"/>
                <a:ea typeface="Arial"/>
                <a:cs typeface="Arial"/>
                <a:sym typeface="Arial"/>
              </a:rPr>
              <a:t>OBSERVE</a:t>
            </a:r>
            <a:endParaRPr b="0" i="0" sz="1400" u="none" cap="none" strike="noStrike">
              <a:solidFill>
                <a:srgbClr val="000000"/>
              </a:solidFill>
              <a:latin typeface="Arial"/>
              <a:ea typeface="Arial"/>
              <a:cs typeface="Arial"/>
              <a:sym typeface="Arial"/>
            </a:endParaRPr>
          </a:p>
        </p:txBody>
      </p:sp>
      <p:sp>
        <p:nvSpPr>
          <p:cNvPr id="1123" name="Google Shape;1123;p16"/>
          <p:cNvSpPr/>
          <p:nvPr/>
        </p:nvSpPr>
        <p:spPr>
          <a:xfrm>
            <a:off x="3611880" y="2423160"/>
            <a:ext cx="2011680" cy="1188720"/>
          </a:xfrm>
          <a:prstGeom prst="roundRect">
            <a:avLst>
              <a:gd fmla="val 16667" name="adj"/>
            </a:avLst>
          </a:prstGeom>
          <a:solidFill>
            <a:srgbClr val="6FD3E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4" name="Google Shape;1124;p16"/>
          <p:cNvSpPr txBox="1"/>
          <p:nvPr/>
        </p:nvSpPr>
        <p:spPr>
          <a:xfrm>
            <a:off x="3721608" y="2679191"/>
            <a:ext cx="1792224" cy="77724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2400"/>
              <a:buFont typeface="Arial"/>
              <a:buNone/>
            </a:pPr>
            <a:r>
              <a:rPr b="1" i="0" lang="en-US" sz="2400" u="none" cap="none" strike="noStrike">
                <a:solidFill>
                  <a:srgbClr val="0A0C12"/>
                </a:solidFill>
                <a:latin typeface="Arial"/>
                <a:ea typeface="Arial"/>
                <a:cs typeface="Arial"/>
                <a:sym typeface="Arial"/>
              </a:rPr>
              <a:t>DECIDE</a:t>
            </a:r>
            <a:endParaRPr b="0" i="0" sz="1400" u="none" cap="none" strike="noStrike">
              <a:solidFill>
                <a:srgbClr val="000000"/>
              </a:solidFill>
              <a:latin typeface="Arial"/>
              <a:ea typeface="Arial"/>
              <a:cs typeface="Arial"/>
              <a:sym typeface="Arial"/>
            </a:endParaRPr>
          </a:p>
        </p:txBody>
      </p:sp>
      <p:sp>
        <p:nvSpPr>
          <p:cNvPr id="1125" name="Google Shape;1125;p16"/>
          <p:cNvSpPr/>
          <p:nvPr/>
        </p:nvSpPr>
        <p:spPr>
          <a:xfrm>
            <a:off x="6400800" y="2423160"/>
            <a:ext cx="2011680" cy="1188720"/>
          </a:xfrm>
          <a:prstGeom prst="roundRect">
            <a:avLst>
              <a:gd fmla="val 16667" name="adj"/>
            </a:avLst>
          </a:prstGeom>
          <a:solidFill>
            <a:srgbClr val="E8A3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6" name="Google Shape;1126;p16"/>
          <p:cNvSpPr txBox="1"/>
          <p:nvPr/>
        </p:nvSpPr>
        <p:spPr>
          <a:xfrm>
            <a:off x="6510528" y="2679191"/>
            <a:ext cx="1792224" cy="77724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2400"/>
              <a:buFont typeface="Arial"/>
              <a:buNone/>
            </a:pPr>
            <a:r>
              <a:rPr b="1" i="0" lang="en-US" sz="2400" u="none" cap="none" strike="noStrike">
                <a:solidFill>
                  <a:srgbClr val="0A0C12"/>
                </a:solidFill>
                <a:latin typeface="Arial"/>
                <a:ea typeface="Arial"/>
                <a:cs typeface="Arial"/>
                <a:sym typeface="Arial"/>
              </a:rPr>
              <a:t>ACT</a:t>
            </a:r>
            <a:endParaRPr b="0" i="0" sz="1400" u="none" cap="none" strike="noStrike">
              <a:solidFill>
                <a:srgbClr val="000000"/>
              </a:solidFill>
              <a:latin typeface="Arial"/>
              <a:ea typeface="Arial"/>
              <a:cs typeface="Arial"/>
              <a:sym typeface="Arial"/>
            </a:endParaRPr>
          </a:p>
        </p:txBody>
      </p:sp>
      <p:sp>
        <p:nvSpPr>
          <p:cNvPr id="1127" name="Google Shape;1127;p16"/>
          <p:cNvSpPr/>
          <p:nvPr/>
        </p:nvSpPr>
        <p:spPr>
          <a:xfrm>
            <a:off x="9189720" y="2423160"/>
            <a:ext cx="2011680" cy="1188720"/>
          </a:xfrm>
          <a:prstGeom prst="roundRect">
            <a:avLst>
              <a:gd fmla="val 16667" name="adj"/>
            </a:avLst>
          </a:prstGeom>
          <a:solidFill>
            <a:srgbClr val="6FD3E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28" name="Google Shape;1128;p16"/>
          <p:cNvSpPr txBox="1"/>
          <p:nvPr/>
        </p:nvSpPr>
        <p:spPr>
          <a:xfrm>
            <a:off x="9299448" y="2679191"/>
            <a:ext cx="1792224" cy="77724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2400"/>
              <a:buFont typeface="Arial"/>
              <a:buNone/>
            </a:pPr>
            <a:r>
              <a:rPr b="1" i="0" lang="en-US" sz="2400" u="none" cap="none" strike="noStrike">
                <a:solidFill>
                  <a:srgbClr val="0A0C12"/>
                </a:solidFill>
                <a:latin typeface="Arial"/>
                <a:ea typeface="Arial"/>
                <a:cs typeface="Arial"/>
                <a:sym typeface="Arial"/>
              </a:rPr>
              <a:t>CONFIRM</a:t>
            </a:r>
            <a:endParaRPr b="0" i="0" sz="1400" u="none" cap="none" strike="noStrike">
              <a:solidFill>
                <a:srgbClr val="000000"/>
              </a:solidFill>
              <a:latin typeface="Arial"/>
              <a:ea typeface="Arial"/>
              <a:cs typeface="Arial"/>
              <a:sym typeface="Arial"/>
            </a:endParaRPr>
          </a:p>
        </p:txBody>
      </p:sp>
      <p:sp>
        <p:nvSpPr>
          <p:cNvPr id="1129" name="Google Shape;1129;p16"/>
          <p:cNvSpPr/>
          <p:nvPr/>
        </p:nvSpPr>
        <p:spPr>
          <a:xfrm>
            <a:off x="2926080" y="2834640"/>
            <a:ext cx="548640" cy="292608"/>
          </a:xfrm>
          <a:prstGeom prst="rightArrow">
            <a:avLst>
              <a:gd fmla="val 50000" name="adj1"/>
              <a:gd fmla="val 50000" name="adj2"/>
            </a:avLst>
          </a:prstGeom>
          <a:solidFill>
            <a:srgbClr val="8A909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0" name="Google Shape;1130;p16"/>
          <p:cNvSpPr/>
          <p:nvPr/>
        </p:nvSpPr>
        <p:spPr>
          <a:xfrm>
            <a:off x="5715000" y="2834640"/>
            <a:ext cx="548640" cy="292608"/>
          </a:xfrm>
          <a:prstGeom prst="rightArrow">
            <a:avLst>
              <a:gd fmla="val 50000" name="adj1"/>
              <a:gd fmla="val 50000" name="adj2"/>
            </a:avLst>
          </a:prstGeom>
          <a:solidFill>
            <a:srgbClr val="8A909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1" name="Google Shape;1131;p16"/>
          <p:cNvSpPr/>
          <p:nvPr/>
        </p:nvSpPr>
        <p:spPr>
          <a:xfrm>
            <a:off x="8503920" y="2834640"/>
            <a:ext cx="548640" cy="292608"/>
          </a:xfrm>
          <a:prstGeom prst="rightArrow">
            <a:avLst>
              <a:gd fmla="val 50000" name="adj1"/>
              <a:gd fmla="val 50000" name="adj2"/>
            </a:avLst>
          </a:prstGeom>
          <a:solidFill>
            <a:srgbClr val="8A909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2" name="Google Shape;1132;p16"/>
          <p:cNvSpPr txBox="1"/>
          <p:nvPr/>
        </p:nvSpPr>
        <p:spPr>
          <a:xfrm>
            <a:off x="822960" y="4572000"/>
            <a:ext cx="10515600" cy="91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8A909E"/>
                </a:solidFill>
                <a:latin typeface="Arial"/>
                <a:ea typeface="Arial"/>
                <a:cs typeface="Arial"/>
                <a:sym typeface="Arial"/>
              </a:rPr>
              <a:t>Trace tasks across events, tools and decisions.</a:t>
            </a:r>
            <a:endParaRPr b="0" i="0" sz="1400" u="none" cap="none" strike="noStrike">
              <a:solidFill>
                <a:srgbClr val="000000"/>
              </a:solidFill>
              <a:latin typeface="Arial"/>
              <a:ea typeface="Arial"/>
              <a:cs typeface="Arial"/>
              <a:sym typeface="Arial"/>
            </a:endParaRPr>
          </a:p>
        </p:txBody>
      </p:sp>
      <p:sp>
        <p:nvSpPr>
          <p:cNvPr id="1133" name="Google Shape;1133;p16"/>
          <p:cNvSpPr txBox="1"/>
          <p:nvPr/>
        </p:nvSpPr>
        <p:spPr>
          <a:xfrm>
            <a:off x="11521440" y="6446520"/>
            <a:ext cx="5486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38</a:t>
            </a:r>
            <a:endParaRPr b="0" i="0" sz="1400" u="none" cap="none" strike="noStrike">
              <a:solidFill>
                <a:srgbClr val="000000"/>
              </a:solidFill>
              <a:latin typeface="Arial"/>
              <a:ea typeface="Arial"/>
              <a:cs typeface="Arial"/>
              <a:sym typeface="Arial"/>
            </a:endParaRPr>
          </a:p>
        </p:txBody>
      </p:sp>
      <p:sp>
        <p:nvSpPr>
          <p:cNvPr id="1134" name="Google Shape;1134;p16"/>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138" name="Shape 1138"/>
        <p:cNvGrpSpPr/>
        <p:nvPr/>
      </p:nvGrpSpPr>
      <p:grpSpPr>
        <a:xfrm>
          <a:off x="0" y="0"/>
          <a:ext cx="0" cy="0"/>
          <a:chOff x="0" y="0"/>
          <a:chExt cx="0" cy="0"/>
        </a:xfrm>
      </p:grpSpPr>
      <p:sp>
        <p:nvSpPr>
          <p:cNvPr id="1139" name="Google Shape;1139;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1140" name="Google Shape;1140;p54"/>
          <p:cNvSpPr txBox="1"/>
          <p:nvPr/>
        </p:nvSpPr>
        <p:spPr>
          <a:xfrm>
            <a:off x="731520" y="941832"/>
            <a:ext cx="10972800" cy="49560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RELIABILITY BOUNDARIES.</a:t>
            </a:r>
            <a:endParaRPr b="0" i="0" sz="1400" u="none" cap="none" strike="noStrike">
              <a:solidFill>
                <a:srgbClr val="000000"/>
              </a:solidFill>
              <a:latin typeface="Arial"/>
              <a:ea typeface="Arial"/>
              <a:cs typeface="Arial"/>
              <a:sym typeface="Arial"/>
            </a:endParaRPr>
          </a:p>
        </p:txBody>
      </p:sp>
      <p:sp>
        <p:nvSpPr>
          <p:cNvPr id="1141" name="Google Shape;1141;p54"/>
          <p:cNvSpPr/>
          <p:nvPr/>
        </p:nvSpPr>
        <p:spPr>
          <a:xfrm>
            <a:off x="804672" y="1901952"/>
            <a:ext cx="3291840" cy="3136392"/>
          </a:xfrm>
          <a:prstGeom prst="roundRect">
            <a:avLst>
              <a:gd fmla="val 16667" name="adj"/>
            </a:avLst>
          </a:prstGeom>
          <a:solidFill>
            <a:srgbClr val="121721"/>
          </a:solidFill>
          <a:ln cap="flat" cmpd="sng" w="19050">
            <a:solidFill>
              <a:srgbClr val="6FD3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2" name="Google Shape;1142;p54"/>
          <p:cNvSpPr txBox="1"/>
          <p:nvPr/>
        </p:nvSpPr>
        <p:spPr>
          <a:xfrm>
            <a:off x="1033271" y="2276856"/>
            <a:ext cx="2816352" cy="49377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6FD3E7"/>
                </a:solidFill>
                <a:latin typeface="Arial"/>
                <a:ea typeface="Arial"/>
                <a:cs typeface="Arial"/>
                <a:sym typeface="Arial"/>
              </a:rPr>
              <a:t>MESSAGING LAYER</a:t>
            </a:r>
            <a:endParaRPr b="0" i="0" sz="1400" u="none" cap="none" strike="noStrike">
              <a:solidFill>
                <a:srgbClr val="000000"/>
              </a:solidFill>
              <a:latin typeface="Arial"/>
              <a:ea typeface="Arial"/>
              <a:cs typeface="Arial"/>
              <a:sym typeface="Arial"/>
            </a:endParaRPr>
          </a:p>
        </p:txBody>
      </p:sp>
      <p:sp>
        <p:nvSpPr>
          <p:cNvPr id="1143" name="Google Shape;1143;p54"/>
          <p:cNvSpPr txBox="1"/>
          <p:nvPr/>
        </p:nvSpPr>
        <p:spPr>
          <a:xfrm>
            <a:off x="1033271" y="3081528"/>
            <a:ext cx="2779776" cy="6583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5F3EE"/>
                </a:solidFill>
                <a:latin typeface="Arial"/>
                <a:ea typeface="Arial"/>
                <a:cs typeface="Arial"/>
                <a:sym typeface="Arial"/>
              </a:rPr>
              <a:t>Deliver and route events</a:t>
            </a:r>
            <a:endParaRPr b="0" i="0" sz="1400" u="none" cap="none" strike="noStrike">
              <a:solidFill>
                <a:srgbClr val="000000"/>
              </a:solidFill>
              <a:latin typeface="Arial"/>
              <a:ea typeface="Arial"/>
              <a:cs typeface="Arial"/>
              <a:sym typeface="Arial"/>
            </a:endParaRPr>
          </a:p>
        </p:txBody>
      </p:sp>
      <p:sp>
        <p:nvSpPr>
          <p:cNvPr id="1144" name="Google Shape;1144;p54"/>
          <p:cNvSpPr txBox="1"/>
          <p:nvPr/>
        </p:nvSpPr>
        <p:spPr>
          <a:xfrm>
            <a:off x="1033271" y="3968496"/>
            <a:ext cx="2779776" cy="83210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A8AFBF"/>
                </a:solidFill>
                <a:latin typeface="Arial"/>
                <a:ea typeface="Arial"/>
                <a:cs typeface="Arial"/>
                <a:sym typeface="Arial"/>
              </a:rPr>
              <a:t>Ordering · retries · flow control</a:t>
            </a:r>
            <a:endParaRPr b="0" i="0" sz="1400" u="none" cap="none" strike="noStrike">
              <a:solidFill>
                <a:srgbClr val="000000"/>
              </a:solidFill>
              <a:latin typeface="Arial"/>
              <a:ea typeface="Arial"/>
              <a:cs typeface="Arial"/>
              <a:sym typeface="Arial"/>
            </a:endParaRPr>
          </a:p>
        </p:txBody>
      </p:sp>
      <p:sp>
        <p:nvSpPr>
          <p:cNvPr id="1145" name="Google Shape;1145;p54"/>
          <p:cNvSpPr/>
          <p:nvPr/>
        </p:nvSpPr>
        <p:spPr>
          <a:xfrm>
            <a:off x="4453128" y="1901952"/>
            <a:ext cx="3291840" cy="3136392"/>
          </a:xfrm>
          <a:prstGeom prst="roundRect">
            <a:avLst>
              <a:gd fmla="val 16667" name="adj"/>
            </a:avLst>
          </a:prstGeom>
          <a:solidFill>
            <a:srgbClr val="121721"/>
          </a:solidFill>
          <a:ln cap="flat" cmpd="sng" w="1905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6" name="Google Shape;1146;p54"/>
          <p:cNvSpPr txBox="1"/>
          <p:nvPr/>
        </p:nvSpPr>
        <p:spPr>
          <a:xfrm>
            <a:off x="4681728" y="2276856"/>
            <a:ext cx="2816352" cy="49377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C5A0F8"/>
                </a:solidFill>
                <a:latin typeface="Arial"/>
                <a:ea typeface="Arial"/>
                <a:cs typeface="Arial"/>
                <a:sym typeface="Arial"/>
              </a:rPr>
              <a:t>AGENT / TASK LAYER</a:t>
            </a:r>
            <a:endParaRPr b="0" i="0" sz="1400" u="none" cap="none" strike="noStrike">
              <a:solidFill>
                <a:srgbClr val="000000"/>
              </a:solidFill>
              <a:latin typeface="Arial"/>
              <a:ea typeface="Arial"/>
              <a:cs typeface="Arial"/>
              <a:sym typeface="Arial"/>
            </a:endParaRPr>
          </a:p>
        </p:txBody>
      </p:sp>
      <p:sp>
        <p:nvSpPr>
          <p:cNvPr id="1147" name="Google Shape;1147;p54"/>
          <p:cNvSpPr txBox="1"/>
          <p:nvPr/>
        </p:nvSpPr>
        <p:spPr>
          <a:xfrm>
            <a:off x="4681728" y="3081528"/>
            <a:ext cx="2779776" cy="6583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5F3EE"/>
                </a:solidFill>
                <a:latin typeface="Arial"/>
                <a:ea typeface="Arial"/>
                <a:cs typeface="Arial"/>
                <a:sym typeface="Arial"/>
              </a:rPr>
              <a:t>Own tasks and decisions</a:t>
            </a:r>
            <a:endParaRPr b="0" i="0" sz="1400" u="none" cap="none" strike="noStrike">
              <a:solidFill>
                <a:srgbClr val="000000"/>
              </a:solidFill>
              <a:latin typeface="Arial"/>
              <a:ea typeface="Arial"/>
              <a:cs typeface="Arial"/>
              <a:sym typeface="Arial"/>
            </a:endParaRPr>
          </a:p>
        </p:txBody>
      </p:sp>
      <p:sp>
        <p:nvSpPr>
          <p:cNvPr id="1148" name="Google Shape;1148;p54"/>
          <p:cNvSpPr txBox="1"/>
          <p:nvPr/>
        </p:nvSpPr>
        <p:spPr>
          <a:xfrm>
            <a:off x="4681728" y="3968496"/>
            <a:ext cx="2779776" cy="83210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A8AFBF"/>
                </a:solidFill>
                <a:latin typeface="Arial"/>
                <a:ea typeface="Arial"/>
                <a:cs typeface="Arial"/>
                <a:sym typeface="Arial"/>
              </a:rPr>
              <a:t>State · budgets · handoffs</a:t>
            </a:r>
            <a:endParaRPr b="0" i="0" sz="1400" u="none" cap="none" strike="noStrike">
              <a:solidFill>
                <a:srgbClr val="000000"/>
              </a:solidFill>
              <a:latin typeface="Arial"/>
              <a:ea typeface="Arial"/>
              <a:cs typeface="Arial"/>
              <a:sym typeface="Arial"/>
            </a:endParaRPr>
          </a:p>
        </p:txBody>
      </p:sp>
      <p:sp>
        <p:nvSpPr>
          <p:cNvPr id="1149" name="Google Shape;1149;p54"/>
          <p:cNvSpPr/>
          <p:nvPr/>
        </p:nvSpPr>
        <p:spPr>
          <a:xfrm>
            <a:off x="8101583" y="1901952"/>
            <a:ext cx="3291840" cy="3136392"/>
          </a:xfrm>
          <a:prstGeom prst="roundRect">
            <a:avLst>
              <a:gd fmla="val 16667" name="adj"/>
            </a:avLst>
          </a:prstGeom>
          <a:solidFill>
            <a:srgbClr val="121721"/>
          </a:solidFill>
          <a:ln cap="flat" cmpd="sng" w="1905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0" name="Google Shape;1150;p54"/>
          <p:cNvSpPr txBox="1"/>
          <p:nvPr/>
        </p:nvSpPr>
        <p:spPr>
          <a:xfrm>
            <a:off x="8330183" y="2276856"/>
            <a:ext cx="2816352" cy="49377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E8A33D"/>
                </a:solidFill>
                <a:latin typeface="Arial"/>
                <a:ea typeface="Arial"/>
                <a:cs typeface="Arial"/>
                <a:sym typeface="Arial"/>
              </a:rPr>
              <a:t>EFFECT / POLICY LAYER</a:t>
            </a:r>
            <a:endParaRPr b="0" i="0" sz="1400" u="none" cap="none" strike="noStrike">
              <a:solidFill>
                <a:srgbClr val="000000"/>
              </a:solidFill>
              <a:latin typeface="Arial"/>
              <a:ea typeface="Arial"/>
              <a:cs typeface="Arial"/>
              <a:sym typeface="Arial"/>
            </a:endParaRPr>
          </a:p>
        </p:txBody>
      </p:sp>
      <p:sp>
        <p:nvSpPr>
          <p:cNvPr id="1151" name="Google Shape;1151;p54"/>
          <p:cNvSpPr txBox="1"/>
          <p:nvPr/>
        </p:nvSpPr>
        <p:spPr>
          <a:xfrm>
            <a:off x="8330183" y="3081528"/>
            <a:ext cx="2779776" cy="6583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5F3EE"/>
                </a:solidFill>
                <a:latin typeface="Arial"/>
                <a:ea typeface="Arial"/>
                <a:cs typeface="Arial"/>
                <a:sym typeface="Arial"/>
              </a:rPr>
              <a:t>Control external actions</a:t>
            </a:r>
            <a:endParaRPr b="0" i="0" sz="1400" u="none" cap="none" strike="noStrike">
              <a:solidFill>
                <a:srgbClr val="000000"/>
              </a:solidFill>
              <a:latin typeface="Arial"/>
              <a:ea typeface="Arial"/>
              <a:cs typeface="Arial"/>
              <a:sym typeface="Arial"/>
            </a:endParaRPr>
          </a:p>
        </p:txBody>
      </p:sp>
      <p:sp>
        <p:nvSpPr>
          <p:cNvPr id="1152" name="Google Shape;1152;p54"/>
          <p:cNvSpPr txBox="1"/>
          <p:nvPr/>
        </p:nvSpPr>
        <p:spPr>
          <a:xfrm>
            <a:off x="8330183" y="3968496"/>
            <a:ext cx="2779776" cy="83210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A8AFBF"/>
                </a:solidFill>
                <a:latin typeface="Arial"/>
                <a:ea typeface="Arial"/>
                <a:cs typeface="Arial"/>
                <a:sym typeface="Arial"/>
              </a:rPr>
              <a:t>Idempotency · approvals · audit</a:t>
            </a:r>
            <a:endParaRPr b="0" i="0" sz="1400" u="none" cap="none" strike="noStrike">
              <a:solidFill>
                <a:srgbClr val="000000"/>
              </a:solidFill>
              <a:latin typeface="Arial"/>
              <a:ea typeface="Arial"/>
              <a:cs typeface="Arial"/>
              <a:sym typeface="Arial"/>
            </a:endParaRPr>
          </a:p>
        </p:txBody>
      </p:sp>
      <p:sp>
        <p:nvSpPr>
          <p:cNvPr id="1153" name="Google Shape;1153;p54"/>
          <p:cNvSpPr txBox="1"/>
          <p:nvPr/>
        </p:nvSpPr>
        <p:spPr>
          <a:xfrm>
            <a:off x="914400" y="5422392"/>
            <a:ext cx="10607040" cy="53949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5F3EE"/>
                </a:solidFill>
                <a:latin typeface="Arial"/>
                <a:ea typeface="Arial"/>
                <a:cs typeface="Arial"/>
                <a:sym typeface="Arial"/>
              </a:rPr>
              <a:t>Tool and agent protocols complement—not replace—durable messaging.</a:t>
            </a:r>
            <a:endParaRPr b="0" i="0" sz="1400" u="none" cap="none" strike="noStrike">
              <a:solidFill>
                <a:srgbClr val="000000"/>
              </a:solidFill>
              <a:latin typeface="Arial"/>
              <a:ea typeface="Arial"/>
              <a:cs typeface="Arial"/>
              <a:sym typeface="Arial"/>
            </a:endParaRPr>
          </a:p>
        </p:txBody>
      </p:sp>
      <p:sp>
        <p:nvSpPr>
          <p:cNvPr id="1154" name="Google Shape;1154;p54"/>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46</a:t>
            </a:r>
            <a:endParaRPr b="0" i="0" sz="1400" u="none" cap="none" strike="noStrike">
              <a:solidFill>
                <a:srgbClr val="000000"/>
              </a:solidFill>
              <a:latin typeface="Arial"/>
              <a:ea typeface="Arial"/>
              <a:cs typeface="Arial"/>
              <a:sym typeface="Arial"/>
            </a:endParaRPr>
          </a:p>
        </p:txBody>
      </p:sp>
      <p:sp>
        <p:nvSpPr>
          <p:cNvPr id="1155" name="Google Shape;1155;p54"/>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159" name="Shape 1159"/>
        <p:cNvGrpSpPr/>
        <p:nvPr/>
      </p:nvGrpSpPr>
      <p:grpSpPr>
        <a:xfrm>
          <a:off x="0" y="0"/>
          <a:ext cx="0" cy="0"/>
          <a:chOff x="0" y="0"/>
          <a:chExt cx="0" cy="0"/>
        </a:xfrm>
      </p:grpSpPr>
      <p:sp>
        <p:nvSpPr>
          <p:cNvPr id="1160" name="Google Shape;1160;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1161" name="Google Shape;1161;p52"/>
          <p:cNvSpPr txBox="1"/>
          <p:nvPr/>
        </p:nvSpPr>
        <p:spPr>
          <a:xfrm>
            <a:off x="731520" y="521207"/>
            <a:ext cx="10789920" cy="2926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THE WHOLE STACK IN ONE ARCHITECTURE</a:t>
            </a:r>
            <a:endParaRPr b="0" i="0" sz="1400" u="none" cap="none" strike="noStrike">
              <a:solidFill>
                <a:srgbClr val="000000"/>
              </a:solidFill>
              <a:latin typeface="Arial"/>
              <a:ea typeface="Arial"/>
              <a:cs typeface="Arial"/>
              <a:sym typeface="Arial"/>
            </a:endParaRPr>
          </a:p>
        </p:txBody>
      </p:sp>
      <p:sp>
        <p:nvSpPr>
          <p:cNvPr id="1162" name="Google Shape;1162;p52"/>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PUT THEM TOGETHER  /  One durable task</a:t>
            </a:r>
            <a:endParaRPr b="0" i="0" sz="1400" u="none" cap="none" strike="noStrike">
              <a:solidFill>
                <a:srgbClr val="000000"/>
              </a:solidFill>
              <a:latin typeface="Arial"/>
              <a:ea typeface="Arial"/>
              <a:cs typeface="Arial"/>
              <a:sym typeface="Arial"/>
            </a:endParaRPr>
          </a:p>
        </p:txBody>
      </p:sp>
      <p:sp>
        <p:nvSpPr>
          <p:cNvPr id="1163" name="Google Shape;1163;p52"/>
          <p:cNvSpPr/>
          <p:nvPr/>
        </p:nvSpPr>
        <p:spPr>
          <a:xfrm>
            <a:off x="1005840" y="1874519"/>
            <a:ext cx="10104120" cy="969264"/>
          </a:xfrm>
          <a:prstGeom prst="roundRect">
            <a:avLst>
              <a:gd fmla="val 16667" name="adj"/>
            </a:avLst>
          </a:prstGeom>
          <a:solidFill>
            <a:srgbClr val="121721"/>
          </a:solidFill>
          <a:ln cap="flat" cmpd="sng" w="1905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52"/>
          <p:cNvSpPr txBox="1"/>
          <p:nvPr/>
        </p:nvSpPr>
        <p:spPr>
          <a:xfrm>
            <a:off x="1207008" y="2066543"/>
            <a:ext cx="594360" cy="39319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C5A0F8"/>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1165" name="Google Shape;1165;p52"/>
          <p:cNvSpPr txBox="1"/>
          <p:nvPr/>
        </p:nvSpPr>
        <p:spPr>
          <a:xfrm>
            <a:off x="1938528" y="1975103"/>
            <a:ext cx="3474720" cy="37490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5F3EE"/>
                </a:solidFill>
                <a:latin typeface="Arial"/>
                <a:ea typeface="Arial"/>
                <a:cs typeface="Arial"/>
                <a:sym typeface="Arial"/>
              </a:rPr>
              <a:t>AGENT RUNTIME</a:t>
            </a:r>
            <a:endParaRPr b="0" i="0" sz="1400" u="none" cap="none" strike="noStrike">
              <a:solidFill>
                <a:srgbClr val="000000"/>
              </a:solidFill>
              <a:latin typeface="Arial"/>
              <a:ea typeface="Arial"/>
              <a:cs typeface="Arial"/>
              <a:sym typeface="Arial"/>
            </a:endParaRPr>
          </a:p>
        </p:txBody>
      </p:sp>
      <p:sp>
        <p:nvSpPr>
          <p:cNvPr id="1166" name="Google Shape;1166;p52"/>
          <p:cNvSpPr txBox="1"/>
          <p:nvPr/>
        </p:nvSpPr>
        <p:spPr>
          <a:xfrm>
            <a:off x="5486400" y="2029967"/>
            <a:ext cx="5276088" cy="4480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Plan · select specialist · replan · evaluate</a:t>
            </a:r>
            <a:endParaRPr b="0" i="0" sz="1400" u="none" cap="none" strike="noStrike">
              <a:solidFill>
                <a:srgbClr val="000000"/>
              </a:solidFill>
              <a:latin typeface="Arial"/>
              <a:ea typeface="Arial"/>
              <a:cs typeface="Arial"/>
              <a:sym typeface="Arial"/>
            </a:endParaRPr>
          </a:p>
        </p:txBody>
      </p:sp>
      <p:sp>
        <p:nvSpPr>
          <p:cNvPr id="1167" name="Google Shape;1167;p52"/>
          <p:cNvSpPr/>
          <p:nvPr/>
        </p:nvSpPr>
        <p:spPr>
          <a:xfrm>
            <a:off x="1005840" y="3264408"/>
            <a:ext cx="10104120" cy="969264"/>
          </a:xfrm>
          <a:prstGeom prst="roundRect">
            <a:avLst>
              <a:gd fmla="val 16667" name="adj"/>
            </a:avLst>
          </a:prstGeom>
          <a:solidFill>
            <a:srgbClr val="121721"/>
          </a:solidFill>
          <a:ln cap="flat" cmpd="sng" w="19050">
            <a:solidFill>
              <a:srgbClr val="6FD3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52"/>
          <p:cNvSpPr txBox="1"/>
          <p:nvPr/>
        </p:nvSpPr>
        <p:spPr>
          <a:xfrm>
            <a:off x="1207008" y="3456432"/>
            <a:ext cx="594360" cy="39319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6FD3E7"/>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1169" name="Google Shape;1169;p52"/>
          <p:cNvSpPr txBox="1"/>
          <p:nvPr/>
        </p:nvSpPr>
        <p:spPr>
          <a:xfrm>
            <a:off x="1938528" y="3364991"/>
            <a:ext cx="3474720" cy="37490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5F3EE"/>
                </a:solidFill>
                <a:latin typeface="Arial"/>
                <a:ea typeface="Arial"/>
                <a:cs typeface="Arial"/>
                <a:sym typeface="Arial"/>
              </a:rPr>
              <a:t>MESSAGING + EVENT BACKBONE</a:t>
            </a:r>
            <a:endParaRPr b="0" i="0" sz="1400" u="none" cap="none" strike="noStrike">
              <a:solidFill>
                <a:srgbClr val="000000"/>
              </a:solidFill>
              <a:latin typeface="Arial"/>
              <a:ea typeface="Arial"/>
              <a:cs typeface="Arial"/>
              <a:sym typeface="Arial"/>
            </a:endParaRPr>
          </a:p>
        </p:txBody>
      </p:sp>
      <p:sp>
        <p:nvSpPr>
          <p:cNvPr id="1170" name="Google Shape;1170;p52"/>
          <p:cNvSpPr txBox="1"/>
          <p:nvPr/>
        </p:nvSpPr>
        <p:spPr>
          <a:xfrm>
            <a:off x="5486400" y="3419856"/>
            <a:ext cx="5276088" cy="4480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Durable events · routing · fan-out · retries</a:t>
            </a:r>
            <a:endParaRPr b="0" i="0" sz="1400" u="none" cap="none" strike="noStrike">
              <a:solidFill>
                <a:srgbClr val="000000"/>
              </a:solidFill>
              <a:latin typeface="Arial"/>
              <a:ea typeface="Arial"/>
              <a:cs typeface="Arial"/>
              <a:sym typeface="Arial"/>
            </a:endParaRPr>
          </a:p>
        </p:txBody>
      </p:sp>
      <p:sp>
        <p:nvSpPr>
          <p:cNvPr id="1171" name="Google Shape;1171;p52"/>
          <p:cNvSpPr/>
          <p:nvPr/>
        </p:nvSpPr>
        <p:spPr>
          <a:xfrm>
            <a:off x="1005840" y="4654296"/>
            <a:ext cx="10104120" cy="969264"/>
          </a:xfrm>
          <a:prstGeom prst="roundRect">
            <a:avLst>
              <a:gd fmla="val 16667" name="adj"/>
            </a:avLst>
          </a:prstGeom>
          <a:solidFill>
            <a:srgbClr val="121721"/>
          </a:solidFill>
          <a:ln cap="flat" cmpd="sng" w="1905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2" name="Google Shape;1172;p52"/>
          <p:cNvSpPr txBox="1"/>
          <p:nvPr/>
        </p:nvSpPr>
        <p:spPr>
          <a:xfrm>
            <a:off x="1207008" y="4846320"/>
            <a:ext cx="594360" cy="39319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E8A33D"/>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1173" name="Google Shape;1173;p52"/>
          <p:cNvSpPr txBox="1"/>
          <p:nvPr/>
        </p:nvSpPr>
        <p:spPr>
          <a:xfrm>
            <a:off x="1938528" y="4754880"/>
            <a:ext cx="3474720" cy="374904"/>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F5F3EE"/>
                </a:solidFill>
                <a:latin typeface="Arial"/>
                <a:ea typeface="Arial"/>
                <a:cs typeface="Arial"/>
                <a:sym typeface="Arial"/>
              </a:rPr>
              <a:t>HUMAN + POLICY</a:t>
            </a:r>
            <a:endParaRPr b="0" i="0" sz="1400" u="none" cap="none" strike="noStrike">
              <a:solidFill>
                <a:srgbClr val="000000"/>
              </a:solidFill>
              <a:latin typeface="Arial"/>
              <a:ea typeface="Arial"/>
              <a:cs typeface="Arial"/>
              <a:sym typeface="Arial"/>
            </a:endParaRPr>
          </a:p>
        </p:txBody>
      </p:sp>
      <p:sp>
        <p:nvSpPr>
          <p:cNvPr id="1174" name="Google Shape;1174;p52"/>
          <p:cNvSpPr txBox="1"/>
          <p:nvPr/>
        </p:nvSpPr>
        <p:spPr>
          <a:xfrm>
            <a:off x="5486400" y="4809744"/>
            <a:ext cx="5276088" cy="448056"/>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Set goal · grant authority · approve irreversible effect</a:t>
            </a:r>
            <a:endParaRPr b="0" i="0" sz="1400" u="none" cap="none" strike="noStrike">
              <a:solidFill>
                <a:srgbClr val="000000"/>
              </a:solidFill>
              <a:latin typeface="Arial"/>
              <a:ea typeface="Arial"/>
              <a:cs typeface="Arial"/>
              <a:sym typeface="Arial"/>
            </a:endParaRPr>
          </a:p>
        </p:txBody>
      </p:sp>
      <p:cxnSp>
        <p:nvCxnSpPr>
          <p:cNvPr id="1175" name="Google Shape;1175;p52"/>
          <p:cNvCxnSpPr/>
          <p:nvPr/>
        </p:nvCxnSpPr>
        <p:spPr>
          <a:xfrm>
            <a:off x="6016752" y="2862072"/>
            <a:ext cx="0" cy="320040"/>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176" name="Google Shape;1176;p52"/>
          <p:cNvCxnSpPr/>
          <p:nvPr/>
        </p:nvCxnSpPr>
        <p:spPr>
          <a:xfrm>
            <a:off x="5957092" y="3058606"/>
            <a:ext cx="59660" cy="123506"/>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177" name="Google Shape;1177;p52"/>
          <p:cNvCxnSpPr/>
          <p:nvPr/>
        </p:nvCxnSpPr>
        <p:spPr>
          <a:xfrm flipH="1">
            <a:off x="6016752" y="3058606"/>
            <a:ext cx="59659" cy="123506"/>
          </a:xfrm>
          <a:prstGeom prst="straightConnector1">
            <a:avLst/>
          </a:prstGeom>
          <a:noFill/>
          <a:ln cap="flat" cmpd="sng" w="254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178" name="Google Shape;1178;p52"/>
          <p:cNvCxnSpPr/>
          <p:nvPr/>
        </p:nvCxnSpPr>
        <p:spPr>
          <a:xfrm>
            <a:off x="6016752" y="4261104"/>
            <a:ext cx="0" cy="320040"/>
          </a:xfrm>
          <a:prstGeom prst="straightConnector1">
            <a:avLst/>
          </a:prstGeom>
          <a:noFill/>
          <a:ln cap="flat" cmpd="sng" w="25400">
            <a:solidFill>
              <a:srgbClr val="E8A33D"/>
            </a:solidFill>
            <a:prstDash val="solid"/>
            <a:round/>
            <a:headEnd len="sm" w="sm" type="none"/>
            <a:tailEnd len="sm" w="sm" type="none"/>
          </a:ln>
          <a:effectLst>
            <a:outerShdw blurRad="40000" rotWithShape="0" dir="5400000" dist="20000">
              <a:srgbClr val="000000">
                <a:alpha val="38039"/>
              </a:srgbClr>
            </a:outerShdw>
          </a:effectLst>
        </p:spPr>
      </p:cxnSp>
      <p:cxnSp>
        <p:nvCxnSpPr>
          <p:cNvPr id="1179" name="Google Shape;1179;p52"/>
          <p:cNvCxnSpPr/>
          <p:nvPr/>
        </p:nvCxnSpPr>
        <p:spPr>
          <a:xfrm>
            <a:off x="5957092" y="4457638"/>
            <a:ext cx="59660" cy="123506"/>
          </a:xfrm>
          <a:prstGeom prst="straightConnector1">
            <a:avLst/>
          </a:prstGeom>
          <a:noFill/>
          <a:ln cap="flat" cmpd="sng" w="25400">
            <a:solidFill>
              <a:srgbClr val="E8A33D"/>
            </a:solidFill>
            <a:prstDash val="solid"/>
            <a:round/>
            <a:headEnd len="sm" w="sm" type="none"/>
            <a:tailEnd len="sm" w="sm" type="none"/>
          </a:ln>
          <a:effectLst>
            <a:outerShdw blurRad="40000" rotWithShape="0" dir="5400000" dist="20000">
              <a:srgbClr val="000000">
                <a:alpha val="38039"/>
              </a:srgbClr>
            </a:outerShdw>
          </a:effectLst>
        </p:spPr>
      </p:cxnSp>
      <p:cxnSp>
        <p:nvCxnSpPr>
          <p:cNvPr id="1180" name="Google Shape;1180;p52"/>
          <p:cNvCxnSpPr/>
          <p:nvPr/>
        </p:nvCxnSpPr>
        <p:spPr>
          <a:xfrm flipH="1">
            <a:off x="6016752" y="4457638"/>
            <a:ext cx="59659" cy="123506"/>
          </a:xfrm>
          <a:prstGeom prst="straightConnector1">
            <a:avLst/>
          </a:prstGeom>
          <a:noFill/>
          <a:ln cap="flat" cmpd="sng" w="25400">
            <a:solidFill>
              <a:srgbClr val="E8A33D"/>
            </a:solidFill>
            <a:prstDash val="solid"/>
            <a:round/>
            <a:headEnd len="sm" w="sm" type="none"/>
            <a:tailEnd len="sm" w="sm" type="none"/>
          </a:ln>
          <a:effectLst>
            <a:outerShdw blurRad="40000" rotWithShape="0" dir="5400000" dist="20000">
              <a:srgbClr val="000000">
                <a:alpha val="38039"/>
              </a:srgbClr>
            </a:outerShdw>
          </a:effectLst>
        </p:spPr>
      </p:cxnSp>
      <p:sp>
        <p:nvSpPr>
          <p:cNvPr id="1181" name="Google Shape;1181;p52"/>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39</a:t>
            </a:r>
            <a:endParaRPr b="0" i="0" sz="1400" u="none" cap="none" strike="noStrike">
              <a:solidFill>
                <a:srgbClr val="000000"/>
              </a:solidFill>
              <a:latin typeface="Arial"/>
              <a:ea typeface="Arial"/>
              <a:cs typeface="Arial"/>
              <a:sym typeface="Arial"/>
            </a:endParaRPr>
          </a:p>
        </p:txBody>
      </p:sp>
      <p:sp>
        <p:nvSpPr>
          <p:cNvPr id="1182" name="Google Shape;1182;p52"/>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187" name="Shape 1187"/>
        <p:cNvGrpSpPr/>
        <p:nvPr/>
      </p:nvGrpSpPr>
      <p:grpSpPr>
        <a:xfrm>
          <a:off x="0" y="0"/>
          <a:ext cx="0" cy="0"/>
          <a:chOff x="0" y="0"/>
          <a:chExt cx="0" cy="0"/>
        </a:xfrm>
      </p:grpSpPr>
      <p:sp>
        <p:nvSpPr>
          <p:cNvPr id="1188" name="Google Shape;1188;p17"/>
          <p:cNvSpPr txBox="1"/>
          <p:nvPr/>
        </p:nvSpPr>
        <p:spPr>
          <a:xfrm>
            <a:off x="925025" y="2773675"/>
            <a:ext cx="10650600" cy="1068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5200"/>
              <a:buFont typeface="Arial"/>
              <a:buNone/>
            </a:pPr>
            <a:r>
              <a:rPr b="0" i="0" lang="en-US" sz="5200" u="none" cap="none" strike="noStrike">
                <a:solidFill>
                  <a:schemeClr val="lt1"/>
                </a:solidFill>
                <a:latin typeface="Arial"/>
                <a:ea typeface="Arial"/>
                <a:cs typeface="Arial"/>
                <a:sym typeface="Arial"/>
              </a:rPr>
              <a:t>ORDERING within defined scope</a:t>
            </a:r>
            <a:endParaRPr b="0" i="0" sz="7300" u="none" cap="none" strike="noStrike">
              <a:solidFill>
                <a:schemeClr val="lt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193" name="Shape 1193"/>
        <p:cNvGrpSpPr/>
        <p:nvPr/>
      </p:nvGrpSpPr>
      <p:grpSpPr>
        <a:xfrm>
          <a:off x="0" y="0"/>
          <a:ext cx="0" cy="0"/>
          <a:chOff x="0" y="0"/>
          <a:chExt cx="0" cy="0"/>
        </a:xfrm>
      </p:grpSpPr>
      <p:sp>
        <p:nvSpPr>
          <p:cNvPr id="1194" name="Google Shape;1194;p18"/>
          <p:cNvSpPr txBox="1"/>
          <p:nvPr/>
        </p:nvSpPr>
        <p:spPr>
          <a:xfrm>
            <a:off x="662238" y="2831375"/>
            <a:ext cx="10867200" cy="1068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5200"/>
              <a:buFont typeface="Arial"/>
              <a:buNone/>
            </a:pPr>
            <a:r>
              <a:rPr b="0" i="0" lang="en-US" sz="5200" u="none" cap="none" strike="noStrike">
                <a:solidFill>
                  <a:schemeClr val="lt1"/>
                </a:solidFill>
                <a:latin typeface="Arial"/>
                <a:ea typeface="Arial"/>
                <a:cs typeface="Arial"/>
                <a:sym typeface="Arial"/>
              </a:rPr>
              <a:t>EXACTLY-ONCE in scoped guarantees</a:t>
            </a:r>
            <a:endParaRPr b="0" i="0" sz="5200" u="none" cap="none" strike="noStrike">
              <a:solidFill>
                <a:schemeClr val="lt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199" name="Shape 1199"/>
        <p:cNvGrpSpPr/>
        <p:nvPr/>
      </p:nvGrpSpPr>
      <p:grpSpPr>
        <a:xfrm>
          <a:off x="0" y="0"/>
          <a:ext cx="0" cy="0"/>
          <a:chOff x="0" y="0"/>
          <a:chExt cx="0" cy="0"/>
        </a:xfrm>
      </p:grpSpPr>
      <p:sp>
        <p:nvSpPr>
          <p:cNvPr id="1200" name="Google Shape;1200;p19"/>
          <p:cNvSpPr txBox="1"/>
          <p:nvPr/>
        </p:nvSpPr>
        <p:spPr>
          <a:xfrm>
            <a:off x="1747650" y="2874700"/>
            <a:ext cx="9423900" cy="14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200"/>
              <a:buFont typeface="Arial"/>
              <a:buNone/>
            </a:pPr>
            <a:r>
              <a:rPr b="0" i="0" lang="en-US" sz="5200" u="none" cap="none" strike="noStrike">
                <a:solidFill>
                  <a:schemeClr val="lt1"/>
                </a:solidFill>
                <a:latin typeface="Arial"/>
                <a:ea typeface="Arial"/>
                <a:cs typeface="Arial"/>
                <a:sym typeface="Arial"/>
              </a:rPr>
              <a:t>BACKPRESSURE with</a:t>
            </a:r>
            <a:endParaRPr b="0" i="0" sz="52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200"/>
              <a:buFont typeface="Arial"/>
              <a:buNone/>
            </a:pPr>
            <a:r>
              <a:rPr b="0" i="0" lang="en-US" sz="5200" u="none" cap="none" strike="noStrike">
                <a:solidFill>
                  <a:schemeClr val="lt1"/>
                </a:solidFill>
                <a:latin typeface="Arial"/>
                <a:ea typeface="Arial"/>
                <a:cs typeface="Arial"/>
                <a:sym typeface="Arial"/>
              </a:rPr>
              <a:t> task quotas limiting chains</a:t>
            </a:r>
            <a:endParaRPr b="0" i="0" sz="5200" u="none" cap="none" strike="noStrike">
              <a:solidFill>
                <a:schemeClr val="lt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205" name="Shape 1205"/>
        <p:cNvGrpSpPr/>
        <p:nvPr/>
      </p:nvGrpSpPr>
      <p:grpSpPr>
        <a:xfrm>
          <a:off x="0" y="0"/>
          <a:ext cx="0" cy="0"/>
          <a:chOff x="0" y="0"/>
          <a:chExt cx="0" cy="0"/>
        </a:xfrm>
      </p:grpSpPr>
      <p:sp>
        <p:nvSpPr>
          <p:cNvPr id="1206" name="Google Shape;1206;p20"/>
          <p:cNvSpPr txBox="1"/>
          <p:nvPr/>
        </p:nvSpPr>
        <p:spPr>
          <a:xfrm>
            <a:off x="795150" y="2395825"/>
            <a:ext cx="10968300" cy="33351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5200"/>
              <a:buFont typeface="Arial"/>
              <a:buNone/>
            </a:pPr>
            <a:r>
              <a:rPr b="0" i="0" lang="en-US" sz="5200" u="none" cap="none" strike="noStrike">
                <a:solidFill>
                  <a:schemeClr val="lt1"/>
                </a:solidFill>
                <a:latin typeface="Arial"/>
                <a:ea typeface="Arial"/>
                <a:cs typeface="Arial"/>
                <a:sym typeface="Arial"/>
              </a:rPr>
              <a:t>REPLAY evidence before replay the world</a:t>
            </a:r>
            <a:endParaRPr b="0" i="0" sz="5200" u="none" cap="none" strike="noStrike">
              <a:solidFill>
                <a:schemeClr val="lt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0" name="Shape 1210"/>
        <p:cNvGrpSpPr/>
        <p:nvPr/>
      </p:nvGrpSpPr>
      <p:grpSpPr>
        <a:xfrm>
          <a:off x="0" y="0"/>
          <a:ext cx="0" cy="0"/>
          <a:chOff x="0" y="0"/>
          <a:chExt cx="0" cy="0"/>
        </a:xfrm>
      </p:grpSpPr>
      <p:sp>
        <p:nvSpPr>
          <p:cNvPr id="1211" name="Google Shape;1211;hd1b175b31137957_0_395"/>
          <p:cNvSpPr/>
          <p:nvPr/>
        </p:nvSpPr>
        <p:spPr>
          <a:xfrm>
            <a:off x="0" y="0"/>
            <a:ext cx="12191700" cy="6858000"/>
          </a:xfrm>
          <a:prstGeom prst="rect">
            <a:avLst/>
          </a:prstGeom>
          <a:solidFill>
            <a:srgbClr val="0A101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2" name="Google Shape;1212;hd1b175b31137957_0_395"/>
          <p:cNvSpPr/>
          <p:nvPr/>
        </p:nvSpPr>
        <p:spPr>
          <a:xfrm>
            <a:off x="0" y="0"/>
            <a:ext cx="12191700" cy="41100"/>
          </a:xfrm>
          <a:prstGeom prst="rect">
            <a:avLst/>
          </a:prstGeom>
          <a:solidFill>
            <a:srgbClr val="65E1C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3" name="Google Shape;1213;hd1b175b31137957_0_395"/>
          <p:cNvSpPr txBox="1"/>
          <p:nvPr/>
        </p:nvSpPr>
        <p:spPr>
          <a:xfrm>
            <a:off x="667496" y="329184"/>
            <a:ext cx="10515300" cy="169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65E1C2"/>
                </a:solidFill>
                <a:latin typeface="Inter"/>
                <a:ea typeface="Inter"/>
                <a:cs typeface="Inter"/>
                <a:sym typeface="Inter"/>
              </a:rPr>
              <a:t>MESSAGING SYSTEMS  /  AGENTIC WORKFLOWS</a:t>
            </a:r>
            <a:endParaRPr b="0" i="0" sz="1400" u="none" cap="none" strike="noStrike">
              <a:solidFill>
                <a:srgbClr val="000000"/>
              </a:solidFill>
              <a:latin typeface="Arial"/>
              <a:ea typeface="Arial"/>
              <a:cs typeface="Arial"/>
              <a:sym typeface="Arial"/>
            </a:endParaRPr>
          </a:p>
        </p:txBody>
      </p:sp>
      <p:sp>
        <p:nvSpPr>
          <p:cNvPr id="1214" name="Google Shape;1214;hd1b175b31137957_0_395"/>
          <p:cNvSpPr txBox="1"/>
          <p:nvPr/>
        </p:nvSpPr>
        <p:spPr>
          <a:xfrm>
            <a:off x="667496" y="822960"/>
            <a:ext cx="10972500" cy="561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650"/>
              <a:buFont typeface="Arial"/>
              <a:buNone/>
            </a:pPr>
            <a:r>
              <a:rPr b="1" i="0" lang="en-US" sz="3650" u="none" cap="none" strike="noStrike">
                <a:solidFill>
                  <a:srgbClr val="F3F6FB"/>
                </a:solidFill>
                <a:latin typeface="Inter"/>
                <a:ea typeface="Inter"/>
                <a:cs typeface="Inter"/>
                <a:sym typeface="Inter"/>
              </a:rPr>
              <a:t>THE NEW RELIABILITY MODEL</a:t>
            </a:r>
            <a:endParaRPr b="0" i="0" sz="1400" u="none" cap="none" strike="noStrike">
              <a:solidFill>
                <a:srgbClr val="000000"/>
              </a:solidFill>
              <a:latin typeface="Arial"/>
              <a:ea typeface="Arial"/>
              <a:cs typeface="Arial"/>
              <a:sym typeface="Arial"/>
            </a:endParaRPr>
          </a:p>
        </p:txBody>
      </p:sp>
      <p:sp>
        <p:nvSpPr>
          <p:cNvPr id="1215" name="Google Shape;1215;hd1b175b31137957_0_395"/>
          <p:cNvSpPr txBox="1"/>
          <p:nvPr/>
        </p:nvSpPr>
        <p:spPr>
          <a:xfrm>
            <a:off x="685783" y="1490472"/>
            <a:ext cx="9875100" cy="35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F3F6FB"/>
                </a:solidFill>
                <a:latin typeface="Inter"/>
                <a:ea typeface="Inter"/>
                <a:cs typeface="Inter"/>
                <a:sym typeface="Inter"/>
              </a:rPr>
              <a:t>One system. </a:t>
            </a:r>
            <a:r>
              <a:rPr b="1" i="0" lang="en-US" sz="2300" u="none" cap="none" strike="noStrike">
                <a:solidFill>
                  <a:srgbClr val="65E1C2"/>
                </a:solidFill>
                <a:latin typeface="Inter"/>
                <a:ea typeface="Inter"/>
                <a:cs typeface="Inter"/>
                <a:sym typeface="Inter"/>
              </a:rPr>
              <a:t>Three promises.</a:t>
            </a:r>
            <a:endParaRPr b="0" i="0" sz="1400" u="none" cap="none" strike="noStrike">
              <a:solidFill>
                <a:srgbClr val="000000"/>
              </a:solidFill>
              <a:latin typeface="Arial"/>
              <a:ea typeface="Arial"/>
              <a:cs typeface="Arial"/>
              <a:sym typeface="Arial"/>
            </a:endParaRPr>
          </a:p>
        </p:txBody>
      </p:sp>
      <p:cxnSp>
        <p:nvCxnSpPr>
          <p:cNvPr id="1216" name="Google Shape;1216;hd1b175b31137957_0_395"/>
          <p:cNvCxnSpPr/>
          <p:nvPr/>
        </p:nvCxnSpPr>
        <p:spPr>
          <a:xfrm>
            <a:off x="667496" y="2084831"/>
            <a:ext cx="10844400" cy="0"/>
          </a:xfrm>
          <a:prstGeom prst="straightConnector1">
            <a:avLst/>
          </a:prstGeom>
          <a:noFill/>
          <a:ln cap="flat" cmpd="sng" w="12700">
            <a:solidFill>
              <a:srgbClr val="1F3145"/>
            </a:solidFill>
            <a:prstDash val="solid"/>
            <a:round/>
            <a:headEnd len="sm" w="sm" type="none"/>
            <a:tailEnd len="sm" w="sm" type="none"/>
          </a:ln>
          <a:effectLst>
            <a:outerShdw blurRad="40000" rotWithShape="0" dir="5400000" dist="20000">
              <a:srgbClr val="000000">
                <a:alpha val="38039"/>
              </a:srgbClr>
            </a:outerShdw>
          </a:effectLst>
        </p:spPr>
      </p:cxnSp>
      <p:sp>
        <p:nvSpPr>
          <p:cNvPr id="1217" name="Google Shape;1217;hd1b175b31137957_0_395"/>
          <p:cNvSpPr/>
          <p:nvPr/>
        </p:nvSpPr>
        <p:spPr>
          <a:xfrm>
            <a:off x="667496" y="2359152"/>
            <a:ext cx="3438000" cy="3300900"/>
          </a:xfrm>
          <a:prstGeom prst="roundRect">
            <a:avLst>
              <a:gd fmla="val 11000" name="adj"/>
            </a:avLst>
          </a:prstGeom>
          <a:solidFill>
            <a:srgbClr val="121F30"/>
          </a:solidFill>
          <a:ln cap="flat" cmpd="sng" w="9525">
            <a:solidFill>
              <a:srgbClr val="1F314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8" name="Google Shape;1218;hd1b175b31137957_0_395"/>
          <p:cNvSpPr/>
          <p:nvPr/>
        </p:nvSpPr>
        <p:spPr>
          <a:xfrm>
            <a:off x="685783" y="2377440"/>
            <a:ext cx="3401700" cy="53100"/>
          </a:xfrm>
          <a:prstGeom prst="rect">
            <a:avLst/>
          </a:prstGeom>
          <a:solidFill>
            <a:srgbClr val="65E1C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19" name="Google Shape;1219;hd1b175b31137957_0_395"/>
          <p:cNvSpPr txBox="1"/>
          <p:nvPr/>
        </p:nvSpPr>
        <p:spPr>
          <a:xfrm>
            <a:off x="960096" y="2606040"/>
            <a:ext cx="4845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5E1C2"/>
                </a:solidFill>
                <a:latin typeface="Inter"/>
                <a:ea typeface="Inter"/>
                <a:cs typeface="Inter"/>
                <a:sym typeface="Inter"/>
              </a:rPr>
              <a:t>01</a:t>
            </a:r>
            <a:endParaRPr b="0" i="0" sz="1400" u="none" cap="none" strike="noStrike">
              <a:solidFill>
                <a:srgbClr val="000000"/>
              </a:solidFill>
              <a:latin typeface="Arial"/>
              <a:ea typeface="Arial"/>
              <a:cs typeface="Arial"/>
              <a:sym typeface="Arial"/>
            </a:endParaRPr>
          </a:p>
        </p:txBody>
      </p:sp>
      <p:sp>
        <p:nvSpPr>
          <p:cNvPr id="1220" name="Google Shape;1220;hd1b175b31137957_0_395"/>
          <p:cNvSpPr txBox="1"/>
          <p:nvPr/>
        </p:nvSpPr>
        <p:spPr>
          <a:xfrm>
            <a:off x="2167075" y="2624328"/>
            <a:ext cx="1645800" cy="1431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930"/>
              <a:buFont typeface="Arial"/>
              <a:buNone/>
            </a:pPr>
            <a:r>
              <a:rPr b="1" i="0" lang="en-US" sz="930" u="none" cap="none" strike="noStrike">
                <a:solidFill>
                  <a:srgbClr val="70839A"/>
                </a:solidFill>
                <a:latin typeface="Inter"/>
                <a:ea typeface="Inter"/>
                <a:cs typeface="Inter"/>
                <a:sym typeface="Inter"/>
              </a:rPr>
              <a:t>MESSAGE DELIVERY</a:t>
            </a:r>
            <a:endParaRPr b="0" i="0" sz="1400" u="none" cap="none" strike="noStrike">
              <a:solidFill>
                <a:srgbClr val="000000"/>
              </a:solidFill>
              <a:latin typeface="Arial"/>
              <a:ea typeface="Arial"/>
              <a:cs typeface="Arial"/>
              <a:sym typeface="Arial"/>
            </a:endParaRPr>
          </a:p>
        </p:txBody>
      </p:sp>
      <p:sp>
        <p:nvSpPr>
          <p:cNvPr id="1221" name="Google Shape;1221;hd1b175b31137957_0_395"/>
          <p:cNvSpPr/>
          <p:nvPr/>
        </p:nvSpPr>
        <p:spPr>
          <a:xfrm>
            <a:off x="950953" y="3118104"/>
            <a:ext cx="932700" cy="868800"/>
          </a:xfrm>
          <a:prstGeom prst="roundRect">
            <a:avLst>
              <a:gd fmla="val 11000" name="adj"/>
            </a:avLst>
          </a:prstGeom>
          <a:solidFill>
            <a:srgbClr val="1C35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2" name="Google Shape;1222;hd1b175b31137957_0_395"/>
          <p:cNvSpPr/>
          <p:nvPr/>
        </p:nvSpPr>
        <p:spPr>
          <a:xfrm>
            <a:off x="1152116" y="3383280"/>
            <a:ext cx="539400" cy="375000"/>
          </a:xfrm>
          <a:prstGeom prst="roundRect">
            <a:avLst>
              <a:gd fmla="val 16667" name="adj"/>
            </a:avLst>
          </a:prstGeom>
          <a:noFill/>
          <a:ln cap="flat" cmpd="sng" w="25400">
            <a:solidFill>
              <a:srgbClr val="65E1C2"/>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23" name="Google Shape;1223;hd1b175b31137957_0_395"/>
          <p:cNvCxnSpPr/>
          <p:nvPr/>
        </p:nvCxnSpPr>
        <p:spPr>
          <a:xfrm>
            <a:off x="1152116" y="3383280"/>
            <a:ext cx="265200" cy="183000"/>
          </a:xfrm>
          <a:prstGeom prst="straightConnector1">
            <a:avLst/>
          </a:prstGeom>
          <a:noFill/>
          <a:ln cap="flat" cmpd="sng" w="17775">
            <a:solidFill>
              <a:srgbClr val="65E1C2"/>
            </a:solidFill>
            <a:prstDash val="solid"/>
            <a:round/>
            <a:headEnd len="sm" w="sm" type="none"/>
            <a:tailEnd len="sm" w="sm" type="none"/>
          </a:ln>
          <a:effectLst>
            <a:outerShdw blurRad="40000" rotWithShape="0" dir="5400000" dist="20000">
              <a:srgbClr val="000000">
                <a:alpha val="38039"/>
              </a:srgbClr>
            </a:outerShdw>
          </a:effectLst>
        </p:spPr>
      </p:cxnSp>
      <p:cxnSp>
        <p:nvCxnSpPr>
          <p:cNvPr id="1224" name="Google Shape;1224;hd1b175b31137957_0_395"/>
          <p:cNvCxnSpPr/>
          <p:nvPr/>
        </p:nvCxnSpPr>
        <p:spPr>
          <a:xfrm flipH="1">
            <a:off x="1417398" y="3383280"/>
            <a:ext cx="274200" cy="183000"/>
          </a:xfrm>
          <a:prstGeom prst="straightConnector1">
            <a:avLst/>
          </a:prstGeom>
          <a:noFill/>
          <a:ln cap="flat" cmpd="sng" w="17775">
            <a:solidFill>
              <a:srgbClr val="65E1C2"/>
            </a:solidFill>
            <a:prstDash val="solid"/>
            <a:round/>
            <a:headEnd len="sm" w="sm" type="none"/>
            <a:tailEnd len="sm" w="sm" type="none"/>
          </a:ln>
          <a:effectLst>
            <a:outerShdw blurRad="40000" rotWithShape="0" dir="5400000" dist="20000">
              <a:srgbClr val="000000">
                <a:alpha val="38039"/>
              </a:srgbClr>
            </a:outerShdw>
          </a:effectLst>
        </p:spPr>
      </p:cxnSp>
      <p:cxnSp>
        <p:nvCxnSpPr>
          <p:cNvPr id="1225" name="Google Shape;1225;hd1b175b31137957_0_395"/>
          <p:cNvCxnSpPr/>
          <p:nvPr/>
        </p:nvCxnSpPr>
        <p:spPr>
          <a:xfrm>
            <a:off x="1033246" y="3575304"/>
            <a:ext cx="73200" cy="0"/>
          </a:xfrm>
          <a:prstGeom prst="straightConnector1">
            <a:avLst/>
          </a:prstGeom>
          <a:noFill/>
          <a:ln cap="flat" cmpd="sng" w="22850">
            <a:solidFill>
              <a:srgbClr val="65E1C2"/>
            </a:solidFill>
            <a:prstDash val="solid"/>
            <a:round/>
            <a:headEnd len="sm" w="sm" type="none"/>
            <a:tailEnd len="sm" w="sm" type="none"/>
          </a:ln>
          <a:effectLst>
            <a:outerShdw blurRad="40000" rotWithShape="0" dir="5400000" dist="20000">
              <a:srgbClr val="000000">
                <a:alpha val="38039"/>
              </a:srgbClr>
            </a:outerShdw>
          </a:effectLst>
        </p:spPr>
      </p:cxnSp>
      <p:cxnSp>
        <p:nvCxnSpPr>
          <p:cNvPr id="1226" name="Google Shape;1226;hd1b175b31137957_0_395"/>
          <p:cNvCxnSpPr/>
          <p:nvPr/>
        </p:nvCxnSpPr>
        <p:spPr>
          <a:xfrm>
            <a:off x="1033246" y="3712464"/>
            <a:ext cx="82200" cy="0"/>
          </a:xfrm>
          <a:prstGeom prst="straightConnector1">
            <a:avLst/>
          </a:prstGeom>
          <a:noFill/>
          <a:ln cap="flat" cmpd="sng" w="22850">
            <a:solidFill>
              <a:srgbClr val="65E1C2"/>
            </a:solidFill>
            <a:prstDash val="solid"/>
            <a:round/>
            <a:headEnd len="sm" w="sm" type="none"/>
            <a:tailEnd len="sm" w="sm" type="none"/>
          </a:ln>
          <a:effectLst>
            <a:outerShdw blurRad="40000" rotWithShape="0" dir="5400000" dist="20000">
              <a:srgbClr val="000000">
                <a:alpha val="38039"/>
              </a:srgbClr>
            </a:outerShdw>
          </a:effectLst>
        </p:spPr>
      </p:cxnSp>
      <p:sp>
        <p:nvSpPr>
          <p:cNvPr id="1227" name="Google Shape;1227;hd1b175b31137957_0_395"/>
          <p:cNvSpPr txBox="1"/>
          <p:nvPr/>
        </p:nvSpPr>
        <p:spPr>
          <a:xfrm>
            <a:off x="950953" y="4160520"/>
            <a:ext cx="2862000" cy="806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620"/>
              <a:buFont typeface="Arial"/>
              <a:buNone/>
            </a:pPr>
            <a:r>
              <a:rPr b="1" i="0" lang="en-US" sz="2620" u="none" cap="none" strike="noStrike">
                <a:solidFill>
                  <a:srgbClr val="F3F6FB"/>
                </a:solidFill>
                <a:latin typeface="Inter"/>
                <a:ea typeface="Inter"/>
                <a:cs typeface="Inter"/>
                <a:sym typeface="Inter"/>
              </a:rPr>
              <a:t>DELIVER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20"/>
              <a:buFont typeface="Arial"/>
              <a:buNone/>
            </a:pPr>
            <a:r>
              <a:rPr b="1" i="0" lang="en-US" sz="2620" u="none" cap="none" strike="noStrike">
                <a:solidFill>
                  <a:srgbClr val="F3F6FB"/>
                </a:solidFill>
                <a:latin typeface="Inter"/>
                <a:ea typeface="Inter"/>
                <a:cs typeface="Inter"/>
                <a:sym typeface="Inter"/>
              </a:rPr>
              <a:t>THE EVENT</a:t>
            </a:r>
            <a:endParaRPr b="0" i="0" sz="1400" u="none" cap="none" strike="noStrike">
              <a:solidFill>
                <a:srgbClr val="000000"/>
              </a:solidFill>
              <a:latin typeface="Arial"/>
              <a:ea typeface="Arial"/>
              <a:cs typeface="Arial"/>
              <a:sym typeface="Arial"/>
            </a:endParaRPr>
          </a:p>
        </p:txBody>
      </p:sp>
      <p:sp>
        <p:nvSpPr>
          <p:cNvPr id="1228" name="Google Shape;1228;hd1b175b31137957_0_395"/>
          <p:cNvSpPr txBox="1"/>
          <p:nvPr/>
        </p:nvSpPr>
        <p:spPr>
          <a:xfrm>
            <a:off x="950953" y="5093208"/>
            <a:ext cx="2962800" cy="40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10"/>
              <a:buFont typeface="Arial"/>
              <a:buNone/>
            </a:pPr>
            <a:r>
              <a:rPr b="0" i="0" lang="en-US" sz="1310" u="none" cap="none" strike="noStrike">
                <a:solidFill>
                  <a:srgbClr val="AEBCCD"/>
                </a:solidFill>
                <a:latin typeface="Inter"/>
                <a:ea typeface="Inter"/>
                <a:cs typeface="Inter"/>
                <a:sym typeface="Inter"/>
              </a:rPr>
              <a:t>Events are durably delivered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10"/>
              <a:buFont typeface="Arial"/>
              <a:buNone/>
            </a:pPr>
            <a:r>
              <a:rPr b="0" i="0" lang="en-US" sz="1310" u="none" cap="none" strike="noStrike">
                <a:solidFill>
                  <a:srgbClr val="AEBCCD"/>
                </a:solidFill>
                <a:latin typeface="Inter"/>
                <a:ea typeface="Inter"/>
                <a:cs typeface="Inter"/>
                <a:sym typeface="Inter"/>
              </a:rPr>
              <a:t>and can be processed again.</a:t>
            </a:r>
            <a:endParaRPr b="0" i="0" sz="1400" u="none" cap="none" strike="noStrike">
              <a:solidFill>
                <a:srgbClr val="000000"/>
              </a:solidFill>
              <a:latin typeface="Arial"/>
              <a:ea typeface="Arial"/>
              <a:cs typeface="Arial"/>
              <a:sym typeface="Arial"/>
            </a:endParaRPr>
          </a:p>
        </p:txBody>
      </p:sp>
      <p:sp>
        <p:nvSpPr>
          <p:cNvPr id="1229" name="Google Shape;1229;hd1b175b31137957_0_395"/>
          <p:cNvSpPr/>
          <p:nvPr/>
        </p:nvSpPr>
        <p:spPr>
          <a:xfrm>
            <a:off x="4370724" y="2359152"/>
            <a:ext cx="3438000" cy="3300900"/>
          </a:xfrm>
          <a:prstGeom prst="roundRect">
            <a:avLst>
              <a:gd fmla="val 11000" name="adj"/>
            </a:avLst>
          </a:prstGeom>
          <a:solidFill>
            <a:srgbClr val="121F30"/>
          </a:solidFill>
          <a:ln cap="flat" cmpd="sng" w="9525">
            <a:solidFill>
              <a:srgbClr val="1F314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0" name="Google Shape;1230;hd1b175b31137957_0_395"/>
          <p:cNvSpPr/>
          <p:nvPr/>
        </p:nvSpPr>
        <p:spPr>
          <a:xfrm>
            <a:off x="4389012" y="2377440"/>
            <a:ext cx="3401700" cy="53100"/>
          </a:xfrm>
          <a:prstGeom prst="rect">
            <a:avLst/>
          </a:prstGeom>
          <a:solidFill>
            <a:srgbClr val="F4B661"/>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1" name="Google Shape;1231;hd1b175b31137957_0_395"/>
          <p:cNvSpPr txBox="1"/>
          <p:nvPr/>
        </p:nvSpPr>
        <p:spPr>
          <a:xfrm>
            <a:off x="4663325" y="2606040"/>
            <a:ext cx="4845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F4B661"/>
                </a:solidFill>
                <a:latin typeface="Inter"/>
                <a:ea typeface="Inter"/>
                <a:cs typeface="Inter"/>
                <a:sym typeface="Inter"/>
              </a:rPr>
              <a:t>02</a:t>
            </a:r>
            <a:endParaRPr b="0" i="0" sz="1400" u="none" cap="none" strike="noStrike">
              <a:solidFill>
                <a:srgbClr val="000000"/>
              </a:solidFill>
              <a:latin typeface="Arial"/>
              <a:ea typeface="Arial"/>
              <a:cs typeface="Arial"/>
              <a:sym typeface="Arial"/>
            </a:endParaRPr>
          </a:p>
        </p:txBody>
      </p:sp>
      <p:sp>
        <p:nvSpPr>
          <p:cNvPr id="1232" name="Google Shape;1232;hd1b175b31137957_0_395"/>
          <p:cNvSpPr txBox="1"/>
          <p:nvPr/>
        </p:nvSpPr>
        <p:spPr>
          <a:xfrm>
            <a:off x="5870304" y="2624328"/>
            <a:ext cx="1645800" cy="1431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930"/>
              <a:buFont typeface="Arial"/>
              <a:buNone/>
            </a:pPr>
            <a:r>
              <a:rPr b="1" i="0" lang="en-US" sz="930" u="none" cap="none" strike="noStrike">
                <a:solidFill>
                  <a:srgbClr val="70839A"/>
                </a:solidFill>
                <a:latin typeface="Inter"/>
                <a:ea typeface="Inter"/>
                <a:cs typeface="Inter"/>
                <a:sym typeface="Inter"/>
              </a:rPr>
              <a:t>TASK EXECUTION</a:t>
            </a:r>
            <a:endParaRPr b="0" i="0" sz="1400" u="none" cap="none" strike="noStrike">
              <a:solidFill>
                <a:srgbClr val="000000"/>
              </a:solidFill>
              <a:latin typeface="Arial"/>
              <a:ea typeface="Arial"/>
              <a:cs typeface="Arial"/>
              <a:sym typeface="Arial"/>
            </a:endParaRPr>
          </a:p>
        </p:txBody>
      </p:sp>
      <p:sp>
        <p:nvSpPr>
          <p:cNvPr id="1233" name="Google Shape;1233;hd1b175b31137957_0_395"/>
          <p:cNvSpPr/>
          <p:nvPr/>
        </p:nvSpPr>
        <p:spPr>
          <a:xfrm>
            <a:off x="4654181" y="3118104"/>
            <a:ext cx="932700" cy="868800"/>
          </a:xfrm>
          <a:prstGeom prst="roundRect">
            <a:avLst>
              <a:gd fmla="val 11000" name="adj"/>
            </a:avLst>
          </a:prstGeom>
          <a:solidFill>
            <a:srgbClr val="3C32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4" name="Google Shape;1234;hd1b175b31137957_0_395"/>
          <p:cNvSpPr/>
          <p:nvPr/>
        </p:nvSpPr>
        <p:spPr>
          <a:xfrm>
            <a:off x="4864488" y="3310128"/>
            <a:ext cx="521100" cy="521100"/>
          </a:xfrm>
          <a:prstGeom prst="ellipse">
            <a:avLst/>
          </a:prstGeom>
          <a:noFill/>
          <a:ln cap="flat" cmpd="sng" w="25400">
            <a:solidFill>
              <a:srgbClr val="F4B66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35" name="Google Shape;1235;hd1b175b31137957_0_395"/>
          <p:cNvCxnSpPr/>
          <p:nvPr/>
        </p:nvCxnSpPr>
        <p:spPr>
          <a:xfrm>
            <a:off x="5120514" y="3374136"/>
            <a:ext cx="0" cy="210300"/>
          </a:xfrm>
          <a:prstGeom prst="straightConnector1">
            <a:avLst/>
          </a:prstGeom>
          <a:noFill/>
          <a:ln cap="flat" cmpd="sng" w="26650">
            <a:solidFill>
              <a:srgbClr val="F4B661"/>
            </a:solidFill>
            <a:prstDash val="solid"/>
            <a:round/>
            <a:headEnd len="sm" w="sm" type="none"/>
            <a:tailEnd len="sm" w="sm" type="none"/>
          </a:ln>
          <a:effectLst>
            <a:outerShdw blurRad="40000" rotWithShape="0" dir="5400000" dist="20000">
              <a:srgbClr val="000000">
                <a:alpha val="38039"/>
              </a:srgbClr>
            </a:outerShdw>
          </a:effectLst>
        </p:spPr>
      </p:cxnSp>
      <p:cxnSp>
        <p:nvCxnSpPr>
          <p:cNvPr id="1236" name="Google Shape;1236;hd1b175b31137957_0_395"/>
          <p:cNvCxnSpPr/>
          <p:nvPr/>
        </p:nvCxnSpPr>
        <p:spPr>
          <a:xfrm>
            <a:off x="5120514" y="3584448"/>
            <a:ext cx="155400" cy="73200"/>
          </a:xfrm>
          <a:prstGeom prst="straightConnector1">
            <a:avLst/>
          </a:prstGeom>
          <a:noFill/>
          <a:ln cap="flat" cmpd="sng" w="26650">
            <a:solidFill>
              <a:srgbClr val="F4B661"/>
            </a:solidFill>
            <a:prstDash val="solid"/>
            <a:round/>
            <a:headEnd len="sm" w="sm" type="none"/>
            <a:tailEnd len="sm" w="sm" type="none"/>
          </a:ln>
          <a:effectLst>
            <a:outerShdw blurRad="40000" rotWithShape="0" dir="5400000" dist="20000">
              <a:srgbClr val="000000">
                <a:alpha val="38039"/>
              </a:srgbClr>
            </a:outerShdw>
          </a:effectLst>
        </p:spPr>
      </p:cxnSp>
      <p:sp>
        <p:nvSpPr>
          <p:cNvPr id="1237" name="Google Shape;1237;hd1b175b31137957_0_395"/>
          <p:cNvSpPr/>
          <p:nvPr/>
        </p:nvSpPr>
        <p:spPr>
          <a:xfrm>
            <a:off x="5285102" y="3749039"/>
            <a:ext cx="87000" cy="87000"/>
          </a:xfrm>
          <a:prstGeom prst="ellipse">
            <a:avLst/>
          </a:prstGeom>
          <a:solidFill>
            <a:srgbClr val="F4B661"/>
          </a:solidFill>
          <a:ln cap="flat" cmpd="sng" w="12700">
            <a:solidFill>
              <a:srgbClr val="F4B661"/>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8" name="Google Shape;1238;hd1b175b31137957_0_395"/>
          <p:cNvSpPr txBox="1"/>
          <p:nvPr/>
        </p:nvSpPr>
        <p:spPr>
          <a:xfrm>
            <a:off x="4654181" y="4160520"/>
            <a:ext cx="2862000" cy="806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620"/>
              <a:buFont typeface="Arial"/>
              <a:buNone/>
            </a:pPr>
            <a:r>
              <a:rPr b="1" i="0" lang="en-US" sz="2620" u="none" cap="none" strike="noStrike">
                <a:solidFill>
                  <a:srgbClr val="F3F6FB"/>
                </a:solidFill>
                <a:latin typeface="Inter"/>
                <a:ea typeface="Inter"/>
                <a:cs typeface="Inter"/>
                <a:sym typeface="Inter"/>
              </a:rPr>
              <a:t>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20"/>
              <a:buFont typeface="Arial"/>
              <a:buNone/>
            </a:pPr>
            <a:r>
              <a:rPr b="1" i="0" lang="en-US" sz="2620" u="none" cap="none" strike="noStrike">
                <a:solidFill>
                  <a:srgbClr val="F3F6FB"/>
                </a:solidFill>
                <a:latin typeface="Inter"/>
                <a:ea typeface="Inter"/>
                <a:cs typeface="Inter"/>
                <a:sym typeface="Inter"/>
              </a:rPr>
              <a:t>THE TASK</a:t>
            </a:r>
            <a:endParaRPr b="0" i="0" sz="1400" u="none" cap="none" strike="noStrike">
              <a:solidFill>
                <a:srgbClr val="000000"/>
              </a:solidFill>
              <a:latin typeface="Arial"/>
              <a:ea typeface="Arial"/>
              <a:cs typeface="Arial"/>
              <a:sym typeface="Arial"/>
            </a:endParaRPr>
          </a:p>
        </p:txBody>
      </p:sp>
      <p:sp>
        <p:nvSpPr>
          <p:cNvPr id="1239" name="Google Shape;1239;hd1b175b31137957_0_395"/>
          <p:cNvSpPr txBox="1"/>
          <p:nvPr/>
        </p:nvSpPr>
        <p:spPr>
          <a:xfrm>
            <a:off x="4654181" y="5093208"/>
            <a:ext cx="2962800" cy="40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10"/>
              <a:buFont typeface="Arial"/>
              <a:buNone/>
            </a:pPr>
            <a:r>
              <a:rPr b="0" i="0" lang="en-US" sz="1310" u="none" cap="none" strike="noStrike">
                <a:solidFill>
                  <a:srgbClr val="AEBCCD"/>
                </a:solidFill>
                <a:latin typeface="Inter"/>
                <a:ea typeface="Inter"/>
                <a:cs typeface="Inter"/>
                <a:sym typeface="Inter"/>
              </a:rPr>
              <a:t>Work is tracked, recovered,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10"/>
              <a:buFont typeface="Arial"/>
              <a:buNone/>
            </a:pPr>
            <a:r>
              <a:rPr b="0" i="0" lang="en-US" sz="1310" u="none" cap="none" strike="noStrike">
                <a:solidFill>
                  <a:srgbClr val="AEBCCD"/>
                </a:solidFill>
                <a:latin typeface="Inter"/>
                <a:ea typeface="Inter"/>
                <a:cs typeface="Inter"/>
                <a:sym typeface="Inter"/>
              </a:rPr>
              <a:t>and brought to completion.</a:t>
            </a:r>
            <a:endParaRPr b="0" i="0" sz="1400" u="none" cap="none" strike="noStrike">
              <a:solidFill>
                <a:srgbClr val="000000"/>
              </a:solidFill>
              <a:latin typeface="Arial"/>
              <a:ea typeface="Arial"/>
              <a:cs typeface="Arial"/>
              <a:sym typeface="Arial"/>
            </a:endParaRPr>
          </a:p>
        </p:txBody>
      </p:sp>
      <p:sp>
        <p:nvSpPr>
          <p:cNvPr id="1240" name="Google Shape;1240;hd1b175b31137957_0_395"/>
          <p:cNvSpPr/>
          <p:nvPr/>
        </p:nvSpPr>
        <p:spPr>
          <a:xfrm>
            <a:off x="8073953" y="2359152"/>
            <a:ext cx="3438000" cy="3300900"/>
          </a:xfrm>
          <a:prstGeom prst="roundRect">
            <a:avLst>
              <a:gd fmla="val 11000" name="adj"/>
            </a:avLst>
          </a:prstGeom>
          <a:solidFill>
            <a:srgbClr val="121F30"/>
          </a:solidFill>
          <a:ln cap="flat" cmpd="sng" w="9525">
            <a:solidFill>
              <a:srgbClr val="1F3145"/>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1" name="Google Shape;1241;hd1b175b31137957_0_395"/>
          <p:cNvSpPr/>
          <p:nvPr/>
        </p:nvSpPr>
        <p:spPr>
          <a:xfrm>
            <a:off x="8092241" y="2377440"/>
            <a:ext cx="3401700" cy="53100"/>
          </a:xfrm>
          <a:prstGeom prst="rect">
            <a:avLst/>
          </a:prstGeom>
          <a:solidFill>
            <a:srgbClr val="83D9A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2" name="Google Shape;1242;hd1b175b31137957_0_395"/>
          <p:cNvSpPr txBox="1"/>
          <p:nvPr/>
        </p:nvSpPr>
        <p:spPr>
          <a:xfrm>
            <a:off x="8366554" y="2606040"/>
            <a:ext cx="4845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83D9A3"/>
                </a:solidFill>
                <a:latin typeface="Inter"/>
                <a:ea typeface="Inter"/>
                <a:cs typeface="Inter"/>
                <a:sym typeface="Inter"/>
              </a:rPr>
              <a:t>03</a:t>
            </a:r>
            <a:endParaRPr b="0" i="0" sz="1400" u="none" cap="none" strike="noStrike">
              <a:solidFill>
                <a:srgbClr val="000000"/>
              </a:solidFill>
              <a:latin typeface="Arial"/>
              <a:ea typeface="Arial"/>
              <a:cs typeface="Arial"/>
              <a:sym typeface="Arial"/>
            </a:endParaRPr>
          </a:p>
        </p:txBody>
      </p:sp>
      <p:sp>
        <p:nvSpPr>
          <p:cNvPr id="1243" name="Google Shape;1243;hd1b175b31137957_0_395"/>
          <p:cNvSpPr txBox="1"/>
          <p:nvPr/>
        </p:nvSpPr>
        <p:spPr>
          <a:xfrm>
            <a:off x="9573532" y="2624328"/>
            <a:ext cx="1645800" cy="1431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930"/>
              <a:buFont typeface="Arial"/>
              <a:buNone/>
            </a:pPr>
            <a:r>
              <a:rPr b="1" i="0" lang="en-US" sz="930" u="none" cap="none" strike="noStrike">
                <a:solidFill>
                  <a:srgbClr val="70839A"/>
                </a:solidFill>
                <a:latin typeface="Inter"/>
                <a:ea typeface="Inter"/>
                <a:cs typeface="Inter"/>
                <a:sym typeface="Inter"/>
              </a:rPr>
              <a:t>SAFE SIDE EFFECTS</a:t>
            </a:r>
            <a:endParaRPr b="0" i="0" sz="1400" u="none" cap="none" strike="noStrike">
              <a:solidFill>
                <a:srgbClr val="000000"/>
              </a:solidFill>
              <a:latin typeface="Arial"/>
              <a:ea typeface="Arial"/>
              <a:cs typeface="Arial"/>
              <a:sym typeface="Arial"/>
            </a:endParaRPr>
          </a:p>
        </p:txBody>
      </p:sp>
      <p:sp>
        <p:nvSpPr>
          <p:cNvPr id="1244" name="Google Shape;1244;hd1b175b31137957_0_395"/>
          <p:cNvSpPr/>
          <p:nvPr/>
        </p:nvSpPr>
        <p:spPr>
          <a:xfrm>
            <a:off x="8357410" y="3118104"/>
            <a:ext cx="932700" cy="868800"/>
          </a:xfrm>
          <a:prstGeom prst="roundRect">
            <a:avLst>
              <a:gd fmla="val 11000" name="adj"/>
            </a:avLst>
          </a:prstGeom>
          <a:solidFill>
            <a:srgbClr val="1C3A3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5" name="Google Shape;1245;hd1b175b31137957_0_395"/>
          <p:cNvSpPr/>
          <p:nvPr/>
        </p:nvSpPr>
        <p:spPr>
          <a:xfrm>
            <a:off x="8567717" y="3282696"/>
            <a:ext cx="512064" cy="594360"/>
          </a:xfrm>
          <a:custGeom>
            <a:rect b="b" l="l" r="r" t="t"/>
            <a:pathLst>
              <a:path extrusionOk="0" h="594360" w="512064">
                <a:moveTo>
                  <a:pt x="36576" y="0"/>
                </a:moveTo>
                <a:lnTo>
                  <a:pt x="475488" y="0"/>
                </a:lnTo>
                <a:lnTo>
                  <a:pt x="512064" y="347472"/>
                </a:lnTo>
                <a:lnTo>
                  <a:pt x="256032" y="594360"/>
                </a:lnTo>
                <a:lnTo>
                  <a:pt x="0" y="347472"/>
                </a:lnTo>
                <a:close/>
              </a:path>
            </a:pathLst>
          </a:custGeom>
          <a:noFill/>
          <a:ln cap="flat" cmpd="sng" w="24125">
            <a:solidFill>
              <a:srgbClr val="83D9A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46" name="Google Shape;1246;hd1b175b31137957_0_395"/>
          <p:cNvCxnSpPr/>
          <p:nvPr/>
        </p:nvCxnSpPr>
        <p:spPr>
          <a:xfrm>
            <a:off x="8695730" y="3575304"/>
            <a:ext cx="100500" cy="100500"/>
          </a:xfrm>
          <a:prstGeom prst="straightConnector1">
            <a:avLst/>
          </a:prstGeom>
          <a:noFill/>
          <a:ln cap="flat" cmpd="sng" w="25400">
            <a:solidFill>
              <a:srgbClr val="83D9A3"/>
            </a:solidFill>
            <a:prstDash val="solid"/>
            <a:round/>
            <a:headEnd len="sm" w="sm" type="none"/>
            <a:tailEnd len="sm" w="sm" type="none"/>
          </a:ln>
          <a:effectLst>
            <a:outerShdw blurRad="40000" rotWithShape="0" dir="5400000" dist="20000">
              <a:srgbClr val="000000">
                <a:alpha val="38039"/>
              </a:srgbClr>
            </a:outerShdw>
          </a:effectLst>
        </p:spPr>
      </p:cxnSp>
      <p:cxnSp>
        <p:nvCxnSpPr>
          <p:cNvPr id="1247" name="Google Shape;1247;hd1b175b31137957_0_395"/>
          <p:cNvCxnSpPr/>
          <p:nvPr/>
        </p:nvCxnSpPr>
        <p:spPr>
          <a:xfrm flipH="1" rot="10800000">
            <a:off x="8796312" y="3447287"/>
            <a:ext cx="173700" cy="228600"/>
          </a:xfrm>
          <a:prstGeom prst="straightConnector1">
            <a:avLst/>
          </a:prstGeom>
          <a:noFill/>
          <a:ln cap="flat" cmpd="sng" w="25400">
            <a:solidFill>
              <a:srgbClr val="83D9A3"/>
            </a:solidFill>
            <a:prstDash val="solid"/>
            <a:round/>
            <a:headEnd len="sm" w="sm" type="none"/>
            <a:tailEnd len="sm" w="sm" type="none"/>
          </a:ln>
          <a:effectLst>
            <a:outerShdw blurRad="40000" rotWithShape="0" dir="5400000" dist="20000">
              <a:srgbClr val="000000">
                <a:alpha val="38039"/>
              </a:srgbClr>
            </a:outerShdw>
          </a:effectLst>
        </p:spPr>
      </p:cxnSp>
      <p:sp>
        <p:nvSpPr>
          <p:cNvPr id="1248" name="Google Shape;1248;hd1b175b31137957_0_395"/>
          <p:cNvSpPr txBox="1"/>
          <p:nvPr/>
        </p:nvSpPr>
        <p:spPr>
          <a:xfrm>
            <a:off x="8357410" y="4160520"/>
            <a:ext cx="2862000" cy="806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620"/>
              <a:buFont typeface="Arial"/>
              <a:buNone/>
            </a:pPr>
            <a:r>
              <a:rPr b="1" i="0" lang="en-US" sz="2620" u="none" cap="none" strike="noStrike">
                <a:solidFill>
                  <a:srgbClr val="F3F6FB"/>
                </a:solidFill>
                <a:latin typeface="Inter"/>
                <a:ea typeface="Inter"/>
                <a:cs typeface="Inter"/>
                <a:sym typeface="Inter"/>
              </a:rPr>
              <a:t>PROTECT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20"/>
              <a:buFont typeface="Arial"/>
              <a:buNone/>
            </a:pPr>
            <a:r>
              <a:rPr b="1" i="0" lang="en-US" sz="2620" u="none" cap="none" strike="noStrike">
                <a:solidFill>
                  <a:srgbClr val="F3F6FB"/>
                </a:solidFill>
                <a:latin typeface="Inter"/>
                <a:ea typeface="Inter"/>
                <a:cs typeface="Inter"/>
                <a:sym typeface="Inter"/>
              </a:rPr>
              <a:t>THE ACTION</a:t>
            </a:r>
            <a:endParaRPr b="0" i="0" sz="1400" u="none" cap="none" strike="noStrike">
              <a:solidFill>
                <a:srgbClr val="000000"/>
              </a:solidFill>
              <a:latin typeface="Arial"/>
              <a:ea typeface="Arial"/>
              <a:cs typeface="Arial"/>
              <a:sym typeface="Arial"/>
            </a:endParaRPr>
          </a:p>
        </p:txBody>
      </p:sp>
      <p:sp>
        <p:nvSpPr>
          <p:cNvPr id="1249" name="Google Shape;1249;hd1b175b31137957_0_395"/>
          <p:cNvSpPr txBox="1"/>
          <p:nvPr/>
        </p:nvSpPr>
        <p:spPr>
          <a:xfrm>
            <a:off x="8357410" y="5093208"/>
            <a:ext cx="2962800" cy="40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310"/>
              <a:buFont typeface="Arial"/>
              <a:buNone/>
            </a:pPr>
            <a:r>
              <a:rPr b="0" i="0" lang="en-US" sz="1310" u="none" cap="none" strike="noStrike">
                <a:solidFill>
                  <a:srgbClr val="AEBCCD"/>
                </a:solidFill>
                <a:latin typeface="Inter"/>
                <a:ea typeface="Inter"/>
                <a:cs typeface="Inter"/>
                <a:sym typeface="Inter"/>
              </a:rPr>
              <a:t>Retries do not duplicate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10"/>
              <a:buFont typeface="Arial"/>
              <a:buNone/>
            </a:pPr>
            <a:r>
              <a:rPr b="0" i="0" lang="en-US" sz="1310" u="none" cap="none" strike="noStrike">
                <a:solidFill>
                  <a:srgbClr val="AEBCCD"/>
                </a:solidFill>
                <a:latin typeface="Inter"/>
                <a:ea typeface="Inter"/>
                <a:cs typeface="Inter"/>
                <a:sym typeface="Inter"/>
              </a:rPr>
              <a:t>external business actions.</a:t>
            </a:r>
            <a:endParaRPr b="0" i="0" sz="1400" u="none" cap="none" strike="noStrike">
              <a:solidFill>
                <a:srgbClr val="000000"/>
              </a:solidFill>
              <a:latin typeface="Arial"/>
              <a:ea typeface="Arial"/>
              <a:cs typeface="Arial"/>
              <a:sym typeface="Arial"/>
            </a:endParaRPr>
          </a:p>
        </p:txBody>
      </p:sp>
      <p:cxnSp>
        <p:nvCxnSpPr>
          <p:cNvPr id="1250" name="Google Shape;1250;hd1b175b31137957_0_395"/>
          <p:cNvCxnSpPr/>
          <p:nvPr/>
        </p:nvCxnSpPr>
        <p:spPr>
          <a:xfrm>
            <a:off x="4100982" y="3977639"/>
            <a:ext cx="96000" cy="100500"/>
          </a:xfrm>
          <a:prstGeom prst="straightConnector1">
            <a:avLst/>
          </a:prstGeom>
          <a:noFill/>
          <a:ln cap="flat" cmpd="sng" w="26650">
            <a:solidFill>
              <a:srgbClr val="65E1C2"/>
            </a:solidFill>
            <a:prstDash val="solid"/>
            <a:round/>
            <a:headEnd len="sm" w="sm" type="none"/>
            <a:tailEnd len="sm" w="sm" type="none"/>
          </a:ln>
          <a:effectLst>
            <a:outerShdw blurRad="40000" rotWithShape="0" dir="5400000" dist="20000">
              <a:srgbClr val="000000">
                <a:alpha val="38039"/>
              </a:srgbClr>
            </a:outerShdw>
          </a:effectLst>
        </p:spPr>
      </p:cxnSp>
      <p:cxnSp>
        <p:nvCxnSpPr>
          <p:cNvPr id="1251" name="Google Shape;1251;hd1b175b31137957_0_395"/>
          <p:cNvCxnSpPr/>
          <p:nvPr/>
        </p:nvCxnSpPr>
        <p:spPr>
          <a:xfrm flipH="1">
            <a:off x="4100993" y="4078224"/>
            <a:ext cx="96000" cy="100500"/>
          </a:xfrm>
          <a:prstGeom prst="straightConnector1">
            <a:avLst/>
          </a:prstGeom>
          <a:noFill/>
          <a:ln cap="flat" cmpd="sng" w="26650">
            <a:solidFill>
              <a:srgbClr val="65E1C2"/>
            </a:solidFill>
            <a:prstDash val="solid"/>
            <a:round/>
            <a:headEnd len="sm" w="sm" type="none"/>
            <a:tailEnd len="sm" w="sm" type="none"/>
          </a:ln>
          <a:effectLst>
            <a:outerShdw blurRad="40000" rotWithShape="0" dir="5400000" dist="20000">
              <a:srgbClr val="000000">
                <a:alpha val="38039"/>
              </a:srgbClr>
            </a:outerShdw>
          </a:effectLst>
        </p:spPr>
      </p:cxnSp>
      <p:cxnSp>
        <p:nvCxnSpPr>
          <p:cNvPr id="1252" name="Google Shape;1252;hd1b175b31137957_0_395"/>
          <p:cNvCxnSpPr/>
          <p:nvPr/>
        </p:nvCxnSpPr>
        <p:spPr>
          <a:xfrm>
            <a:off x="7804212" y="3977639"/>
            <a:ext cx="96000" cy="100500"/>
          </a:xfrm>
          <a:prstGeom prst="straightConnector1">
            <a:avLst/>
          </a:prstGeom>
          <a:noFill/>
          <a:ln cap="flat" cmpd="sng" w="26650">
            <a:solidFill>
              <a:srgbClr val="65E1C2"/>
            </a:solidFill>
            <a:prstDash val="solid"/>
            <a:round/>
            <a:headEnd len="sm" w="sm" type="none"/>
            <a:tailEnd len="sm" w="sm" type="none"/>
          </a:ln>
          <a:effectLst>
            <a:outerShdw blurRad="40000" rotWithShape="0" dir="5400000" dist="20000">
              <a:srgbClr val="000000">
                <a:alpha val="38039"/>
              </a:srgbClr>
            </a:outerShdw>
          </a:effectLst>
        </p:spPr>
      </p:cxnSp>
      <p:cxnSp>
        <p:nvCxnSpPr>
          <p:cNvPr id="1253" name="Google Shape;1253;hd1b175b31137957_0_395"/>
          <p:cNvCxnSpPr/>
          <p:nvPr/>
        </p:nvCxnSpPr>
        <p:spPr>
          <a:xfrm flipH="1">
            <a:off x="7804222" y="4078224"/>
            <a:ext cx="96000" cy="100500"/>
          </a:xfrm>
          <a:prstGeom prst="straightConnector1">
            <a:avLst/>
          </a:prstGeom>
          <a:noFill/>
          <a:ln cap="flat" cmpd="sng" w="26650">
            <a:solidFill>
              <a:srgbClr val="65E1C2"/>
            </a:solidFill>
            <a:prstDash val="solid"/>
            <a:round/>
            <a:headEnd len="sm" w="sm" type="none"/>
            <a:tailEnd len="sm" w="sm" type="none"/>
          </a:ln>
          <a:effectLst>
            <a:outerShdw blurRad="40000" rotWithShape="0" dir="5400000" dist="20000">
              <a:srgbClr val="000000">
                <a:alpha val="38039"/>
              </a:srgbClr>
            </a:outerShdw>
          </a:effectLst>
        </p:spPr>
      </p:cxnSp>
      <p:cxnSp>
        <p:nvCxnSpPr>
          <p:cNvPr id="1254" name="Google Shape;1254;hd1b175b31137957_0_395"/>
          <p:cNvCxnSpPr/>
          <p:nvPr/>
        </p:nvCxnSpPr>
        <p:spPr>
          <a:xfrm>
            <a:off x="667496" y="5952744"/>
            <a:ext cx="10844400" cy="0"/>
          </a:xfrm>
          <a:prstGeom prst="straightConnector1">
            <a:avLst/>
          </a:prstGeom>
          <a:noFill/>
          <a:ln cap="flat" cmpd="sng" w="12700">
            <a:solidFill>
              <a:srgbClr val="1F3145"/>
            </a:solidFill>
            <a:prstDash val="solid"/>
            <a:round/>
            <a:headEnd len="sm" w="sm" type="none"/>
            <a:tailEnd len="sm" w="sm" type="none"/>
          </a:ln>
          <a:effectLst>
            <a:outerShdw blurRad="40000" rotWithShape="0" dir="5400000" dist="20000">
              <a:srgbClr val="000000">
                <a:alpha val="38039"/>
              </a:srgbClr>
            </a:outerShdw>
          </a:effectLst>
        </p:spPr>
      </p:cxnSp>
      <p:sp>
        <p:nvSpPr>
          <p:cNvPr id="1255" name="Google Shape;1255;hd1b175b31137957_0_395"/>
          <p:cNvSpPr txBox="1"/>
          <p:nvPr/>
        </p:nvSpPr>
        <p:spPr>
          <a:xfrm>
            <a:off x="685783" y="6153912"/>
            <a:ext cx="1051500" cy="164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70"/>
              <a:buFont typeface="Arial"/>
              <a:buNone/>
            </a:pPr>
            <a:r>
              <a:rPr b="1" i="0" lang="en-US" sz="1070" u="none" cap="none" strike="noStrike">
                <a:solidFill>
                  <a:srgbClr val="65E1C2"/>
                </a:solidFill>
                <a:latin typeface="Inter"/>
                <a:ea typeface="Inter"/>
                <a:cs typeface="Inter"/>
                <a:sym typeface="Inter"/>
              </a:rPr>
              <a:t>THE SHIFT</a:t>
            </a:r>
            <a:endParaRPr b="0" i="0" sz="1400" u="none" cap="none" strike="noStrike">
              <a:solidFill>
                <a:srgbClr val="000000"/>
              </a:solidFill>
              <a:latin typeface="Arial"/>
              <a:ea typeface="Arial"/>
              <a:cs typeface="Arial"/>
              <a:sym typeface="Arial"/>
            </a:endParaRPr>
          </a:p>
        </p:txBody>
      </p:sp>
      <p:sp>
        <p:nvSpPr>
          <p:cNvPr id="1256" name="Google Shape;1256;hd1b175b31137957_0_395"/>
          <p:cNvSpPr txBox="1"/>
          <p:nvPr/>
        </p:nvSpPr>
        <p:spPr>
          <a:xfrm>
            <a:off x="1810467" y="6080760"/>
            <a:ext cx="94179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3F6FB"/>
                </a:solidFill>
                <a:latin typeface="Inter"/>
                <a:ea typeface="Inter"/>
                <a:cs typeface="Inter"/>
                <a:sym typeface="Inter"/>
              </a:rPr>
              <a:t>Reliable delivery is only the beginning.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261" name="Shape 1261"/>
        <p:cNvGrpSpPr/>
        <p:nvPr/>
      </p:nvGrpSpPr>
      <p:grpSpPr>
        <a:xfrm>
          <a:off x="0" y="0"/>
          <a:ext cx="0" cy="0"/>
          <a:chOff x="0" y="0"/>
          <a:chExt cx="0" cy="0"/>
        </a:xfrm>
      </p:grpSpPr>
      <p:sp>
        <p:nvSpPr>
          <p:cNvPr id="1262" name="Google Shape;1262;p23"/>
          <p:cNvSpPr txBox="1"/>
          <p:nvPr/>
        </p:nvSpPr>
        <p:spPr>
          <a:xfrm>
            <a:off x="822960" y="1508760"/>
            <a:ext cx="10515600" cy="21031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F5F3EE"/>
                </a:solidFill>
                <a:latin typeface="Arial"/>
                <a:ea typeface="Arial"/>
                <a:cs typeface="Arial"/>
                <a:sym typeface="Arial"/>
              </a:rPr>
              <a:t>A coordination layer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F5F3EE"/>
                </a:solidFill>
                <a:latin typeface="Arial"/>
                <a:ea typeface="Arial"/>
                <a:cs typeface="Arial"/>
                <a:sym typeface="Arial"/>
              </a:rPr>
              <a:t>is taking shape.</a:t>
            </a:r>
            <a:endParaRPr b="0" i="0" sz="1400" u="none" cap="none" strike="noStrike">
              <a:solidFill>
                <a:srgbClr val="000000"/>
              </a:solidFill>
              <a:latin typeface="Arial"/>
              <a:ea typeface="Arial"/>
              <a:cs typeface="Arial"/>
              <a:sym typeface="Arial"/>
            </a:endParaRPr>
          </a:p>
        </p:txBody>
      </p:sp>
      <p:sp>
        <p:nvSpPr>
          <p:cNvPr id="1263" name="Google Shape;1263;p23"/>
          <p:cNvSpPr txBox="1"/>
          <p:nvPr/>
        </p:nvSpPr>
        <p:spPr>
          <a:xfrm>
            <a:off x="822960" y="4069080"/>
            <a:ext cx="5029200" cy="3657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300"/>
              <a:buFont typeface="Arial"/>
              <a:buNone/>
            </a:pPr>
            <a:r>
              <a:rPr b="1" i="0" lang="en-US" sz="1300" u="none" cap="none" strike="noStrike">
                <a:solidFill>
                  <a:srgbClr val="6FD3E7"/>
                </a:solidFill>
                <a:latin typeface="Arial"/>
                <a:ea typeface="Arial"/>
                <a:cs typeface="Arial"/>
                <a:sym typeface="Arial"/>
              </a:rPr>
              <a:t>MEDIATE</a:t>
            </a:r>
            <a:endParaRPr b="0" i="0" sz="1400" u="none" cap="none" strike="noStrike">
              <a:solidFill>
                <a:srgbClr val="000000"/>
              </a:solidFill>
              <a:latin typeface="Arial"/>
              <a:ea typeface="Arial"/>
              <a:cs typeface="Arial"/>
              <a:sym typeface="Arial"/>
            </a:endParaRPr>
          </a:p>
        </p:txBody>
      </p:sp>
      <p:sp>
        <p:nvSpPr>
          <p:cNvPr id="1264" name="Google Shape;1264;p23"/>
          <p:cNvSpPr txBox="1"/>
          <p:nvPr/>
        </p:nvSpPr>
        <p:spPr>
          <a:xfrm>
            <a:off x="822960" y="4389120"/>
            <a:ext cx="5029200" cy="5486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300"/>
              <a:buFont typeface="Arial"/>
              <a:buNone/>
            </a:pPr>
            <a:r>
              <a:rPr b="1" i="0" lang="en-US" sz="2300" u="none" cap="none" strike="noStrike">
                <a:solidFill>
                  <a:srgbClr val="F5F3EE"/>
                </a:solidFill>
                <a:latin typeface="Arial"/>
                <a:ea typeface="Arial"/>
                <a:cs typeface="Arial"/>
                <a:sym typeface="Arial"/>
              </a:rPr>
              <a:t>Who may act?</a:t>
            </a:r>
            <a:endParaRPr b="0" i="0" sz="1400" u="none" cap="none" strike="noStrike">
              <a:solidFill>
                <a:srgbClr val="000000"/>
              </a:solidFill>
              <a:latin typeface="Arial"/>
              <a:ea typeface="Arial"/>
              <a:cs typeface="Arial"/>
              <a:sym typeface="Arial"/>
            </a:endParaRPr>
          </a:p>
        </p:txBody>
      </p:sp>
      <p:sp>
        <p:nvSpPr>
          <p:cNvPr id="1265" name="Google Shape;1265;p23"/>
          <p:cNvSpPr txBox="1"/>
          <p:nvPr/>
        </p:nvSpPr>
        <p:spPr>
          <a:xfrm>
            <a:off x="6309360" y="4069080"/>
            <a:ext cx="5029200" cy="3657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300"/>
              <a:buFont typeface="Arial"/>
              <a:buNone/>
            </a:pPr>
            <a:r>
              <a:rPr b="1" i="0" lang="en-US" sz="1300" u="none" cap="none" strike="noStrike">
                <a:solidFill>
                  <a:srgbClr val="6FD3E7"/>
                </a:solidFill>
                <a:latin typeface="Arial"/>
                <a:ea typeface="Arial"/>
                <a:cs typeface="Arial"/>
                <a:sym typeface="Arial"/>
              </a:rPr>
              <a:t>THROTTLE</a:t>
            </a:r>
            <a:endParaRPr b="0" i="0" sz="1400" u="none" cap="none" strike="noStrike">
              <a:solidFill>
                <a:srgbClr val="000000"/>
              </a:solidFill>
              <a:latin typeface="Arial"/>
              <a:ea typeface="Arial"/>
              <a:cs typeface="Arial"/>
              <a:sym typeface="Arial"/>
            </a:endParaRPr>
          </a:p>
        </p:txBody>
      </p:sp>
      <p:sp>
        <p:nvSpPr>
          <p:cNvPr id="1266" name="Google Shape;1266;p23"/>
          <p:cNvSpPr txBox="1"/>
          <p:nvPr/>
        </p:nvSpPr>
        <p:spPr>
          <a:xfrm>
            <a:off x="6309360" y="4389120"/>
            <a:ext cx="5029200" cy="5486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300"/>
              <a:buFont typeface="Arial"/>
              <a:buNone/>
            </a:pPr>
            <a:r>
              <a:rPr b="1" i="0" lang="en-US" sz="2300" u="none" cap="none" strike="noStrike">
                <a:solidFill>
                  <a:srgbClr val="F5F3EE"/>
                </a:solidFill>
                <a:latin typeface="Arial"/>
                <a:ea typeface="Arial"/>
                <a:cs typeface="Arial"/>
                <a:sym typeface="Arial"/>
              </a:rPr>
              <a:t>What is the budget?</a:t>
            </a:r>
            <a:endParaRPr b="0" i="0" sz="1400" u="none" cap="none" strike="noStrike">
              <a:solidFill>
                <a:srgbClr val="000000"/>
              </a:solidFill>
              <a:latin typeface="Arial"/>
              <a:ea typeface="Arial"/>
              <a:cs typeface="Arial"/>
              <a:sym typeface="Arial"/>
            </a:endParaRPr>
          </a:p>
        </p:txBody>
      </p:sp>
      <p:sp>
        <p:nvSpPr>
          <p:cNvPr id="1267" name="Google Shape;1267;p23"/>
          <p:cNvSpPr txBox="1"/>
          <p:nvPr/>
        </p:nvSpPr>
        <p:spPr>
          <a:xfrm>
            <a:off x="822960" y="5120640"/>
            <a:ext cx="5029200" cy="3657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300"/>
              <a:buFont typeface="Arial"/>
              <a:buNone/>
            </a:pPr>
            <a:r>
              <a:rPr b="1" i="0" lang="en-US" sz="1300" u="none" cap="none" strike="noStrike">
                <a:solidFill>
                  <a:srgbClr val="6FD3E7"/>
                </a:solidFill>
                <a:latin typeface="Arial"/>
                <a:ea typeface="Arial"/>
                <a:cs typeface="Arial"/>
                <a:sym typeface="Arial"/>
              </a:rPr>
              <a:t>AUDIT</a:t>
            </a:r>
            <a:endParaRPr b="0" i="0" sz="1400" u="none" cap="none" strike="noStrike">
              <a:solidFill>
                <a:srgbClr val="000000"/>
              </a:solidFill>
              <a:latin typeface="Arial"/>
              <a:ea typeface="Arial"/>
              <a:cs typeface="Arial"/>
              <a:sym typeface="Arial"/>
            </a:endParaRPr>
          </a:p>
        </p:txBody>
      </p:sp>
      <p:sp>
        <p:nvSpPr>
          <p:cNvPr id="1268" name="Google Shape;1268;p23"/>
          <p:cNvSpPr txBox="1"/>
          <p:nvPr/>
        </p:nvSpPr>
        <p:spPr>
          <a:xfrm>
            <a:off x="822960" y="5440679"/>
            <a:ext cx="5029200" cy="5486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300"/>
              <a:buFont typeface="Arial"/>
              <a:buNone/>
            </a:pPr>
            <a:r>
              <a:rPr b="1" i="0" lang="en-US" sz="2300" u="none" cap="none" strike="noStrike">
                <a:solidFill>
                  <a:srgbClr val="F5F3EE"/>
                </a:solidFill>
                <a:latin typeface="Arial"/>
                <a:ea typeface="Arial"/>
                <a:cs typeface="Arial"/>
                <a:sym typeface="Arial"/>
              </a:rPr>
              <a:t>What was decided?</a:t>
            </a:r>
            <a:endParaRPr b="0" i="0" sz="1400" u="none" cap="none" strike="noStrike">
              <a:solidFill>
                <a:srgbClr val="000000"/>
              </a:solidFill>
              <a:latin typeface="Arial"/>
              <a:ea typeface="Arial"/>
              <a:cs typeface="Arial"/>
              <a:sym typeface="Arial"/>
            </a:endParaRPr>
          </a:p>
        </p:txBody>
      </p:sp>
      <p:sp>
        <p:nvSpPr>
          <p:cNvPr id="1269" name="Google Shape;1269;p23"/>
          <p:cNvSpPr txBox="1"/>
          <p:nvPr/>
        </p:nvSpPr>
        <p:spPr>
          <a:xfrm>
            <a:off x="6309360" y="5120640"/>
            <a:ext cx="5029200" cy="36576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1300"/>
              <a:buFont typeface="Arial"/>
              <a:buNone/>
            </a:pPr>
            <a:r>
              <a:rPr b="1" i="0" lang="en-US" sz="1300" u="none" cap="none" strike="noStrike">
                <a:solidFill>
                  <a:srgbClr val="6FD3E7"/>
                </a:solidFill>
                <a:latin typeface="Arial"/>
                <a:ea typeface="Arial"/>
                <a:cs typeface="Arial"/>
                <a:sym typeface="Arial"/>
              </a:rPr>
              <a:t>INTERVENE</a:t>
            </a:r>
            <a:endParaRPr b="0" i="0" sz="1400" u="none" cap="none" strike="noStrike">
              <a:solidFill>
                <a:srgbClr val="000000"/>
              </a:solidFill>
              <a:latin typeface="Arial"/>
              <a:ea typeface="Arial"/>
              <a:cs typeface="Arial"/>
              <a:sym typeface="Arial"/>
            </a:endParaRPr>
          </a:p>
        </p:txBody>
      </p:sp>
      <p:sp>
        <p:nvSpPr>
          <p:cNvPr id="1270" name="Google Shape;1270;p23"/>
          <p:cNvSpPr txBox="1"/>
          <p:nvPr/>
        </p:nvSpPr>
        <p:spPr>
          <a:xfrm>
            <a:off x="6309360" y="5440679"/>
            <a:ext cx="5029200" cy="5486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2300"/>
              <a:buFont typeface="Arial"/>
              <a:buNone/>
            </a:pPr>
            <a:r>
              <a:rPr b="1" i="0" lang="en-US" sz="2300" u="none" cap="none" strike="noStrike">
                <a:solidFill>
                  <a:srgbClr val="F5F3EE"/>
                </a:solidFill>
                <a:latin typeface="Arial"/>
                <a:ea typeface="Arial"/>
                <a:cs typeface="Arial"/>
                <a:sym typeface="Arial"/>
              </a:rPr>
              <a:t>Where can a human step in?</a:t>
            </a:r>
            <a:endParaRPr b="0" i="0" sz="1400" u="none" cap="none" strike="noStrike">
              <a:solidFill>
                <a:srgbClr val="000000"/>
              </a:solidFill>
              <a:latin typeface="Arial"/>
              <a:ea typeface="Arial"/>
              <a:cs typeface="Arial"/>
              <a:sym typeface="Arial"/>
            </a:endParaRPr>
          </a:p>
        </p:txBody>
      </p:sp>
      <p:sp>
        <p:nvSpPr>
          <p:cNvPr id="1271" name="Google Shape;1271;p23"/>
          <p:cNvSpPr txBox="1"/>
          <p:nvPr/>
        </p:nvSpPr>
        <p:spPr>
          <a:xfrm>
            <a:off x="11521440" y="6446520"/>
            <a:ext cx="548640"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50</a:t>
            </a:r>
            <a:endParaRPr b="0" i="0" sz="1400" u="none" cap="none" strike="noStrike">
              <a:solidFill>
                <a:srgbClr val="000000"/>
              </a:solidFill>
              <a:latin typeface="Arial"/>
              <a:ea typeface="Arial"/>
              <a:cs typeface="Arial"/>
              <a:sym typeface="Arial"/>
            </a:endParaRPr>
          </a:p>
        </p:txBody>
      </p:sp>
      <p:sp>
        <p:nvSpPr>
          <p:cNvPr id="1272" name="Google Shape;1272;p23"/>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276" name="Shape 1276"/>
        <p:cNvGrpSpPr/>
        <p:nvPr/>
      </p:nvGrpSpPr>
      <p:grpSpPr>
        <a:xfrm>
          <a:off x="0" y="0"/>
          <a:ext cx="0" cy="0"/>
          <a:chOff x="0" y="0"/>
          <a:chExt cx="0" cy="0"/>
        </a:xfrm>
      </p:grpSpPr>
      <p:sp>
        <p:nvSpPr>
          <p:cNvPr id="1277" name="Google Shape;1277;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1278" name="Google Shape;1278;p55"/>
          <p:cNvSpPr txBox="1"/>
          <p:nvPr/>
        </p:nvSpPr>
        <p:spPr>
          <a:xfrm>
            <a:off x="731520" y="521207"/>
            <a:ext cx="10789920" cy="29260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1" i="0" lang="en-US" sz="1000" u="none" cap="none" strike="noStrike">
                <a:solidFill>
                  <a:srgbClr val="6FD3E7"/>
                </a:solidFill>
                <a:latin typeface="Arial"/>
                <a:ea typeface="Arial"/>
                <a:cs typeface="Arial"/>
                <a:sym typeface="Arial"/>
              </a:rPr>
              <a:t>WHAT THE NEXT SYSTEM NEEDS</a:t>
            </a:r>
            <a:endParaRPr b="0" i="0" sz="1400" u="none" cap="none" strike="noStrike">
              <a:solidFill>
                <a:srgbClr val="000000"/>
              </a:solidFill>
              <a:latin typeface="Arial"/>
              <a:ea typeface="Arial"/>
              <a:cs typeface="Arial"/>
              <a:sym typeface="Arial"/>
            </a:endParaRPr>
          </a:p>
        </p:txBody>
      </p:sp>
      <p:sp>
        <p:nvSpPr>
          <p:cNvPr id="1279" name="Google Shape;1279;p55"/>
          <p:cNvSpPr txBox="1"/>
          <p:nvPr/>
        </p:nvSpPr>
        <p:spPr>
          <a:xfrm>
            <a:off x="731520" y="941832"/>
            <a:ext cx="10972800" cy="64008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F5F3EE"/>
                </a:solidFill>
                <a:latin typeface="Arial"/>
                <a:ea typeface="Arial"/>
                <a:cs typeface="Arial"/>
                <a:sym typeface="Arial"/>
              </a:rPr>
              <a:t>THE REFERENCE DESIGN  /  Durable autonomy</a:t>
            </a:r>
            <a:endParaRPr b="0" i="0" sz="1400" u="none" cap="none" strike="noStrike">
              <a:solidFill>
                <a:srgbClr val="000000"/>
              </a:solidFill>
              <a:latin typeface="Arial"/>
              <a:ea typeface="Arial"/>
              <a:cs typeface="Arial"/>
              <a:sym typeface="Arial"/>
            </a:endParaRPr>
          </a:p>
        </p:txBody>
      </p:sp>
      <p:sp>
        <p:nvSpPr>
          <p:cNvPr id="1280" name="Google Shape;1280;p55"/>
          <p:cNvSpPr txBox="1"/>
          <p:nvPr/>
        </p:nvSpPr>
        <p:spPr>
          <a:xfrm>
            <a:off x="758952" y="6126480"/>
            <a:ext cx="10698480" cy="365760"/>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A8AFBF"/>
                </a:solidFill>
                <a:latin typeface="Arial"/>
                <a:ea typeface="Arial"/>
                <a:cs typeface="Arial"/>
                <a:sym typeface="Arial"/>
              </a:rPr>
              <a:t>The transport stays. The trust boundary becomes explicit.</a:t>
            </a:r>
            <a:endParaRPr b="0" i="0" sz="1400" u="none" cap="none" strike="noStrike">
              <a:solidFill>
                <a:srgbClr val="000000"/>
              </a:solidFill>
              <a:latin typeface="Arial"/>
              <a:ea typeface="Arial"/>
              <a:cs typeface="Arial"/>
              <a:sym typeface="Arial"/>
            </a:endParaRPr>
          </a:p>
        </p:txBody>
      </p:sp>
      <p:sp>
        <p:nvSpPr>
          <p:cNvPr id="1281" name="Google Shape;1281;p55"/>
          <p:cNvSpPr/>
          <p:nvPr/>
        </p:nvSpPr>
        <p:spPr>
          <a:xfrm>
            <a:off x="749808" y="1947672"/>
            <a:ext cx="2011680" cy="1133856"/>
          </a:xfrm>
          <a:prstGeom prst="roundRect">
            <a:avLst>
              <a:gd fmla="val 16667" name="adj"/>
            </a:avLst>
          </a:prstGeom>
          <a:solidFill>
            <a:srgbClr val="121721"/>
          </a:solidFill>
          <a:ln cap="flat" cmpd="sng" w="19050">
            <a:solidFill>
              <a:srgbClr val="6FD3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55"/>
          <p:cNvSpPr txBox="1"/>
          <p:nvPr/>
        </p:nvSpPr>
        <p:spPr>
          <a:xfrm>
            <a:off x="868680" y="2267712"/>
            <a:ext cx="1773936" cy="5029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EVENT</a:t>
            </a:r>
            <a:endParaRPr b="0" i="0" sz="1400" u="none" cap="none" strike="noStrike">
              <a:solidFill>
                <a:srgbClr val="000000"/>
              </a:solidFill>
              <a:latin typeface="Arial"/>
              <a:ea typeface="Arial"/>
              <a:cs typeface="Arial"/>
              <a:sym typeface="Arial"/>
            </a:endParaRPr>
          </a:p>
        </p:txBody>
      </p:sp>
      <p:sp>
        <p:nvSpPr>
          <p:cNvPr id="1283" name="Google Shape;1283;p55"/>
          <p:cNvSpPr/>
          <p:nvPr/>
        </p:nvSpPr>
        <p:spPr>
          <a:xfrm>
            <a:off x="3739896" y="1947672"/>
            <a:ext cx="4407408" cy="1133856"/>
          </a:xfrm>
          <a:prstGeom prst="roundRect">
            <a:avLst>
              <a:gd fmla="val 16667" name="adj"/>
            </a:avLst>
          </a:prstGeom>
          <a:solidFill>
            <a:srgbClr val="121721"/>
          </a:solidFill>
          <a:ln cap="flat" cmpd="sng" w="1905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4" name="Google Shape;1284;p55"/>
          <p:cNvSpPr txBox="1"/>
          <p:nvPr/>
        </p:nvSpPr>
        <p:spPr>
          <a:xfrm>
            <a:off x="3858768" y="2267712"/>
            <a:ext cx="4169664" cy="5029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DURABLE TASK + WORKFLOW</a:t>
            </a:r>
            <a:endParaRPr b="0" i="0" sz="1400" u="none" cap="none" strike="noStrike">
              <a:solidFill>
                <a:srgbClr val="000000"/>
              </a:solidFill>
              <a:latin typeface="Arial"/>
              <a:ea typeface="Arial"/>
              <a:cs typeface="Arial"/>
              <a:sym typeface="Arial"/>
            </a:endParaRPr>
          </a:p>
        </p:txBody>
      </p:sp>
      <p:sp>
        <p:nvSpPr>
          <p:cNvPr id="1285" name="Google Shape;1285;p55"/>
          <p:cNvSpPr/>
          <p:nvPr/>
        </p:nvSpPr>
        <p:spPr>
          <a:xfrm>
            <a:off x="9025128" y="1947672"/>
            <a:ext cx="2267712" cy="1133856"/>
          </a:xfrm>
          <a:prstGeom prst="roundRect">
            <a:avLst>
              <a:gd fmla="val 16667" name="adj"/>
            </a:avLst>
          </a:prstGeom>
          <a:solidFill>
            <a:srgbClr val="121721"/>
          </a:solidFill>
          <a:ln cap="flat" cmpd="sng" w="19050">
            <a:solidFill>
              <a:srgbClr val="C5A0F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55"/>
          <p:cNvSpPr txBox="1"/>
          <p:nvPr/>
        </p:nvSpPr>
        <p:spPr>
          <a:xfrm>
            <a:off x="9144000" y="2267712"/>
            <a:ext cx="2029967" cy="5029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AGENT / TOOL</a:t>
            </a:r>
            <a:endParaRPr b="0" i="0" sz="1400" u="none" cap="none" strike="noStrike">
              <a:solidFill>
                <a:srgbClr val="000000"/>
              </a:solidFill>
              <a:latin typeface="Arial"/>
              <a:ea typeface="Arial"/>
              <a:cs typeface="Arial"/>
              <a:sym typeface="Arial"/>
            </a:endParaRPr>
          </a:p>
        </p:txBody>
      </p:sp>
      <p:sp>
        <p:nvSpPr>
          <p:cNvPr id="1287" name="Google Shape;1287;p55"/>
          <p:cNvSpPr/>
          <p:nvPr/>
        </p:nvSpPr>
        <p:spPr>
          <a:xfrm>
            <a:off x="749808" y="3895344"/>
            <a:ext cx="2679192" cy="1133856"/>
          </a:xfrm>
          <a:prstGeom prst="roundRect">
            <a:avLst>
              <a:gd fmla="val 16667" name="adj"/>
            </a:avLst>
          </a:prstGeom>
          <a:solidFill>
            <a:srgbClr val="121721"/>
          </a:solidFill>
          <a:ln cap="flat" cmpd="sng" w="19050">
            <a:solidFill>
              <a:srgbClr val="6FD3E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55"/>
          <p:cNvSpPr txBox="1"/>
          <p:nvPr/>
        </p:nvSpPr>
        <p:spPr>
          <a:xfrm>
            <a:off x="868680" y="4215383"/>
            <a:ext cx="2441448" cy="5029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OBSERVABILITY</a:t>
            </a:r>
            <a:endParaRPr b="0" i="0" sz="1400" u="none" cap="none" strike="noStrike">
              <a:solidFill>
                <a:srgbClr val="000000"/>
              </a:solidFill>
              <a:latin typeface="Arial"/>
              <a:ea typeface="Arial"/>
              <a:cs typeface="Arial"/>
              <a:sym typeface="Arial"/>
            </a:endParaRPr>
          </a:p>
        </p:txBody>
      </p:sp>
      <p:sp>
        <p:nvSpPr>
          <p:cNvPr id="1289" name="Google Shape;1289;p55"/>
          <p:cNvSpPr/>
          <p:nvPr/>
        </p:nvSpPr>
        <p:spPr>
          <a:xfrm>
            <a:off x="3904487" y="3895344"/>
            <a:ext cx="2743200" cy="1133856"/>
          </a:xfrm>
          <a:prstGeom prst="roundRect">
            <a:avLst>
              <a:gd fmla="val 16667" name="adj"/>
            </a:avLst>
          </a:prstGeom>
          <a:solidFill>
            <a:srgbClr val="121721"/>
          </a:solidFill>
          <a:ln cap="flat" cmpd="sng" w="19050">
            <a:solidFill>
              <a:srgbClr val="83D4A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55"/>
          <p:cNvSpPr txBox="1"/>
          <p:nvPr/>
        </p:nvSpPr>
        <p:spPr>
          <a:xfrm>
            <a:off x="4023359" y="4215383"/>
            <a:ext cx="2505456" cy="5029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POLICY / BUDGET</a:t>
            </a:r>
            <a:endParaRPr b="0" i="0" sz="1400" u="none" cap="none" strike="noStrike">
              <a:solidFill>
                <a:srgbClr val="000000"/>
              </a:solidFill>
              <a:latin typeface="Arial"/>
              <a:ea typeface="Arial"/>
              <a:cs typeface="Arial"/>
              <a:sym typeface="Arial"/>
            </a:endParaRPr>
          </a:p>
        </p:txBody>
      </p:sp>
      <p:sp>
        <p:nvSpPr>
          <p:cNvPr id="1291" name="Google Shape;1291;p55"/>
          <p:cNvSpPr/>
          <p:nvPr/>
        </p:nvSpPr>
        <p:spPr>
          <a:xfrm>
            <a:off x="7141464" y="3895344"/>
            <a:ext cx="4151376" cy="1133856"/>
          </a:xfrm>
          <a:prstGeom prst="roundRect">
            <a:avLst>
              <a:gd fmla="val 16667" name="adj"/>
            </a:avLst>
          </a:prstGeom>
          <a:solidFill>
            <a:srgbClr val="121721"/>
          </a:solidFill>
          <a:ln cap="flat" cmpd="sng" w="19050">
            <a:solidFill>
              <a:srgbClr val="E8A33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55"/>
          <p:cNvSpPr txBox="1"/>
          <p:nvPr/>
        </p:nvSpPr>
        <p:spPr>
          <a:xfrm>
            <a:off x="7260336" y="4215383"/>
            <a:ext cx="3913632" cy="502920"/>
          </a:xfrm>
          <a:prstGeom prst="rect">
            <a:avLst/>
          </a:prstGeom>
          <a:noFill/>
          <a:ln>
            <a:noFill/>
          </a:ln>
        </p:spPr>
        <p:txBody>
          <a:bodyPr anchorCtr="0" anchor="t" bIns="9125" lIns="0" spcFirstLastPara="1" rIns="0" wrap="square" tIns="9125">
            <a:sp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rgbClr val="F5F3EE"/>
                </a:solidFill>
                <a:latin typeface="Arial"/>
                <a:ea typeface="Arial"/>
                <a:cs typeface="Arial"/>
                <a:sym typeface="Arial"/>
              </a:rPr>
              <a:t>OUTBOX + EFFECT GATE</a:t>
            </a:r>
            <a:endParaRPr b="0" i="0" sz="1400" u="none" cap="none" strike="noStrike">
              <a:solidFill>
                <a:srgbClr val="000000"/>
              </a:solidFill>
              <a:latin typeface="Arial"/>
              <a:ea typeface="Arial"/>
              <a:cs typeface="Arial"/>
              <a:sym typeface="Arial"/>
            </a:endParaRPr>
          </a:p>
        </p:txBody>
      </p:sp>
      <p:cxnSp>
        <p:nvCxnSpPr>
          <p:cNvPr id="1293" name="Google Shape;1293;p55"/>
          <p:cNvCxnSpPr/>
          <p:nvPr/>
        </p:nvCxnSpPr>
        <p:spPr>
          <a:xfrm>
            <a:off x="2779776" y="2496312"/>
            <a:ext cx="896111" cy="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294" name="Google Shape;1294;p55"/>
          <p:cNvCxnSpPr/>
          <p:nvPr/>
        </p:nvCxnSpPr>
        <p:spPr>
          <a:xfrm flipH="1" rot="10800000">
            <a:off x="3552382" y="2496312"/>
            <a:ext cx="123505" cy="59659"/>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295" name="Google Shape;1295;p55"/>
          <p:cNvCxnSpPr/>
          <p:nvPr/>
        </p:nvCxnSpPr>
        <p:spPr>
          <a:xfrm>
            <a:off x="3552382" y="2436652"/>
            <a:ext cx="123505" cy="59660"/>
          </a:xfrm>
          <a:prstGeom prst="straightConnector1">
            <a:avLst/>
          </a:prstGeom>
          <a:noFill/>
          <a:ln cap="flat" cmpd="sng" w="38100">
            <a:solidFill>
              <a:srgbClr val="6FD3E7"/>
            </a:solidFill>
            <a:prstDash val="solid"/>
            <a:round/>
            <a:headEnd len="sm" w="sm" type="none"/>
            <a:tailEnd len="sm" w="sm" type="none"/>
          </a:ln>
          <a:effectLst>
            <a:outerShdw blurRad="40000" rotWithShape="0" dir="5400000" dist="20000">
              <a:srgbClr val="000000">
                <a:alpha val="38039"/>
              </a:srgbClr>
            </a:outerShdw>
          </a:effectLst>
        </p:spPr>
      </p:cxnSp>
      <p:cxnSp>
        <p:nvCxnSpPr>
          <p:cNvPr id="1296" name="Google Shape;1296;p55"/>
          <p:cNvCxnSpPr/>
          <p:nvPr/>
        </p:nvCxnSpPr>
        <p:spPr>
          <a:xfrm>
            <a:off x="8165592" y="2496312"/>
            <a:ext cx="795528" cy="0"/>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1297" name="Google Shape;1297;p55"/>
          <p:cNvCxnSpPr/>
          <p:nvPr/>
        </p:nvCxnSpPr>
        <p:spPr>
          <a:xfrm flipH="1" rot="10800000">
            <a:off x="8837614" y="2496312"/>
            <a:ext cx="123506" cy="59659"/>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cxnSp>
        <p:nvCxnSpPr>
          <p:cNvPr id="1298" name="Google Shape;1298;p55"/>
          <p:cNvCxnSpPr/>
          <p:nvPr/>
        </p:nvCxnSpPr>
        <p:spPr>
          <a:xfrm>
            <a:off x="8837614" y="2436652"/>
            <a:ext cx="123506" cy="59660"/>
          </a:xfrm>
          <a:prstGeom prst="straightConnector1">
            <a:avLst/>
          </a:prstGeom>
          <a:noFill/>
          <a:ln cap="flat" cmpd="sng" w="38100">
            <a:solidFill>
              <a:srgbClr val="C5A0F8"/>
            </a:solidFill>
            <a:prstDash val="solid"/>
            <a:round/>
            <a:headEnd len="sm" w="sm" type="none"/>
            <a:tailEnd len="sm" w="sm" type="none"/>
          </a:ln>
          <a:effectLst>
            <a:outerShdw blurRad="40000" rotWithShape="0" dir="5400000" dist="20000">
              <a:srgbClr val="000000">
                <a:alpha val="38039"/>
              </a:srgbClr>
            </a:outerShdw>
          </a:effectLst>
        </p:spPr>
      </p:cxnSp>
      <p:sp>
        <p:nvSpPr>
          <p:cNvPr id="1299" name="Google Shape;1299;p55"/>
          <p:cNvSpPr txBox="1"/>
          <p:nvPr/>
        </p:nvSpPr>
        <p:spPr>
          <a:xfrm>
            <a:off x="877824" y="5559552"/>
            <a:ext cx="10515600" cy="429768"/>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A8AFBF"/>
                </a:solidFill>
                <a:latin typeface="Arial"/>
                <a:ea typeface="Arial"/>
                <a:cs typeface="Arial"/>
                <a:sym typeface="Arial"/>
              </a:rPr>
              <a:t>Correlate every event, decision and side effect with a task ID.</a:t>
            </a:r>
            <a:endParaRPr b="0" i="0" sz="1400" u="none" cap="none" strike="noStrike">
              <a:solidFill>
                <a:srgbClr val="000000"/>
              </a:solidFill>
              <a:latin typeface="Arial"/>
              <a:ea typeface="Arial"/>
              <a:cs typeface="Arial"/>
              <a:sym typeface="Arial"/>
            </a:endParaRPr>
          </a:p>
        </p:txBody>
      </p:sp>
      <p:sp>
        <p:nvSpPr>
          <p:cNvPr id="1300" name="Google Shape;1300;p55"/>
          <p:cNvSpPr txBox="1"/>
          <p:nvPr/>
        </p:nvSpPr>
        <p:spPr>
          <a:xfrm>
            <a:off x="11530584" y="6437376"/>
            <a:ext cx="429768" cy="256032"/>
          </a:xfrm>
          <a:prstGeom prst="rect">
            <a:avLst/>
          </a:prstGeom>
          <a:noFill/>
          <a:ln>
            <a:noFill/>
          </a:ln>
        </p:spPr>
        <p:txBody>
          <a:bodyPr anchorCtr="0" anchor="t" bIns="9125" lIns="0" spcFirstLastPara="1" rIns="0" wrap="square" tIns="91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51</a:t>
            </a:r>
            <a:endParaRPr b="0" i="0" sz="1400" u="none" cap="none" strike="noStrike">
              <a:solidFill>
                <a:srgbClr val="000000"/>
              </a:solidFill>
              <a:latin typeface="Arial"/>
              <a:ea typeface="Arial"/>
              <a:cs typeface="Arial"/>
              <a:sym typeface="Arial"/>
            </a:endParaRPr>
          </a:p>
        </p:txBody>
      </p:sp>
      <p:sp>
        <p:nvSpPr>
          <p:cNvPr id="1301" name="Google Shape;1301;p55"/>
          <p:cNvSpPr txBox="1"/>
          <p:nvPr/>
        </p:nvSpPr>
        <p:spPr>
          <a:xfrm>
            <a:off x="758952" y="6437376"/>
            <a:ext cx="3108960" cy="24688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8A909E"/>
                </a:solidFill>
                <a:latin typeface="Arial"/>
                <a:ea typeface="Arial"/>
                <a:cs typeface="Arial"/>
                <a:sym typeface="Arial"/>
              </a:rPr>
              <a:t>Adi Polak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pic>
        <p:nvPicPr>
          <p:cNvPr id="1306" name="Google Shape;1306;hd1b175b31137957_0_667" title="Cinematic Deep-Space Opening Crawl.png"/>
          <p:cNvPicPr preferRelativeResize="0"/>
          <p:nvPr/>
        </p:nvPicPr>
        <p:blipFill rotWithShape="1">
          <a:blip r:embed="rId3">
            <a:alphaModFix/>
          </a:blip>
          <a:srcRect b="0" l="0" r="0" t="0"/>
          <a:stretch/>
        </p:blipFill>
        <p:spPr>
          <a:xfrm>
            <a:off x="-417797" y="0"/>
            <a:ext cx="13052097" cy="68580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pic>
        <p:nvPicPr>
          <p:cNvPr id="1311" name="Google Shape;1311;hd1b175b31137957_0_684" title="Our Moment to Lead.png"/>
          <p:cNvPicPr preferRelativeResize="0"/>
          <p:nvPr/>
        </p:nvPicPr>
        <p:blipFill rotWithShape="1">
          <a:blip r:embed="rId3">
            <a:alphaModFix/>
          </a:blip>
          <a:srcRect b="0" l="0" r="0" t="0"/>
          <a:stretch/>
        </p:blipFill>
        <p:spPr>
          <a:xfrm>
            <a:off x="-152400" y="-5600"/>
            <a:ext cx="13229928" cy="6858001"/>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C12"/>
        </a:solidFill>
      </p:bgPr>
    </p:bg>
    <p:spTree>
      <p:nvGrpSpPr>
        <p:cNvPr id="1316" name="Shape 1316"/>
        <p:cNvGrpSpPr/>
        <p:nvPr/>
      </p:nvGrpSpPr>
      <p:grpSpPr>
        <a:xfrm>
          <a:off x="0" y="0"/>
          <a:ext cx="0" cy="0"/>
          <a:chOff x="0" y="0"/>
          <a:chExt cx="0" cy="0"/>
        </a:xfrm>
      </p:grpSpPr>
      <p:sp>
        <p:nvSpPr>
          <p:cNvPr id="1317" name="Google Shape;1317;p26"/>
          <p:cNvSpPr txBox="1"/>
          <p:nvPr/>
        </p:nvSpPr>
        <p:spPr>
          <a:xfrm>
            <a:off x="253475" y="142700"/>
            <a:ext cx="11093700" cy="623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chemeClr val="lt2"/>
                </a:solidFill>
                <a:highlight>
                  <a:schemeClr val="dk1"/>
                </a:highlight>
                <a:latin typeface="Calibri"/>
                <a:ea typeface="Calibri"/>
                <a:cs typeface="Calibri"/>
                <a:sym typeface="Calibri"/>
              </a:rPr>
              <a:t>💡 </a:t>
            </a:r>
            <a:r>
              <a:rPr b="1" i="0" lang="en-US" sz="3800" u="sng" cap="none" strike="noStrike">
                <a:solidFill>
                  <a:schemeClr val="lt2"/>
                </a:solidFill>
                <a:highlight>
                  <a:schemeClr val="dk1"/>
                </a:highlight>
                <a:latin typeface="Calibri"/>
                <a:ea typeface="Calibri"/>
                <a:cs typeface="Calibri"/>
                <a:sym typeface="Calibri"/>
              </a:rPr>
              <a:t>Learn More!</a:t>
            </a:r>
            <a:endParaRPr b="1" i="0" sz="3600" u="sng" cap="none" strike="noStrike">
              <a:solidFill>
                <a:schemeClr val="lt2"/>
              </a:solidFill>
              <a:highlight>
                <a:schemeClr val="dk1"/>
              </a:highlight>
              <a:latin typeface="Calibri"/>
              <a:ea typeface="Calibri"/>
              <a:cs typeface="Calibri"/>
              <a:sym typeface="Calibri"/>
            </a:endParaRPr>
          </a:p>
          <a:p>
            <a:pPr indent="-304800" lvl="0" marL="457200" marR="0" rtl="0" algn="l">
              <a:lnSpc>
                <a:spcPct val="100000"/>
              </a:lnSpc>
              <a:spcBef>
                <a:spcPts val="0"/>
              </a:spcBef>
              <a:spcAft>
                <a:spcPts val="0"/>
              </a:spcAft>
              <a:buClr>
                <a:srgbClr val="000000"/>
              </a:buClr>
              <a:buSzPts val="1200"/>
              <a:buFont typeface="Arial"/>
              <a:buChar char="●"/>
            </a:pPr>
            <a:r>
              <a:rPr b="0" i="0" lang="en-US" sz="1900" u="sng" cap="none" strike="noStrike">
                <a:solidFill>
                  <a:srgbClr val="2200CC"/>
                </a:solidFill>
                <a:latin typeface="Arial"/>
                <a:ea typeface="Arial"/>
                <a:cs typeface="Arial"/>
                <a:sym typeface="Arial"/>
                <a:hlinkClick r:id="rId3">
                  <a:extLst>
                    <a:ext uri="{A12FA001-AC4F-418D-AE19-62706E023703}">
                      <ahyp:hlinkClr val="tx"/>
                    </a:ext>
                  </a:extLst>
                </a:hlinkClick>
              </a:rPr>
              <a:t>https://www.anthropic.com/engineering/building-effective-agents</a:t>
            </a:r>
            <a:endParaRPr b="0" i="0" sz="1900" u="sng" cap="none" strike="noStrike">
              <a:solidFill>
                <a:srgbClr val="2200CC"/>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t/>
            </a:r>
            <a:endParaRPr b="0" i="0" sz="1900" u="sng" cap="none" strike="noStrike">
              <a:solidFill>
                <a:srgbClr val="2200CC"/>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900" u="sng" cap="none" strike="noStrike">
                <a:solidFill>
                  <a:schemeClr val="hlink"/>
                </a:solidFill>
                <a:latin typeface="Arial"/>
                <a:ea typeface="Arial"/>
                <a:cs typeface="Arial"/>
                <a:sym typeface="Arial"/>
                <a:hlinkClick r:id="rId4"/>
              </a:rPr>
              <a:t>https://learn.microsoft.com/en-us/azure/architecture/ai-ml/guide/ai-agent-design-patterns</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900" u="sng" cap="none" strike="noStrike">
                <a:solidFill>
                  <a:schemeClr val="hlink"/>
                </a:solidFill>
                <a:latin typeface="Arial"/>
                <a:ea typeface="Arial"/>
                <a:cs typeface="Arial"/>
                <a:sym typeface="Arial"/>
              </a:rPr>
              <a:t>https://docs.aws.amazon.com/prescriptive-guidance/latest/agentic-ai-se</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900" u="sng" cap="none" strike="noStrike">
                <a:solidFill>
                  <a:schemeClr val="hlink"/>
                </a:solidFill>
                <a:latin typeface="Arial"/>
                <a:ea typeface="Arial"/>
                <a:cs typeface="Arial"/>
                <a:sym typeface="Arial"/>
              </a:rPr>
              <a:t>rverless/event-driven-architecture.html </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900" u="sng" cap="none" strike="noStrike">
                <a:solidFill>
                  <a:schemeClr val="hlink"/>
                </a:solidFill>
                <a:latin typeface="Arial"/>
                <a:ea typeface="Arial"/>
                <a:cs typeface="Arial"/>
                <a:sym typeface="Arial"/>
                <a:hlinkClick r:id="rId5"/>
              </a:rPr>
              <a:t>https://learn.microsoft.com/en-us/azure/architecture/patterns/choreography</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900" u="sng" cap="none" strike="noStrike">
                <a:solidFill>
                  <a:schemeClr val="hlink"/>
                </a:solidFill>
                <a:latin typeface="Arial"/>
                <a:ea typeface="Arial"/>
                <a:cs typeface="Arial"/>
                <a:sym typeface="Arial"/>
                <a:hlinkClick r:id="rId6"/>
              </a:rPr>
              <a:t>https://go.temporal.io/platform-hub/ai-engineering/ai-reference-architecture</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t/>
            </a:r>
            <a:endParaRPr b="0" i="0" sz="1900" u="sng" cap="none" strike="noStrike">
              <a:solidFill>
                <a:schemeClr val="hlink"/>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1200"/>
              <a:buFont typeface="Arial"/>
              <a:buChar char="●"/>
            </a:pPr>
            <a:r>
              <a:rPr b="0" i="0" lang="en-US" sz="1900" u="sng" cap="none" strike="noStrike">
                <a:solidFill>
                  <a:schemeClr val="hlink"/>
                </a:solidFill>
                <a:latin typeface="Arial"/>
                <a:ea typeface="Arial"/>
                <a:cs typeface="Arial"/>
                <a:sym typeface="Arial"/>
              </a:rPr>
              <a:t>https://docs.aws.amazon.com/prescriptive-guidance/latest/agentic-ai-patterns/prompt-chaining-saga-patterns.html </a:t>
            </a:r>
            <a:endParaRPr b="0" i="0" sz="1900" u="sng" cap="none" strike="noStrike">
              <a:solidFill>
                <a:schemeClr val="hlink"/>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hlink"/>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00"/>
              <a:buFont typeface="Arial"/>
              <a:buNone/>
            </a:pPr>
            <a:r>
              <a:rPr b="0" i="0" lang="en-US" sz="1900" u="sng" cap="none" strike="noStrike">
                <a:solidFill>
                  <a:schemeClr val="hlink"/>
                </a:solidFill>
                <a:latin typeface="Arial"/>
                <a:ea typeface="Arial"/>
                <a:cs typeface="Arial"/>
                <a:sym typeface="Arial"/>
              </a:rPr>
              <a:t>https://docs.aws.amazon.com/prescriptive-guidance/latest/agentic-ai-patterns/evaluator-reflect-refine-loop-patterns.html ; </a:t>
            </a:r>
            <a:endParaRPr b="0" i="0" sz="1900" u="sng" cap="none" strike="noStrike">
              <a:solidFill>
                <a:schemeClr val="hlink"/>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hlink"/>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900"/>
              <a:buFont typeface="Arial"/>
              <a:buNone/>
            </a:pPr>
            <a:r>
              <a:rPr b="0" i="0" lang="en-US" sz="1900" u="sng" cap="none" strike="noStrike">
                <a:solidFill>
                  <a:schemeClr val="hlink"/>
                </a:solidFill>
                <a:latin typeface="Arial"/>
                <a:ea typeface="Arial"/>
                <a:cs typeface="Arial"/>
                <a:sym typeface="Arial"/>
              </a:rPr>
              <a:t>https://docs.aws.amazon.com/prescriptive-guidance/latest/agentic-ai-patterns/observer-and-monitoring-agents.html</a:t>
            </a:r>
            <a:endParaRPr b="0" i="0" sz="1900" u="sng" cap="none" strike="noStrike">
              <a:solidFill>
                <a:schemeClr val="hlink"/>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21" name="Shape 1321"/>
        <p:cNvGrpSpPr/>
        <p:nvPr/>
      </p:nvGrpSpPr>
      <p:grpSpPr>
        <a:xfrm>
          <a:off x="0" y="0"/>
          <a:ext cx="0" cy="0"/>
          <a:chOff x="0" y="0"/>
          <a:chExt cx="0" cy="0"/>
        </a:xfrm>
      </p:grpSpPr>
      <p:pic>
        <p:nvPicPr>
          <p:cNvPr id="1322" name="Google Shape;1322;hd1b175b31137957_0_672" title="IMG_DB823C77ADFB-1.jpeg"/>
          <p:cNvPicPr preferRelativeResize="0"/>
          <p:nvPr/>
        </p:nvPicPr>
        <p:blipFill rotWithShape="1">
          <a:blip r:embed="rId3">
            <a:alphaModFix/>
          </a:blip>
          <a:srcRect b="0" l="0" r="0" t="0"/>
          <a:stretch/>
        </p:blipFill>
        <p:spPr>
          <a:xfrm>
            <a:off x="488600" y="1065600"/>
            <a:ext cx="5350482" cy="4519425"/>
          </a:xfrm>
          <a:prstGeom prst="rect">
            <a:avLst/>
          </a:prstGeom>
          <a:noFill/>
          <a:ln>
            <a:noFill/>
          </a:ln>
        </p:spPr>
      </p:pic>
      <p:pic>
        <p:nvPicPr>
          <p:cNvPr id="1323" name="Google Shape;1323;hd1b175b31137957_0_672" title="keynote-when-software-starts-talking-to-itself_polak_1318477_feedback-code.png"/>
          <p:cNvPicPr preferRelativeResize="0"/>
          <p:nvPr/>
        </p:nvPicPr>
        <p:blipFill rotWithShape="1">
          <a:blip r:embed="rId4">
            <a:alphaModFix/>
          </a:blip>
          <a:srcRect b="0" l="0" r="0" t="0"/>
          <a:stretch/>
        </p:blipFill>
        <p:spPr>
          <a:xfrm>
            <a:off x="6813300" y="1991125"/>
            <a:ext cx="4155799" cy="4155799"/>
          </a:xfrm>
          <a:prstGeom prst="rect">
            <a:avLst/>
          </a:prstGeom>
          <a:noFill/>
          <a:ln>
            <a:noFill/>
          </a:ln>
        </p:spPr>
      </p:pic>
      <p:sp>
        <p:nvSpPr>
          <p:cNvPr id="1324" name="Google Shape;1324;hd1b175b31137957_0_672"/>
          <p:cNvSpPr txBox="1"/>
          <p:nvPr/>
        </p:nvSpPr>
        <p:spPr>
          <a:xfrm>
            <a:off x="7793825" y="1576900"/>
            <a:ext cx="3000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Adi Polak</dc:creator>
</cp:coreProperties>
</file>