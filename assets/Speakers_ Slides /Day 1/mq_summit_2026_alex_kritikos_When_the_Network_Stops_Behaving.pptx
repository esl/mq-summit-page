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31"/>
  </p:notesMasterIdLst>
  <p:sldIdLst>
    <p:sldId id="277" r:id="rId2"/>
    <p:sldId id="278" r:id="rId3"/>
    <p:sldId id="279" r:id="rId4"/>
    <p:sldId id="304" r:id="rId5"/>
    <p:sldId id="283" r:id="rId6"/>
    <p:sldId id="284" r:id="rId7"/>
    <p:sldId id="305" r:id="rId8"/>
    <p:sldId id="285" r:id="rId9"/>
    <p:sldId id="286" r:id="rId10"/>
    <p:sldId id="288" r:id="rId11"/>
    <p:sldId id="295" r:id="rId12"/>
    <p:sldId id="290" r:id="rId13"/>
    <p:sldId id="299" r:id="rId14"/>
    <p:sldId id="300" r:id="rId15"/>
    <p:sldId id="301" r:id="rId16"/>
    <p:sldId id="280" r:id="rId17"/>
    <p:sldId id="281" r:id="rId18"/>
    <p:sldId id="282" r:id="rId19"/>
    <p:sldId id="287" r:id="rId20"/>
    <p:sldId id="289" r:id="rId21"/>
    <p:sldId id="303" r:id="rId22"/>
    <p:sldId id="302" r:id="rId23"/>
    <p:sldId id="291" r:id="rId24"/>
    <p:sldId id="292" r:id="rId25"/>
    <p:sldId id="293" r:id="rId26"/>
    <p:sldId id="294" r:id="rId27"/>
    <p:sldId id="296" r:id="rId28"/>
    <p:sldId id="297" r:id="rId29"/>
    <p:sldId id="298" r:id="rId3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58"/>
    <p:restoredTop sz="77865"/>
  </p:normalViewPr>
  <p:slideViewPr>
    <p:cSldViewPr snapToGrid="0">
      <p:cViewPr varScale="1">
        <p:scale>
          <a:sx n="168" d="100"/>
          <a:sy n="168" d="100"/>
        </p:scale>
        <p:origin x="800" y="192"/>
      </p:cViewPr>
      <p:guideLst>
        <p:guide orient="horz" pos="1620"/>
        <p:guide pos="2880"/>
      </p:guideLst>
    </p:cSldViewPr>
  </p:slideViewPr>
  <p:notesTextViewPr>
    <p:cViewPr>
      <p:scale>
        <a:sx n="180" d="100"/>
        <a:sy n="18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G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sz="2000" dirty="0"/>
              <a:t>Good afternoon. I’m Alex Kritikos, co-founder and CEO of MAPS Messaging.  I’ve spent much of my career working with messaging systems in financial markets, where reliability and latency are critical.  Over the past year, we have been focusing on autonomous systems and as you may have guessed, we’ve been applying messaging technology. </a:t>
            </a:r>
          </a:p>
          <a:p>
            <a:pPr marL="158750" indent="0">
              <a:buNone/>
            </a:pPr>
            <a:r>
              <a:rPr lang="en-GB" sz="2000" dirty="0"/>
              <a:t>Today I will be talking to you about how some assumptions we usually make about networks and message delivery don’t survive very well offshore.</a:t>
            </a:r>
            <a:endParaRPr sz="2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Imagine an autonomous surface vessel operating offshore. It’s connected over Starlink, sending telemetry back to shore. Due to a technical fault or entering an electronic warfare zone Starlink disappears, and the vessel switches to a narrowband satellite connection.</a:t>
            </a:r>
          </a:p>
          <a:p>
            <a:pPr marL="158750" indent="0">
              <a:buNone/>
            </a:pPr>
            <a:endParaRPr lang="en-GB" dirty="0"/>
          </a:p>
          <a:p>
            <a:pPr marL="158750" indent="0">
              <a:buNone/>
            </a:pPr>
            <a:r>
              <a:rPr lang="en-GB" dirty="0"/>
              <a:t>Suddenly, latency goes from milliseconds to potentially 15 seconds or more. Available bandwidth collapses to around 16 kilobits per second. </a:t>
            </a:r>
          </a:p>
          <a:p>
            <a:pPr marL="158750" indent="0">
              <a:buNone/>
            </a:pPr>
            <a:endParaRPr lang="en-GB" dirty="0"/>
          </a:p>
          <a:p>
            <a:pPr marL="158750" indent="0">
              <a:buNone/>
            </a:pPr>
            <a:r>
              <a:rPr lang="en-GB" dirty="0"/>
              <a:t>But the vessel doesn’t stop producing data.</a:t>
            </a:r>
          </a:p>
          <a:p>
            <a:pPr marL="158750" indent="0">
              <a:buNone/>
            </a:pPr>
            <a:endParaRPr lang="en-GB" dirty="0"/>
          </a:p>
          <a:p>
            <a:pPr marL="158750" indent="0">
              <a:buNone/>
            </a:pPr>
            <a:r>
              <a:rPr lang="en-GB" dirty="0"/>
              <a:t>If its based on NMEA 2000 CAN-bus it keeps generating 283 frames per second.</a:t>
            </a:r>
          </a:p>
          <a:p>
            <a:pPr marL="158750" indent="0">
              <a:buNone/>
            </a:pPr>
            <a:endParaRPr lang="en-GB" dirty="0"/>
          </a:p>
          <a:p>
            <a:pPr marL="158750" indent="0">
              <a:buNone/>
            </a:pPr>
            <a:r>
              <a:rPr lang="en-GB" dirty="0"/>
              <a:t>It is based on </a:t>
            </a:r>
            <a:r>
              <a:rPr lang="en-GB" dirty="0" err="1"/>
              <a:t>MAVLink</a:t>
            </a:r>
            <a:r>
              <a:rPr lang="en-GB" dirty="0"/>
              <a:t> it keeps generating 70 frames per second.</a:t>
            </a:r>
          </a:p>
          <a:p>
            <a:pPr marL="158750" indent="0">
              <a:buNone/>
            </a:pPr>
            <a:endParaRPr lang="en-GB" dirty="0"/>
          </a:p>
          <a:p>
            <a:pPr marL="158750" indent="0">
              <a:buNone/>
            </a:pPr>
            <a:r>
              <a:rPr lang="en-GB" dirty="0"/>
              <a:t>So what happens to all those messages?”</a:t>
            </a:r>
          </a:p>
          <a:p>
            <a:pPr marL="158750" indent="0">
              <a:buNone/>
            </a:pPr>
            <a:endParaRPr lang="en-GB" dirty="0"/>
          </a:p>
          <a:p>
            <a:pPr marL="158750" indent="0">
              <a:buNone/>
            </a:pPr>
            <a:r>
              <a:rPr lang="en-GB" dirty="0"/>
              <a:t>Pause briefly.</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Eventually, the link comes back.</a:t>
            </a:r>
          </a:p>
          <a:p>
            <a:pPr marL="158750" indent="0">
              <a:buNone/>
            </a:pPr>
            <a:endParaRPr lang="en-GB" dirty="0"/>
          </a:p>
          <a:p>
            <a:pPr marL="158750" indent="0">
              <a:buNone/>
            </a:pPr>
            <a:r>
              <a:rPr lang="en-GB" dirty="0"/>
              <a:t>But here’s the interesting question.</a:t>
            </a:r>
          </a:p>
          <a:p>
            <a:pPr marL="158750" indent="0">
              <a:buNone/>
            </a:pPr>
            <a:endParaRPr lang="en-GB" dirty="0"/>
          </a:p>
          <a:p>
            <a:pPr marL="158750" indent="0">
              <a:buNone/>
            </a:pPr>
            <a:r>
              <a:rPr lang="en-GB" dirty="0"/>
              <a:t>Which messages were actually delivered?</a:t>
            </a:r>
          </a:p>
          <a:p>
            <a:pPr marL="158750" indent="0">
              <a:buNone/>
            </a:pPr>
            <a:endParaRPr lang="en-GB" dirty="0"/>
          </a:p>
          <a:p>
            <a:pPr marL="158750" indent="0">
              <a:buNone/>
            </a:pPr>
            <a:r>
              <a:rPr lang="en-GB" dirty="0"/>
              <a:t>And perhaps more importantly, which messages still matter?</a:t>
            </a:r>
          </a:p>
          <a:p>
            <a:pPr marL="158750" indent="0">
              <a:buNone/>
            </a:pPr>
            <a:endParaRPr lang="en-GB" dirty="0"/>
          </a:p>
          <a:p>
            <a:pPr marL="158750" indent="0">
              <a:buNone/>
            </a:pPr>
            <a:r>
              <a:rPr lang="en-GB" dirty="0"/>
              <a:t>Pause.</a:t>
            </a:r>
          </a:p>
          <a:p>
            <a:pPr marL="158750" indent="0">
              <a:buNone/>
            </a:pPr>
            <a:endParaRPr lang="en-GB" dirty="0"/>
          </a:p>
          <a:p>
            <a:pPr marL="158750" indent="0">
              <a:buNone/>
            </a:pPr>
            <a:r>
              <a:rPr lang="en-GB" dirty="0"/>
              <a:t>We’ll come back to that.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GB" dirty="0"/>
              <a:t>These aren’t hypothetical scenarios.</a:t>
            </a:r>
          </a:p>
          <a:p>
            <a:pPr marL="158750" indent="0">
              <a:buNone/>
            </a:pPr>
            <a:endParaRPr lang="en-GB" dirty="0"/>
          </a:p>
          <a:p>
            <a:pPr marL="158750" indent="0">
              <a:buNone/>
            </a:pPr>
            <a:r>
              <a:rPr lang="en-GB" dirty="0"/>
              <a:t>Last month, we spent four weeks at REPMUS in Portugal, one of the world’s largest maritime robotics exercises. </a:t>
            </a:r>
          </a:p>
          <a:p>
            <a:pPr marL="158750" indent="0">
              <a:buNone/>
            </a:pPr>
            <a:endParaRPr lang="en-GB" dirty="0"/>
          </a:p>
          <a:p>
            <a:pPr marL="158750" indent="0">
              <a:buNone/>
            </a:pPr>
            <a:r>
              <a:rPr lang="en-GB" dirty="0"/>
              <a:t>REPMUS stands for Robotic Experimentation and Prototyping with Maritime Unmanned Systems</a:t>
            </a:r>
          </a:p>
          <a:p>
            <a:pPr marL="158750" indent="0">
              <a:buNone/>
            </a:pPr>
            <a:endParaRPr lang="en-GB" dirty="0"/>
          </a:p>
          <a:p>
            <a:pPr marL="158750" indent="0">
              <a:buNone/>
            </a:pPr>
            <a:r>
              <a:rPr lang="en-GB" dirty="0"/>
              <a:t>Hundreds of autonomous systems, dozens of navies, thousands of participants.</a:t>
            </a:r>
          </a:p>
          <a:p>
            <a:pPr marL="158750" indent="0">
              <a:buNone/>
            </a:pPr>
            <a:endParaRPr lang="en-GB" dirty="0"/>
          </a:p>
          <a:p>
            <a:pPr marL="158750" indent="0">
              <a:buNone/>
            </a:pPr>
            <a:r>
              <a:rPr lang="en-GB" dirty="0"/>
              <a:t>Our responsibility was to connect three autonomous surface vessels and a crewed vessel into the shared operational picture, including bidirectional tasking from different command systems.</a:t>
            </a:r>
          </a:p>
          <a:p>
            <a:pPr marL="158750" indent="0">
              <a:buNone/>
            </a:pPr>
            <a:endParaRPr lang="en-GB" dirty="0"/>
          </a:p>
          <a:p>
            <a:pPr marL="158750" indent="0">
              <a:buNone/>
            </a:pPr>
            <a:r>
              <a:rPr lang="en-GB" dirty="0"/>
              <a:t>We collected all messaging data from the exercise and some measurements you’ll see today come from those systems.</a:t>
            </a:r>
            <a:endParaRPr lang="en-GR" dirty="0"/>
          </a:p>
          <a:p>
            <a:pPr marL="158750" indent="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On the left, we have systems that speak completely different protocols.</a:t>
            </a:r>
          </a:p>
          <a:p>
            <a:pPr marL="158750" indent="0">
              <a:buNone/>
            </a:pPr>
            <a:endParaRPr lang="en-GB" dirty="0"/>
          </a:p>
          <a:p>
            <a:pPr marL="158750" indent="0">
              <a:buNone/>
            </a:pPr>
            <a:r>
              <a:rPr lang="en-GB" dirty="0"/>
              <a:t>Drones speak </a:t>
            </a:r>
            <a:r>
              <a:rPr lang="en-GB" dirty="0" err="1"/>
              <a:t>MAVLink</a:t>
            </a:r>
            <a:r>
              <a:rPr lang="en-GB" dirty="0"/>
              <a:t>.</a:t>
            </a:r>
          </a:p>
          <a:p>
            <a:pPr marL="158750" indent="0">
              <a:buNone/>
            </a:pPr>
            <a:endParaRPr lang="en-GB" dirty="0"/>
          </a:p>
          <a:p>
            <a:pPr marL="158750" indent="0">
              <a:buNone/>
            </a:pPr>
            <a:r>
              <a:rPr lang="en-GB" dirty="0"/>
              <a:t>Marine electronics speak NMEA 2000.</a:t>
            </a:r>
          </a:p>
          <a:p>
            <a:pPr marL="158750" indent="0">
              <a:buNone/>
            </a:pPr>
            <a:endParaRPr lang="en-GB" dirty="0"/>
          </a:p>
          <a:p>
            <a:pPr marL="158750" indent="0">
              <a:buNone/>
            </a:pPr>
            <a:r>
              <a:rPr lang="en-GB" dirty="0"/>
              <a:t>Sensors speak MQTT or CoAP</a:t>
            </a:r>
          </a:p>
          <a:p>
            <a:pPr marL="158750" indent="0">
              <a:buNone/>
            </a:pPr>
            <a:endParaRPr lang="en-GB" dirty="0"/>
          </a:p>
          <a:p>
            <a:pPr marL="158750" indent="0">
              <a:buNone/>
            </a:pPr>
            <a:r>
              <a:rPr lang="en-GB" dirty="0"/>
              <a:t>At the edge, we need to decode, normalise and route that information.</a:t>
            </a:r>
          </a:p>
          <a:p>
            <a:pPr marL="158750" indent="0">
              <a:buNone/>
            </a:pPr>
            <a:endParaRPr lang="en-GB" dirty="0"/>
          </a:p>
          <a:p>
            <a:pPr marL="158750" indent="0">
              <a:buNone/>
            </a:pPr>
            <a:r>
              <a:rPr lang="en-GB" dirty="0"/>
              <a:t>Then comes the difficult part.</a:t>
            </a:r>
          </a:p>
          <a:p>
            <a:pPr marL="158750" indent="0">
              <a:buNone/>
            </a:pPr>
            <a:endParaRPr lang="en-GB" dirty="0"/>
          </a:p>
          <a:p>
            <a:pPr marL="158750" indent="0">
              <a:buNone/>
            </a:pPr>
            <a:r>
              <a:rPr lang="en-GB" dirty="0"/>
              <a:t>We might have Starlink, LTE, narrowband satellite communications - or absolutely nothing.</a:t>
            </a:r>
          </a:p>
          <a:p>
            <a:pPr marL="158750" indent="0">
              <a:buNone/>
            </a:pPr>
            <a:endParaRPr lang="en-GB" dirty="0"/>
          </a:p>
          <a:p>
            <a:pPr marL="158750" indent="0">
              <a:buNone/>
            </a:pPr>
            <a:r>
              <a:rPr lang="en-GB" dirty="0"/>
              <a:t>And on the other side, we have command systems and brokers that still expect useful information.</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The edge is where we have to make decisions about what information is worth sending.</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Look at the difference between these links.</a:t>
            </a:r>
          </a:p>
          <a:p>
            <a:pPr marL="158750" indent="0">
              <a:buNone/>
            </a:pPr>
            <a:endParaRPr lang="en-GB" dirty="0"/>
          </a:p>
          <a:p>
            <a:pPr marL="158750" indent="0">
              <a:buNone/>
            </a:pPr>
            <a:r>
              <a:rPr lang="en-GB" dirty="0"/>
              <a:t>LTE and Starlink operate in milliseconds.</a:t>
            </a:r>
          </a:p>
          <a:p>
            <a:pPr marL="158750" indent="0">
              <a:buNone/>
            </a:pPr>
            <a:endParaRPr lang="en-GB" dirty="0"/>
          </a:p>
          <a:p>
            <a:pPr marL="158750" indent="0">
              <a:buNone/>
            </a:pPr>
            <a:r>
              <a:rPr lang="en-GB" dirty="0"/>
              <a:t>Narrowband satellite messaging operates in seconds.</a:t>
            </a:r>
          </a:p>
          <a:p>
            <a:pPr marL="158750" indent="0">
              <a:buNone/>
            </a:pPr>
            <a:endParaRPr lang="en-GB" dirty="0"/>
          </a:p>
          <a:p>
            <a:pPr marL="158750" indent="0">
              <a:buNone/>
            </a:pPr>
            <a:r>
              <a:rPr lang="en-GB" dirty="0"/>
              <a:t>And sometimes there’s no connectivity at all.</a:t>
            </a:r>
          </a:p>
          <a:p>
            <a:pPr marL="158750" indent="0">
              <a:buNone/>
            </a:pPr>
            <a:endParaRPr lang="en-GB" dirty="0"/>
          </a:p>
          <a:p>
            <a:pPr marL="158750" indent="0">
              <a:buNone/>
            </a:pPr>
            <a:r>
              <a:rPr lang="en-GB" dirty="0"/>
              <a:t>You cannot build a resilient messaging architecture assuming the network will always behave like Ethernet.</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So the first thing we learned is that we have to change what we send.</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GB" dirty="0"/>
              <a:t>Traditionally, we separate protocol integration and encoding transformation from the message broker.</a:t>
            </a:r>
          </a:p>
          <a:p>
            <a:pPr marL="158750" indent="0">
              <a:buNone/>
            </a:pPr>
            <a:endParaRPr lang="en-GB" dirty="0"/>
          </a:p>
          <a:p>
            <a:pPr marL="158750" indent="0">
              <a:buNone/>
            </a:pPr>
            <a:r>
              <a:rPr lang="en-GB" dirty="0"/>
              <a:t>One component decodes vehicle data. Another handles message encoding and persistence. Another handles routing over a potentially different protocol.</a:t>
            </a:r>
          </a:p>
          <a:p>
            <a:pPr marL="158750" indent="0">
              <a:buNone/>
            </a:pPr>
            <a:endParaRPr lang="en-GB" dirty="0"/>
          </a:p>
          <a:p>
            <a:pPr marL="158750" indent="0">
              <a:buNone/>
            </a:pPr>
            <a:r>
              <a:rPr lang="en-GB" dirty="0"/>
              <a:t>But on an autonomous vessel, every additional process, dependency or network connection introduces another potential failure point. </a:t>
            </a:r>
          </a:p>
          <a:p>
            <a:pPr marL="158750" indent="0">
              <a:buNone/>
            </a:pPr>
            <a:endParaRPr lang="en-GB" dirty="0"/>
          </a:p>
          <a:p>
            <a:pPr marL="158750" indent="0">
              <a:buNone/>
            </a:pPr>
            <a:r>
              <a:rPr lang="en-GB" dirty="0"/>
              <a:t>Our approach is to bring those capabilities together at the edge as a single node / process.</a:t>
            </a:r>
          </a:p>
          <a:p>
            <a:pPr marL="158750" indent="0">
              <a:buNone/>
            </a:pPr>
            <a:endParaRPr lang="en-GB" dirty="0"/>
          </a:p>
          <a:p>
            <a:pPr marL="158750" indent="0">
              <a:buNone/>
            </a:pPr>
            <a:r>
              <a:rPr lang="en-GB" dirty="0"/>
              <a:t>The same node understands the source protocol, maintains state, and controls message delivery.</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Integration and delivery policy must cooperate closely at the edge.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Here’s a couple of specific examples.</a:t>
            </a:r>
          </a:p>
          <a:p>
            <a:pPr marL="158750" indent="0">
              <a:buNone/>
            </a:pPr>
            <a:endParaRPr lang="en-GB" dirty="0"/>
          </a:p>
          <a:p>
            <a:pPr marL="158750" indent="0">
              <a:buNone/>
            </a:pPr>
            <a:r>
              <a:rPr lang="en-GB" dirty="0"/>
              <a:t>We connect directly to </a:t>
            </a:r>
            <a:r>
              <a:rPr lang="en-GB" dirty="0" err="1"/>
              <a:t>MAVLink</a:t>
            </a:r>
            <a:r>
              <a:rPr lang="en-GB" dirty="0"/>
              <a:t> over UDP or NMEA 2000 over CAN bus.</a:t>
            </a:r>
          </a:p>
          <a:p>
            <a:pPr marL="158750" indent="0">
              <a:buNone/>
            </a:pPr>
            <a:endParaRPr lang="en-GB" dirty="0"/>
          </a:p>
          <a:p>
            <a:pPr marL="158750" indent="0">
              <a:buNone/>
            </a:pPr>
            <a:r>
              <a:rPr lang="en-GB" dirty="0"/>
              <a:t>Rather than forwarding opaque binary frames and expecting someone downstream to interpret them, we decode them at the source.</a:t>
            </a:r>
          </a:p>
          <a:p>
            <a:pPr marL="158750" indent="0">
              <a:buNone/>
            </a:pPr>
            <a:endParaRPr lang="en-GB" dirty="0"/>
          </a:p>
          <a:p>
            <a:pPr marL="158750" indent="0">
              <a:buNone/>
            </a:pPr>
            <a:r>
              <a:rPr lang="en-GB" dirty="0"/>
              <a:t>Each message becomes available through a topic.</a:t>
            </a:r>
          </a:p>
          <a:p>
            <a:pPr marL="158750" indent="0">
              <a:buNone/>
            </a:pPr>
            <a:endParaRPr lang="en-GB" dirty="0"/>
          </a:p>
          <a:p>
            <a:pPr marL="158750" indent="0">
              <a:buNone/>
            </a:pPr>
            <a:r>
              <a:rPr lang="en-GB" dirty="0"/>
              <a:t>That means the downstream messaging system no longer needs to understand the vehicle’s proprietary or specialised protocol.</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Decode once, at the edge.</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Here’s what we actually measured on one vessel.</a:t>
            </a:r>
          </a:p>
          <a:p>
            <a:pPr marL="158750" indent="0">
              <a:buNone/>
            </a:pPr>
            <a:endParaRPr lang="en-GB" dirty="0"/>
          </a:p>
          <a:p>
            <a:pPr marL="158750" indent="0">
              <a:buNone/>
            </a:pPr>
            <a:r>
              <a:rPr lang="en-GB" dirty="0"/>
              <a:t>Its NMEA 2000 bus was generating approximately 283 frames per second.</a:t>
            </a:r>
          </a:p>
          <a:p>
            <a:pPr marL="158750" indent="0">
              <a:buNone/>
            </a:pPr>
            <a:endParaRPr lang="en-GB" dirty="0"/>
          </a:p>
          <a:p>
            <a:pPr marL="158750" indent="0">
              <a:buNone/>
            </a:pPr>
            <a:r>
              <a:rPr lang="en-GB" dirty="0"/>
              <a:t>If we publish those frames as JSON, we’re looking at around 750 kilobits per second.</a:t>
            </a:r>
          </a:p>
          <a:p>
            <a:pPr marL="158750" indent="0">
              <a:buNone/>
            </a:pPr>
            <a:endParaRPr lang="en-GB" dirty="0"/>
          </a:p>
          <a:p>
            <a:pPr marL="158750" indent="0">
              <a:buNone/>
            </a:pPr>
            <a:r>
              <a:rPr lang="en-GB" dirty="0"/>
              <a:t>The narrowband satellite connection has a burst ceiling of 16 kilobits.</a:t>
            </a:r>
          </a:p>
          <a:p>
            <a:pPr marL="158750" indent="0">
              <a:buNone/>
            </a:pPr>
            <a:endParaRPr lang="en-GB" dirty="0"/>
          </a:p>
          <a:p>
            <a:pPr marL="158750" indent="0">
              <a:buNone/>
            </a:pPr>
            <a:r>
              <a:rPr lang="en-GB" dirty="0"/>
              <a:t>Clearly, that’s not going to work.</a:t>
            </a:r>
          </a:p>
          <a:p>
            <a:pPr marL="158750" indent="0">
              <a:buNone/>
            </a:pPr>
            <a:endParaRPr lang="en-GB" dirty="0"/>
          </a:p>
          <a:p>
            <a:pPr marL="158750" indent="0">
              <a:buNone/>
            </a:pPr>
            <a:r>
              <a:rPr lang="en-GB" dirty="0"/>
              <a:t>Sending raw binary is better, but still too much and kicks the decoding part later in the pipeline.</a:t>
            </a:r>
          </a:p>
          <a:p>
            <a:pPr marL="158750" indent="0">
              <a:buNone/>
            </a:pPr>
            <a:endParaRPr lang="en-GB" dirty="0"/>
          </a:p>
          <a:p>
            <a:pPr marL="158750" indent="0">
              <a:buNone/>
            </a:pPr>
            <a:r>
              <a:rPr lang="en-GB" dirty="0"/>
              <a:t>So instead, we build a representation of the vessel’s current state.</a:t>
            </a:r>
          </a:p>
          <a:p>
            <a:pPr marL="158750" indent="0">
              <a:buNone/>
            </a:pPr>
            <a:endParaRPr lang="en-GB" dirty="0"/>
          </a:p>
          <a:p>
            <a:pPr marL="158750" indent="0">
              <a:buNone/>
            </a:pPr>
            <a:r>
              <a:rPr lang="en-GB" dirty="0"/>
              <a:t>Then we generate a standardised operational status message.</a:t>
            </a:r>
          </a:p>
          <a:p>
            <a:pPr marL="158750" indent="0">
              <a:buNone/>
            </a:pPr>
            <a:endParaRPr lang="en-GB" dirty="0"/>
          </a:p>
          <a:p>
            <a:pPr marL="158750" indent="0">
              <a:buNone/>
            </a:pPr>
            <a:r>
              <a:rPr lang="en-GB" dirty="0"/>
              <a:t>And if we encode that message using </a:t>
            </a:r>
            <a:r>
              <a:rPr lang="en-GB" dirty="0" err="1"/>
              <a:t>protobuf</a:t>
            </a:r>
            <a:r>
              <a:rPr lang="en-GB" dirty="0"/>
              <a:t>, the required bandwidth drops to approximately 1.8 kilobits per second.</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We haven’t just compressed the data. We’ve changed what we’re communicating.</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Instead of forwarding 283 frames every second, we continuously update the vessel’s digital representation, not in another process but directly on the messaging namespace.</a:t>
            </a:r>
          </a:p>
          <a:p>
            <a:pPr marL="158750" indent="0">
              <a:buNone/>
            </a:pPr>
            <a:endParaRPr lang="en-GB" dirty="0"/>
          </a:p>
          <a:p>
            <a:pPr marL="158750" indent="0">
              <a:buNone/>
            </a:pPr>
            <a:r>
              <a:rPr lang="en-GB" dirty="0"/>
              <a:t>This can happen with various strategies like a sliding window or last value depending on the use case. </a:t>
            </a:r>
          </a:p>
          <a:p>
            <a:pPr marL="158750" indent="0">
              <a:buNone/>
            </a:pPr>
            <a:endParaRPr lang="en-GB" dirty="0"/>
          </a:p>
          <a:p>
            <a:pPr marL="158750" indent="0">
              <a:buNone/>
            </a:pPr>
            <a:r>
              <a:rPr lang="en-GB" dirty="0"/>
              <a:t>In this instance that state is published twice per second. However the operational status we route to shore is published once per second.</a:t>
            </a:r>
          </a:p>
          <a:p>
            <a:pPr marL="158750" indent="0">
              <a:buNone/>
            </a:pPr>
            <a:endParaRPr lang="en-GB" dirty="0"/>
          </a:p>
          <a:p>
            <a:pPr marL="158750" indent="0">
              <a:buNone/>
            </a:pPr>
            <a:r>
              <a:rPr lang="en-GB" dirty="0"/>
              <a:t>And less frequently changing information, such as the vessel description, is published every 15 seconds.</a:t>
            </a:r>
          </a:p>
          <a:p>
            <a:pPr marL="158750" indent="0">
              <a:buNone/>
            </a:pPr>
            <a:endParaRPr lang="en-GB" dirty="0"/>
          </a:p>
          <a:p>
            <a:pPr marL="158750" indent="0">
              <a:buNone/>
            </a:pPr>
            <a:r>
              <a:rPr lang="en-GB" dirty="0"/>
              <a:t>These are different kinds of information, with different requirements, per mission and per available link.</a:t>
            </a:r>
          </a:p>
          <a:p>
            <a:pPr marL="158750" indent="0">
              <a:buNone/>
            </a:pPr>
            <a:endParaRPr lang="en-GB" dirty="0"/>
          </a:p>
          <a:p>
            <a:pPr marL="158750" indent="0">
              <a:buNone/>
            </a:pPr>
            <a:r>
              <a:rPr lang="en-GB" dirty="0"/>
              <a:t>We also distinguish between whether an asset is alive, whether its information is stale, and how long that information remains valid.</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Now we can apply different delivery policies depending on the available link.</a:t>
            </a:r>
          </a:p>
          <a:p>
            <a:pPr marL="158750" indent="0">
              <a:buNone/>
            </a:pPr>
            <a:endParaRPr lang="en-GB" dirty="0"/>
          </a:p>
          <a:p>
            <a:pPr marL="158750" indent="0">
              <a:buNone/>
            </a:pPr>
            <a:r>
              <a:rPr lang="en-GB" dirty="0"/>
              <a:t>Over broadband, we can send more frequent updates in JSON.</a:t>
            </a:r>
          </a:p>
          <a:p>
            <a:pPr marL="158750" indent="0">
              <a:buNone/>
            </a:pPr>
            <a:endParaRPr lang="en-GB" dirty="0"/>
          </a:p>
          <a:p>
            <a:pPr marL="158750" indent="0">
              <a:buNone/>
            </a:pPr>
            <a:r>
              <a:rPr lang="en-GB" dirty="0"/>
              <a:t>Over constrained links, we can switch to </a:t>
            </a:r>
            <a:r>
              <a:rPr lang="en-GB" dirty="0" err="1"/>
              <a:t>protobuf</a:t>
            </a:r>
            <a:r>
              <a:rPr lang="en-GB" dirty="0"/>
              <a:t>.</a:t>
            </a:r>
          </a:p>
          <a:p>
            <a:pPr marL="158750" indent="0">
              <a:buNone/>
            </a:pPr>
            <a:endParaRPr lang="en-GB" dirty="0"/>
          </a:p>
          <a:p>
            <a:pPr marL="158750" indent="0">
              <a:buNone/>
            </a:pPr>
            <a:r>
              <a:rPr lang="en-GB" dirty="0"/>
              <a:t>If we route between intermediate MAPS instances, a pipeline that expects JSON at shore can still use </a:t>
            </a:r>
            <a:r>
              <a:rPr lang="en-GB" dirty="0" err="1"/>
              <a:t>protobuf</a:t>
            </a:r>
            <a:r>
              <a:rPr lang="en-GB" dirty="0"/>
              <a:t> until the last hop.</a:t>
            </a:r>
          </a:p>
          <a:p>
            <a:pPr marL="158750" indent="0">
              <a:buNone/>
            </a:pPr>
            <a:endParaRPr lang="en-GB" dirty="0"/>
          </a:p>
          <a:p>
            <a:pPr marL="158750" indent="0">
              <a:buNone/>
            </a:pPr>
            <a:r>
              <a:rPr lang="en-GB" dirty="0"/>
              <a:t>Over narrowband satellite, we reduce the update frequency further.</a:t>
            </a:r>
          </a:p>
          <a:p>
            <a:pPr marL="158750" indent="0">
              <a:buNone/>
            </a:pPr>
            <a:endParaRPr lang="en-GB" dirty="0"/>
          </a:p>
          <a:p>
            <a:pPr marL="158750" indent="0">
              <a:buNone/>
            </a:pPr>
            <a:r>
              <a:rPr lang="en-GB" dirty="0"/>
              <a:t>The important point is that these decisions happen before the data enters the expensive or unreliable link. And most of the time you may not know what link will be available until the mission starts.</a:t>
            </a:r>
          </a:p>
          <a:p>
            <a:pPr marL="158750" indent="0">
              <a:buNone/>
            </a:pP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These policies are just runtime configuration.</a:t>
            </a:r>
          </a:p>
          <a:p>
            <a:pPr marL="158750" indent="0">
              <a:buNone/>
            </a:pPr>
            <a:endParaRPr lang="en-GB" dirty="0"/>
          </a:p>
          <a:p>
            <a:pPr marL="158750" indent="0">
              <a:buNone/>
            </a:pPr>
            <a:r>
              <a:rPr lang="en-GB" dirty="0"/>
              <a:t>We can change publish frequency, state retention, protocol mappings and encoding without rewriting the application.</a:t>
            </a:r>
          </a:p>
          <a:p>
            <a:pPr marL="158750" indent="0">
              <a:buNone/>
            </a:pPr>
            <a:endParaRPr lang="en-GB" dirty="0"/>
          </a:p>
          <a:p>
            <a:pPr marL="158750" indent="0">
              <a:buNone/>
            </a:pPr>
            <a:r>
              <a:rPr lang="en-GB" dirty="0"/>
              <a:t>This is a shortened version of the configuration we used during REPMUS.</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Until now, we’ve talked about telemetry flowing from the vessel to shore.</a:t>
            </a:r>
          </a:p>
          <a:p>
            <a:pPr marL="158750" indent="0">
              <a:buNone/>
            </a:pPr>
            <a:endParaRPr lang="en-GB" dirty="0"/>
          </a:p>
          <a:p>
            <a:pPr marL="158750" indent="0">
              <a:buNone/>
            </a:pPr>
            <a:r>
              <a:rPr lang="en-GB" dirty="0"/>
              <a:t>But autonomous systems also receive instructions.</a:t>
            </a:r>
          </a:p>
          <a:p>
            <a:pPr marL="158750" indent="0">
              <a:buNone/>
            </a:pPr>
            <a:endParaRPr lang="en-GB" dirty="0"/>
          </a:p>
          <a:p>
            <a:pPr marL="158750" indent="0">
              <a:buNone/>
            </a:pPr>
            <a:r>
              <a:rPr lang="en-GB" dirty="0"/>
              <a:t>A command system might tell a drone to survey an area.</a:t>
            </a:r>
          </a:p>
          <a:p>
            <a:pPr marL="158750" indent="0">
              <a:buNone/>
            </a:pPr>
            <a:endParaRPr lang="en-GB" dirty="0"/>
          </a:p>
          <a:p>
            <a:pPr marL="158750" indent="0">
              <a:buNone/>
            </a:pPr>
            <a:r>
              <a:rPr lang="en-GB" dirty="0"/>
              <a:t>That task passes through the messaging infrastructure, reaches the edge, and is translated into the vehicle’s native protocol. </a:t>
            </a:r>
          </a:p>
          <a:p>
            <a:pPr marL="158750" indent="0">
              <a:buNone/>
            </a:pPr>
            <a:endParaRPr lang="en-GB" dirty="0"/>
          </a:p>
          <a:p>
            <a:pPr marL="158750" indent="0">
              <a:buNone/>
            </a:pPr>
            <a:r>
              <a:rPr lang="en-GB" dirty="0"/>
              <a:t>But here’s the critical distinction.</a:t>
            </a:r>
          </a:p>
          <a:p>
            <a:pPr marL="158750" indent="0">
              <a:buNone/>
            </a:pPr>
            <a:endParaRPr lang="en-GB" dirty="0"/>
          </a:p>
          <a:p>
            <a:pPr marL="158750" indent="0">
              <a:buNone/>
            </a:pPr>
            <a:r>
              <a:rPr lang="en-GB" dirty="0"/>
              <a:t>The broker acknowledging receipt of the task does not mean the vehicle accepted it.</a:t>
            </a:r>
          </a:p>
          <a:p>
            <a:pPr marL="158750" indent="0">
              <a:buNone/>
            </a:pPr>
            <a:endParaRPr lang="en-GB" dirty="0"/>
          </a:p>
          <a:p>
            <a:pPr marL="158750" indent="0">
              <a:buNone/>
            </a:pPr>
            <a:r>
              <a:rPr lang="en-GB" dirty="0"/>
              <a:t>And acceptance doesn’t mean execution.</a:t>
            </a:r>
          </a:p>
          <a:p>
            <a:pPr marL="158750" indent="0">
              <a:buNone/>
            </a:pPr>
            <a:endParaRPr lang="en-GB" dirty="0"/>
          </a:p>
          <a:p>
            <a:pPr marL="158750" indent="0">
              <a:buNone/>
            </a:pPr>
            <a:r>
              <a:rPr lang="en-GB" dirty="0"/>
              <a:t>And execution doesn’t mean success.</a:t>
            </a:r>
          </a:p>
          <a:p>
            <a:pPr marL="158750" indent="0">
              <a:buNone/>
            </a:pPr>
            <a:endParaRPr lang="en-GB" dirty="0"/>
          </a:p>
          <a:p>
            <a:pPr marL="158750" indent="0">
              <a:buNone/>
            </a:pPr>
            <a:r>
              <a:rPr lang="en-GB" dirty="0"/>
              <a:t>We need feedback from the actual vehicle to know what happened. </a:t>
            </a:r>
          </a:p>
          <a:p>
            <a:pPr marL="158750" indent="0">
              <a:buNone/>
            </a:pPr>
            <a:endParaRPr lang="en-GB" dirty="0"/>
          </a:p>
          <a:p>
            <a:pPr marL="158750" indent="0">
              <a:buNone/>
            </a:pPr>
            <a:r>
              <a:rPr lang="en-GB" dirty="0"/>
              <a:t>&lt;Pause&gt; </a:t>
            </a:r>
          </a:p>
          <a:p>
            <a:pPr marL="158750" indent="0">
              <a:buNone/>
            </a:pPr>
            <a:r>
              <a:rPr lang="en-GB" dirty="0"/>
              <a:t>Transport acknowledgement and operational acknowledgement are different things.</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Here’s an actual example from September 21.</a:t>
            </a:r>
          </a:p>
          <a:p>
            <a:pPr marL="158750" indent="0">
              <a:buNone/>
            </a:pPr>
            <a:endParaRPr lang="en-GB" dirty="0"/>
          </a:p>
          <a:p>
            <a:pPr marL="158750" indent="0">
              <a:buNone/>
            </a:pPr>
            <a:r>
              <a:rPr lang="en-GB" dirty="0"/>
              <a:t>A partner command system issued a survey task to one of our autonomous vessels.</a:t>
            </a:r>
          </a:p>
          <a:p>
            <a:pPr marL="158750" indent="0">
              <a:buNone/>
            </a:pPr>
            <a:endParaRPr lang="en-GB" dirty="0"/>
          </a:p>
          <a:p>
            <a:pPr marL="158750" indent="0">
              <a:buNone/>
            </a:pPr>
            <a:r>
              <a:rPr lang="en-GB" dirty="0"/>
              <a:t>Within just over a second, the task was accepted. The particular vessel could not calculate how to survey a polygon, so we created a </a:t>
            </a:r>
            <a:r>
              <a:rPr lang="en-GB" dirty="0" err="1"/>
              <a:t>MAVLink</a:t>
            </a:r>
            <a:r>
              <a:rPr lang="en-GB" dirty="0"/>
              <a:t> mission with waypoints driving how to traverse it.</a:t>
            </a:r>
          </a:p>
          <a:p>
            <a:pPr marL="158750" indent="0">
              <a:buNone/>
            </a:pPr>
            <a:endParaRPr lang="en-GB" dirty="0"/>
          </a:p>
          <a:p>
            <a:pPr marL="158750" indent="0">
              <a:buNone/>
            </a:pPr>
            <a:r>
              <a:rPr lang="en-GB" dirty="0"/>
              <a:t>A few seconds later, the autopilot was executing it.</a:t>
            </a:r>
          </a:p>
          <a:p>
            <a:pPr marL="158750" indent="0">
              <a:buNone/>
            </a:pPr>
            <a:endParaRPr lang="en-GB" dirty="0"/>
          </a:p>
          <a:p>
            <a:pPr marL="158750" indent="0">
              <a:buNone/>
            </a:pPr>
            <a:r>
              <a:rPr lang="en-GB" dirty="0"/>
              <a:t>Over the next 13 minutes, the system reported progress through hundreds of feedback messages.</a:t>
            </a:r>
          </a:p>
          <a:p>
            <a:pPr marL="158750" indent="0">
              <a:buNone/>
            </a:pPr>
            <a:endParaRPr lang="en-GB" dirty="0"/>
          </a:p>
          <a:p>
            <a:pPr marL="158750" indent="0">
              <a:buNone/>
            </a:pPr>
            <a:r>
              <a:rPr lang="en-GB" dirty="0"/>
              <a:t>Finally, the task completed successfully.</a:t>
            </a:r>
          </a:p>
          <a:p>
            <a:pPr marL="158750" indent="0">
              <a:buNone/>
            </a:pPr>
            <a:endParaRPr lang="en-GB" dirty="0"/>
          </a:p>
          <a:p>
            <a:pPr marL="158750" indent="0">
              <a:buNone/>
            </a:pPr>
            <a:r>
              <a:rPr lang="en-GB" dirty="0"/>
              <a:t>That afternoon, we handled 14 tasks across five task types and two different command systems.</a:t>
            </a:r>
          </a:p>
          <a:p>
            <a:pPr marL="158750" indent="0">
              <a:buNone/>
            </a:pPr>
            <a:endParaRPr lang="en-GB" dirty="0"/>
          </a:p>
          <a:p>
            <a:pPr marL="158750" indent="0">
              <a:buNone/>
            </a:pPr>
            <a:r>
              <a:rPr lang="en-GB" dirty="0"/>
              <a:t>The median time from task submission to first feedback was 181 milliseconds.</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That’s what operationally meaningful end-to-end messaging looks like.</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US" dirty="0"/>
              <a:t>On the left is the vehicle’s view of the survey.</a:t>
            </a:r>
          </a:p>
          <a:p>
            <a:pPr marL="158750" indent="0">
              <a:buNone/>
            </a:pPr>
            <a:endParaRPr lang="en-US" dirty="0"/>
          </a:p>
          <a:p>
            <a:pPr marL="158750" indent="0">
              <a:buNone/>
            </a:pPr>
            <a:r>
              <a:rPr lang="en-US" dirty="0"/>
              <a:t>On the right is the operational picture seen by the command system.</a:t>
            </a:r>
          </a:p>
          <a:p>
            <a:pPr marL="158750" indent="0">
              <a:buNone/>
            </a:pPr>
            <a:endParaRPr lang="en-US" dirty="0"/>
          </a:p>
          <a:p>
            <a:pPr marL="158750" indent="0">
              <a:buNone/>
            </a:pPr>
            <a:r>
              <a:rPr lang="en-US" dirty="0"/>
              <a:t>Different software, different interfaces, but the same mission and the same underlying state.</a:t>
            </a:r>
          </a:p>
          <a:p>
            <a:pPr marL="158750" indent="0">
              <a:buNone/>
            </a:pPr>
            <a:endParaRPr lang="en-US" dirty="0"/>
          </a:p>
          <a:p>
            <a:pPr marL="158750" indent="0">
              <a:buNone/>
            </a:pPr>
            <a:r>
              <a:rPr lang="en-US" dirty="0"/>
              <a:t>And no requirement for either system to understand the other’s internal implementation.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Let’s return to the question from the beginning.</a:t>
            </a:r>
          </a:p>
          <a:p>
            <a:pPr marL="158750" indent="0">
              <a:buNone/>
            </a:pPr>
            <a:endParaRPr lang="en-GB" dirty="0"/>
          </a:p>
          <a:p>
            <a:pPr marL="158750" indent="0">
              <a:buNone/>
            </a:pPr>
            <a:r>
              <a:rPr lang="en-GB" dirty="0"/>
              <a:t>What does delivered mean?</a:t>
            </a:r>
          </a:p>
          <a:p>
            <a:pPr marL="158750" indent="0">
              <a:buNone/>
            </a:pPr>
            <a:endParaRPr lang="en-GB" dirty="0"/>
          </a:p>
          <a:p>
            <a:pPr marL="158750" indent="0">
              <a:buNone/>
            </a:pPr>
            <a:r>
              <a:rPr lang="en-GB" dirty="0"/>
              <a:t>Imagine a sensor publishing a message using MQTT QoS 1.</a:t>
            </a:r>
          </a:p>
          <a:p>
            <a:pPr marL="158750" indent="0">
              <a:buNone/>
            </a:pPr>
            <a:endParaRPr lang="en-GB" dirty="0"/>
          </a:p>
          <a:p>
            <a:pPr marL="158750" indent="0">
              <a:buNone/>
            </a:pPr>
            <a:r>
              <a:rPr lang="en-GB" dirty="0"/>
              <a:t>The edge broker acknowledges it.</a:t>
            </a:r>
          </a:p>
          <a:p>
            <a:pPr marL="158750" indent="0">
              <a:buNone/>
            </a:pPr>
            <a:endParaRPr lang="en-GB" dirty="0"/>
          </a:p>
          <a:p>
            <a:pPr marL="158750" indent="0">
              <a:buNone/>
            </a:pPr>
            <a:r>
              <a:rPr lang="en-GB" dirty="0"/>
              <a:t>Then the message travels over a satellite connection, where another acknowledgement is generated.</a:t>
            </a:r>
          </a:p>
          <a:p>
            <a:pPr marL="158750" indent="0">
              <a:buNone/>
            </a:pPr>
            <a:endParaRPr lang="en-GB" dirty="0"/>
          </a:p>
          <a:p>
            <a:pPr marL="158750" indent="0">
              <a:buNone/>
            </a:pPr>
            <a:r>
              <a:rPr lang="en-GB" dirty="0"/>
              <a:t>Eventually, a shore broker receives it and acknowledges it using AMQP.</a:t>
            </a:r>
          </a:p>
          <a:p>
            <a:pPr marL="158750" indent="0">
              <a:buNone/>
            </a:pPr>
            <a:endParaRPr lang="en-GB" dirty="0"/>
          </a:p>
          <a:p>
            <a:pPr marL="158750" indent="0">
              <a:buNone/>
            </a:pPr>
            <a:r>
              <a:rPr lang="en-GB" dirty="0"/>
              <a:t>Every component along the way may report success.</a:t>
            </a:r>
          </a:p>
          <a:p>
            <a:pPr marL="158750" indent="0">
              <a:buNone/>
            </a:pPr>
            <a:endParaRPr lang="en-GB" dirty="0"/>
          </a:p>
          <a:p>
            <a:pPr marL="158750" indent="0">
              <a:buNone/>
            </a:pPr>
            <a:r>
              <a:rPr lang="en-GB" dirty="0"/>
              <a:t>But did the application actually process the message?</a:t>
            </a:r>
          </a:p>
          <a:p>
            <a:pPr marL="158750" indent="0">
              <a:buNone/>
            </a:pPr>
            <a:endParaRPr lang="en-GB" dirty="0"/>
          </a:p>
          <a:p>
            <a:pPr marL="158750" indent="0">
              <a:buNone/>
            </a:pPr>
            <a:r>
              <a:rPr lang="en-GB" dirty="0"/>
              <a:t>Did the command system act on it?</a:t>
            </a:r>
          </a:p>
          <a:p>
            <a:pPr marL="158750" indent="0">
              <a:buNone/>
            </a:pPr>
            <a:endParaRPr lang="en-GB" dirty="0"/>
          </a:p>
          <a:p>
            <a:pPr marL="158750" indent="0">
              <a:buNone/>
            </a:pPr>
            <a:r>
              <a:rPr lang="en-GB" dirty="0"/>
              <a:t>Did the operator ever see it?</a:t>
            </a:r>
          </a:p>
          <a:p>
            <a:pPr marL="158750" indent="0">
              <a:buNone/>
            </a:pPr>
            <a:endParaRPr lang="en-GB" dirty="0"/>
          </a:p>
          <a:p>
            <a:pPr marL="158750" indent="0">
              <a:buNone/>
            </a:pPr>
            <a:r>
              <a:rPr lang="en-GB" dirty="0"/>
              <a:t>The messaging infrastructure cannot necessarily answer those questions.</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Successful transport does not imply successful operational processing</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Different messaging protocols provide different guarantees.</a:t>
            </a:r>
          </a:p>
          <a:p>
            <a:pPr marL="158750" indent="0">
              <a:buNone/>
            </a:pPr>
            <a:endParaRPr lang="en-GB" dirty="0"/>
          </a:p>
          <a:p>
            <a:pPr marL="158750" indent="0">
              <a:buNone/>
            </a:pPr>
            <a:r>
              <a:rPr lang="en-GB" dirty="0"/>
              <a:t>MQTT QoS 1 provides at-least-once delivery within its protocol exchange.</a:t>
            </a:r>
          </a:p>
          <a:p>
            <a:pPr marL="158750" indent="0">
              <a:buNone/>
            </a:pPr>
            <a:endParaRPr lang="en-GB" dirty="0"/>
          </a:p>
          <a:p>
            <a:pPr marL="158750" indent="0">
              <a:buNone/>
            </a:pPr>
            <a:r>
              <a:rPr lang="en-GB" dirty="0"/>
              <a:t>MQTT QoS 2 provides exactly-once delivery semantics within its defined scope.</a:t>
            </a:r>
          </a:p>
          <a:p>
            <a:pPr marL="158750" indent="0">
              <a:buNone/>
            </a:pPr>
            <a:endParaRPr lang="en-GB" dirty="0"/>
          </a:p>
          <a:p>
            <a:pPr marL="158750" indent="0">
              <a:buNone/>
            </a:pPr>
            <a:r>
              <a:rPr lang="en-GB" dirty="0"/>
              <a:t>AMQP and CoAP have their own acknowledgement models.</a:t>
            </a:r>
          </a:p>
          <a:p>
            <a:pPr marL="158750" indent="0">
              <a:buNone/>
            </a:pPr>
            <a:endParaRPr lang="en-GB" dirty="0"/>
          </a:p>
          <a:p>
            <a:pPr marL="158750" indent="0">
              <a:buNone/>
            </a:pPr>
            <a:r>
              <a:rPr lang="en-GB" dirty="0"/>
              <a:t>But none of these automatically gives us an end-to-end operational guarantee across a heterogeneous chain.</a:t>
            </a:r>
          </a:p>
          <a:p>
            <a:pPr marL="158750" indent="0">
              <a:buNone/>
            </a:pPr>
            <a:endParaRPr lang="en-GB" dirty="0"/>
          </a:p>
          <a:p>
            <a:pPr marL="158750" indent="0">
              <a:buNone/>
            </a:pPr>
            <a:r>
              <a:rPr lang="en-GB" dirty="0"/>
              <a:t>That guarantee has to be implemented at the application level.</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Every acknowledgement is local.</a:t>
            </a:r>
          </a:p>
          <a:p>
            <a:pPr marL="158750" indent="0">
              <a:buNone/>
            </a:pPr>
            <a:endParaRPr lang="en-GB" dirty="0"/>
          </a:p>
          <a:p>
            <a:pPr marL="158750" indent="0">
              <a:buNone/>
            </a:pPr>
            <a:r>
              <a:rPr lang="en-GB" dirty="0"/>
              <a:t>End-to-end is something you design.</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And that means using application-level identifiers, correlating requests with results, and understanding what success actually means for the operation.</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There’s another architectural tension.</a:t>
            </a:r>
          </a:p>
          <a:p>
            <a:pPr marL="158750" indent="0">
              <a:buNone/>
            </a:pPr>
            <a:endParaRPr lang="en-GB" dirty="0"/>
          </a:p>
          <a:p>
            <a:pPr marL="158750" indent="0">
              <a:buNone/>
            </a:pPr>
            <a:r>
              <a:rPr lang="en-GB" dirty="0"/>
              <a:t>End-to-end encryption is designed to prevent intermediaries from inspecting or modifying payloads.</a:t>
            </a:r>
          </a:p>
          <a:p>
            <a:pPr marL="158750" indent="0">
              <a:buNone/>
            </a:pPr>
            <a:endParaRPr lang="en-GB" dirty="0"/>
          </a:p>
          <a:p>
            <a:pPr marL="158750" indent="0">
              <a:buNone/>
            </a:pPr>
            <a:r>
              <a:rPr lang="en-GB" dirty="0"/>
              <a:t>But if we want to filter, transform or down-sample messages at the edge, we need access to their contents.</a:t>
            </a:r>
          </a:p>
          <a:p>
            <a:pPr marL="158750" indent="0">
              <a:buNone/>
            </a:pPr>
            <a:endParaRPr lang="en-GB" dirty="0"/>
          </a:p>
          <a:p>
            <a:pPr marL="158750" indent="0">
              <a:buNone/>
            </a:pPr>
            <a:r>
              <a:rPr lang="en-GB" dirty="0"/>
              <a:t>So the answer isn’t simply to encrypt everything or expose everything.</a:t>
            </a:r>
          </a:p>
          <a:p>
            <a:pPr marL="158750" indent="0">
              <a:buNone/>
            </a:pPr>
            <a:endParaRPr lang="en-GB" dirty="0"/>
          </a:p>
          <a:p>
            <a:pPr marL="158750" indent="0">
              <a:buNone/>
            </a:pPr>
            <a:r>
              <a:rPr lang="en-GB" dirty="0"/>
              <a:t>We need to define trust boundaries.</a:t>
            </a:r>
          </a:p>
          <a:p>
            <a:pPr marL="158750" indent="0">
              <a:buNone/>
            </a:pPr>
            <a:endParaRPr lang="en-GB" dirty="0"/>
          </a:p>
          <a:p>
            <a:pPr marL="158750" indent="0">
              <a:buNone/>
            </a:pPr>
            <a:r>
              <a:rPr lang="en-GB" dirty="0"/>
              <a:t>Which data can be transformed?</a:t>
            </a:r>
          </a:p>
          <a:p>
            <a:pPr marL="158750" indent="0">
              <a:buNone/>
            </a:pPr>
            <a:endParaRPr lang="en-GB" dirty="0"/>
          </a:p>
          <a:p>
            <a:pPr marL="158750" indent="0">
              <a:buNone/>
            </a:pPr>
            <a:r>
              <a:rPr lang="en-GB" dirty="0"/>
              <a:t>Which fields need end-to-end integrity?</a:t>
            </a:r>
          </a:p>
          <a:p>
            <a:pPr marL="158750" indent="0">
              <a:buNone/>
            </a:pPr>
            <a:endParaRPr lang="en-GB" dirty="0"/>
          </a:p>
          <a:p>
            <a:pPr marL="158750" indent="0">
              <a:buNone/>
            </a:pPr>
            <a:r>
              <a:rPr lang="en-GB" dirty="0"/>
              <a:t>And where are we prepared to trust an intermediary?</a:t>
            </a:r>
          </a:p>
          <a:p>
            <a:pPr marL="158750" indent="0">
              <a:buNone/>
            </a:pPr>
            <a:endParaRPr lang="en-GB" dirty="0"/>
          </a:p>
          <a:p>
            <a:pPr marL="158750" indent="0">
              <a:buNone/>
            </a:pPr>
            <a:r>
              <a:rPr lang="en-GB" dirty="0"/>
              <a:t>&lt;Pause&gt;</a:t>
            </a:r>
          </a:p>
          <a:p>
            <a:pPr marL="158750" indent="0">
              <a:buNone/>
            </a:pPr>
            <a:r>
              <a:rPr lang="en-GB" dirty="0"/>
              <a:t> </a:t>
            </a:r>
          </a:p>
          <a:p>
            <a:pPr marL="158750" indent="0">
              <a:buNone/>
            </a:pPr>
            <a:r>
              <a:rPr lang="en-GB" dirty="0"/>
              <a:t>Security and mediation policies must be designed together.</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When connectivity becomes constrained, not all messages have equal importance.</a:t>
            </a:r>
          </a:p>
          <a:p>
            <a:pPr marL="158750" indent="0">
              <a:buNone/>
            </a:pPr>
            <a:endParaRPr lang="en-GB" dirty="0"/>
          </a:p>
          <a:p>
            <a:pPr marL="158750" indent="0">
              <a:buNone/>
            </a:pPr>
            <a:r>
              <a:rPr lang="en-GB" dirty="0"/>
              <a:t>Commands and safety alerts need priority.</a:t>
            </a:r>
          </a:p>
          <a:p>
            <a:pPr marL="158750" indent="0">
              <a:buNone/>
            </a:pPr>
            <a:endParaRPr lang="en-GB" dirty="0"/>
          </a:p>
          <a:p>
            <a:pPr marL="158750" indent="0">
              <a:buNone/>
            </a:pPr>
            <a:r>
              <a:rPr lang="en-GB" dirty="0"/>
              <a:t>Current position and state should usually replace older versions.</a:t>
            </a:r>
          </a:p>
          <a:p>
            <a:pPr marL="158750" indent="0">
              <a:buNone/>
            </a:pPr>
            <a:endParaRPr lang="en-GB" dirty="0"/>
          </a:p>
          <a:p>
            <a:pPr marL="158750" indent="0">
              <a:buNone/>
            </a:pPr>
            <a:r>
              <a:rPr lang="en-GB" dirty="0"/>
              <a:t>Raw telemetry can be down-sampled or retained locally.</a:t>
            </a:r>
          </a:p>
          <a:p>
            <a:pPr marL="158750" indent="0">
              <a:buNone/>
            </a:pPr>
            <a:endParaRPr lang="en-GB" dirty="0"/>
          </a:p>
          <a:p>
            <a:pPr marL="158750" indent="0">
              <a:buNone/>
            </a:pPr>
            <a:r>
              <a:rPr lang="en-GB" dirty="0"/>
              <a:t>These classifications need to be established before connectivity deteriorates.</a:t>
            </a:r>
          </a:p>
          <a:p>
            <a:pPr marL="158750" indent="0">
              <a:buNone/>
            </a:pPr>
            <a:endParaRPr lang="en-GB" dirty="0"/>
          </a:p>
          <a:p>
            <a:pPr marL="158750" indent="0">
              <a:buNone/>
            </a:pPr>
            <a:r>
              <a:rPr lang="en-GB" dirty="0"/>
              <a:t>Otherwise, the messaging system is simply trying to push everything through an increasingly narrow pipe.</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And that brings us to perhaps the most dangerous part of an outage: when the network comes back.</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Here’s another example from REPMUS.</a:t>
            </a:r>
          </a:p>
          <a:p>
            <a:pPr marL="158750" indent="0">
              <a:buNone/>
            </a:pPr>
            <a:endParaRPr lang="en-GB" dirty="0"/>
          </a:p>
          <a:p>
            <a:pPr marL="158750" indent="0">
              <a:buNone/>
            </a:pPr>
            <a:r>
              <a:rPr lang="en-GB" dirty="0"/>
              <a:t>During a patrol mission, one of the vessels stopped reporting.</a:t>
            </a:r>
          </a:p>
          <a:p>
            <a:pPr marL="158750" indent="0">
              <a:buNone/>
            </a:pPr>
            <a:endParaRPr lang="en-GB" dirty="0"/>
          </a:p>
          <a:p>
            <a:pPr marL="158750" indent="0">
              <a:buNone/>
            </a:pPr>
            <a:r>
              <a:rPr lang="en-GB" dirty="0"/>
              <a:t>We had its last known position, speed and heading.</a:t>
            </a:r>
          </a:p>
          <a:p>
            <a:pPr marL="158750" indent="0">
              <a:buNone/>
            </a:pPr>
            <a:endParaRPr lang="en-GB" dirty="0"/>
          </a:p>
          <a:p>
            <a:pPr marL="158750" indent="0">
              <a:buNone/>
            </a:pPr>
            <a:r>
              <a:rPr lang="en-GB" dirty="0"/>
              <a:t>We also knew the progress of its assigned task.</a:t>
            </a:r>
          </a:p>
          <a:p>
            <a:pPr marL="158750" indent="0">
              <a:buNone/>
            </a:pPr>
            <a:endParaRPr lang="en-GB" dirty="0"/>
          </a:p>
          <a:p>
            <a:pPr marL="158750" indent="0">
              <a:buNone/>
            </a:pPr>
            <a:r>
              <a:rPr lang="en-GB" dirty="0"/>
              <a:t>Eventually, the system reported that the task had been lost.</a:t>
            </a:r>
          </a:p>
          <a:p>
            <a:pPr marL="158750" indent="0">
              <a:buNone/>
            </a:pPr>
            <a:endParaRPr lang="en-GB" dirty="0"/>
          </a:p>
          <a:p>
            <a:pPr marL="158750" indent="0">
              <a:buNone/>
            </a:pPr>
            <a:r>
              <a:rPr lang="en-GB" dirty="0"/>
              <a:t>The important lesson is that losing connectivity doesn’t have to mean losing operational context.</a:t>
            </a:r>
          </a:p>
          <a:p>
            <a:pPr marL="158750" indent="0">
              <a:buNone/>
            </a:pPr>
            <a:endParaRPr lang="en-GB" dirty="0"/>
          </a:p>
          <a:p>
            <a:pPr marL="158750" indent="0">
              <a:buNone/>
            </a:pPr>
            <a:r>
              <a:rPr lang="en-GB" dirty="0"/>
              <a:t>If the edge retains the right information, we can distinguish between what we know, what we last knew, and what has become uncertain.</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Different kinds of information need different persistence policies.</a:t>
            </a:r>
          </a:p>
          <a:p>
            <a:pPr marL="158750" indent="0">
              <a:buNone/>
            </a:pPr>
            <a:endParaRPr lang="en-GB" dirty="0"/>
          </a:p>
          <a:p>
            <a:pPr marL="158750" indent="0">
              <a:buNone/>
            </a:pPr>
            <a:r>
              <a:rPr lang="en-GB" dirty="0"/>
              <a:t>We don’t need to preserve every raw sensor frame forever.</a:t>
            </a:r>
          </a:p>
          <a:p>
            <a:pPr marL="158750" indent="0">
              <a:buNone/>
            </a:pPr>
            <a:endParaRPr lang="en-GB" dirty="0"/>
          </a:p>
          <a:p>
            <a:pPr marL="158750" indent="0">
              <a:buNone/>
            </a:pPr>
            <a:r>
              <a:rPr lang="en-GB" dirty="0"/>
              <a:t>For current state, the latest value may be sufficient.</a:t>
            </a:r>
          </a:p>
          <a:p>
            <a:pPr marL="158750" indent="0">
              <a:buNone/>
            </a:pPr>
            <a:endParaRPr lang="en-GB" dirty="0"/>
          </a:p>
          <a:p>
            <a:pPr marL="158750" indent="0">
              <a:buNone/>
            </a:pPr>
            <a:r>
              <a:rPr lang="en-GB" dirty="0"/>
              <a:t>Tasks, however, must survive disconnection.</a:t>
            </a:r>
          </a:p>
          <a:p>
            <a:pPr marL="158750" indent="0">
              <a:buNone/>
            </a:pPr>
            <a:endParaRPr lang="en-GB" dirty="0"/>
          </a:p>
          <a:p>
            <a:pPr marL="158750" indent="0">
              <a:buNone/>
            </a:pPr>
            <a:r>
              <a:rPr lang="en-GB" dirty="0"/>
              <a:t>And some operational messages need durable storage and eventual delivery.</a:t>
            </a:r>
          </a:p>
          <a:p>
            <a:pPr marL="158750" indent="0">
              <a:buNone/>
            </a:pPr>
            <a:endParaRPr lang="en-GB" dirty="0"/>
          </a:p>
          <a:p>
            <a:pPr marL="158750" indent="0">
              <a:buNone/>
            </a:pPr>
            <a:r>
              <a:rPr lang="en-GB" dirty="0"/>
              <a:t>During REPMUS, we analysed the entire common operational picture and we found more than 5,000 vessel status messages that reached the operational picture over a minute late.</a:t>
            </a:r>
          </a:p>
          <a:p>
            <a:pPr marL="158750" indent="0">
              <a:buNone/>
            </a:pPr>
            <a:endParaRPr lang="en-GB" dirty="0"/>
          </a:p>
          <a:p>
            <a:pPr marL="158750" indent="0">
              <a:buNone/>
            </a:pPr>
            <a:r>
              <a:rPr lang="en-GB" dirty="0"/>
              <a:t>The oldest delay was over 15 hours.</a:t>
            </a:r>
          </a:p>
          <a:p>
            <a:pPr marL="158750" indent="0">
              <a:buNone/>
            </a:pPr>
            <a:endParaRPr lang="en-GB" dirty="0"/>
          </a:p>
          <a:p>
            <a:pPr marL="158750" indent="0">
              <a:buNone/>
            </a:pPr>
            <a:r>
              <a:rPr lang="en-GB" dirty="0"/>
              <a:t>But those messages had a validity period of two hours.</a:t>
            </a:r>
          </a:p>
          <a:p>
            <a:pPr marL="158750" indent="0">
              <a:buNone/>
            </a:pPr>
            <a:endParaRPr lang="en-GB" dirty="0"/>
          </a:p>
          <a:p>
            <a:pPr marL="158750" indent="0">
              <a:buNone/>
            </a:pPr>
            <a:r>
              <a:rPr lang="en-GB" dirty="0"/>
              <a:t>So delivering them successfully could actually be misleading.</a:t>
            </a:r>
          </a:p>
          <a:p>
            <a:pPr marL="158750" indent="0">
              <a:buNone/>
            </a:pPr>
            <a:endParaRPr lang="en-GB" dirty="0"/>
          </a:p>
          <a:p>
            <a:pPr marL="158750" indent="0">
              <a:buNone/>
            </a:pPr>
            <a:r>
              <a:rPr lang="en-GB" dirty="0"/>
              <a:t>&lt;Pause&gt;</a:t>
            </a:r>
          </a:p>
          <a:p>
            <a:pPr marL="158750" indent="0">
              <a:buNone/>
            </a:pPr>
            <a:endParaRPr lang="en-GB" dirty="0"/>
          </a:p>
          <a:p>
            <a:pPr marL="158750" indent="0">
              <a:buNone/>
            </a:pPr>
            <a:r>
              <a:rPr lang="en-GB" dirty="0"/>
              <a:t>A message can be delivered correctly and still be operationally wrong.</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Most messaging systems focus heavily on what happens when a connection fails.</a:t>
            </a:r>
          </a:p>
          <a:p>
            <a:pPr marL="158750" indent="0">
              <a:buNone/>
            </a:pPr>
            <a:endParaRPr lang="en-GB" dirty="0"/>
          </a:p>
          <a:p>
            <a:pPr marL="158750" indent="0">
              <a:buNone/>
            </a:pPr>
            <a:r>
              <a:rPr lang="en-GB" dirty="0"/>
              <a:t>But what happens when it comes back?</a:t>
            </a:r>
          </a:p>
          <a:p>
            <a:pPr marL="158750" indent="0">
              <a:buNone/>
            </a:pPr>
            <a:endParaRPr lang="en-GB" dirty="0"/>
          </a:p>
          <a:p>
            <a:pPr marL="158750" indent="0">
              <a:buNone/>
            </a:pPr>
            <a:r>
              <a:rPr lang="en-GB" dirty="0"/>
              <a:t>Imagine a vessel that has been disconnected for several hours.</a:t>
            </a:r>
          </a:p>
          <a:p>
            <a:pPr marL="158750" indent="0">
              <a:buNone/>
            </a:pPr>
            <a:endParaRPr lang="en-GB" dirty="0"/>
          </a:p>
          <a:p>
            <a:pPr marL="158750" indent="0">
              <a:buNone/>
            </a:pPr>
            <a:r>
              <a:rPr lang="en-GB" dirty="0"/>
              <a:t>During that time, it has accumulated a substantial backlog.</a:t>
            </a:r>
          </a:p>
          <a:p>
            <a:pPr marL="158750" indent="0">
              <a:buNone/>
            </a:pPr>
            <a:endParaRPr lang="en-GB" dirty="0"/>
          </a:p>
          <a:p>
            <a:pPr marL="158750" indent="0">
              <a:buNone/>
            </a:pPr>
            <a:r>
              <a:rPr lang="en-GB" dirty="0"/>
              <a:t>When the connection returns, the system attempts to deliver everything.</a:t>
            </a:r>
          </a:p>
          <a:p>
            <a:pPr marL="158750" indent="0">
              <a:buNone/>
            </a:pPr>
            <a:endParaRPr lang="en-GB" dirty="0"/>
          </a:p>
          <a:p>
            <a:pPr marL="158750" indent="0">
              <a:buNone/>
            </a:pPr>
            <a:r>
              <a:rPr lang="en-GB" dirty="0"/>
              <a:t>Suddenly, we’re pushing historical traffic alongside current operational information.</a:t>
            </a:r>
          </a:p>
          <a:p>
            <a:pPr marL="158750" indent="0">
              <a:buNone/>
            </a:pPr>
            <a:endParaRPr lang="en-GB" dirty="0"/>
          </a:p>
          <a:p>
            <a:pPr marL="158750" indent="0">
              <a:buNone/>
            </a:pPr>
            <a:r>
              <a:rPr lang="en-GB" dirty="0"/>
              <a:t>We can overwhelm the link, overload consumers, and delay the very information operators need most. </a:t>
            </a:r>
          </a:p>
          <a:p>
            <a:pPr marL="158750" indent="0">
              <a:buNone/>
            </a:pPr>
            <a:endParaRPr lang="en-GB" dirty="0"/>
          </a:p>
          <a:p>
            <a:pPr marL="158750" indent="0">
              <a:buNone/>
            </a:pPr>
            <a:r>
              <a:rPr lang="en-GB" dirty="0"/>
              <a:t>It is quite possible that the operator will never see the live picture again, unless they manually discard the backlog.</a:t>
            </a:r>
          </a:p>
          <a:p>
            <a:pPr marL="158750" indent="0">
              <a:buNone/>
            </a:pPr>
            <a:endParaRPr lang="en-GB" dirty="0"/>
          </a:p>
          <a:p>
            <a:pPr marL="158750" indent="0">
              <a:buNone/>
            </a:pPr>
            <a:r>
              <a:rPr lang="en-GB" dirty="0"/>
              <a:t>&lt;Point to the slide&gt;</a:t>
            </a:r>
          </a:p>
          <a:p>
            <a:pPr marL="158750" indent="0">
              <a:buNone/>
            </a:pPr>
            <a:endParaRPr lang="en-GB" dirty="0"/>
          </a:p>
          <a:p>
            <a:pPr marL="158750" indent="0">
              <a:buNone/>
            </a:pPr>
            <a:r>
              <a:rPr lang="en-GB" dirty="0"/>
              <a:t>The problem isn’t just surviving the outage. It’s surviving the recovery.</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First, control the rate of replay.</a:t>
            </a:r>
          </a:p>
          <a:p>
            <a:pPr marL="158750" indent="0">
              <a:buNone/>
            </a:pPr>
            <a:endParaRPr lang="en-GB" dirty="0"/>
          </a:p>
          <a:p>
            <a:pPr marL="158750" indent="0">
              <a:buNone/>
            </a:pPr>
            <a:r>
              <a:rPr lang="en-GB" dirty="0"/>
              <a:t>Don’t allow the backlog to consume all available bandwidth or overwhelm downstream consumers.</a:t>
            </a:r>
          </a:p>
          <a:p>
            <a:pPr marL="158750" indent="0">
              <a:buNone/>
            </a:pPr>
            <a:endParaRPr lang="en-GB" dirty="0"/>
          </a:p>
          <a:p>
            <a:pPr marL="158750" indent="0">
              <a:buNone/>
            </a:pPr>
            <a:r>
              <a:rPr lang="en-GB" dirty="0"/>
              <a:t>Second, prioritise information.</a:t>
            </a:r>
          </a:p>
          <a:p>
            <a:pPr marL="158750" indent="0">
              <a:buNone/>
            </a:pPr>
            <a:endParaRPr lang="en-GB" dirty="0"/>
          </a:p>
          <a:p>
            <a:pPr marL="158750" indent="0">
              <a:buNone/>
            </a:pPr>
            <a:r>
              <a:rPr lang="en-GB" dirty="0"/>
              <a:t>Commands and current state should take precedence over historical telemetry.</a:t>
            </a:r>
          </a:p>
          <a:p>
            <a:pPr marL="158750" indent="0">
              <a:buNone/>
            </a:pPr>
            <a:endParaRPr lang="en-GB" dirty="0"/>
          </a:p>
          <a:p>
            <a:pPr marL="158750" indent="0">
              <a:buNone/>
            </a:pPr>
            <a:r>
              <a:rPr lang="en-GB" dirty="0"/>
              <a:t>Third, manage the semantics.</a:t>
            </a:r>
          </a:p>
          <a:p>
            <a:pPr marL="158750" indent="0">
              <a:buNone/>
            </a:pPr>
            <a:endParaRPr lang="en-GB" dirty="0"/>
          </a:p>
          <a:p>
            <a:pPr marL="158750" indent="0">
              <a:buNone/>
            </a:pPr>
            <a:r>
              <a:rPr lang="en-GB" dirty="0"/>
              <a:t>Expire information that is no longer valid.</a:t>
            </a:r>
          </a:p>
          <a:p>
            <a:pPr marL="158750" indent="0">
              <a:buNone/>
            </a:pPr>
            <a:endParaRPr lang="en-GB" dirty="0"/>
          </a:p>
          <a:p>
            <a:pPr marL="158750" indent="0">
              <a:buNone/>
            </a:pPr>
            <a:r>
              <a:rPr lang="en-GB" dirty="0"/>
              <a:t>Make consumers idempotent so duplicates don’t cause unintended actions.</a:t>
            </a:r>
          </a:p>
          <a:p>
            <a:pPr marL="158750" indent="0">
              <a:buNone/>
            </a:pPr>
            <a:endParaRPr lang="en-GB" dirty="0"/>
          </a:p>
          <a:p>
            <a:pPr marL="158750" indent="0">
              <a:buNone/>
            </a:pPr>
            <a:r>
              <a:rPr lang="en-GB" dirty="0"/>
              <a:t>And respect the receiving system’s flow-control mechanisms.</a:t>
            </a:r>
          </a:p>
          <a:p>
            <a:pPr marL="158750" indent="0">
              <a:buNone/>
            </a:pPr>
            <a:endParaRPr lang="en-GB" dirty="0"/>
          </a:p>
          <a:p>
            <a:pPr marL="158750" indent="0">
              <a:buNone/>
            </a:pPr>
            <a:r>
              <a:rPr lang="en-GB" dirty="0"/>
              <a:t>MQTT 5 and AMQP already provide useful mechanisms here, but the overall policy has to be designed.</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Lets look at the desired reconnect sequence.</a:t>
            </a:r>
          </a:p>
          <a:p>
            <a:pPr marL="158750" indent="0">
              <a:buNone/>
            </a:pPr>
            <a:endParaRPr lang="en-GB" dirty="0"/>
          </a:p>
          <a:p>
            <a:pPr marL="158750" indent="0">
              <a:buNone/>
            </a:pPr>
            <a:r>
              <a:rPr lang="en-GB" dirty="0"/>
              <a:t>First, restore and authenticate the session.</a:t>
            </a:r>
          </a:p>
          <a:p>
            <a:pPr marL="158750" indent="0">
              <a:buNone/>
            </a:pPr>
            <a:endParaRPr lang="en-GB" dirty="0"/>
          </a:p>
          <a:p>
            <a:pPr marL="158750" indent="0">
              <a:buNone/>
            </a:pPr>
            <a:r>
              <a:rPr lang="en-GB" dirty="0"/>
              <a:t>Then deliver critical commands and alerts.</a:t>
            </a:r>
          </a:p>
          <a:p>
            <a:pPr marL="158750" indent="0">
              <a:buNone/>
            </a:pPr>
            <a:endParaRPr lang="en-GB" dirty="0"/>
          </a:p>
          <a:p>
            <a:pPr marL="158750" indent="0">
              <a:buNone/>
            </a:pPr>
            <a:r>
              <a:rPr lang="en-GB" dirty="0"/>
              <a:t>Next, publish the latest current state.</a:t>
            </a:r>
          </a:p>
          <a:p>
            <a:pPr marL="158750" indent="0">
              <a:buNone/>
            </a:pPr>
            <a:endParaRPr lang="en-GB" dirty="0"/>
          </a:p>
          <a:p>
            <a:pPr marL="158750" indent="0">
              <a:buNone/>
            </a:pPr>
            <a:r>
              <a:rPr lang="en-GB" dirty="0"/>
              <a:t>Only then begin replaying historical information at a controlled rate, excluding information that has expired.</a:t>
            </a:r>
          </a:p>
          <a:p>
            <a:pPr marL="158750" indent="0">
              <a:buNone/>
            </a:pPr>
            <a:endParaRPr lang="en-GB" dirty="0"/>
          </a:p>
          <a:p>
            <a:pPr marL="158750" indent="0">
              <a:buNone/>
            </a:pPr>
            <a:r>
              <a:rPr lang="en-GB" dirty="0"/>
              <a:t>The receiving system should see the present first and the past afterwards.</a:t>
            </a:r>
          </a:p>
          <a:p>
            <a:pPr marL="158750" indent="0">
              <a:buNone/>
            </a:pPr>
            <a:endParaRPr lang="en-GB" dirty="0"/>
          </a:p>
          <a:p>
            <a:pPr marL="158750" indent="0">
              <a:buNone/>
            </a:pPr>
            <a:r>
              <a:rPr lang="en-GB" dirty="0"/>
              <a:t>&lt;Pause&gt;</a:t>
            </a:r>
          </a:p>
          <a:p>
            <a:pPr marL="158750" indent="0">
              <a:buNone/>
            </a:pPr>
            <a:r>
              <a:rPr lang="en-GB" dirty="0"/>
              <a:t> </a:t>
            </a:r>
          </a:p>
          <a:p>
            <a:pPr marL="158750" indent="0">
              <a:buNone/>
            </a:pPr>
            <a:r>
              <a:rPr lang="en-GB" dirty="0"/>
              <a:t>Recovery order is part of the application’s correctness model.</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Let me leave you with three numbers from REPMUS.</a:t>
            </a:r>
          </a:p>
          <a:p>
            <a:pPr marL="158750" indent="0">
              <a:buNone/>
            </a:pPr>
            <a:endParaRPr lang="en-GB" dirty="0"/>
          </a:p>
          <a:p>
            <a:pPr marL="158750" indent="0">
              <a:buNone/>
            </a:pPr>
            <a:r>
              <a:rPr lang="en-GB" dirty="0"/>
              <a:t>First, using </a:t>
            </a:r>
            <a:r>
              <a:rPr lang="en-GB" dirty="0" err="1"/>
              <a:t>protobuf</a:t>
            </a:r>
            <a:r>
              <a:rPr lang="en-GB" dirty="0"/>
              <a:t> can reduce a standardised status message by a factor of 6.5 </a:t>
            </a:r>
          </a:p>
          <a:p>
            <a:pPr marL="158750" indent="0">
              <a:buNone/>
            </a:pPr>
            <a:endParaRPr lang="en-GB" dirty="0"/>
          </a:p>
          <a:p>
            <a:pPr marL="158750" indent="0">
              <a:buNone/>
            </a:pPr>
            <a:r>
              <a:rPr lang="en-GB" dirty="0"/>
              <a:t>Second, we transformed 283 raw sensor frames per second into one operational status message per second</a:t>
            </a:r>
          </a:p>
          <a:p>
            <a:pPr marL="158750" indent="0">
              <a:buNone/>
            </a:pPr>
            <a:endParaRPr lang="en-GB" dirty="0"/>
          </a:p>
          <a:p>
            <a:pPr marL="158750" indent="0">
              <a:buNone/>
            </a:pPr>
            <a:r>
              <a:rPr lang="en-GB" dirty="0"/>
              <a:t>And third, we measured a median of 181 milliseconds from task submission to first feedback.</a:t>
            </a:r>
          </a:p>
          <a:p>
            <a:pPr marL="158750" indent="0">
              <a:buNone/>
            </a:pPr>
            <a:endParaRPr lang="en-GB" dirty="0"/>
          </a:p>
          <a:p>
            <a:pPr marL="158750" indent="0">
              <a:buNone/>
            </a:pPr>
            <a:r>
              <a:rPr lang="en-GB" dirty="0"/>
              <a:t>These demonstrate three things: bandwidth efficiency, meaningful state representation, and end-to-end operational feedback</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indent="0">
              <a:buNone/>
            </a:pPr>
            <a:r>
              <a:rPr lang="en-GB" dirty="0"/>
              <a:t>If there’s one thing I’d like you to take away, it’s that resilient messaging isn’t just about choosing a reliable protocol or broker.</a:t>
            </a:r>
          </a:p>
          <a:p>
            <a:pPr marL="158750" indent="0">
              <a:buNone/>
            </a:pPr>
            <a:endParaRPr lang="en-GB" dirty="0"/>
          </a:p>
          <a:p>
            <a:pPr marL="158750" indent="0">
              <a:buNone/>
            </a:pPr>
            <a:r>
              <a:rPr lang="en-GB" dirty="0"/>
              <a:t>It’s about understanding the meaning and lifetime of the information you’re transporting.</a:t>
            </a:r>
          </a:p>
          <a:p>
            <a:pPr marL="158750" indent="0">
              <a:buNone/>
            </a:pPr>
            <a:endParaRPr lang="en-GB" dirty="0"/>
          </a:p>
          <a:p>
            <a:pPr marL="158750" indent="0">
              <a:buNone/>
            </a:pPr>
            <a:r>
              <a:rPr lang="en-GB" dirty="0"/>
              <a:t>It’s about deciding what matters when bandwidth disappears.</a:t>
            </a:r>
          </a:p>
          <a:p>
            <a:pPr marL="158750" indent="0">
              <a:buNone/>
            </a:pPr>
            <a:endParaRPr lang="en-GB" dirty="0"/>
          </a:p>
          <a:p>
            <a:pPr marL="158750" indent="0">
              <a:buNone/>
            </a:pPr>
            <a:r>
              <a:rPr lang="en-GB" dirty="0"/>
              <a:t>And it’s about designing what happens when connectivity returns.</a:t>
            </a:r>
          </a:p>
          <a:p>
            <a:pPr marL="158750" indent="0">
              <a:buNone/>
            </a:pPr>
            <a:endParaRPr lang="en-GB" dirty="0"/>
          </a:p>
          <a:p>
            <a:pPr marL="158750" indent="0">
              <a:buNone/>
            </a:pPr>
            <a:r>
              <a:rPr lang="en-GB" dirty="0"/>
              <a:t>Those principles apply just as much to industrial IoT, remote infrastructure and distributed applications as they do to autonomous vessels.</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pPr marL="158750" lvl="0" indent="0">
              <a:buClr>
                <a:srgbClr val="000000"/>
              </a:buClr>
              <a:buSzPts val="1100"/>
              <a:buFont typeface="Arial"/>
              <a:buNone/>
            </a:pPr>
            <a:r>
              <a:rPr lang="en-GB" dirty="0"/>
              <a:t>We tend to design systems around the network we expect.</a:t>
            </a:r>
          </a:p>
          <a:p>
            <a:pPr marL="158750" lvl="0" indent="0">
              <a:buClr>
                <a:srgbClr val="000000"/>
              </a:buClr>
              <a:buSzPts val="1100"/>
              <a:buFont typeface="Arial"/>
              <a:buNone/>
            </a:pPr>
            <a:endParaRPr lang="en-GB" dirty="0"/>
          </a:p>
          <a:p>
            <a:pPr marL="158750" lvl="0" indent="0">
              <a:buClr>
                <a:srgbClr val="000000"/>
              </a:buClr>
              <a:buSzPts val="1100"/>
              <a:buFont typeface="Arial"/>
              <a:buNone/>
            </a:pPr>
            <a:r>
              <a:rPr lang="en-GB" dirty="0"/>
              <a:t>But operational systems have to survive the network we actually get.</a:t>
            </a:r>
          </a:p>
          <a:p>
            <a:pPr marL="158750" lvl="0" indent="0">
              <a:buClr>
                <a:srgbClr val="000000"/>
              </a:buClr>
              <a:buSzPts val="1100"/>
              <a:buFont typeface="Arial"/>
              <a:buNone/>
            </a:pPr>
            <a:endParaRPr lang="en-GB" dirty="0"/>
          </a:p>
          <a:p>
            <a:pPr marL="158750" lvl="0" indent="0">
              <a:buClr>
                <a:srgbClr val="000000"/>
              </a:buClr>
              <a:buSzPts val="1100"/>
              <a:buFont typeface="Arial"/>
              <a:buNone/>
            </a:pPr>
            <a:r>
              <a:rPr lang="en-GB" dirty="0"/>
              <a:t>And sometimes, that means no network at all.</a:t>
            </a:r>
          </a:p>
          <a:p>
            <a:pPr marL="158750" lvl="0" indent="0">
              <a:buClr>
                <a:srgbClr val="000000"/>
              </a:buClr>
              <a:buSzPts val="1100"/>
              <a:buFont typeface="Arial"/>
              <a:buNone/>
            </a:pPr>
            <a:endParaRPr lang="en-GB" dirty="0"/>
          </a:p>
          <a:p>
            <a:pPr marL="158750" lvl="0" indent="0">
              <a:buClr>
                <a:srgbClr val="000000"/>
              </a:buClr>
              <a:buSzPts val="1100"/>
              <a:buFont typeface="Arial"/>
              <a:buNone/>
            </a:pPr>
            <a:r>
              <a:rPr lang="en-GB" dirty="0"/>
              <a:t>Thank you.</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txBody>
          <a:bodyPr/>
          <a:lstStyle/>
          <a:p>
            <a:endParaRPr lang="en-GR"/>
          </a:p>
        </p:txBody>
      </p:sp>
      <p:sp>
        <p:nvSpPr>
          <p:cNvPr id="3" name="Notes Placeholder 2"/>
          <p:cNvSpPr>
            <a:spLocks noGrp="1"/>
          </p:cNvSpPr>
          <p:nvPr>
            <p:ph type="body" idx="1"/>
          </p:nvPr>
        </p:nvSpPr>
        <p:spPr/>
        <p:txBody>
          <a:bodyPr/>
          <a:lstStyle/>
          <a:p>
            <a:r>
              <a:t>Likely questions, based on last year's room: How do you map MQTT QoS 2 onto AMQP across a bridge? What happens to persistent MQTT sessions when they expire during a long outage? How is security handled when the edge transforms messages? Have short answers ready for each.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3">
  <p:cSld name="CAPTION_ONLY_3">
    <p:spTree>
      <p:nvGrpSpPr>
        <p:cNvPr id="1" name="Shape 11"/>
        <p:cNvGrpSpPr/>
        <p:nvPr/>
      </p:nvGrpSpPr>
      <p:grpSpPr>
        <a:xfrm>
          <a:off x="0" y="0"/>
          <a:ext cx="0" cy="0"/>
          <a:chOff x="0" y="0"/>
          <a:chExt cx="0" cy="0"/>
        </a:xfrm>
      </p:grpSpPr>
      <p:sp>
        <p:nvSpPr>
          <p:cNvPr id="12" name="Google Shape;12;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4">
  <p:cSld name="CAPTION_ONLY_4">
    <p:spTree>
      <p:nvGrpSpPr>
        <p:cNvPr id="1" name="Shape 13"/>
        <p:cNvGrpSpPr/>
        <p:nvPr/>
      </p:nvGrpSpPr>
      <p:grpSpPr>
        <a:xfrm>
          <a:off x="0" y="0"/>
          <a:ext cx="0" cy="0"/>
          <a:chOff x="0" y="0"/>
          <a:chExt cx="0" cy="0"/>
        </a:xfrm>
      </p:grpSpPr>
      <p:sp>
        <p:nvSpPr>
          <p:cNvPr id="14" name="Google Shape;1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5">
  <p:cSld name="CAPTION_ONLY_5">
    <p:spTree>
      <p:nvGrpSpPr>
        <p:cNvPr id="1" name="Shape 15"/>
        <p:cNvGrpSpPr/>
        <p:nvPr/>
      </p:nvGrpSpPr>
      <p:grpSpPr>
        <a:xfrm>
          <a:off x="0" y="0"/>
          <a:ext cx="0" cy="0"/>
          <a:chOff x="0" y="0"/>
          <a:chExt cx="0" cy="0"/>
        </a:xfrm>
      </p:grpSpPr>
      <p:sp>
        <p:nvSpPr>
          <p:cNvPr id="16" name="Google Shape;1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6">
  <p:cSld name="CAPTION_ONLY_6">
    <p:spTree>
      <p:nvGrpSpPr>
        <p:cNvPr id="1" name="Shape 17"/>
        <p:cNvGrpSpPr/>
        <p:nvPr/>
      </p:nvGrpSpPr>
      <p:grpSpPr>
        <a:xfrm>
          <a:off x="0" y="0"/>
          <a:ext cx="0" cy="0"/>
          <a:chOff x="0" y="0"/>
          <a:chExt cx="0" cy="0"/>
        </a:xfrm>
      </p:grpSpPr>
      <p:sp>
        <p:nvSpPr>
          <p:cNvPr id="18" name="Google Shape;1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7">
  <p:cSld name="CAPTION_ONLY_7">
    <p:spTree>
      <p:nvGrpSpPr>
        <p:cNvPr id="1" name="Shape 19"/>
        <p:cNvGrpSpPr/>
        <p:nvPr/>
      </p:nvGrpSpPr>
      <p:grpSpPr>
        <a:xfrm>
          <a:off x="0" y="0"/>
          <a:ext cx="0" cy="0"/>
          <a:chOff x="0" y="0"/>
          <a:chExt cx="0" cy="0"/>
        </a:xfrm>
      </p:grpSpPr>
      <p:sp>
        <p:nvSpPr>
          <p:cNvPr id="20" name="Google Shape;2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8">
  <p:cSld name="CAPTION_ONLY_8">
    <p:spTree>
      <p:nvGrpSpPr>
        <p:cNvPr id="1" name="Shape 21"/>
        <p:cNvGrpSpPr/>
        <p:nvPr/>
      </p:nvGrpSpPr>
      <p:grpSpPr>
        <a:xfrm>
          <a:off x="0" y="0"/>
          <a:ext cx="0" cy="0"/>
          <a:chOff x="0" y="0"/>
          <a:chExt cx="0" cy="0"/>
        </a:xfrm>
      </p:grpSpPr>
      <p:sp>
        <p:nvSpPr>
          <p:cNvPr id="22" name="Google Shape;2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9">
  <p:cSld name="CAPTION_ONLY_9">
    <p:spTree>
      <p:nvGrpSpPr>
        <p:cNvPr id="1" name="Shape 23"/>
        <p:cNvGrpSpPr/>
        <p:nvPr/>
      </p:nvGrpSpPr>
      <p:grpSpPr>
        <a:xfrm>
          <a:off x="0" y="0"/>
          <a:ext cx="0" cy="0"/>
          <a:chOff x="0" y="0"/>
          <a:chExt cx="0" cy="0"/>
        </a:xfrm>
      </p:grpSpPr>
      <p:sp>
        <p:nvSpPr>
          <p:cNvPr id="24" name="Google Shape;2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10">
  <p:cSld name="CAPTION_ONLY_10">
    <p:spTree>
      <p:nvGrpSpPr>
        <p:cNvPr id="1" name="Shape 25"/>
        <p:cNvGrpSpPr/>
        <p:nvPr/>
      </p:nvGrpSpPr>
      <p:grpSpPr>
        <a:xfrm>
          <a:off x="0" y="0"/>
          <a:ext cx="0" cy="0"/>
          <a:chOff x="0" y="0"/>
          <a:chExt cx="0" cy="0"/>
        </a:xfrm>
      </p:grpSpPr>
      <p:sp>
        <p:nvSpPr>
          <p:cNvPr id="26" name="Google Shape;2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11">
  <p:cSld name="CAPTION_ONLY_11">
    <p:spTree>
      <p:nvGrpSpPr>
        <p:cNvPr id="1" name="Shape 27"/>
        <p:cNvGrpSpPr/>
        <p:nvPr/>
      </p:nvGrpSpPr>
      <p:grpSpPr>
        <a:xfrm>
          <a:off x="0" y="0"/>
          <a:ext cx="0" cy="0"/>
          <a:chOff x="0" y="0"/>
          <a:chExt cx="0" cy="0"/>
        </a:xfrm>
      </p:grpSpPr>
      <p:sp>
        <p:nvSpPr>
          <p:cNvPr id="28" name="Google Shape;2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12">
  <p:cSld name="CAPTION_ONLY_12">
    <p:spTree>
      <p:nvGrpSpPr>
        <p:cNvPr id="1" name="Shape 29"/>
        <p:cNvGrpSpPr/>
        <p:nvPr/>
      </p:nvGrpSpPr>
      <p:grpSpPr>
        <a:xfrm>
          <a:off x="0" y="0"/>
          <a:ext cx="0" cy="0"/>
          <a:chOff x="0" y="0"/>
          <a:chExt cx="0" cy="0"/>
        </a:xfrm>
      </p:grpSpPr>
      <p:sp>
        <p:nvSpPr>
          <p:cNvPr id="30" name="Google Shape;3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13">
  <p:cSld name="CAPTION_ONLY_13">
    <p:spTree>
      <p:nvGrpSpPr>
        <p:cNvPr id="1" name="Shape 31"/>
        <p:cNvGrpSpPr/>
        <p:nvPr/>
      </p:nvGrpSpPr>
      <p:grpSpPr>
        <a:xfrm>
          <a:off x="0" y="0"/>
          <a:ext cx="0" cy="0"/>
          <a:chOff x="0" y="0"/>
          <a:chExt cx="0" cy="0"/>
        </a:xfrm>
      </p:grpSpPr>
      <p:sp>
        <p:nvSpPr>
          <p:cNvPr id="32" name="Google Shape;32;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14">
  <p:cSld name="CAPTION_ONLY_14">
    <p:spTree>
      <p:nvGrpSpPr>
        <p:cNvPr id="1" name="Shape 33"/>
        <p:cNvGrpSpPr/>
        <p:nvPr/>
      </p:nvGrpSpPr>
      <p:grpSpPr>
        <a:xfrm>
          <a:off x="0" y="0"/>
          <a:ext cx="0" cy="0"/>
          <a:chOff x="0" y="0"/>
          <a:chExt cx="0" cy="0"/>
        </a:xfrm>
      </p:grpSpPr>
      <p:sp>
        <p:nvSpPr>
          <p:cNvPr id="34" name="Google Shape;3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15">
  <p:cSld name="CAPTION_ONLY_15">
    <p:spTree>
      <p:nvGrpSpPr>
        <p:cNvPr id="1" name="Shape 35"/>
        <p:cNvGrpSpPr/>
        <p:nvPr/>
      </p:nvGrpSpPr>
      <p:grpSpPr>
        <a:xfrm>
          <a:off x="0" y="0"/>
          <a:ext cx="0" cy="0"/>
          <a:chOff x="0" y="0"/>
          <a:chExt cx="0" cy="0"/>
        </a:xfrm>
      </p:grpSpPr>
      <p:sp>
        <p:nvSpPr>
          <p:cNvPr id="36" name="Google Shape;36;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16">
  <p:cSld name="CAPTION_ONLY_16">
    <p:spTree>
      <p:nvGrpSpPr>
        <p:cNvPr id="1" name="Shape 37"/>
        <p:cNvGrpSpPr/>
        <p:nvPr/>
      </p:nvGrpSpPr>
      <p:grpSpPr>
        <a:xfrm>
          <a:off x="0" y="0"/>
          <a:ext cx="0" cy="0"/>
          <a:chOff x="0" y="0"/>
          <a:chExt cx="0" cy="0"/>
        </a:xfrm>
      </p:grpSpPr>
      <p:sp>
        <p:nvSpPr>
          <p:cNvPr id="38" name="Google Shape;38;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17">
  <p:cSld name="CAPTION_ONLY_17">
    <p:spTree>
      <p:nvGrpSpPr>
        <p:cNvPr id="1" name="Shape 39"/>
        <p:cNvGrpSpPr/>
        <p:nvPr/>
      </p:nvGrpSpPr>
      <p:grpSpPr>
        <a:xfrm>
          <a:off x="0" y="0"/>
          <a:ext cx="0" cy="0"/>
          <a:chOff x="0" y="0"/>
          <a:chExt cx="0" cy="0"/>
        </a:xfrm>
      </p:grpSpPr>
      <p:sp>
        <p:nvSpPr>
          <p:cNvPr id="40" name="Google Shape;4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18">
  <p:cSld name="CAPTION_ONLY_18">
    <p:spTree>
      <p:nvGrpSpPr>
        <p:cNvPr id="1" name="Shape 41"/>
        <p:cNvGrpSpPr/>
        <p:nvPr/>
      </p:nvGrpSpPr>
      <p:grpSpPr>
        <a:xfrm>
          <a:off x="0" y="0"/>
          <a:ext cx="0" cy="0"/>
          <a:chOff x="0" y="0"/>
          <a:chExt cx="0" cy="0"/>
        </a:xfrm>
      </p:grpSpPr>
      <p:sp>
        <p:nvSpPr>
          <p:cNvPr id="42" name="Google Shape;4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19">
  <p:cSld name="CAPTION_ONLY_19">
    <p:spTree>
      <p:nvGrpSpPr>
        <p:cNvPr id="1" name="Shape 43"/>
        <p:cNvGrpSpPr/>
        <p:nvPr/>
      </p:nvGrpSpPr>
      <p:grpSpPr>
        <a:xfrm>
          <a:off x="0" y="0"/>
          <a:ext cx="0" cy="0"/>
          <a:chOff x="0" y="0"/>
          <a:chExt cx="0" cy="0"/>
        </a:xfrm>
      </p:grpSpPr>
      <p:sp>
        <p:nvSpPr>
          <p:cNvPr id="44" name="Google Shape;4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20">
  <p:cSld name="CAPTION_ONLY_20">
    <p:spTree>
      <p:nvGrpSpPr>
        <p:cNvPr id="1" name="Shape 45"/>
        <p:cNvGrpSpPr/>
        <p:nvPr/>
      </p:nvGrpSpPr>
      <p:grpSpPr>
        <a:xfrm>
          <a:off x="0" y="0"/>
          <a:ext cx="0" cy="0"/>
          <a:chOff x="0" y="0"/>
          <a:chExt cx="0" cy="0"/>
        </a:xfrm>
      </p:grpSpPr>
      <p:sp>
        <p:nvSpPr>
          <p:cNvPr id="46" name="Google Shape;4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1">
  <p:cSld name="CAPTION_ONLY_1">
    <p:bg>
      <p:bgPr>
        <a:blipFill>
          <a:blip r:embed="rId2">
            <a:alphaModFix/>
          </a:blip>
          <a:stretch>
            <a:fillRect/>
          </a:stretch>
        </a:blipFill>
        <a:effectLst/>
      </p:bgPr>
    </p:bg>
    <p:spTree>
      <p:nvGrpSpPr>
        <p:cNvPr id="1" name="Shape 47"/>
        <p:cNvGrpSpPr/>
        <p:nvPr/>
      </p:nvGrpSpPr>
      <p:grpSpPr>
        <a:xfrm>
          <a:off x="0" y="0"/>
          <a:ext cx="0" cy="0"/>
          <a:chOff x="0" y="0"/>
          <a:chExt cx="0" cy="0"/>
        </a:xfrm>
      </p:grpSpPr>
      <p:sp>
        <p:nvSpPr>
          <p:cNvPr id="48" name="Google Shape;4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2">
  <p:cSld name="CAPTION_ONLY_2">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1.xml"/><Relationship Id="rId6" Type="http://schemas.openxmlformats.org/officeDocument/2006/relationships/image" Target="../media/image9.png"/><Relationship Id="rId5" Type="http://schemas.openxmlformats.org/officeDocument/2006/relationships/image" Target="../media/image12.jp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1.xml"/><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4"/>
        <p:cNvGrpSpPr/>
        <p:nvPr/>
      </p:nvGrpSpPr>
      <p:grpSpPr>
        <a:xfrm>
          <a:off x="0" y="0"/>
          <a:ext cx="0" cy="0"/>
          <a:chOff x="0" y="0"/>
          <a:chExt cx="0" cy="0"/>
        </a:xfrm>
      </p:grpSpPr>
      <p:sp>
        <p:nvSpPr>
          <p:cNvPr id="95" name="TextBox 94"/>
          <p:cNvSpPr txBox="1"/>
          <p:nvPr/>
        </p:nvSpPr>
        <p:spPr>
          <a:xfrm>
            <a:off x="548640" y="914400"/>
            <a:ext cx="5486400" cy="274320"/>
          </a:xfrm>
          <a:prstGeom prst="rect">
            <a:avLst/>
          </a:prstGeom>
          <a:noFill/>
        </p:spPr>
        <p:txBody>
          <a:bodyPr wrap="square" lIns="0" tIns="0" rIns="0" bIns="0" anchor="t">
            <a:spAutoFit/>
          </a:bodyPr>
          <a:lstStyle/>
          <a:p>
            <a:pPr algn="l"/>
            <a:r>
              <a:rPr sz="1100" b="1">
                <a:solidFill>
                  <a:srgbClr val="8FBCF5"/>
                </a:solidFill>
                <a:latin typeface="Arial"/>
              </a:rPr>
              <a:t>MQ SUMMIT 2026 · HAARLEM</a:t>
            </a:r>
          </a:p>
        </p:txBody>
      </p:sp>
      <p:sp>
        <p:nvSpPr>
          <p:cNvPr id="96" name="TextBox 95"/>
          <p:cNvSpPr txBox="1"/>
          <p:nvPr/>
        </p:nvSpPr>
        <p:spPr>
          <a:xfrm>
            <a:off x="548640" y="1280160"/>
            <a:ext cx="5669280" cy="1280160"/>
          </a:xfrm>
          <a:prstGeom prst="rect">
            <a:avLst/>
          </a:prstGeom>
          <a:noFill/>
        </p:spPr>
        <p:txBody>
          <a:bodyPr wrap="square" lIns="0" tIns="0" rIns="0" bIns="0" anchor="t">
            <a:spAutoFit/>
          </a:bodyPr>
          <a:lstStyle/>
          <a:p>
            <a:pPr algn="l"/>
            <a:r>
              <a:rPr sz="3600" b="1">
                <a:solidFill>
                  <a:srgbClr val="FFFFFF"/>
                </a:solidFill>
                <a:latin typeface="Arial"/>
              </a:rPr>
              <a:t>When the Network Stops Behaving</a:t>
            </a:r>
          </a:p>
        </p:txBody>
      </p:sp>
      <p:sp>
        <p:nvSpPr>
          <p:cNvPr id="97" name="TextBox 96"/>
          <p:cNvSpPr txBox="1"/>
          <p:nvPr/>
        </p:nvSpPr>
        <p:spPr>
          <a:xfrm>
            <a:off x="548640" y="2606040"/>
            <a:ext cx="5486400" cy="640080"/>
          </a:xfrm>
          <a:prstGeom prst="rect">
            <a:avLst/>
          </a:prstGeom>
          <a:noFill/>
        </p:spPr>
        <p:txBody>
          <a:bodyPr wrap="square" lIns="0" tIns="0" rIns="0" bIns="0" anchor="t">
            <a:spAutoFit/>
          </a:bodyPr>
          <a:lstStyle/>
          <a:p>
            <a:pPr algn="l"/>
            <a:r>
              <a:rPr sz="1800" b="0">
                <a:solidFill>
                  <a:srgbClr val="8FBCF5"/>
                </a:solidFill>
                <a:latin typeface="Arial"/>
              </a:rPr>
              <a:t>Messaging lessons from autonomous systems at sea</a:t>
            </a:r>
          </a:p>
        </p:txBody>
      </p:sp>
      <p:sp>
        <p:nvSpPr>
          <p:cNvPr id="98" name="TextBox 97"/>
          <p:cNvSpPr txBox="1"/>
          <p:nvPr/>
        </p:nvSpPr>
        <p:spPr>
          <a:xfrm>
            <a:off x="548640" y="3566160"/>
            <a:ext cx="5486400" cy="274320"/>
          </a:xfrm>
          <a:prstGeom prst="rect">
            <a:avLst/>
          </a:prstGeom>
          <a:noFill/>
        </p:spPr>
        <p:txBody>
          <a:bodyPr wrap="square" lIns="0" tIns="0" rIns="0" bIns="0" anchor="t">
            <a:spAutoFit/>
          </a:bodyPr>
          <a:lstStyle/>
          <a:p>
            <a:pPr algn="l"/>
            <a:r>
              <a:rPr sz="1600" b="1">
                <a:solidFill>
                  <a:srgbClr val="FFFFFF"/>
                </a:solidFill>
                <a:latin typeface="Arial"/>
              </a:rPr>
              <a:t>Alex Kritikos</a:t>
            </a:r>
          </a:p>
        </p:txBody>
      </p:sp>
      <p:sp>
        <p:nvSpPr>
          <p:cNvPr id="99" name="TextBox 98"/>
          <p:cNvSpPr txBox="1"/>
          <p:nvPr/>
        </p:nvSpPr>
        <p:spPr>
          <a:xfrm>
            <a:off x="548640" y="3886200"/>
            <a:ext cx="5486400" cy="274320"/>
          </a:xfrm>
          <a:prstGeom prst="rect">
            <a:avLst/>
          </a:prstGeom>
          <a:noFill/>
        </p:spPr>
        <p:txBody>
          <a:bodyPr wrap="square" lIns="0" tIns="0" rIns="0" bIns="0" anchor="t">
            <a:spAutoFit/>
          </a:bodyPr>
          <a:lstStyle/>
          <a:p>
            <a:pPr algn="l"/>
            <a:r>
              <a:rPr sz="1300" b="1">
                <a:solidFill>
                  <a:srgbClr val="FFFFFF"/>
                </a:solidFill>
                <a:latin typeface="Arial"/>
              </a:rPr>
              <a:t>Co-founder &amp; CEO, MAPS Messaging</a:t>
            </a:r>
          </a:p>
        </p:txBody>
      </p:sp>
      <p:sp>
        <p:nvSpPr>
          <p:cNvPr id="3" name="TextBox 2">
            <a:extLst>
              <a:ext uri="{FF2B5EF4-FFF2-40B4-BE49-F238E27FC236}">
                <a16:creationId xmlns:a16="http://schemas.microsoft.com/office/drawing/2014/main" id="{2CBC2C43-1272-F296-A66F-D7B8DD4ADC06}"/>
              </a:ext>
            </a:extLst>
          </p:cNvPr>
          <p:cNvSpPr txBox="1"/>
          <p:nvPr/>
        </p:nvSpPr>
        <p:spPr>
          <a:xfrm>
            <a:off x="7498079" y="4754880"/>
            <a:ext cx="1188720" cy="228600"/>
          </a:xfrm>
          <a:prstGeom prst="rect">
            <a:avLst/>
          </a:prstGeom>
          <a:noFill/>
        </p:spPr>
        <p:txBody>
          <a:bodyPr wrap="square" lIns="0" tIns="0" rIns="0" bIns="0" anchor="t">
            <a:spAutoFit/>
          </a:bodyPr>
          <a:lstStyle/>
          <a:p>
            <a:pPr algn="r"/>
            <a:r>
              <a:rPr sz="1000" b="1" dirty="0">
                <a:solidFill>
                  <a:srgbClr val="C9A15F"/>
                </a:solidFill>
                <a:latin typeface="Arial"/>
              </a:rPr>
              <a:t>mapsmessaging.io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sp>
        <p:nvSpPr>
          <p:cNvPr id="131" name="TextBox 130"/>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C9A15F"/>
                </a:solidFill>
                <a:latin typeface="Arial"/>
              </a:rPr>
              <a:t>05:40, SOMEWHERE OFFSHORE</a:t>
            </a:r>
          </a:p>
        </p:txBody>
      </p:sp>
      <p:sp>
        <p:nvSpPr>
          <p:cNvPr id="132" name="TextBox 131"/>
          <p:cNvSpPr txBox="1"/>
          <p:nvPr/>
        </p:nvSpPr>
        <p:spPr>
          <a:xfrm>
            <a:off x="457200" y="530352"/>
            <a:ext cx="6675120" cy="738664"/>
          </a:xfrm>
          <a:prstGeom prst="rect">
            <a:avLst/>
          </a:prstGeom>
          <a:noFill/>
        </p:spPr>
        <p:txBody>
          <a:bodyPr wrap="square" lIns="0" tIns="0" rIns="0" bIns="0" anchor="t">
            <a:spAutoFit/>
          </a:bodyPr>
          <a:lstStyle/>
          <a:p>
            <a:pPr algn="l"/>
            <a:r>
              <a:rPr sz="2400" b="1" dirty="0">
                <a:solidFill>
                  <a:srgbClr val="FFFFFF"/>
                </a:solidFill>
                <a:latin typeface="Arial"/>
              </a:rPr>
              <a:t>An autonomous vessel drops from Starlink to narrowband</a:t>
            </a:r>
            <a:r>
              <a:rPr lang="en-US" sz="2400" b="1" dirty="0">
                <a:solidFill>
                  <a:srgbClr val="FFFFFF"/>
                </a:solidFill>
                <a:latin typeface="Arial"/>
              </a:rPr>
              <a:t> SATCOM</a:t>
            </a:r>
            <a:endParaRPr sz="2400" b="1" dirty="0">
              <a:solidFill>
                <a:srgbClr val="FFFFFF"/>
              </a:solidFill>
              <a:latin typeface="Arial"/>
            </a:endParaRPr>
          </a:p>
        </p:txBody>
      </p:sp>
      <p:sp>
        <p:nvSpPr>
          <p:cNvPr id="133" name="Rounded Rectangle 132"/>
          <p:cNvSpPr/>
          <p:nvPr/>
        </p:nvSpPr>
        <p:spPr>
          <a:xfrm>
            <a:off x="457200" y="1488440"/>
            <a:ext cx="2587752" cy="294640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Box 133"/>
          <p:cNvSpPr txBox="1"/>
          <p:nvPr/>
        </p:nvSpPr>
        <p:spPr>
          <a:xfrm>
            <a:off x="685800" y="2423160"/>
            <a:ext cx="2130552" cy="685800"/>
          </a:xfrm>
          <a:prstGeom prst="rect">
            <a:avLst/>
          </a:prstGeom>
          <a:noFill/>
        </p:spPr>
        <p:txBody>
          <a:bodyPr wrap="square" lIns="0" tIns="0" rIns="0" bIns="0" anchor="t">
            <a:spAutoFit/>
          </a:bodyPr>
          <a:lstStyle/>
          <a:p>
            <a:pPr algn="l"/>
            <a:r>
              <a:rPr sz="3600" b="1">
                <a:solidFill>
                  <a:srgbClr val="FFFFFF"/>
                </a:solidFill>
                <a:latin typeface="Arial"/>
              </a:rPr>
              <a:t>15 s+</a:t>
            </a:r>
          </a:p>
        </p:txBody>
      </p:sp>
      <p:sp>
        <p:nvSpPr>
          <p:cNvPr id="135" name="TextBox 134"/>
          <p:cNvSpPr txBox="1"/>
          <p:nvPr/>
        </p:nvSpPr>
        <p:spPr>
          <a:xfrm>
            <a:off x="685800" y="3200400"/>
            <a:ext cx="2130552" cy="822960"/>
          </a:xfrm>
          <a:prstGeom prst="rect">
            <a:avLst/>
          </a:prstGeom>
          <a:noFill/>
        </p:spPr>
        <p:txBody>
          <a:bodyPr wrap="square" lIns="0" tIns="0" rIns="0" bIns="0" anchor="t">
            <a:spAutoFit/>
          </a:bodyPr>
          <a:lstStyle/>
          <a:p>
            <a:pPr algn="l"/>
            <a:r>
              <a:rPr sz="1400" b="0">
                <a:solidFill>
                  <a:srgbClr val="D9D2EA"/>
                </a:solidFill>
                <a:latin typeface="Arial"/>
              </a:rPr>
              <a:t>typical narrowband latency, against ~50 ms on Starlink</a:t>
            </a:r>
          </a:p>
        </p:txBody>
      </p:sp>
      <p:sp>
        <p:nvSpPr>
          <p:cNvPr id="136" name="Rounded Rectangle 135"/>
          <p:cNvSpPr/>
          <p:nvPr/>
        </p:nvSpPr>
        <p:spPr>
          <a:xfrm>
            <a:off x="3273552" y="1488440"/>
            <a:ext cx="2587752" cy="294640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Box 136"/>
          <p:cNvSpPr txBox="1"/>
          <p:nvPr/>
        </p:nvSpPr>
        <p:spPr>
          <a:xfrm>
            <a:off x="3502152" y="2423160"/>
            <a:ext cx="2130552" cy="685800"/>
          </a:xfrm>
          <a:prstGeom prst="rect">
            <a:avLst/>
          </a:prstGeom>
          <a:noFill/>
        </p:spPr>
        <p:txBody>
          <a:bodyPr wrap="square" lIns="0" tIns="0" rIns="0" bIns="0" anchor="t">
            <a:spAutoFit/>
          </a:bodyPr>
          <a:lstStyle/>
          <a:p>
            <a:pPr algn="l"/>
            <a:r>
              <a:rPr sz="3600" b="1">
                <a:solidFill>
                  <a:srgbClr val="FFFFFF"/>
                </a:solidFill>
                <a:latin typeface="Arial"/>
              </a:rPr>
              <a:t>16 kbps</a:t>
            </a:r>
          </a:p>
        </p:txBody>
      </p:sp>
      <p:sp>
        <p:nvSpPr>
          <p:cNvPr id="138" name="TextBox 137"/>
          <p:cNvSpPr txBox="1"/>
          <p:nvPr/>
        </p:nvSpPr>
        <p:spPr>
          <a:xfrm>
            <a:off x="3502152" y="3200400"/>
            <a:ext cx="2130552" cy="822960"/>
          </a:xfrm>
          <a:prstGeom prst="rect">
            <a:avLst/>
          </a:prstGeom>
          <a:noFill/>
        </p:spPr>
        <p:txBody>
          <a:bodyPr wrap="square" lIns="0" tIns="0" rIns="0" bIns="0" anchor="t">
            <a:spAutoFit/>
          </a:bodyPr>
          <a:lstStyle/>
          <a:p>
            <a:pPr algn="l"/>
            <a:r>
              <a:rPr sz="1400" b="0">
                <a:solidFill>
                  <a:srgbClr val="D9D2EA"/>
                </a:solidFill>
                <a:latin typeface="Arial"/>
              </a:rPr>
              <a:t>narrowband burst ceiling, and a cost per message</a:t>
            </a:r>
          </a:p>
        </p:txBody>
      </p:sp>
      <p:sp>
        <p:nvSpPr>
          <p:cNvPr id="139" name="Rounded Rectangle 138"/>
          <p:cNvSpPr/>
          <p:nvPr/>
        </p:nvSpPr>
        <p:spPr>
          <a:xfrm>
            <a:off x="6089904" y="1488440"/>
            <a:ext cx="2587752" cy="1410335"/>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TextBox 139"/>
          <p:cNvSpPr txBox="1"/>
          <p:nvPr/>
        </p:nvSpPr>
        <p:spPr>
          <a:xfrm>
            <a:off x="6318504" y="1566196"/>
            <a:ext cx="2130552" cy="685800"/>
          </a:xfrm>
          <a:prstGeom prst="rect">
            <a:avLst/>
          </a:prstGeom>
          <a:noFill/>
        </p:spPr>
        <p:txBody>
          <a:bodyPr wrap="square" lIns="0" tIns="0" rIns="0" bIns="0" anchor="t">
            <a:spAutoFit/>
          </a:bodyPr>
          <a:lstStyle/>
          <a:p>
            <a:pPr algn="l"/>
            <a:r>
              <a:rPr sz="3600" b="1" dirty="0">
                <a:solidFill>
                  <a:srgbClr val="FFFFFF"/>
                </a:solidFill>
                <a:latin typeface="Arial"/>
              </a:rPr>
              <a:t>283/s</a:t>
            </a:r>
          </a:p>
        </p:txBody>
      </p:sp>
      <p:sp>
        <p:nvSpPr>
          <p:cNvPr id="141" name="TextBox 140"/>
          <p:cNvSpPr txBox="1"/>
          <p:nvPr/>
        </p:nvSpPr>
        <p:spPr>
          <a:xfrm>
            <a:off x="6289929" y="2158016"/>
            <a:ext cx="2130552" cy="646331"/>
          </a:xfrm>
          <a:prstGeom prst="rect">
            <a:avLst/>
          </a:prstGeom>
          <a:noFill/>
        </p:spPr>
        <p:txBody>
          <a:bodyPr wrap="square" lIns="0" tIns="0" rIns="0" bIns="0" anchor="t">
            <a:spAutoFit/>
          </a:bodyPr>
          <a:lstStyle/>
          <a:p>
            <a:pPr algn="l"/>
            <a:r>
              <a:rPr sz="1400" b="0" dirty="0">
                <a:solidFill>
                  <a:srgbClr val="D9D2EA"/>
                </a:solidFill>
                <a:latin typeface="Arial"/>
              </a:rPr>
              <a:t>NMEA 2000 frames one </a:t>
            </a:r>
            <a:r>
              <a:rPr lang="en-US" sz="1400" b="0" dirty="0">
                <a:solidFill>
                  <a:srgbClr val="D9D2EA"/>
                </a:solidFill>
                <a:latin typeface="Arial"/>
              </a:rPr>
              <a:t>vessel</a:t>
            </a:r>
            <a:r>
              <a:rPr sz="1400" b="0" dirty="0">
                <a:solidFill>
                  <a:srgbClr val="D9D2EA"/>
                </a:solidFill>
                <a:latin typeface="Arial"/>
              </a:rPr>
              <a:t> keeps putting on its bus</a:t>
            </a:r>
          </a:p>
        </p:txBody>
      </p:sp>
      <p:sp>
        <p:nvSpPr>
          <p:cNvPr id="142" name="TextBox 141"/>
          <p:cNvSpPr txBox="1"/>
          <p:nvPr/>
        </p:nvSpPr>
        <p:spPr>
          <a:xfrm>
            <a:off x="457200" y="4754880"/>
            <a:ext cx="8138160" cy="153888"/>
          </a:xfrm>
          <a:prstGeom prst="rect">
            <a:avLst/>
          </a:prstGeom>
          <a:noFill/>
        </p:spPr>
        <p:txBody>
          <a:bodyPr wrap="square" lIns="0" tIns="0" rIns="0" bIns="0" anchor="t">
            <a:spAutoFit/>
          </a:bodyPr>
          <a:lstStyle/>
          <a:p>
            <a:r>
              <a:rPr lang="en-GB" sz="1000" dirty="0">
                <a:solidFill>
                  <a:srgbClr val="7A7290"/>
                </a:solidFill>
              </a:rPr>
              <a:t>When the Network Stops Behaving · Alex Kritikos</a:t>
            </a:r>
          </a:p>
        </p:txBody>
      </p:sp>
      <p:sp>
        <p:nvSpPr>
          <p:cNvPr id="5" name="Rounded Rectangle 4">
            <a:extLst>
              <a:ext uri="{FF2B5EF4-FFF2-40B4-BE49-F238E27FC236}">
                <a16:creationId xmlns:a16="http://schemas.microsoft.com/office/drawing/2014/main" id="{CB730AAF-4348-B35A-E9B2-94EBFB7D93A3}"/>
              </a:ext>
            </a:extLst>
          </p:cNvPr>
          <p:cNvSpPr/>
          <p:nvPr/>
        </p:nvSpPr>
        <p:spPr>
          <a:xfrm>
            <a:off x="6099050" y="3024505"/>
            <a:ext cx="2587752" cy="1410335"/>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a:extLst>
              <a:ext uri="{FF2B5EF4-FFF2-40B4-BE49-F238E27FC236}">
                <a16:creationId xmlns:a16="http://schemas.microsoft.com/office/drawing/2014/main" id="{4D107788-3FD4-953E-D056-8B107B9A77ED}"/>
              </a:ext>
            </a:extLst>
          </p:cNvPr>
          <p:cNvSpPr txBox="1"/>
          <p:nvPr/>
        </p:nvSpPr>
        <p:spPr>
          <a:xfrm>
            <a:off x="6327650" y="3102261"/>
            <a:ext cx="2130552" cy="553998"/>
          </a:xfrm>
          <a:prstGeom prst="rect">
            <a:avLst/>
          </a:prstGeom>
          <a:noFill/>
        </p:spPr>
        <p:txBody>
          <a:bodyPr wrap="square" lIns="0" tIns="0" rIns="0" bIns="0" anchor="t">
            <a:spAutoFit/>
          </a:bodyPr>
          <a:lstStyle/>
          <a:p>
            <a:pPr algn="l"/>
            <a:r>
              <a:rPr lang="en-US" sz="3600" b="1" dirty="0">
                <a:solidFill>
                  <a:srgbClr val="FFFFFF"/>
                </a:solidFill>
                <a:latin typeface="Arial"/>
              </a:rPr>
              <a:t>70</a:t>
            </a:r>
            <a:r>
              <a:rPr sz="3600" b="1" dirty="0">
                <a:solidFill>
                  <a:srgbClr val="FFFFFF"/>
                </a:solidFill>
                <a:latin typeface="Arial"/>
              </a:rPr>
              <a:t>/s</a:t>
            </a:r>
          </a:p>
        </p:txBody>
      </p:sp>
      <p:sp>
        <p:nvSpPr>
          <p:cNvPr id="7" name="TextBox 6">
            <a:extLst>
              <a:ext uri="{FF2B5EF4-FFF2-40B4-BE49-F238E27FC236}">
                <a16:creationId xmlns:a16="http://schemas.microsoft.com/office/drawing/2014/main" id="{6A14CD1B-C548-8E4B-06D8-3E0D026C6282}"/>
              </a:ext>
            </a:extLst>
          </p:cNvPr>
          <p:cNvSpPr txBox="1"/>
          <p:nvPr/>
        </p:nvSpPr>
        <p:spPr>
          <a:xfrm>
            <a:off x="6299075" y="3694081"/>
            <a:ext cx="2130552" cy="430887"/>
          </a:xfrm>
          <a:prstGeom prst="rect">
            <a:avLst/>
          </a:prstGeom>
          <a:noFill/>
        </p:spPr>
        <p:txBody>
          <a:bodyPr wrap="square" lIns="0" tIns="0" rIns="0" bIns="0" anchor="t">
            <a:spAutoFit/>
          </a:bodyPr>
          <a:lstStyle/>
          <a:p>
            <a:pPr algn="l"/>
            <a:r>
              <a:rPr lang="en-US" sz="1400" b="0" dirty="0">
                <a:solidFill>
                  <a:srgbClr val="D9D2EA"/>
                </a:solidFill>
                <a:latin typeface="Arial"/>
              </a:rPr>
              <a:t>MAVLink </a:t>
            </a:r>
            <a:r>
              <a:rPr sz="1400" b="0" dirty="0">
                <a:solidFill>
                  <a:srgbClr val="D9D2EA"/>
                </a:solidFill>
                <a:latin typeface="Arial"/>
              </a:rPr>
              <a:t>frames </a:t>
            </a:r>
            <a:r>
              <a:rPr lang="en-US" sz="1400" b="0" dirty="0">
                <a:solidFill>
                  <a:srgbClr val="D9D2EA"/>
                </a:solidFill>
                <a:latin typeface="Arial"/>
              </a:rPr>
              <a:t>another</a:t>
            </a:r>
            <a:r>
              <a:rPr sz="1400" b="0" dirty="0">
                <a:solidFill>
                  <a:srgbClr val="D9D2EA"/>
                </a:solidFill>
                <a:latin typeface="Arial"/>
              </a:rPr>
              <a:t> </a:t>
            </a:r>
            <a:r>
              <a:rPr lang="en-US" sz="1400" b="0" dirty="0">
                <a:solidFill>
                  <a:srgbClr val="D9D2EA"/>
                </a:solidFill>
                <a:latin typeface="Arial"/>
              </a:rPr>
              <a:t>vessel</a:t>
            </a:r>
            <a:r>
              <a:rPr sz="1400" b="0" dirty="0">
                <a:solidFill>
                  <a:srgbClr val="D9D2EA"/>
                </a:solidFill>
                <a:latin typeface="Arial"/>
              </a:rPr>
              <a:t> keeps </a:t>
            </a:r>
            <a:r>
              <a:rPr lang="en-US" sz="1400" b="0" dirty="0">
                <a:solidFill>
                  <a:srgbClr val="D9D2EA"/>
                </a:solidFill>
                <a:latin typeface="Arial"/>
              </a:rPr>
              <a:t>emitting</a:t>
            </a:r>
            <a:endParaRPr sz="1400" b="0" dirty="0">
              <a:solidFill>
                <a:srgbClr val="D9D2EA"/>
              </a:solidFill>
              <a:latin typeface="Arial"/>
            </a:endParaRPr>
          </a:p>
        </p:txBody>
      </p:sp>
      <p:sp>
        <p:nvSpPr>
          <p:cNvPr id="2" name="TextBox 1">
            <a:extLst>
              <a:ext uri="{FF2B5EF4-FFF2-40B4-BE49-F238E27FC236}">
                <a16:creationId xmlns:a16="http://schemas.microsoft.com/office/drawing/2014/main" id="{BD7CCEA8-1764-24E6-6BED-437D4E2B2758}"/>
              </a:ext>
            </a:extLst>
          </p:cNvPr>
          <p:cNvSpPr txBox="1"/>
          <p:nvPr/>
        </p:nvSpPr>
        <p:spPr>
          <a:xfrm>
            <a:off x="7498079" y="4754880"/>
            <a:ext cx="1188720" cy="228600"/>
          </a:xfrm>
          <a:prstGeom prst="rect">
            <a:avLst/>
          </a:prstGeom>
          <a:noFill/>
        </p:spPr>
        <p:txBody>
          <a:bodyPr wrap="square" lIns="0" tIns="0" rIns="0" bIns="0" anchor="t">
            <a:spAutoFit/>
          </a:bodyPr>
          <a:lstStyle/>
          <a:p>
            <a:pPr algn="r"/>
            <a:r>
              <a:rPr sz="1000" b="1" dirty="0">
                <a:solidFill>
                  <a:srgbClr val="C9A15F"/>
                </a:solidFill>
                <a:latin typeface="Arial"/>
              </a:rPr>
              <a:t>mapsmessaging.io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TextBox 110"/>
          <p:cNvSpPr txBox="1"/>
          <p:nvPr/>
        </p:nvSpPr>
        <p:spPr>
          <a:xfrm>
            <a:off x="548640" y="1188720"/>
            <a:ext cx="6400800" cy="274320"/>
          </a:xfrm>
          <a:prstGeom prst="rect">
            <a:avLst/>
          </a:prstGeom>
          <a:noFill/>
        </p:spPr>
        <p:txBody>
          <a:bodyPr wrap="square" lIns="0" tIns="0" rIns="0" bIns="0" anchor="t">
            <a:spAutoFit/>
          </a:bodyPr>
          <a:lstStyle/>
          <a:p>
            <a:pPr algn="l"/>
            <a:r>
              <a:rPr sz="1200" b="1">
                <a:solidFill>
                  <a:srgbClr val="321241"/>
                </a:solidFill>
                <a:latin typeface="Arial"/>
              </a:rPr>
              <a:t>THEN THE LINK COMES BACK</a:t>
            </a:r>
          </a:p>
        </p:txBody>
      </p:sp>
      <p:sp>
        <p:nvSpPr>
          <p:cNvPr id="112" name="TextBox 111"/>
          <p:cNvSpPr txBox="1"/>
          <p:nvPr/>
        </p:nvSpPr>
        <p:spPr>
          <a:xfrm>
            <a:off x="548640" y="1600200"/>
            <a:ext cx="6583680" cy="1828800"/>
          </a:xfrm>
          <a:prstGeom prst="rect">
            <a:avLst/>
          </a:prstGeom>
          <a:noFill/>
        </p:spPr>
        <p:txBody>
          <a:bodyPr wrap="square" lIns="0" tIns="0" rIns="0" bIns="0" anchor="t">
            <a:spAutoFit/>
          </a:bodyPr>
          <a:lstStyle/>
          <a:p>
            <a:pPr algn="l"/>
            <a:r>
              <a:rPr sz="4000" b="1">
                <a:solidFill>
                  <a:srgbClr val="1D1722"/>
                </a:solidFill>
                <a:latin typeface="Arial"/>
              </a:rPr>
              <a:t>Which of those messages were delivered?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30"/>
        <p:cNvGrpSpPr/>
        <p:nvPr/>
      </p:nvGrpSpPr>
      <p:grpSpPr>
        <a:xfrm>
          <a:off x="0" y="0"/>
          <a:ext cx="0" cy="0"/>
          <a:chOff x="0" y="0"/>
          <a:chExt cx="0" cy="0"/>
        </a:xfrm>
      </p:grpSpPr>
      <p:sp>
        <p:nvSpPr>
          <p:cNvPr id="131" name="TextBox 130"/>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C9A15F"/>
                </a:solidFill>
                <a:latin typeface="Arial"/>
              </a:rPr>
              <a:t>WHERE THE DATA COMES FROM</a:t>
            </a:r>
          </a:p>
        </p:txBody>
      </p:sp>
      <p:sp>
        <p:nvSpPr>
          <p:cNvPr id="132" name="TextBox 131"/>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FFFFFF"/>
                </a:solidFill>
                <a:latin typeface="Arial"/>
              </a:rPr>
              <a:t>REPMUS: a four-week integration test, at sea</a:t>
            </a:r>
          </a:p>
        </p:txBody>
      </p:sp>
      <p:sp>
        <p:nvSpPr>
          <p:cNvPr id="133" name="Rounded Rectangle 132"/>
          <p:cNvSpPr/>
          <p:nvPr/>
        </p:nvSpPr>
        <p:spPr>
          <a:xfrm>
            <a:off x="457200" y="1481328"/>
            <a:ext cx="1892807" cy="1481328"/>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Box 133"/>
          <p:cNvSpPr txBox="1"/>
          <p:nvPr/>
        </p:nvSpPr>
        <p:spPr>
          <a:xfrm>
            <a:off x="640080" y="1627632"/>
            <a:ext cx="1600200" cy="548640"/>
          </a:xfrm>
          <a:prstGeom prst="rect">
            <a:avLst/>
          </a:prstGeom>
          <a:noFill/>
        </p:spPr>
        <p:txBody>
          <a:bodyPr wrap="square" lIns="0" tIns="0" rIns="0" bIns="0" anchor="t">
            <a:spAutoFit/>
          </a:bodyPr>
          <a:lstStyle/>
          <a:p>
            <a:pPr algn="l"/>
            <a:r>
              <a:rPr sz="2800" b="1">
                <a:solidFill>
                  <a:srgbClr val="FFFFFF"/>
                </a:solidFill>
                <a:latin typeface="Arial"/>
              </a:rPr>
              <a:t>300</a:t>
            </a:r>
          </a:p>
        </p:txBody>
      </p:sp>
      <p:sp>
        <p:nvSpPr>
          <p:cNvPr id="135" name="TextBox 134"/>
          <p:cNvSpPr txBox="1"/>
          <p:nvPr/>
        </p:nvSpPr>
        <p:spPr>
          <a:xfrm>
            <a:off x="640080" y="2212848"/>
            <a:ext cx="1600200" cy="685800"/>
          </a:xfrm>
          <a:prstGeom prst="rect">
            <a:avLst/>
          </a:prstGeom>
          <a:noFill/>
        </p:spPr>
        <p:txBody>
          <a:bodyPr wrap="square" lIns="0" tIns="0" rIns="0" bIns="0" anchor="t">
            <a:spAutoFit/>
          </a:bodyPr>
          <a:lstStyle/>
          <a:p>
            <a:pPr algn="l"/>
            <a:r>
              <a:rPr sz="1200" b="0">
                <a:solidFill>
                  <a:srgbClr val="D9D2EA"/>
                </a:solidFill>
                <a:latin typeface="Arial"/>
              </a:rPr>
              <a:t>uncrewed systems put through their paces</a:t>
            </a:r>
          </a:p>
        </p:txBody>
      </p:sp>
      <p:sp>
        <p:nvSpPr>
          <p:cNvPr id="136" name="Rounded Rectangle 135"/>
          <p:cNvSpPr/>
          <p:nvPr/>
        </p:nvSpPr>
        <p:spPr>
          <a:xfrm>
            <a:off x="2532888" y="1481328"/>
            <a:ext cx="1892807" cy="1481328"/>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Box 136"/>
          <p:cNvSpPr txBox="1"/>
          <p:nvPr/>
        </p:nvSpPr>
        <p:spPr>
          <a:xfrm>
            <a:off x="2715768" y="1627632"/>
            <a:ext cx="1600200" cy="548640"/>
          </a:xfrm>
          <a:prstGeom prst="rect">
            <a:avLst/>
          </a:prstGeom>
          <a:noFill/>
        </p:spPr>
        <p:txBody>
          <a:bodyPr wrap="square" lIns="0" tIns="0" rIns="0" bIns="0" anchor="t">
            <a:spAutoFit/>
          </a:bodyPr>
          <a:lstStyle/>
          <a:p>
            <a:pPr algn="l"/>
            <a:r>
              <a:rPr sz="2800" b="1">
                <a:solidFill>
                  <a:srgbClr val="FFFFFF"/>
                </a:solidFill>
                <a:latin typeface="Arial"/>
              </a:rPr>
              <a:t>36</a:t>
            </a:r>
          </a:p>
        </p:txBody>
      </p:sp>
      <p:sp>
        <p:nvSpPr>
          <p:cNvPr id="138" name="TextBox 137"/>
          <p:cNvSpPr txBox="1"/>
          <p:nvPr/>
        </p:nvSpPr>
        <p:spPr>
          <a:xfrm>
            <a:off x="2715768" y="2212848"/>
            <a:ext cx="1600200" cy="685800"/>
          </a:xfrm>
          <a:prstGeom prst="rect">
            <a:avLst/>
          </a:prstGeom>
          <a:noFill/>
        </p:spPr>
        <p:txBody>
          <a:bodyPr wrap="square" lIns="0" tIns="0" rIns="0" bIns="0" anchor="t">
            <a:spAutoFit/>
          </a:bodyPr>
          <a:lstStyle/>
          <a:p>
            <a:pPr algn="l"/>
            <a:r>
              <a:rPr sz="1200" b="0">
                <a:solidFill>
                  <a:srgbClr val="D9D2EA"/>
                </a:solidFill>
                <a:latin typeface="Arial"/>
              </a:rPr>
              <a:t>navies represented</a:t>
            </a:r>
          </a:p>
        </p:txBody>
      </p:sp>
      <p:sp>
        <p:nvSpPr>
          <p:cNvPr id="139" name="Rounded Rectangle 138"/>
          <p:cNvSpPr/>
          <p:nvPr/>
        </p:nvSpPr>
        <p:spPr>
          <a:xfrm>
            <a:off x="4608576" y="1481328"/>
            <a:ext cx="1892807" cy="1481328"/>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TextBox 139"/>
          <p:cNvSpPr txBox="1"/>
          <p:nvPr/>
        </p:nvSpPr>
        <p:spPr>
          <a:xfrm>
            <a:off x="4791456" y="1627632"/>
            <a:ext cx="1600200" cy="548640"/>
          </a:xfrm>
          <a:prstGeom prst="rect">
            <a:avLst/>
          </a:prstGeom>
          <a:noFill/>
        </p:spPr>
        <p:txBody>
          <a:bodyPr wrap="square" lIns="0" tIns="0" rIns="0" bIns="0" anchor="t">
            <a:spAutoFit/>
          </a:bodyPr>
          <a:lstStyle/>
          <a:p>
            <a:pPr algn="l"/>
            <a:r>
              <a:rPr sz="2800" b="1">
                <a:solidFill>
                  <a:srgbClr val="FFFFFF"/>
                </a:solidFill>
                <a:latin typeface="Arial"/>
              </a:rPr>
              <a:t>3,700+</a:t>
            </a:r>
          </a:p>
        </p:txBody>
      </p:sp>
      <p:sp>
        <p:nvSpPr>
          <p:cNvPr id="141" name="TextBox 140"/>
          <p:cNvSpPr txBox="1"/>
          <p:nvPr/>
        </p:nvSpPr>
        <p:spPr>
          <a:xfrm>
            <a:off x="4791456" y="2212848"/>
            <a:ext cx="1600200" cy="685800"/>
          </a:xfrm>
          <a:prstGeom prst="rect">
            <a:avLst/>
          </a:prstGeom>
          <a:noFill/>
        </p:spPr>
        <p:txBody>
          <a:bodyPr wrap="square" lIns="0" tIns="0" rIns="0" bIns="0" anchor="t">
            <a:spAutoFit/>
          </a:bodyPr>
          <a:lstStyle/>
          <a:p>
            <a:pPr algn="l"/>
            <a:r>
              <a:rPr sz="1200" b="0">
                <a:solidFill>
                  <a:srgbClr val="D9D2EA"/>
                </a:solidFill>
                <a:latin typeface="Arial"/>
              </a:rPr>
              <a:t>participants, and 60 R&amp;D companies</a:t>
            </a:r>
          </a:p>
        </p:txBody>
      </p:sp>
      <p:sp>
        <p:nvSpPr>
          <p:cNvPr id="142" name="Rounded Rectangle 141"/>
          <p:cNvSpPr/>
          <p:nvPr/>
        </p:nvSpPr>
        <p:spPr>
          <a:xfrm>
            <a:off x="6684264" y="1481328"/>
            <a:ext cx="1892807" cy="1481328"/>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Box 142"/>
          <p:cNvSpPr txBox="1"/>
          <p:nvPr/>
        </p:nvSpPr>
        <p:spPr>
          <a:xfrm>
            <a:off x="6867144" y="1627632"/>
            <a:ext cx="1600200" cy="548640"/>
          </a:xfrm>
          <a:prstGeom prst="rect">
            <a:avLst/>
          </a:prstGeom>
          <a:noFill/>
        </p:spPr>
        <p:txBody>
          <a:bodyPr wrap="square" lIns="0" tIns="0" rIns="0" bIns="0" anchor="t">
            <a:spAutoFit/>
          </a:bodyPr>
          <a:lstStyle/>
          <a:p>
            <a:pPr algn="l"/>
            <a:r>
              <a:rPr sz="2800" b="1">
                <a:solidFill>
                  <a:srgbClr val="FFFFFF"/>
                </a:solidFill>
                <a:latin typeface="Arial"/>
              </a:rPr>
              <a:t>4 weeks</a:t>
            </a:r>
          </a:p>
        </p:txBody>
      </p:sp>
      <p:sp>
        <p:nvSpPr>
          <p:cNvPr id="144" name="TextBox 143"/>
          <p:cNvSpPr txBox="1"/>
          <p:nvPr/>
        </p:nvSpPr>
        <p:spPr>
          <a:xfrm>
            <a:off x="6867144" y="2212848"/>
            <a:ext cx="1600200" cy="685800"/>
          </a:xfrm>
          <a:prstGeom prst="rect">
            <a:avLst/>
          </a:prstGeom>
          <a:noFill/>
        </p:spPr>
        <p:txBody>
          <a:bodyPr wrap="square" lIns="0" tIns="0" rIns="0" bIns="0" anchor="t">
            <a:spAutoFit/>
          </a:bodyPr>
          <a:lstStyle/>
          <a:p>
            <a:pPr algn="l"/>
            <a:r>
              <a:rPr sz="1200" b="0">
                <a:solidFill>
                  <a:srgbClr val="D9D2EA"/>
                </a:solidFill>
                <a:latin typeface="Arial"/>
              </a:rPr>
              <a:t>Tróia, Portugal, 31 Aug – 25 Sep 2026</a:t>
            </a:r>
          </a:p>
        </p:txBody>
      </p:sp>
      <p:sp>
        <p:nvSpPr>
          <p:cNvPr id="145" name="TextBox 144"/>
          <p:cNvSpPr txBox="1"/>
          <p:nvPr/>
        </p:nvSpPr>
        <p:spPr>
          <a:xfrm>
            <a:off x="457200" y="3154680"/>
            <a:ext cx="8229600" cy="731520"/>
          </a:xfrm>
          <a:prstGeom prst="rect">
            <a:avLst/>
          </a:prstGeom>
          <a:noFill/>
        </p:spPr>
        <p:txBody>
          <a:bodyPr wrap="square" lIns="0" tIns="0" rIns="0" bIns="0" anchor="t">
            <a:spAutoFit/>
          </a:bodyPr>
          <a:lstStyle/>
          <a:p>
            <a:pPr algn="l"/>
            <a:r>
              <a:rPr sz="1400" b="0">
                <a:solidFill>
                  <a:srgbClr val="D9D2EA"/>
                </a:solidFill>
                <a:latin typeface="Arial"/>
              </a:rPr>
              <a:t>Led by the Portuguese Navy with NATO’s maritime research centre (CMRE). </a:t>
            </a:r>
            <a:r>
              <a:rPr sz="1400" b="1">
                <a:solidFill>
                  <a:srgbClr val="FFFFFF"/>
                </a:solidFill>
                <a:latin typeface="Arial"/>
              </a:rPr>
              <a:t>Drones, boats and command systems from different nations and vendors have to work together, over links that fail.</a:t>
            </a:r>
          </a:p>
        </p:txBody>
      </p:sp>
      <p:sp>
        <p:nvSpPr>
          <p:cNvPr id="146" name="TextBox 145"/>
          <p:cNvSpPr txBox="1"/>
          <p:nvPr/>
        </p:nvSpPr>
        <p:spPr>
          <a:xfrm>
            <a:off x="457200" y="3931920"/>
            <a:ext cx="8229600" cy="400110"/>
          </a:xfrm>
          <a:prstGeom prst="rect">
            <a:avLst/>
          </a:prstGeom>
          <a:noFill/>
        </p:spPr>
        <p:txBody>
          <a:bodyPr wrap="square" lIns="0" tIns="0" rIns="0" bIns="0" anchor="t">
            <a:spAutoFit/>
          </a:bodyPr>
          <a:lstStyle/>
          <a:p>
            <a:pPr algn="l"/>
            <a:r>
              <a:rPr sz="1300" b="1" dirty="0">
                <a:solidFill>
                  <a:srgbClr val="C9A15F"/>
                </a:solidFill>
                <a:latin typeface="Arial"/>
              </a:rPr>
              <a:t>Our part: </a:t>
            </a:r>
            <a:r>
              <a:rPr sz="1300" b="0" dirty="0">
                <a:solidFill>
                  <a:srgbClr val="D9D2EA"/>
                </a:solidFill>
                <a:latin typeface="Arial"/>
              </a:rPr>
              <a:t>a crewed </a:t>
            </a:r>
            <a:r>
              <a:rPr lang="en-US" sz="1300" b="0" dirty="0">
                <a:solidFill>
                  <a:srgbClr val="D9D2EA"/>
                </a:solidFill>
                <a:latin typeface="Arial"/>
              </a:rPr>
              <a:t>vessel</a:t>
            </a:r>
            <a:r>
              <a:rPr sz="1300" b="0" dirty="0">
                <a:solidFill>
                  <a:srgbClr val="D9D2EA"/>
                </a:solidFill>
                <a:latin typeface="Arial"/>
              </a:rPr>
              <a:t> and three uncrewed surface vessels connected into the shared operational picture, taking tasks from two command systems.</a:t>
            </a:r>
          </a:p>
        </p:txBody>
      </p:sp>
      <p:sp>
        <p:nvSpPr>
          <p:cNvPr id="148" name="TextBox 147"/>
          <p:cNvSpPr txBox="1"/>
          <p:nvPr/>
        </p:nvSpPr>
        <p:spPr>
          <a:xfrm>
            <a:off x="7498079" y="4754880"/>
            <a:ext cx="1188720" cy="228600"/>
          </a:xfrm>
          <a:prstGeom prst="rect">
            <a:avLst/>
          </a:prstGeom>
          <a:noFill/>
        </p:spPr>
        <p:txBody>
          <a:bodyPr wrap="square" lIns="0" tIns="0" rIns="0" bIns="0" anchor="t">
            <a:spAutoFit/>
          </a:bodyPr>
          <a:lstStyle/>
          <a:p>
            <a:pPr algn="r"/>
            <a:r>
              <a:rPr sz="1000" b="1" dirty="0">
                <a:solidFill>
                  <a:srgbClr val="C9A15F"/>
                </a:solidFill>
                <a:latin typeface="Arial"/>
              </a:rPr>
              <a:t>mapsmessaging.io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01 · THE TERRAIN</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Many sources, one edge, unreliable links</a:t>
            </a:r>
          </a:p>
        </p:txBody>
      </p:sp>
      <p:sp>
        <p:nvSpPr>
          <p:cNvPr id="141" name="Rounded Rectangle 140"/>
          <p:cNvSpPr/>
          <p:nvPr/>
        </p:nvSpPr>
        <p:spPr>
          <a:xfrm>
            <a:off x="448056" y="1865376"/>
            <a:ext cx="2011680" cy="4114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585216" y="1971088"/>
            <a:ext cx="1828800" cy="200055"/>
          </a:xfrm>
          <a:prstGeom prst="rect">
            <a:avLst/>
          </a:prstGeom>
          <a:noFill/>
        </p:spPr>
        <p:txBody>
          <a:bodyPr wrap="square" lIns="0" tIns="0" rIns="0" bIns="0" anchor="ctr">
            <a:spAutoFit/>
          </a:bodyPr>
          <a:lstStyle/>
          <a:p>
            <a:pPr algn="l"/>
            <a:r>
              <a:rPr sz="1300" b="0" dirty="0">
                <a:solidFill>
                  <a:srgbClr val="1D1722"/>
                </a:solidFill>
                <a:latin typeface="Arial"/>
              </a:rPr>
              <a:t>Drones </a:t>
            </a:r>
            <a:r>
              <a:rPr lang="en-US" sz="1300" b="0" dirty="0">
                <a:solidFill>
                  <a:srgbClr val="1D1722"/>
                </a:solidFill>
                <a:latin typeface="Arial"/>
              </a:rPr>
              <a:t>:</a:t>
            </a:r>
            <a:r>
              <a:rPr sz="1300" b="0" dirty="0">
                <a:solidFill>
                  <a:srgbClr val="1D1722"/>
                </a:solidFill>
                <a:latin typeface="Arial"/>
              </a:rPr>
              <a:t> MAVLink</a:t>
            </a:r>
          </a:p>
        </p:txBody>
      </p:sp>
      <p:sp>
        <p:nvSpPr>
          <p:cNvPr id="143" name="Rounded Rectangle 142"/>
          <p:cNvSpPr/>
          <p:nvPr/>
        </p:nvSpPr>
        <p:spPr>
          <a:xfrm>
            <a:off x="448056" y="2368296"/>
            <a:ext cx="2011680" cy="4114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Box 143"/>
          <p:cNvSpPr txBox="1"/>
          <p:nvPr/>
        </p:nvSpPr>
        <p:spPr>
          <a:xfrm>
            <a:off x="585216" y="2474008"/>
            <a:ext cx="1828800" cy="200055"/>
          </a:xfrm>
          <a:prstGeom prst="rect">
            <a:avLst/>
          </a:prstGeom>
          <a:noFill/>
        </p:spPr>
        <p:txBody>
          <a:bodyPr wrap="square" lIns="0" tIns="0" rIns="0" bIns="0" anchor="ctr">
            <a:spAutoFit/>
          </a:bodyPr>
          <a:lstStyle/>
          <a:p>
            <a:pPr algn="l"/>
            <a:r>
              <a:rPr sz="1300" b="0" dirty="0">
                <a:solidFill>
                  <a:srgbClr val="1D1722"/>
                </a:solidFill>
                <a:latin typeface="Arial"/>
              </a:rPr>
              <a:t>Vessel</a:t>
            </a:r>
            <a:r>
              <a:rPr lang="en-US" sz="1300" b="0" dirty="0">
                <a:solidFill>
                  <a:srgbClr val="1D1722"/>
                </a:solidFill>
                <a:latin typeface="Arial"/>
              </a:rPr>
              <a:t>s</a:t>
            </a:r>
            <a:r>
              <a:rPr sz="1300" b="0" dirty="0">
                <a:solidFill>
                  <a:srgbClr val="1D1722"/>
                </a:solidFill>
                <a:latin typeface="Arial"/>
              </a:rPr>
              <a:t> </a:t>
            </a:r>
            <a:r>
              <a:rPr lang="en-US" sz="1300" dirty="0">
                <a:solidFill>
                  <a:srgbClr val="1D1722"/>
                </a:solidFill>
              </a:rPr>
              <a:t>:</a:t>
            </a:r>
            <a:r>
              <a:rPr sz="1300" b="0" dirty="0">
                <a:solidFill>
                  <a:srgbClr val="1D1722"/>
                </a:solidFill>
                <a:latin typeface="Arial"/>
              </a:rPr>
              <a:t> NMEA 2000</a:t>
            </a:r>
          </a:p>
        </p:txBody>
      </p:sp>
      <p:sp>
        <p:nvSpPr>
          <p:cNvPr id="145" name="Rounded Rectangle 144"/>
          <p:cNvSpPr/>
          <p:nvPr/>
        </p:nvSpPr>
        <p:spPr>
          <a:xfrm>
            <a:off x="448056" y="2871216"/>
            <a:ext cx="2011680" cy="4114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585216" y="2976928"/>
            <a:ext cx="1828800" cy="200055"/>
          </a:xfrm>
          <a:prstGeom prst="rect">
            <a:avLst/>
          </a:prstGeom>
          <a:noFill/>
        </p:spPr>
        <p:txBody>
          <a:bodyPr wrap="square" lIns="0" tIns="0" rIns="0" bIns="0" anchor="ctr">
            <a:spAutoFit/>
          </a:bodyPr>
          <a:lstStyle/>
          <a:p>
            <a:pPr algn="l"/>
            <a:r>
              <a:rPr lang="en-US" sz="1300" b="0" dirty="0">
                <a:solidFill>
                  <a:srgbClr val="1D1722"/>
                </a:solidFill>
                <a:latin typeface="Arial"/>
              </a:rPr>
              <a:t>Sensors</a:t>
            </a:r>
            <a:r>
              <a:rPr sz="1300" b="0" dirty="0">
                <a:solidFill>
                  <a:srgbClr val="1D1722"/>
                </a:solidFill>
                <a:latin typeface="Arial"/>
              </a:rPr>
              <a:t> </a:t>
            </a:r>
            <a:r>
              <a:rPr lang="en-US" sz="1300" b="0" dirty="0">
                <a:solidFill>
                  <a:srgbClr val="1D1722"/>
                </a:solidFill>
                <a:latin typeface="Arial"/>
              </a:rPr>
              <a:t>:</a:t>
            </a:r>
            <a:r>
              <a:rPr sz="1300" b="0" dirty="0">
                <a:solidFill>
                  <a:srgbClr val="1D1722"/>
                </a:solidFill>
                <a:latin typeface="Arial"/>
              </a:rPr>
              <a:t> </a:t>
            </a:r>
            <a:r>
              <a:rPr lang="en-US" sz="1300" b="0" dirty="0">
                <a:solidFill>
                  <a:srgbClr val="1D1722"/>
                </a:solidFill>
                <a:latin typeface="Arial"/>
              </a:rPr>
              <a:t>MQTT / CoAP</a:t>
            </a:r>
            <a:endParaRPr sz="1300" b="0" dirty="0">
              <a:solidFill>
                <a:srgbClr val="1D1722"/>
              </a:solidFill>
              <a:latin typeface="Arial"/>
            </a:endParaRPr>
          </a:p>
        </p:txBody>
      </p:sp>
      <p:sp>
        <p:nvSpPr>
          <p:cNvPr id="149" name="Right Arrow 148"/>
          <p:cNvSpPr/>
          <p:nvPr/>
        </p:nvSpPr>
        <p:spPr>
          <a:xfrm>
            <a:off x="2523744" y="246888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149"/>
          <p:cNvSpPr/>
          <p:nvPr/>
        </p:nvSpPr>
        <p:spPr>
          <a:xfrm>
            <a:off x="2788920" y="1737360"/>
            <a:ext cx="1554480" cy="1691640"/>
          </a:xfrm>
          <a:prstGeom prst="roundRect">
            <a:avLst>
              <a:gd name="adj" fmla="val 8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TextBox 150"/>
          <p:cNvSpPr txBox="1"/>
          <p:nvPr/>
        </p:nvSpPr>
        <p:spPr>
          <a:xfrm>
            <a:off x="2926080" y="1920240"/>
            <a:ext cx="1280160" cy="430887"/>
          </a:xfrm>
          <a:prstGeom prst="rect">
            <a:avLst/>
          </a:prstGeom>
          <a:noFill/>
        </p:spPr>
        <p:txBody>
          <a:bodyPr wrap="square" lIns="0" tIns="0" rIns="0" bIns="0" anchor="t">
            <a:spAutoFit/>
          </a:bodyPr>
          <a:lstStyle/>
          <a:p>
            <a:pPr algn="ctr"/>
            <a:r>
              <a:rPr lang="en-US" b="1" dirty="0">
                <a:solidFill>
                  <a:srgbClr val="FFFFFF"/>
                </a:solidFill>
                <a:latin typeface="Arial"/>
              </a:rPr>
              <a:t>MAPS </a:t>
            </a:r>
            <a:r>
              <a:rPr b="1" dirty="0">
                <a:solidFill>
                  <a:srgbClr val="FFFFFF"/>
                </a:solidFill>
                <a:latin typeface="Arial"/>
              </a:rPr>
              <a:t>Edge node</a:t>
            </a:r>
          </a:p>
        </p:txBody>
      </p:sp>
      <p:sp>
        <p:nvSpPr>
          <p:cNvPr id="152" name="TextBox 151"/>
          <p:cNvSpPr txBox="1"/>
          <p:nvPr/>
        </p:nvSpPr>
        <p:spPr>
          <a:xfrm>
            <a:off x="2948940" y="2459176"/>
            <a:ext cx="1280160" cy="1005840"/>
          </a:xfrm>
          <a:prstGeom prst="rect">
            <a:avLst/>
          </a:prstGeom>
          <a:noFill/>
        </p:spPr>
        <p:txBody>
          <a:bodyPr wrap="square" lIns="0" tIns="0" rIns="0" bIns="0" anchor="t">
            <a:spAutoFit/>
          </a:bodyPr>
          <a:lstStyle/>
          <a:p>
            <a:pPr algn="l"/>
            <a:r>
              <a:rPr sz="1200" b="0" dirty="0">
                <a:solidFill>
                  <a:srgbClr val="D9D2EA"/>
                </a:solidFill>
                <a:latin typeface="Arial"/>
              </a:rPr>
              <a:t>Mediates, buffers, decides what leaves</a:t>
            </a:r>
          </a:p>
        </p:txBody>
      </p:sp>
      <p:sp>
        <p:nvSpPr>
          <p:cNvPr id="153" name="Right Arrow 152"/>
          <p:cNvSpPr/>
          <p:nvPr/>
        </p:nvSpPr>
        <p:spPr>
          <a:xfrm>
            <a:off x="4389120" y="246888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153"/>
          <p:cNvSpPr/>
          <p:nvPr/>
        </p:nvSpPr>
        <p:spPr>
          <a:xfrm>
            <a:off x="4663440" y="1600200"/>
            <a:ext cx="2331720" cy="411480"/>
          </a:xfrm>
          <a:prstGeom prst="roundRect">
            <a:avLst>
              <a:gd name="adj" fmla="val 8000"/>
            </a:avLst>
          </a:prstGeom>
          <a:solidFill>
            <a:srgbClr val="FFFFFF"/>
          </a:solidFill>
          <a:ln w="12700">
            <a:solidFill>
              <a:srgbClr val="8FBC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Rounded Rectangle 155"/>
          <p:cNvSpPr/>
          <p:nvPr/>
        </p:nvSpPr>
        <p:spPr>
          <a:xfrm>
            <a:off x="4663440" y="2103120"/>
            <a:ext cx="2331720" cy="411480"/>
          </a:xfrm>
          <a:prstGeom prst="roundRect">
            <a:avLst>
              <a:gd name="adj" fmla="val 8000"/>
            </a:avLst>
          </a:prstGeom>
          <a:solidFill>
            <a:srgbClr val="FFFFFF"/>
          </a:solidFill>
          <a:ln w="12700">
            <a:solidFill>
              <a:srgbClr val="8FBC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TextBox 156"/>
          <p:cNvSpPr txBox="1"/>
          <p:nvPr/>
        </p:nvSpPr>
        <p:spPr>
          <a:xfrm>
            <a:off x="4773168" y="1612344"/>
            <a:ext cx="2148840" cy="369332"/>
          </a:xfrm>
          <a:prstGeom prst="rect">
            <a:avLst/>
          </a:prstGeom>
          <a:noFill/>
        </p:spPr>
        <p:txBody>
          <a:bodyPr wrap="square" lIns="0" tIns="0" rIns="0" bIns="0" anchor="ctr">
            <a:spAutoFit/>
          </a:bodyPr>
          <a:lstStyle/>
          <a:p>
            <a:pPr algn="l"/>
            <a:r>
              <a:rPr sz="1200" b="1" dirty="0">
                <a:solidFill>
                  <a:srgbClr val="1D1722"/>
                </a:solidFill>
                <a:latin typeface="Arial"/>
              </a:rPr>
              <a:t>Starlink</a:t>
            </a:r>
            <a:r>
              <a:rPr sz="1200" b="0" dirty="0">
                <a:solidFill>
                  <a:srgbClr val="4A4458"/>
                </a:solidFill>
                <a:latin typeface="Arial"/>
              </a:rPr>
              <a:t> </a:t>
            </a:r>
            <a:r>
              <a:rPr lang="en-US" sz="1200" b="0" dirty="0">
                <a:solidFill>
                  <a:srgbClr val="4A4458"/>
                </a:solidFill>
                <a:latin typeface="Arial"/>
              </a:rPr>
              <a:t>:</a:t>
            </a:r>
            <a:r>
              <a:rPr sz="1200" b="0" dirty="0">
                <a:solidFill>
                  <a:srgbClr val="4A4458"/>
                </a:solidFill>
                <a:latin typeface="Arial"/>
              </a:rPr>
              <a:t> drones, vessels offshore</a:t>
            </a:r>
          </a:p>
        </p:txBody>
      </p:sp>
      <p:sp>
        <p:nvSpPr>
          <p:cNvPr id="158" name="Rounded Rectangle 157"/>
          <p:cNvSpPr/>
          <p:nvPr/>
        </p:nvSpPr>
        <p:spPr>
          <a:xfrm>
            <a:off x="4663440" y="2606040"/>
            <a:ext cx="2331720" cy="411480"/>
          </a:xfrm>
          <a:prstGeom prst="roundRect">
            <a:avLst>
              <a:gd name="adj" fmla="val 8000"/>
            </a:avLst>
          </a:prstGeom>
          <a:solidFill>
            <a:srgbClr val="FFFFFF"/>
          </a:solidFill>
          <a:ln w="12700">
            <a:solidFill>
              <a:srgbClr val="8FBC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Box 158"/>
          <p:cNvSpPr txBox="1"/>
          <p:nvPr/>
        </p:nvSpPr>
        <p:spPr>
          <a:xfrm>
            <a:off x="4773168" y="2719447"/>
            <a:ext cx="2148840" cy="184666"/>
          </a:xfrm>
          <a:prstGeom prst="rect">
            <a:avLst/>
          </a:prstGeom>
          <a:noFill/>
        </p:spPr>
        <p:txBody>
          <a:bodyPr wrap="square" lIns="0" tIns="0" rIns="0" bIns="0" anchor="ctr">
            <a:spAutoFit/>
          </a:bodyPr>
          <a:lstStyle/>
          <a:p>
            <a:pPr algn="l"/>
            <a:r>
              <a:rPr sz="1200" b="1" dirty="0">
                <a:solidFill>
                  <a:srgbClr val="1D1722"/>
                </a:solidFill>
                <a:latin typeface="Arial"/>
              </a:rPr>
              <a:t>IoT Nano</a:t>
            </a:r>
            <a:r>
              <a:rPr sz="1200" b="0" dirty="0">
                <a:solidFill>
                  <a:srgbClr val="4A4458"/>
                </a:solidFill>
                <a:latin typeface="Arial"/>
              </a:rPr>
              <a:t> </a:t>
            </a:r>
            <a:r>
              <a:rPr lang="en-US" sz="1200" b="0" dirty="0">
                <a:solidFill>
                  <a:srgbClr val="4A4458"/>
                </a:solidFill>
                <a:latin typeface="Arial"/>
              </a:rPr>
              <a:t>:</a:t>
            </a:r>
            <a:r>
              <a:rPr sz="1200" b="0" dirty="0">
                <a:solidFill>
                  <a:srgbClr val="4A4458"/>
                </a:solidFill>
                <a:latin typeface="Arial"/>
              </a:rPr>
              <a:t> narrowband L-band</a:t>
            </a:r>
          </a:p>
        </p:txBody>
      </p:sp>
      <p:sp>
        <p:nvSpPr>
          <p:cNvPr id="160" name="Rounded Rectangle 159"/>
          <p:cNvSpPr/>
          <p:nvPr/>
        </p:nvSpPr>
        <p:spPr>
          <a:xfrm>
            <a:off x="4663440" y="3108960"/>
            <a:ext cx="2331720" cy="411480"/>
          </a:xfrm>
          <a:prstGeom prst="roundRect">
            <a:avLst>
              <a:gd name="adj" fmla="val 8000"/>
            </a:avLst>
          </a:prstGeom>
          <a:solidFill>
            <a:srgbClr val="FFFFFF"/>
          </a:solidFill>
          <a:ln w="12700">
            <a:solidFill>
              <a:srgbClr val="7A72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TextBox 160"/>
          <p:cNvSpPr txBox="1"/>
          <p:nvPr/>
        </p:nvSpPr>
        <p:spPr>
          <a:xfrm>
            <a:off x="4773168" y="3222367"/>
            <a:ext cx="2148840" cy="184666"/>
          </a:xfrm>
          <a:prstGeom prst="rect">
            <a:avLst/>
          </a:prstGeom>
          <a:noFill/>
        </p:spPr>
        <p:txBody>
          <a:bodyPr wrap="square" lIns="0" tIns="0" rIns="0" bIns="0" anchor="ctr">
            <a:spAutoFit/>
          </a:bodyPr>
          <a:lstStyle/>
          <a:p>
            <a:pPr algn="l"/>
            <a:r>
              <a:rPr sz="1200" b="1" dirty="0">
                <a:solidFill>
                  <a:srgbClr val="1D1722"/>
                </a:solidFill>
                <a:latin typeface="Arial"/>
              </a:rPr>
              <a:t>Nothing</a:t>
            </a:r>
            <a:r>
              <a:rPr sz="1200" b="0" dirty="0">
                <a:solidFill>
                  <a:srgbClr val="4A4458"/>
                </a:solidFill>
                <a:latin typeface="Arial"/>
              </a:rPr>
              <a:t> </a:t>
            </a:r>
            <a:r>
              <a:rPr lang="en-US" sz="1200" b="0" dirty="0">
                <a:solidFill>
                  <a:srgbClr val="4A4458"/>
                </a:solidFill>
                <a:latin typeface="Arial"/>
              </a:rPr>
              <a:t>:</a:t>
            </a:r>
            <a:r>
              <a:rPr sz="1200" b="0" dirty="0">
                <a:solidFill>
                  <a:srgbClr val="4A4458"/>
                </a:solidFill>
                <a:latin typeface="Arial"/>
              </a:rPr>
              <a:t> for </a:t>
            </a:r>
            <a:r>
              <a:rPr lang="en-US" sz="1200" b="0" dirty="0">
                <a:solidFill>
                  <a:srgbClr val="4A4458"/>
                </a:solidFill>
                <a:latin typeface="Arial"/>
              </a:rPr>
              <a:t>minutes to </a:t>
            </a:r>
            <a:r>
              <a:rPr sz="1200" b="0" dirty="0">
                <a:solidFill>
                  <a:srgbClr val="4A4458"/>
                </a:solidFill>
                <a:latin typeface="Arial"/>
              </a:rPr>
              <a:t>hours</a:t>
            </a:r>
          </a:p>
        </p:txBody>
      </p:sp>
      <p:sp>
        <p:nvSpPr>
          <p:cNvPr id="162" name="Right Arrow 161"/>
          <p:cNvSpPr/>
          <p:nvPr/>
        </p:nvSpPr>
        <p:spPr>
          <a:xfrm>
            <a:off x="7050024" y="246888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ounded Rectangle 162"/>
          <p:cNvSpPr/>
          <p:nvPr/>
        </p:nvSpPr>
        <p:spPr>
          <a:xfrm>
            <a:off x="7315200" y="1737360"/>
            <a:ext cx="1325880" cy="197104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TextBox 163"/>
          <p:cNvSpPr txBox="1"/>
          <p:nvPr/>
        </p:nvSpPr>
        <p:spPr>
          <a:xfrm>
            <a:off x="7452360" y="1920240"/>
            <a:ext cx="1097280" cy="320040"/>
          </a:xfrm>
          <a:prstGeom prst="rect">
            <a:avLst/>
          </a:prstGeom>
          <a:noFill/>
        </p:spPr>
        <p:txBody>
          <a:bodyPr wrap="square" lIns="0" tIns="0" rIns="0" bIns="0" anchor="t">
            <a:spAutoFit/>
          </a:bodyPr>
          <a:lstStyle/>
          <a:p>
            <a:pPr algn="l"/>
            <a:r>
              <a:rPr sz="1600" b="1">
                <a:solidFill>
                  <a:srgbClr val="1D1722"/>
                </a:solidFill>
                <a:latin typeface="Arial"/>
              </a:rPr>
              <a:t>Shore</a:t>
            </a:r>
          </a:p>
        </p:txBody>
      </p:sp>
      <p:sp>
        <p:nvSpPr>
          <p:cNvPr id="165" name="TextBox 164"/>
          <p:cNvSpPr txBox="1"/>
          <p:nvPr/>
        </p:nvSpPr>
        <p:spPr>
          <a:xfrm>
            <a:off x="7452360" y="2331720"/>
            <a:ext cx="1097280" cy="1292662"/>
          </a:xfrm>
          <a:prstGeom prst="rect">
            <a:avLst/>
          </a:prstGeom>
          <a:noFill/>
        </p:spPr>
        <p:txBody>
          <a:bodyPr wrap="square" lIns="0" tIns="0" rIns="0" bIns="0" anchor="t">
            <a:spAutoFit/>
          </a:bodyPr>
          <a:lstStyle/>
          <a:p>
            <a:pPr algn="l"/>
            <a:r>
              <a:rPr sz="1200" b="0" dirty="0">
                <a:solidFill>
                  <a:srgbClr val="4A4458"/>
                </a:solidFill>
                <a:latin typeface="Arial"/>
              </a:rPr>
              <a:t>C</a:t>
            </a:r>
            <a:r>
              <a:rPr lang="en-US" sz="1200" b="0" dirty="0">
                <a:solidFill>
                  <a:srgbClr val="4A4458"/>
                </a:solidFill>
                <a:latin typeface="Arial"/>
              </a:rPr>
              <a:t>ommand Systems (Proprietary or NATO STANAG 4817)</a:t>
            </a:r>
          </a:p>
          <a:p>
            <a:pPr algn="l"/>
            <a:endParaRPr lang="en-US" sz="1200" b="0" dirty="0">
              <a:solidFill>
                <a:srgbClr val="4A4458"/>
              </a:solidFill>
              <a:latin typeface="Arial"/>
            </a:endParaRPr>
          </a:p>
          <a:p>
            <a:pPr algn="l"/>
            <a:r>
              <a:rPr lang="en-GR" sz="1200" dirty="0">
                <a:solidFill>
                  <a:srgbClr val="4A4458"/>
                </a:solidFill>
              </a:rPr>
              <a:t>Your Broker</a:t>
            </a:r>
            <a:endParaRPr sz="1200" b="0" dirty="0">
              <a:solidFill>
                <a:srgbClr val="4A4458"/>
              </a:solidFill>
              <a:latin typeface="Arial"/>
            </a:endParaRPr>
          </a:p>
        </p:txBody>
      </p:sp>
      <p:sp>
        <p:nvSpPr>
          <p:cNvPr id="166" name="TextBox 165"/>
          <p:cNvSpPr txBox="1"/>
          <p:nvPr/>
        </p:nvSpPr>
        <p:spPr>
          <a:xfrm>
            <a:off x="457200" y="3840480"/>
            <a:ext cx="8138160" cy="640080"/>
          </a:xfrm>
          <a:prstGeom prst="rect">
            <a:avLst/>
          </a:prstGeom>
          <a:noFill/>
        </p:spPr>
        <p:txBody>
          <a:bodyPr wrap="square" lIns="0" tIns="0" rIns="0" bIns="0" anchor="t">
            <a:spAutoFit/>
          </a:bodyPr>
          <a:lstStyle/>
          <a:p>
            <a:pPr algn="l"/>
            <a:r>
              <a:rPr sz="1600" b="1">
                <a:solidFill>
                  <a:srgbClr val="1D1722"/>
                </a:solidFill>
                <a:latin typeface="Arial"/>
              </a:rPr>
              <a:t>Different protocols, schemas and guarantees on one side. A link you cannot trust on the other.</a:t>
            </a:r>
          </a:p>
        </p:txBody>
      </p:sp>
      <p:sp>
        <p:nvSpPr>
          <p:cNvPr id="167" name="TextBox 166"/>
          <p:cNvSpPr txBox="1"/>
          <p:nvPr/>
        </p:nvSpPr>
        <p:spPr>
          <a:xfrm>
            <a:off x="457200" y="4754880"/>
            <a:ext cx="8138160" cy="228600"/>
          </a:xfrm>
          <a:prstGeom prst="rect">
            <a:avLst/>
          </a:prstGeom>
          <a:noFill/>
        </p:spPr>
        <p:txBody>
          <a:bodyPr wrap="square" lIns="0" tIns="0" rIns="0" bIns="0" anchor="t">
            <a:spAutoFit/>
          </a:bodyPr>
          <a:lstStyle/>
          <a:p>
            <a:pPr algn="l"/>
            <a:r>
              <a:rPr sz="1000" b="0" dirty="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2ED5CA42-F326-A4B5-8084-A9EA12A0ED00}"/>
              </a:ext>
            </a:extLst>
          </p:cNvPr>
          <p:cNvPicPr>
            <a:picLocks noChangeAspect="1"/>
          </p:cNvPicPr>
          <p:nvPr/>
        </p:nvPicPr>
        <p:blipFill>
          <a:blip r:embed="rId4"/>
          <a:stretch>
            <a:fillRect/>
          </a:stretch>
        </p:blipFill>
        <p:spPr>
          <a:xfrm>
            <a:off x="7403469" y="4543222"/>
            <a:ext cx="1237611" cy="466166"/>
          </a:xfrm>
          <a:prstGeom prst="rect">
            <a:avLst/>
          </a:prstGeom>
        </p:spPr>
      </p:pic>
      <p:sp>
        <p:nvSpPr>
          <p:cNvPr id="155" name="TextBox 154"/>
          <p:cNvSpPr txBox="1"/>
          <p:nvPr/>
        </p:nvSpPr>
        <p:spPr>
          <a:xfrm>
            <a:off x="4754880" y="2203319"/>
            <a:ext cx="2148840" cy="184666"/>
          </a:xfrm>
          <a:prstGeom prst="rect">
            <a:avLst/>
          </a:prstGeom>
          <a:noFill/>
        </p:spPr>
        <p:txBody>
          <a:bodyPr wrap="square" lIns="0" tIns="0" rIns="0" bIns="0" anchor="ctr">
            <a:spAutoFit/>
          </a:bodyPr>
          <a:lstStyle/>
          <a:p>
            <a:pPr algn="l"/>
            <a:r>
              <a:rPr sz="1200" b="1" dirty="0">
                <a:solidFill>
                  <a:srgbClr val="1D1722"/>
                </a:solidFill>
                <a:latin typeface="Arial"/>
              </a:rPr>
              <a:t>LTE</a:t>
            </a:r>
            <a:r>
              <a:rPr sz="1200" b="0" dirty="0">
                <a:solidFill>
                  <a:srgbClr val="4A4458"/>
                </a:solidFill>
                <a:latin typeface="Arial"/>
              </a:rPr>
              <a:t> </a:t>
            </a:r>
            <a:r>
              <a:rPr lang="en-US" sz="1200" b="0" dirty="0">
                <a:solidFill>
                  <a:srgbClr val="4A4458"/>
                </a:solidFill>
                <a:latin typeface="Arial"/>
              </a:rPr>
              <a:t>:</a:t>
            </a:r>
            <a:r>
              <a:rPr sz="1200" b="0" dirty="0">
                <a:solidFill>
                  <a:srgbClr val="4A4458"/>
                </a:solidFill>
                <a:latin typeface="Arial"/>
              </a:rPr>
              <a:t> drones, near shore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01 · THE TERRAIN</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Three orders of magnitude between links</a:t>
            </a:r>
          </a:p>
        </p:txBody>
      </p:sp>
      <p:graphicFrame>
        <p:nvGraphicFramePr>
          <p:cNvPr id="141" name="Table 140"/>
          <p:cNvGraphicFramePr>
            <a:graphicFrameLocks noGrp="1"/>
          </p:cNvGraphicFramePr>
          <p:nvPr/>
        </p:nvGraphicFramePr>
        <p:xfrm>
          <a:off x="457200" y="1627632"/>
          <a:ext cx="8229600" cy="22860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892808">
                  <a:extLst>
                    <a:ext uri="{9D8B030D-6E8A-4147-A177-3AD203B41FA5}">
                      <a16:colId xmlns:a16="http://schemas.microsoft.com/office/drawing/2014/main" val="20001"/>
                    </a:ext>
                  </a:extLst>
                </a:gridCol>
                <a:gridCol w="1975104">
                  <a:extLst>
                    <a:ext uri="{9D8B030D-6E8A-4147-A177-3AD203B41FA5}">
                      <a16:colId xmlns:a16="http://schemas.microsoft.com/office/drawing/2014/main" val="20002"/>
                    </a:ext>
                  </a:extLst>
                </a:gridCol>
                <a:gridCol w="2304288">
                  <a:extLst>
                    <a:ext uri="{9D8B030D-6E8A-4147-A177-3AD203B41FA5}">
                      <a16:colId xmlns:a16="http://schemas.microsoft.com/office/drawing/2014/main" val="20003"/>
                    </a:ext>
                  </a:extLst>
                </a:gridCol>
              </a:tblGrid>
              <a:tr h="457200">
                <a:tc>
                  <a:txBody>
                    <a:bodyPr/>
                    <a:lstStyle/>
                    <a:p>
                      <a:r>
                        <a:rPr sz="1200" b="1">
                          <a:solidFill>
                            <a:srgbClr val="FFFFFF"/>
                          </a:solidFill>
                          <a:latin typeface="Arial"/>
                        </a:rPr>
                        <a:t>Link</a:t>
                      </a:r>
                    </a:p>
                  </a:txBody>
                  <a:tcPr marT="36576" marB="36576" anchor="ctr">
                    <a:solidFill>
                      <a:srgbClr val="321241"/>
                    </a:solidFill>
                  </a:tcPr>
                </a:tc>
                <a:tc>
                  <a:txBody>
                    <a:bodyPr/>
                    <a:lstStyle/>
                    <a:p>
                      <a:r>
                        <a:rPr sz="1200" b="1">
                          <a:solidFill>
                            <a:srgbClr val="FFFFFF"/>
                          </a:solidFill>
                          <a:latin typeface="Arial"/>
                        </a:rPr>
                        <a:t>Used by</a:t>
                      </a:r>
                    </a:p>
                  </a:txBody>
                  <a:tcPr marT="36576" marB="36576" anchor="ctr">
                    <a:solidFill>
                      <a:srgbClr val="321241"/>
                    </a:solidFill>
                  </a:tcPr>
                </a:tc>
                <a:tc>
                  <a:txBody>
                    <a:bodyPr/>
                    <a:lstStyle/>
                    <a:p>
                      <a:r>
                        <a:rPr sz="1200" b="1">
                          <a:solidFill>
                            <a:srgbClr val="FFFFFF"/>
                          </a:solidFill>
                          <a:latin typeface="Arial"/>
                        </a:rPr>
                        <a:t>Typical latency</a:t>
                      </a:r>
                    </a:p>
                  </a:txBody>
                  <a:tcPr marT="36576" marB="36576" anchor="ctr">
                    <a:solidFill>
                      <a:srgbClr val="321241"/>
                    </a:solidFill>
                  </a:tcPr>
                </a:tc>
                <a:tc>
                  <a:txBody>
                    <a:bodyPr/>
                    <a:lstStyle/>
                    <a:p>
                      <a:r>
                        <a:rPr sz="1200" b="1">
                          <a:solidFill>
                            <a:srgbClr val="FFFFFF"/>
                          </a:solidFill>
                          <a:latin typeface="Arial"/>
                        </a:rPr>
                        <a:t>What it means</a:t>
                      </a:r>
                    </a:p>
                  </a:txBody>
                  <a:tcPr marT="36576" marB="36576" anchor="ctr">
                    <a:solidFill>
                      <a:srgbClr val="321241"/>
                    </a:solidFill>
                  </a:tcPr>
                </a:tc>
                <a:extLst>
                  <a:ext uri="{0D108BD9-81ED-4DB2-BD59-A6C34878D82A}">
                    <a16:rowId xmlns:a16="http://schemas.microsoft.com/office/drawing/2014/main" val="10000"/>
                  </a:ext>
                </a:extLst>
              </a:tr>
              <a:tr h="457200">
                <a:tc>
                  <a:txBody>
                    <a:bodyPr/>
                    <a:lstStyle/>
                    <a:p>
                      <a:r>
                        <a:rPr sz="1200" b="1">
                          <a:solidFill>
                            <a:srgbClr val="1D1722"/>
                          </a:solidFill>
                          <a:latin typeface="Arial"/>
                        </a:rPr>
                        <a:t>LTE</a:t>
                      </a:r>
                    </a:p>
                  </a:txBody>
                  <a:tcPr marT="36576" marB="36576" anchor="ctr">
                    <a:solidFill>
                      <a:srgbClr val="FFFFFF"/>
                    </a:solidFill>
                  </a:tcPr>
                </a:tc>
                <a:tc>
                  <a:txBody>
                    <a:bodyPr/>
                    <a:lstStyle/>
                    <a:p>
                      <a:r>
                        <a:rPr sz="1200" b="0">
                          <a:solidFill>
                            <a:srgbClr val="4A4458"/>
                          </a:solidFill>
                          <a:latin typeface="Arial"/>
                        </a:rPr>
                        <a:t>Drones, vessels near shore</a:t>
                      </a:r>
                    </a:p>
                  </a:txBody>
                  <a:tcPr marT="36576" marB="36576" anchor="ctr">
                    <a:solidFill>
                      <a:srgbClr val="FFFFFF"/>
                    </a:solidFill>
                  </a:tcPr>
                </a:tc>
                <a:tc>
                  <a:txBody>
                    <a:bodyPr/>
                    <a:lstStyle/>
                    <a:p>
                      <a:r>
                        <a:rPr sz="1200" b="0">
                          <a:solidFill>
                            <a:srgbClr val="4A4458"/>
                          </a:solidFill>
                          <a:latin typeface="Arial"/>
                        </a:rPr>
                        <a:t>~35–50 ms median</a:t>
                      </a:r>
                    </a:p>
                  </a:txBody>
                  <a:tcPr marT="36576" marB="36576" anchor="ctr">
                    <a:solidFill>
                      <a:srgbClr val="FFFFFF"/>
                    </a:solidFill>
                  </a:tcPr>
                </a:tc>
                <a:tc>
                  <a:txBody>
                    <a:bodyPr/>
                    <a:lstStyle/>
                    <a:p>
                      <a:r>
                        <a:rPr sz="1200" b="0">
                          <a:solidFill>
                            <a:srgbClr val="4A4458"/>
                          </a:solidFill>
                          <a:latin typeface="Arial"/>
                        </a:rPr>
                        <a:t>Fast, until the coast is out of range</a:t>
                      </a:r>
                    </a:p>
                  </a:txBody>
                  <a:tcPr marT="36576" marB="36576" anchor="ctr">
                    <a:solidFill>
                      <a:srgbClr val="FFFFFF"/>
                    </a:solidFill>
                  </a:tcPr>
                </a:tc>
                <a:extLst>
                  <a:ext uri="{0D108BD9-81ED-4DB2-BD59-A6C34878D82A}">
                    <a16:rowId xmlns:a16="http://schemas.microsoft.com/office/drawing/2014/main" val="10001"/>
                  </a:ext>
                </a:extLst>
              </a:tr>
              <a:tr h="457200">
                <a:tc>
                  <a:txBody>
                    <a:bodyPr/>
                    <a:lstStyle/>
                    <a:p>
                      <a:r>
                        <a:rPr sz="1200" b="1">
                          <a:solidFill>
                            <a:srgbClr val="1D1722"/>
                          </a:solidFill>
                          <a:latin typeface="Arial"/>
                        </a:rPr>
                        <a:t>Starlink</a:t>
                      </a:r>
                    </a:p>
                  </a:txBody>
                  <a:tcPr marT="36576" marB="36576" anchor="ctr">
                    <a:solidFill>
                      <a:srgbClr val="F4F1FA"/>
                    </a:solidFill>
                  </a:tcPr>
                </a:tc>
                <a:tc>
                  <a:txBody>
                    <a:bodyPr/>
                    <a:lstStyle/>
                    <a:p>
                      <a:r>
                        <a:rPr sz="1200" b="0">
                          <a:solidFill>
                            <a:srgbClr val="4A4458"/>
                          </a:solidFill>
                          <a:latin typeface="Arial"/>
                        </a:rPr>
                        <a:t>Drones, vessels offshore</a:t>
                      </a:r>
                    </a:p>
                  </a:txBody>
                  <a:tcPr marT="36576" marB="36576" anchor="ctr">
                    <a:solidFill>
                      <a:srgbClr val="F4F1FA"/>
                    </a:solidFill>
                  </a:tcPr>
                </a:tc>
                <a:tc>
                  <a:txBody>
                    <a:bodyPr/>
                    <a:lstStyle/>
                    <a:p>
                      <a:r>
                        <a:rPr sz="1200" b="0">
                          <a:solidFill>
                            <a:srgbClr val="4A4458"/>
                          </a:solidFill>
                          <a:latin typeface="Arial"/>
                        </a:rPr>
                        <a:t>41–144 ms median (Europe)</a:t>
                      </a:r>
                    </a:p>
                  </a:txBody>
                  <a:tcPr marT="36576" marB="36576" anchor="ctr">
                    <a:solidFill>
                      <a:srgbClr val="F4F1FA"/>
                    </a:solidFill>
                  </a:tcPr>
                </a:tc>
                <a:tc>
                  <a:txBody>
                    <a:bodyPr/>
                    <a:lstStyle/>
                    <a:p>
                      <a:r>
                        <a:rPr sz="1200" b="0">
                          <a:solidFill>
                            <a:srgbClr val="4A4458"/>
                          </a:solidFill>
                          <a:latin typeface="Arial"/>
                        </a:rPr>
                        <a:t>Broadband, with obstructions and handovers</a:t>
                      </a:r>
                    </a:p>
                  </a:txBody>
                  <a:tcPr marT="36576" marB="36576" anchor="ctr">
                    <a:solidFill>
                      <a:srgbClr val="F4F1FA"/>
                    </a:solidFill>
                  </a:tcPr>
                </a:tc>
                <a:extLst>
                  <a:ext uri="{0D108BD9-81ED-4DB2-BD59-A6C34878D82A}">
                    <a16:rowId xmlns:a16="http://schemas.microsoft.com/office/drawing/2014/main" val="10002"/>
                  </a:ext>
                </a:extLst>
              </a:tr>
              <a:tr h="457200">
                <a:tc>
                  <a:txBody>
                    <a:bodyPr/>
                    <a:lstStyle/>
                    <a:p>
                      <a:r>
                        <a:rPr sz="1200" b="1">
                          <a:solidFill>
                            <a:srgbClr val="1D1722"/>
                          </a:solidFill>
                          <a:latin typeface="Arial"/>
                        </a:rPr>
                        <a:t>Viasat IoT Nano (Orbcomm STx)</a:t>
                      </a:r>
                    </a:p>
                  </a:txBody>
                  <a:tcPr marT="36576" marB="36576" anchor="ctr">
                    <a:solidFill>
                      <a:srgbClr val="FFFFFF"/>
                    </a:solidFill>
                  </a:tcPr>
                </a:tc>
                <a:tc>
                  <a:txBody>
                    <a:bodyPr/>
                    <a:lstStyle/>
                    <a:p>
                      <a:r>
                        <a:rPr sz="1200" b="0">
                          <a:solidFill>
                            <a:srgbClr val="4A4458"/>
                          </a:solidFill>
                          <a:latin typeface="Arial"/>
                        </a:rPr>
                        <a:t>Fallback for vessels and buoys</a:t>
                      </a:r>
                    </a:p>
                  </a:txBody>
                  <a:tcPr marT="36576" marB="36576" anchor="ctr">
                    <a:solidFill>
                      <a:srgbClr val="FFFFFF"/>
                    </a:solidFill>
                  </a:tcPr>
                </a:tc>
                <a:tc>
                  <a:txBody>
                    <a:bodyPr/>
                    <a:lstStyle/>
                    <a:p>
                      <a:r>
                        <a:rPr sz="1200" b="0">
                          <a:solidFill>
                            <a:srgbClr val="4A4458"/>
                          </a:solidFill>
                          <a:latin typeface="Arial"/>
                        </a:rPr>
                        <a:t>&lt;15 s small messages; 15–60 s</a:t>
                      </a:r>
                    </a:p>
                  </a:txBody>
                  <a:tcPr marT="36576" marB="36576" anchor="ctr">
                    <a:solidFill>
                      <a:srgbClr val="FFFFFF"/>
                    </a:solidFill>
                  </a:tcPr>
                </a:tc>
                <a:tc>
                  <a:txBody>
                    <a:bodyPr/>
                    <a:lstStyle/>
                    <a:p>
                      <a:r>
                        <a:rPr sz="1200" b="0">
                          <a:solidFill>
                            <a:srgbClr val="4A4458"/>
                          </a:solidFill>
                          <a:latin typeface="Arial"/>
                        </a:rPr>
                        <a:t>Messages, not streams: bursts up to 16 kbps</a:t>
                      </a:r>
                    </a:p>
                  </a:txBody>
                  <a:tcPr marT="36576" marB="36576" anchor="ctr">
                    <a:solidFill>
                      <a:srgbClr val="FFFFFF"/>
                    </a:solidFill>
                  </a:tcPr>
                </a:tc>
                <a:extLst>
                  <a:ext uri="{0D108BD9-81ED-4DB2-BD59-A6C34878D82A}">
                    <a16:rowId xmlns:a16="http://schemas.microsoft.com/office/drawing/2014/main" val="10003"/>
                  </a:ext>
                </a:extLst>
              </a:tr>
              <a:tr h="457200">
                <a:tc>
                  <a:txBody>
                    <a:bodyPr/>
                    <a:lstStyle/>
                    <a:p>
                      <a:r>
                        <a:rPr sz="1200" b="1">
                          <a:solidFill>
                            <a:srgbClr val="1D1722"/>
                          </a:solidFill>
                          <a:latin typeface="Arial"/>
                        </a:rPr>
                        <a:t>None</a:t>
                      </a:r>
                    </a:p>
                  </a:txBody>
                  <a:tcPr marT="36576" marB="36576" anchor="ctr">
                    <a:solidFill>
                      <a:srgbClr val="F4F1FA"/>
                    </a:solidFill>
                  </a:tcPr>
                </a:tc>
                <a:tc>
                  <a:txBody>
                    <a:bodyPr/>
                    <a:lstStyle/>
                    <a:p>
                      <a:r>
                        <a:rPr sz="1200" b="0">
                          <a:solidFill>
                            <a:srgbClr val="4A4458"/>
                          </a:solidFill>
                          <a:latin typeface="Arial"/>
                        </a:rPr>
                        <a:t>Everyone, sometimes</a:t>
                      </a:r>
                    </a:p>
                  </a:txBody>
                  <a:tcPr marT="36576" marB="36576" anchor="ctr">
                    <a:solidFill>
                      <a:srgbClr val="F4F1FA"/>
                    </a:solidFill>
                  </a:tcPr>
                </a:tc>
                <a:tc>
                  <a:txBody>
                    <a:bodyPr/>
                    <a:lstStyle/>
                    <a:p>
                      <a:r>
                        <a:rPr sz="1200" b="0">
                          <a:solidFill>
                            <a:srgbClr val="4A4458"/>
                          </a:solidFill>
                          <a:latin typeface="Arial"/>
                        </a:rPr>
                        <a:t>∞</a:t>
                      </a:r>
                    </a:p>
                  </a:txBody>
                  <a:tcPr marT="36576" marB="36576" anchor="ctr">
                    <a:solidFill>
                      <a:srgbClr val="F4F1FA"/>
                    </a:solidFill>
                  </a:tcPr>
                </a:tc>
                <a:tc>
                  <a:txBody>
                    <a:bodyPr/>
                    <a:lstStyle/>
                    <a:p>
                      <a:r>
                        <a:rPr sz="1200" b="0">
                          <a:solidFill>
                            <a:srgbClr val="4A4458"/>
                          </a:solidFill>
                          <a:latin typeface="Arial"/>
                        </a:rPr>
                        <a:t>Store, then decide</a:t>
                      </a:r>
                    </a:p>
                  </a:txBody>
                  <a:tcPr marT="36576" marB="36576" anchor="ctr">
                    <a:solidFill>
                      <a:srgbClr val="F4F1FA"/>
                    </a:solidFill>
                  </a:tcPr>
                </a:tc>
                <a:extLst>
                  <a:ext uri="{0D108BD9-81ED-4DB2-BD59-A6C34878D82A}">
                    <a16:rowId xmlns:a16="http://schemas.microsoft.com/office/drawing/2014/main" val="10004"/>
                  </a:ext>
                </a:extLst>
              </a:tr>
            </a:tbl>
          </a:graphicData>
        </a:graphic>
      </p:graphicFrame>
      <p:sp>
        <p:nvSpPr>
          <p:cNvPr id="142" name="TextBox 141"/>
          <p:cNvSpPr txBox="1"/>
          <p:nvPr/>
        </p:nvSpPr>
        <p:spPr>
          <a:xfrm>
            <a:off x="457200" y="4023360"/>
            <a:ext cx="8138160" cy="365760"/>
          </a:xfrm>
          <a:prstGeom prst="rect">
            <a:avLst/>
          </a:prstGeom>
          <a:noFill/>
        </p:spPr>
        <p:txBody>
          <a:bodyPr wrap="square" lIns="0" tIns="0" rIns="0" bIns="0" anchor="t">
            <a:spAutoFit/>
          </a:bodyPr>
          <a:lstStyle/>
          <a:p>
            <a:pPr algn="l"/>
            <a:r>
              <a:rPr sz="1600" b="1">
                <a:solidFill>
                  <a:srgbClr val="1D1722"/>
                </a:solidFill>
                <a:latin typeface="Arial"/>
              </a:rPr>
              <a:t>A design that only works at 50 ms will fail at 15 seconds.</a:t>
            </a:r>
          </a:p>
        </p:txBody>
      </p:sp>
      <p:sp>
        <p:nvSpPr>
          <p:cNvPr id="143" name="TextBox 142"/>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Sources: </a:t>
            </a:r>
            <a:r>
              <a:rPr sz="1000" b="0" dirty="0" err="1">
                <a:solidFill>
                  <a:srgbClr val="7A7290"/>
                </a:solidFill>
                <a:latin typeface="Arial"/>
              </a:rPr>
              <a:t>Opensignal</a:t>
            </a:r>
            <a:r>
              <a:rPr sz="1000" b="0" dirty="0">
                <a:solidFill>
                  <a:srgbClr val="7A7290"/>
                </a:solidFill>
                <a:latin typeface="Arial"/>
              </a:rPr>
              <a:t> (LTE, Spain), Ookla </a:t>
            </a:r>
            <a:r>
              <a:rPr sz="1000" b="0" dirty="0" err="1">
                <a:solidFill>
                  <a:srgbClr val="7A7290"/>
                </a:solidFill>
                <a:latin typeface="Arial"/>
              </a:rPr>
              <a:t>Speedtest</a:t>
            </a:r>
            <a:r>
              <a:rPr sz="1000" b="0" dirty="0">
                <a:solidFill>
                  <a:srgbClr val="7A7290"/>
                </a:solidFill>
                <a:latin typeface="Arial"/>
              </a:rPr>
              <a:t> (mobile H2 2025; Starlink Europe Q4 2024), </a:t>
            </a:r>
            <a:r>
              <a:rPr sz="1000" b="0" dirty="0" err="1">
                <a:solidFill>
                  <a:srgbClr val="7A7290"/>
                </a:solidFill>
                <a:latin typeface="Arial"/>
              </a:rPr>
              <a:t>Viasat</a:t>
            </a:r>
            <a:r>
              <a:rPr sz="1000" b="0" dirty="0">
                <a:solidFill>
                  <a:srgbClr val="7A7290"/>
                </a:solidFill>
                <a:latin typeface="Arial"/>
              </a:rPr>
              <a:t> IoT Nano service</a:t>
            </a:r>
          </a:p>
        </p:txBody>
      </p:sp>
      <p:pic>
        <p:nvPicPr>
          <p:cNvPr id="3" name="Picture 2">
            <a:extLst>
              <a:ext uri="{FF2B5EF4-FFF2-40B4-BE49-F238E27FC236}">
                <a16:creationId xmlns:a16="http://schemas.microsoft.com/office/drawing/2014/main" id="{FC9BD288-8B55-C622-09D3-5A93665B19F5}"/>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02 · FROM BUS TO STATE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At the edge, the broker and the integration are one job</a:t>
            </a:r>
          </a:p>
        </p:txBody>
      </p:sp>
      <p:sp>
        <p:nvSpPr>
          <p:cNvPr id="141" name="Rounded Rectangle 140"/>
          <p:cNvSpPr/>
          <p:nvPr/>
        </p:nvSpPr>
        <p:spPr>
          <a:xfrm>
            <a:off x="457200" y="1311444"/>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548640" y="1311444"/>
            <a:ext cx="1417320" cy="438912"/>
          </a:xfrm>
          <a:prstGeom prst="rect">
            <a:avLst/>
          </a:prstGeom>
          <a:noFill/>
        </p:spPr>
        <p:txBody>
          <a:bodyPr wrap="square" lIns="0" tIns="0" rIns="0" bIns="0" anchor="ctr">
            <a:spAutoFit/>
          </a:bodyPr>
          <a:lstStyle/>
          <a:p>
            <a:pPr algn="ctr"/>
            <a:r>
              <a:rPr sz="1200" b="0">
                <a:solidFill>
                  <a:srgbClr val="1D1722"/>
                </a:solidFill>
                <a:latin typeface="Arial"/>
              </a:rPr>
              <a:t>MAVLink</a:t>
            </a:r>
          </a:p>
        </p:txBody>
      </p:sp>
      <p:sp>
        <p:nvSpPr>
          <p:cNvPr id="143" name="Rounded Rectangle 142"/>
          <p:cNvSpPr/>
          <p:nvPr/>
        </p:nvSpPr>
        <p:spPr>
          <a:xfrm>
            <a:off x="457200" y="1860084"/>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Box 143"/>
          <p:cNvSpPr txBox="1"/>
          <p:nvPr/>
        </p:nvSpPr>
        <p:spPr>
          <a:xfrm>
            <a:off x="548640" y="1860084"/>
            <a:ext cx="1417320" cy="438912"/>
          </a:xfrm>
          <a:prstGeom prst="rect">
            <a:avLst/>
          </a:prstGeom>
          <a:noFill/>
        </p:spPr>
        <p:txBody>
          <a:bodyPr wrap="square" lIns="0" tIns="0" rIns="0" bIns="0" anchor="ctr">
            <a:spAutoFit/>
          </a:bodyPr>
          <a:lstStyle/>
          <a:p>
            <a:pPr algn="ctr"/>
            <a:r>
              <a:rPr sz="1200" b="0">
                <a:solidFill>
                  <a:srgbClr val="1D1722"/>
                </a:solidFill>
                <a:latin typeface="Arial"/>
              </a:rPr>
              <a:t>NMEA 2000 / CAN</a:t>
            </a:r>
          </a:p>
        </p:txBody>
      </p:sp>
      <p:sp>
        <p:nvSpPr>
          <p:cNvPr id="145" name="Rounded Rectangle 144"/>
          <p:cNvSpPr/>
          <p:nvPr/>
        </p:nvSpPr>
        <p:spPr>
          <a:xfrm>
            <a:off x="457200" y="2408724"/>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548640" y="2408724"/>
            <a:ext cx="1417320" cy="438912"/>
          </a:xfrm>
          <a:prstGeom prst="rect">
            <a:avLst/>
          </a:prstGeom>
          <a:noFill/>
        </p:spPr>
        <p:txBody>
          <a:bodyPr wrap="square" lIns="0" tIns="0" rIns="0" bIns="0" anchor="ctr">
            <a:spAutoFit/>
          </a:bodyPr>
          <a:lstStyle/>
          <a:p>
            <a:pPr algn="ctr"/>
            <a:r>
              <a:rPr sz="1200" b="0">
                <a:solidFill>
                  <a:srgbClr val="1D1722"/>
                </a:solidFill>
                <a:latin typeface="Arial"/>
              </a:rPr>
              <a:t>CoAP · MQTT-SN</a:t>
            </a:r>
          </a:p>
        </p:txBody>
      </p:sp>
      <p:sp>
        <p:nvSpPr>
          <p:cNvPr id="147" name="Rounded Rectangle 146"/>
          <p:cNvSpPr/>
          <p:nvPr/>
        </p:nvSpPr>
        <p:spPr>
          <a:xfrm>
            <a:off x="457200" y="2957364"/>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Box 147"/>
          <p:cNvSpPr txBox="1"/>
          <p:nvPr/>
        </p:nvSpPr>
        <p:spPr>
          <a:xfrm>
            <a:off x="548640" y="2957364"/>
            <a:ext cx="1417320" cy="438912"/>
          </a:xfrm>
          <a:prstGeom prst="rect">
            <a:avLst/>
          </a:prstGeom>
          <a:noFill/>
        </p:spPr>
        <p:txBody>
          <a:bodyPr wrap="square" lIns="0" tIns="0" rIns="0" bIns="0" anchor="ctr">
            <a:spAutoFit/>
          </a:bodyPr>
          <a:lstStyle/>
          <a:p>
            <a:pPr algn="ctr"/>
            <a:r>
              <a:rPr sz="1200" b="0">
                <a:solidFill>
                  <a:srgbClr val="1D1722"/>
                </a:solidFill>
                <a:latin typeface="Arial"/>
              </a:rPr>
              <a:t>STANAG 4817</a:t>
            </a:r>
          </a:p>
        </p:txBody>
      </p:sp>
      <p:sp>
        <p:nvSpPr>
          <p:cNvPr id="149" name="Rounded Rectangle 148"/>
          <p:cNvSpPr/>
          <p:nvPr/>
        </p:nvSpPr>
        <p:spPr>
          <a:xfrm>
            <a:off x="7086600" y="1600200"/>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Box 149"/>
          <p:cNvSpPr txBox="1"/>
          <p:nvPr/>
        </p:nvSpPr>
        <p:spPr>
          <a:xfrm>
            <a:off x="7178040" y="1600200"/>
            <a:ext cx="1417320" cy="438912"/>
          </a:xfrm>
          <a:prstGeom prst="rect">
            <a:avLst/>
          </a:prstGeom>
          <a:noFill/>
        </p:spPr>
        <p:txBody>
          <a:bodyPr wrap="square" lIns="0" tIns="0" rIns="0" bIns="0" anchor="ctr">
            <a:spAutoFit/>
          </a:bodyPr>
          <a:lstStyle/>
          <a:p>
            <a:pPr algn="ctr"/>
            <a:r>
              <a:rPr sz="1200" b="0">
                <a:solidFill>
                  <a:srgbClr val="1D1722"/>
                </a:solidFill>
                <a:latin typeface="Arial"/>
              </a:rPr>
              <a:t>MQTT</a:t>
            </a:r>
          </a:p>
        </p:txBody>
      </p:sp>
      <p:sp>
        <p:nvSpPr>
          <p:cNvPr id="151" name="Rounded Rectangle 150"/>
          <p:cNvSpPr/>
          <p:nvPr/>
        </p:nvSpPr>
        <p:spPr>
          <a:xfrm>
            <a:off x="7086600" y="2148840"/>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Box 151"/>
          <p:cNvSpPr txBox="1"/>
          <p:nvPr/>
        </p:nvSpPr>
        <p:spPr>
          <a:xfrm>
            <a:off x="7178040" y="2148840"/>
            <a:ext cx="1417320" cy="438912"/>
          </a:xfrm>
          <a:prstGeom prst="rect">
            <a:avLst/>
          </a:prstGeom>
          <a:noFill/>
        </p:spPr>
        <p:txBody>
          <a:bodyPr wrap="square" lIns="0" tIns="0" rIns="0" bIns="0" anchor="ctr">
            <a:spAutoFit/>
          </a:bodyPr>
          <a:lstStyle/>
          <a:p>
            <a:pPr algn="ctr"/>
            <a:r>
              <a:rPr sz="1200" b="0">
                <a:solidFill>
                  <a:srgbClr val="1D1722"/>
                </a:solidFill>
                <a:latin typeface="Arial"/>
              </a:rPr>
              <a:t>AMQP 1.0</a:t>
            </a:r>
          </a:p>
        </p:txBody>
      </p:sp>
      <p:sp>
        <p:nvSpPr>
          <p:cNvPr id="153" name="Rounded Rectangle 152"/>
          <p:cNvSpPr/>
          <p:nvPr/>
        </p:nvSpPr>
        <p:spPr>
          <a:xfrm>
            <a:off x="7086600" y="2697480"/>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7178040" y="2824603"/>
            <a:ext cx="1417320" cy="184666"/>
          </a:xfrm>
          <a:prstGeom prst="rect">
            <a:avLst/>
          </a:prstGeom>
          <a:noFill/>
        </p:spPr>
        <p:txBody>
          <a:bodyPr wrap="square" lIns="0" tIns="0" rIns="0" bIns="0" anchor="ctr">
            <a:spAutoFit/>
          </a:bodyPr>
          <a:lstStyle/>
          <a:p>
            <a:pPr algn="ctr"/>
            <a:r>
              <a:rPr sz="1200" b="0" dirty="0">
                <a:solidFill>
                  <a:srgbClr val="1D1722"/>
                </a:solidFill>
                <a:latin typeface="Arial"/>
              </a:rPr>
              <a:t>NATS</a:t>
            </a:r>
          </a:p>
        </p:txBody>
      </p:sp>
      <p:sp>
        <p:nvSpPr>
          <p:cNvPr id="155" name="Rounded Rectangle 154"/>
          <p:cNvSpPr/>
          <p:nvPr/>
        </p:nvSpPr>
        <p:spPr>
          <a:xfrm>
            <a:off x="7086600" y="3246120"/>
            <a:ext cx="1600200" cy="438912"/>
          </a:xfrm>
          <a:prstGeom prst="roundRect">
            <a:avLst>
              <a:gd name="adj" fmla="val 8000"/>
            </a:avLst>
          </a:prstGeom>
          <a:solidFill>
            <a:srgbClr val="FFFFFF"/>
          </a:solidFill>
          <a:ln w="12700">
            <a:solidFill>
              <a:srgbClr val="8FBCF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Box 155"/>
          <p:cNvSpPr txBox="1"/>
          <p:nvPr/>
        </p:nvSpPr>
        <p:spPr>
          <a:xfrm>
            <a:off x="7178040" y="3246120"/>
            <a:ext cx="1417320" cy="438912"/>
          </a:xfrm>
          <a:prstGeom prst="rect">
            <a:avLst/>
          </a:prstGeom>
          <a:noFill/>
        </p:spPr>
        <p:txBody>
          <a:bodyPr wrap="square" lIns="0" tIns="0" rIns="0" bIns="0" anchor="ctr">
            <a:spAutoFit/>
          </a:bodyPr>
          <a:lstStyle/>
          <a:p>
            <a:pPr algn="ctr"/>
            <a:r>
              <a:rPr sz="1200" b="1">
                <a:solidFill>
                  <a:srgbClr val="1D1722"/>
                </a:solidFill>
                <a:latin typeface="Arial"/>
              </a:rPr>
              <a:t>Your shore broker</a:t>
            </a:r>
          </a:p>
        </p:txBody>
      </p:sp>
      <p:sp>
        <p:nvSpPr>
          <p:cNvPr id="157" name="Right Arrow 156"/>
          <p:cNvSpPr/>
          <p:nvPr/>
        </p:nvSpPr>
        <p:spPr>
          <a:xfrm>
            <a:off x="2130552" y="237744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ight Arrow 157"/>
          <p:cNvSpPr/>
          <p:nvPr/>
        </p:nvSpPr>
        <p:spPr>
          <a:xfrm>
            <a:off x="6812280" y="237744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ounded Rectangle 158"/>
          <p:cNvSpPr/>
          <p:nvPr/>
        </p:nvSpPr>
        <p:spPr>
          <a:xfrm>
            <a:off x="2423160" y="1508760"/>
            <a:ext cx="4297680" cy="2286000"/>
          </a:xfrm>
          <a:prstGeom prst="roundRect">
            <a:avLst>
              <a:gd name="adj" fmla="val 5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Box 159"/>
          <p:cNvSpPr txBox="1"/>
          <p:nvPr/>
        </p:nvSpPr>
        <p:spPr>
          <a:xfrm>
            <a:off x="2606040" y="1600200"/>
            <a:ext cx="3931920" cy="153888"/>
          </a:xfrm>
          <a:prstGeom prst="rect">
            <a:avLst/>
          </a:prstGeom>
          <a:noFill/>
        </p:spPr>
        <p:txBody>
          <a:bodyPr wrap="square" lIns="0" tIns="0" rIns="0" bIns="0" anchor="t">
            <a:spAutoFit/>
          </a:bodyPr>
          <a:lstStyle/>
          <a:p>
            <a:pPr algn="ctr"/>
            <a:r>
              <a:rPr sz="1000" b="1" dirty="0">
                <a:solidFill>
                  <a:srgbClr val="C9A15F"/>
                </a:solidFill>
                <a:latin typeface="Arial"/>
              </a:rPr>
              <a:t>ONE</a:t>
            </a:r>
            <a:r>
              <a:rPr lang="en-US" sz="1000" b="1" dirty="0">
                <a:solidFill>
                  <a:srgbClr val="C9A15F"/>
                </a:solidFill>
                <a:latin typeface="Arial"/>
              </a:rPr>
              <a:t> MAPS</a:t>
            </a:r>
            <a:r>
              <a:rPr sz="1000" b="1" dirty="0">
                <a:solidFill>
                  <a:srgbClr val="C9A15F"/>
                </a:solidFill>
                <a:latin typeface="Arial"/>
              </a:rPr>
              <a:t> EDGE NODE</a:t>
            </a:r>
          </a:p>
        </p:txBody>
      </p:sp>
      <p:sp>
        <p:nvSpPr>
          <p:cNvPr id="161" name="Rounded Rectangle 160"/>
          <p:cNvSpPr/>
          <p:nvPr/>
        </p:nvSpPr>
        <p:spPr>
          <a:xfrm>
            <a:off x="2606040" y="1920240"/>
            <a:ext cx="1874519" cy="1737360"/>
          </a:xfrm>
          <a:prstGeom prst="roundRect">
            <a:avLst>
              <a:gd name="adj" fmla="val 6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Box 161"/>
          <p:cNvSpPr txBox="1"/>
          <p:nvPr/>
        </p:nvSpPr>
        <p:spPr>
          <a:xfrm>
            <a:off x="2743200" y="1993392"/>
            <a:ext cx="1645920" cy="274320"/>
          </a:xfrm>
          <a:prstGeom prst="rect">
            <a:avLst/>
          </a:prstGeom>
          <a:noFill/>
        </p:spPr>
        <p:txBody>
          <a:bodyPr wrap="square" lIns="0" tIns="0" rIns="0" bIns="0" anchor="t">
            <a:spAutoFit/>
          </a:bodyPr>
          <a:lstStyle/>
          <a:p>
            <a:pPr algn="l"/>
            <a:r>
              <a:rPr sz="1400" b="1">
                <a:solidFill>
                  <a:srgbClr val="8FBCF5"/>
                </a:solidFill>
                <a:latin typeface="Arial"/>
              </a:rPr>
              <a:t>Integration</a:t>
            </a:r>
          </a:p>
        </p:txBody>
      </p:sp>
      <p:sp>
        <p:nvSpPr>
          <p:cNvPr id="163" name="TextBox 162"/>
          <p:cNvSpPr txBox="1"/>
          <p:nvPr/>
        </p:nvSpPr>
        <p:spPr>
          <a:xfrm>
            <a:off x="2743200" y="2304288"/>
            <a:ext cx="1691640" cy="1325880"/>
          </a:xfrm>
          <a:prstGeom prst="rect">
            <a:avLst/>
          </a:prstGeom>
          <a:noFill/>
        </p:spPr>
        <p:txBody>
          <a:bodyPr wrap="square" lIns="0" tIns="0" rIns="0" bIns="0" anchor="t">
            <a:spAutoFit/>
          </a:bodyPr>
          <a:lstStyle/>
          <a:p>
            <a:pPr algn="l">
              <a:spcAft>
                <a:spcPts val="300"/>
              </a:spcAft>
            </a:pPr>
            <a:r>
              <a:rPr sz="1100" b="0">
                <a:solidFill>
                  <a:srgbClr val="D9D2EA"/>
                </a:solidFill>
                <a:latin typeface="Arial"/>
              </a:rPr>
              <a:t>· Decode vehicle protocols</a:t>
            </a:r>
          </a:p>
          <a:p>
            <a:pPr algn="l">
              <a:spcAft>
                <a:spcPts val="300"/>
              </a:spcAft>
            </a:pPr>
            <a:r>
              <a:rPr sz="1100" b="0">
                <a:solidFill>
                  <a:srgbClr val="D9D2EA"/>
                </a:solidFill>
                <a:latin typeface="Arial"/>
              </a:rPr>
              <a:t>· Build the digital twin</a:t>
            </a:r>
          </a:p>
          <a:p>
            <a:pPr algn="l">
              <a:spcAft>
                <a:spcPts val="300"/>
              </a:spcAft>
            </a:pPr>
            <a:r>
              <a:rPr sz="1100" b="0">
                <a:solidFill>
                  <a:srgbClr val="D9D2EA"/>
                </a:solidFill>
                <a:latin typeface="Arial"/>
              </a:rPr>
              <a:t>· Transform, validate schemas</a:t>
            </a:r>
          </a:p>
          <a:p>
            <a:pPr algn="l">
              <a:spcAft>
                <a:spcPts val="300"/>
              </a:spcAft>
            </a:pPr>
            <a:r>
              <a:rPr sz="1100" b="0">
                <a:solidFill>
                  <a:srgbClr val="D9D2EA"/>
                </a:solidFill>
                <a:latin typeface="Arial"/>
              </a:rPr>
              <a:t>· Translate tasks both ways</a:t>
            </a:r>
          </a:p>
        </p:txBody>
      </p:sp>
      <p:sp>
        <p:nvSpPr>
          <p:cNvPr id="164" name="Rounded Rectangle 163"/>
          <p:cNvSpPr/>
          <p:nvPr/>
        </p:nvSpPr>
        <p:spPr>
          <a:xfrm>
            <a:off x="4663440" y="1920240"/>
            <a:ext cx="1874519" cy="1737360"/>
          </a:xfrm>
          <a:prstGeom prst="roundRect">
            <a:avLst>
              <a:gd name="adj" fmla="val 6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TextBox 164"/>
          <p:cNvSpPr txBox="1"/>
          <p:nvPr/>
        </p:nvSpPr>
        <p:spPr>
          <a:xfrm>
            <a:off x="4800600" y="1993392"/>
            <a:ext cx="1645920" cy="274320"/>
          </a:xfrm>
          <a:prstGeom prst="rect">
            <a:avLst/>
          </a:prstGeom>
          <a:noFill/>
        </p:spPr>
        <p:txBody>
          <a:bodyPr wrap="square" lIns="0" tIns="0" rIns="0" bIns="0" anchor="t">
            <a:spAutoFit/>
          </a:bodyPr>
          <a:lstStyle/>
          <a:p>
            <a:pPr algn="l"/>
            <a:r>
              <a:rPr sz="1400" b="1">
                <a:solidFill>
                  <a:srgbClr val="C9A15F"/>
                </a:solidFill>
                <a:latin typeface="Arial"/>
              </a:rPr>
              <a:t>Broker</a:t>
            </a:r>
          </a:p>
        </p:txBody>
      </p:sp>
      <p:sp>
        <p:nvSpPr>
          <p:cNvPr id="166" name="TextBox 165"/>
          <p:cNvSpPr txBox="1"/>
          <p:nvPr/>
        </p:nvSpPr>
        <p:spPr>
          <a:xfrm>
            <a:off x="4800600" y="2304288"/>
            <a:ext cx="1691640" cy="1325880"/>
          </a:xfrm>
          <a:prstGeom prst="rect">
            <a:avLst/>
          </a:prstGeom>
          <a:noFill/>
        </p:spPr>
        <p:txBody>
          <a:bodyPr wrap="square" lIns="0" tIns="0" rIns="0" bIns="0" anchor="t">
            <a:spAutoFit/>
          </a:bodyPr>
          <a:lstStyle/>
          <a:p>
            <a:pPr algn="l">
              <a:spcAft>
                <a:spcPts val="300"/>
              </a:spcAft>
            </a:pPr>
            <a:r>
              <a:rPr sz="1100" b="0">
                <a:solidFill>
                  <a:srgbClr val="D9D2EA"/>
                </a:solidFill>
                <a:latin typeface="Arial"/>
              </a:rPr>
              <a:t>· Topics and sessions</a:t>
            </a:r>
          </a:p>
          <a:p>
            <a:pPr algn="l">
              <a:spcAft>
                <a:spcPts val="300"/>
              </a:spcAft>
            </a:pPr>
            <a:r>
              <a:rPr sz="1100" b="0">
                <a:solidFill>
                  <a:srgbClr val="D9D2EA"/>
                </a:solidFill>
                <a:latin typeface="Arial"/>
              </a:rPr>
              <a:t>· Delivery guarantees per protocol</a:t>
            </a:r>
          </a:p>
          <a:p>
            <a:pPr algn="l">
              <a:spcAft>
                <a:spcPts val="300"/>
              </a:spcAft>
            </a:pPr>
            <a:r>
              <a:rPr sz="1100" b="0">
                <a:solidFill>
                  <a:srgbClr val="D9D2EA"/>
                </a:solidFill>
                <a:latin typeface="Arial"/>
              </a:rPr>
              <a:t>· Store and forward on disk</a:t>
            </a:r>
          </a:p>
          <a:p>
            <a:pPr algn="l">
              <a:spcAft>
                <a:spcPts val="300"/>
              </a:spcAft>
            </a:pPr>
            <a:r>
              <a:rPr sz="1100" b="0">
                <a:solidFill>
                  <a:srgbClr val="D9D2EA"/>
                </a:solidFill>
                <a:latin typeface="Arial"/>
              </a:rPr>
              <a:t>· Links that drain on reconnect</a:t>
            </a:r>
          </a:p>
        </p:txBody>
      </p:sp>
      <p:sp>
        <p:nvSpPr>
          <p:cNvPr id="167" name="TextBox 166"/>
          <p:cNvSpPr txBox="1"/>
          <p:nvPr/>
        </p:nvSpPr>
        <p:spPr>
          <a:xfrm>
            <a:off x="457200" y="4005072"/>
            <a:ext cx="8229600" cy="430887"/>
          </a:xfrm>
          <a:prstGeom prst="rect">
            <a:avLst/>
          </a:prstGeom>
          <a:noFill/>
        </p:spPr>
        <p:txBody>
          <a:bodyPr wrap="square" lIns="0" tIns="0" rIns="0" bIns="0" anchor="t">
            <a:spAutoFit/>
          </a:bodyPr>
          <a:lstStyle/>
          <a:p>
            <a:pPr algn="l"/>
            <a:r>
              <a:rPr sz="1400" b="1" dirty="0">
                <a:solidFill>
                  <a:srgbClr val="1D1722"/>
                </a:solidFill>
                <a:latin typeface="Arial"/>
              </a:rPr>
              <a:t>Split them into two </a:t>
            </a:r>
            <a:r>
              <a:rPr lang="en-US" sz="1400" b="1" dirty="0">
                <a:solidFill>
                  <a:srgbClr val="1D1722"/>
                </a:solidFill>
                <a:latin typeface="Arial"/>
              </a:rPr>
              <a:t>nodes</a:t>
            </a:r>
            <a:r>
              <a:rPr sz="1400" b="1" dirty="0">
                <a:solidFill>
                  <a:srgbClr val="1D1722"/>
                </a:solidFill>
                <a:latin typeface="Arial"/>
              </a:rPr>
              <a:t> </a:t>
            </a:r>
            <a:r>
              <a:rPr lang="en-US" sz="1400" b="1" dirty="0">
                <a:solidFill>
                  <a:srgbClr val="1D1722"/>
                </a:solidFill>
                <a:latin typeface="Arial"/>
              </a:rPr>
              <a:t>/ processes </a:t>
            </a:r>
            <a:r>
              <a:rPr sz="1400" b="1" dirty="0">
                <a:solidFill>
                  <a:srgbClr val="1D1722"/>
                </a:solidFill>
                <a:latin typeface="Arial"/>
              </a:rPr>
              <a:t>and you add a second failure domain, and a link between them that also has to survive the outage.</a:t>
            </a:r>
          </a:p>
        </p:txBody>
      </p:sp>
      <p:sp>
        <p:nvSpPr>
          <p:cNvPr id="168" name="TextBox 167"/>
          <p:cNvSpPr txBox="1"/>
          <p:nvPr/>
        </p:nvSpPr>
        <p:spPr>
          <a:xfrm>
            <a:off x="457200" y="4754880"/>
            <a:ext cx="6949440" cy="27432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2" name="Picture 1">
            <a:extLst>
              <a:ext uri="{FF2B5EF4-FFF2-40B4-BE49-F238E27FC236}">
                <a16:creationId xmlns:a16="http://schemas.microsoft.com/office/drawing/2014/main" id="{CF3BEC23-9074-491E-A3E9-BDA97CC99AE6}"/>
              </a:ext>
            </a:extLst>
          </p:cNvPr>
          <p:cNvPicPr>
            <a:picLocks noChangeAspect="1"/>
          </p:cNvPicPr>
          <p:nvPr/>
        </p:nvPicPr>
        <p:blipFill>
          <a:blip r:embed="rId3"/>
          <a:stretch>
            <a:fillRect/>
          </a:stretch>
        </p:blipFill>
        <p:spPr>
          <a:xfrm>
            <a:off x="7223760" y="292608"/>
            <a:ext cx="1371600" cy="1257300"/>
          </a:xfrm>
          <a:prstGeom prst="rect">
            <a:avLst/>
          </a:prstGeom>
        </p:spPr>
      </p:pic>
      <p:sp>
        <p:nvSpPr>
          <p:cNvPr id="3" name="Rounded Rectangle 2">
            <a:extLst>
              <a:ext uri="{FF2B5EF4-FFF2-40B4-BE49-F238E27FC236}">
                <a16:creationId xmlns:a16="http://schemas.microsoft.com/office/drawing/2014/main" id="{4A546F2B-D5A3-362F-3466-577397496F90}"/>
              </a:ext>
            </a:extLst>
          </p:cNvPr>
          <p:cNvSpPr/>
          <p:nvPr/>
        </p:nvSpPr>
        <p:spPr>
          <a:xfrm>
            <a:off x="457200" y="3495741"/>
            <a:ext cx="1600200" cy="438912"/>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0E5DFC7-B24A-C188-465B-D32B99037F06}"/>
              </a:ext>
            </a:extLst>
          </p:cNvPr>
          <p:cNvSpPr txBox="1"/>
          <p:nvPr/>
        </p:nvSpPr>
        <p:spPr>
          <a:xfrm>
            <a:off x="548640" y="3608341"/>
            <a:ext cx="1417320" cy="184666"/>
          </a:xfrm>
          <a:prstGeom prst="rect">
            <a:avLst/>
          </a:prstGeom>
          <a:noFill/>
        </p:spPr>
        <p:txBody>
          <a:bodyPr wrap="square" lIns="0" tIns="0" rIns="0" bIns="0" anchor="ctr">
            <a:spAutoFit/>
          </a:bodyPr>
          <a:lstStyle/>
          <a:p>
            <a:pPr algn="ctr"/>
            <a:r>
              <a:rPr lang="en-US" sz="1200" b="0" dirty="0">
                <a:solidFill>
                  <a:srgbClr val="1D1722"/>
                </a:solidFill>
                <a:latin typeface="Arial"/>
              </a:rPr>
              <a:t>DDS</a:t>
            </a:r>
            <a:endParaRPr sz="1200" b="0" dirty="0">
              <a:solidFill>
                <a:srgbClr val="1D1722"/>
              </a:solidFill>
              <a:latin typeface="Arial"/>
            </a:endParaRPr>
          </a:p>
        </p:txBody>
      </p:sp>
      <p:pic>
        <p:nvPicPr>
          <p:cNvPr id="6" name="Picture 5">
            <a:extLst>
              <a:ext uri="{FF2B5EF4-FFF2-40B4-BE49-F238E27FC236}">
                <a16:creationId xmlns:a16="http://schemas.microsoft.com/office/drawing/2014/main" id="{25727B0F-2B5D-B6D0-0A64-D943AFF641D4}"/>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02 · FROM BUS TO STATE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Speak the vehicle’s own protocol at the edge</a:t>
            </a:r>
          </a:p>
        </p:txBody>
      </p:sp>
      <p:sp>
        <p:nvSpPr>
          <p:cNvPr id="141" name="Rounded Rectangle 140"/>
          <p:cNvSpPr/>
          <p:nvPr/>
        </p:nvSpPr>
        <p:spPr>
          <a:xfrm>
            <a:off x="457200" y="1627632"/>
            <a:ext cx="3977639" cy="22402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685800" y="1764792"/>
            <a:ext cx="3566160" cy="320040"/>
          </a:xfrm>
          <a:prstGeom prst="rect">
            <a:avLst/>
          </a:prstGeom>
          <a:noFill/>
        </p:spPr>
        <p:txBody>
          <a:bodyPr wrap="square" lIns="0" tIns="0" rIns="0" bIns="0" anchor="t">
            <a:spAutoFit/>
          </a:bodyPr>
          <a:lstStyle/>
          <a:p>
            <a:pPr algn="l"/>
            <a:r>
              <a:rPr sz="1700" b="1" dirty="0">
                <a:solidFill>
                  <a:srgbClr val="1D1722"/>
                </a:solidFill>
                <a:latin typeface="Arial"/>
              </a:rPr>
              <a:t>Drones · MAVLink 2</a:t>
            </a:r>
          </a:p>
        </p:txBody>
      </p:sp>
      <p:sp>
        <p:nvSpPr>
          <p:cNvPr id="143" name="TextBox 142"/>
          <p:cNvSpPr txBox="1"/>
          <p:nvPr/>
        </p:nvSpPr>
        <p:spPr>
          <a:xfrm>
            <a:off x="685800" y="2103120"/>
            <a:ext cx="3566160" cy="274320"/>
          </a:xfrm>
          <a:prstGeom prst="rect">
            <a:avLst/>
          </a:prstGeom>
          <a:noFill/>
        </p:spPr>
        <p:txBody>
          <a:bodyPr wrap="square" lIns="0" tIns="0" rIns="0" bIns="0" anchor="t">
            <a:spAutoFit/>
          </a:bodyPr>
          <a:lstStyle/>
          <a:p>
            <a:pPr algn="l"/>
            <a:r>
              <a:rPr sz="1200" b="0">
                <a:solidFill>
                  <a:srgbClr val="6B4BC0"/>
                </a:solidFill>
                <a:latin typeface="Arial"/>
              </a:rPr>
              <a:t>udp:// listener, ArduPilot dialect</a:t>
            </a:r>
          </a:p>
        </p:txBody>
      </p:sp>
      <p:sp>
        <p:nvSpPr>
          <p:cNvPr id="144" name="TextBox 143"/>
          <p:cNvSpPr txBox="1"/>
          <p:nvPr/>
        </p:nvSpPr>
        <p:spPr>
          <a:xfrm>
            <a:off x="685800" y="2487168"/>
            <a:ext cx="3566160" cy="1325880"/>
          </a:xfrm>
          <a:prstGeom prst="rect">
            <a:avLst/>
          </a:prstGeom>
          <a:noFill/>
        </p:spPr>
        <p:txBody>
          <a:bodyPr wrap="square" lIns="0" tIns="0" rIns="0" bIns="0" anchor="t">
            <a:spAutoFit/>
          </a:bodyPr>
          <a:lstStyle/>
          <a:p>
            <a:pPr algn="l">
              <a:spcAft>
                <a:spcPts val="500"/>
              </a:spcAft>
            </a:pPr>
            <a:r>
              <a:rPr sz="1250" b="0" dirty="0">
                <a:solidFill>
                  <a:srgbClr val="4A4458"/>
                </a:solidFill>
                <a:latin typeface="Arial"/>
              </a:rPr>
              <a:t>•  One topic per message: /</a:t>
            </a:r>
            <a:r>
              <a:rPr sz="1250" b="0" dirty="0" err="1">
                <a:solidFill>
                  <a:srgbClr val="4A4458"/>
                </a:solidFill>
                <a:latin typeface="Arial"/>
              </a:rPr>
              <a:t>mavlink</a:t>
            </a:r>
            <a:r>
              <a:rPr sz="1250" b="0" dirty="0">
                <a:solidFill>
                  <a:srgbClr val="4A4458"/>
                </a:solidFill>
                <a:latin typeface="Arial"/>
              </a:rPr>
              <a:t>/{</a:t>
            </a:r>
            <a:r>
              <a:rPr sz="1250" b="0" dirty="0" err="1">
                <a:solidFill>
                  <a:srgbClr val="4A4458"/>
                </a:solidFill>
                <a:latin typeface="Arial"/>
              </a:rPr>
              <a:t>systemId</a:t>
            </a:r>
            <a:r>
              <a:rPr sz="1250" b="0" dirty="0">
                <a:solidFill>
                  <a:srgbClr val="4A4458"/>
                </a:solidFill>
                <a:latin typeface="Arial"/>
              </a:rPr>
              <a:t>}/{</a:t>
            </a:r>
            <a:r>
              <a:rPr sz="1250" b="0" dirty="0" err="1">
                <a:solidFill>
                  <a:srgbClr val="4A4458"/>
                </a:solidFill>
                <a:latin typeface="Arial"/>
              </a:rPr>
              <a:t>messageName</a:t>
            </a:r>
            <a:r>
              <a:rPr sz="1250" b="0" dirty="0">
                <a:solidFill>
                  <a:srgbClr val="4A4458"/>
                </a:solidFill>
                <a:latin typeface="Arial"/>
              </a:rPr>
              <a:t>}</a:t>
            </a:r>
          </a:p>
          <a:p>
            <a:pPr algn="l">
              <a:spcAft>
                <a:spcPts val="500"/>
              </a:spcAft>
            </a:pPr>
            <a:r>
              <a:rPr sz="1250" b="0" dirty="0">
                <a:solidFill>
                  <a:srgbClr val="4A4458"/>
                </a:solidFill>
                <a:latin typeface="Arial"/>
              </a:rPr>
              <a:t>•  Frames of 12 bytes overhead plus a 0–255-byte payload</a:t>
            </a:r>
          </a:p>
          <a:p>
            <a:pPr algn="l">
              <a:spcAft>
                <a:spcPts val="500"/>
              </a:spcAft>
            </a:pPr>
            <a:r>
              <a:rPr sz="1250" b="0" dirty="0">
                <a:solidFill>
                  <a:srgbClr val="4A4458"/>
                </a:solidFill>
                <a:latin typeface="Arial"/>
              </a:rPr>
              <a:t>•  Rejected frames go to a dead-letter topic, not the floor</a:t>
            </a:r>
          </a:p>
        </p:txBody>
      </p:sp>
      <p:sp>
        <p:nvSpPr>
          <p:cNvPr id="145" name="Rounded Rectangle 144"/>
          <p:cNvSpPr/>
          <p:nvPr/>
        </p:nvSpPr>
        <p:spPr>
          <a:xfrm>
            <a:off x="4663440" y="1627632"/>
            <a:ext cx="3977639" cy="22402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4892040" y="1764792"/>
            <a:ext cx="3566160" cy="320040"/>
          </a:xfrm>
          <a:prstGeom prst="rect">
            <a:avLst/>
          </a:prstGeom>
          <a:noFill/>
        </p:spPr>
        <p:txBody>
          <a:bodyPr wrap="square" lIns="0" tIns="0" rIns="0" bIns="0" anchor="t">
            <a:spAutoFit/>
          </a:bodyPr>
          <a:lstStyle/>
          <a:p>
            <a:pPr algn="l"/>
            <a:r>
              <a:rPr sz="1700" b="1">
                <a:solidFill>
                  <a:srgbClr val="1D1722"/>
                </a:solidFill>
                <a:latin typeface="Arial"/>
              </a:rPr>
              <a:t>Vessels · NMEA 2000</a:t>
            </a:r>
          </a:p>
        </p:txBody>
      </p:sp>
      <p:sp>
        <p:nvSpPr>
          <p:cNvPr id="147" name="TextBox 146"/>
          <p:cNvSpPr txBox="1"/>
          <p:nvPr/>
        </p:nvSpPr>
        <p:spPr>
          <a:xfrm>
            <a:off x="4892040" y="2103120"/>
            <a:ext cx="3566160" cy="274320"/>
          </a:xfrm>
          <a:prstGeom prst="rect">
            <a:avLst/>
          </a:prstGeom>
          <a:noFill/>
        </p:spPr>
        <p:txBody>
          <a:bodyPr wrap="square" lIns="0" tIns="0" rIns="0" bIns="0" anchor="t">
            <a:spAutoFit/>
          </a:bodyPr>
          <a:lstStyle/>
          <a:p>
            <a:pPr algn="l"/>
            <a:r>
              <a:rPr sz="1200" b="0">
                <a:solidFill>
                  <a:srgbClr val="6B4BC0"/>
                </a:solidFill>
                <a:latin typeface="Arial"/>
              </a:rPr>
              <a:t>canbus:// listener on the boat’s CAN bus</a:t>
            </a:r>
          </a:p>
        </p:txBody>
      </p:sp>
      <p:sp>
        <p:nvSpPr>
          <p:cNvPr id="148" name="TextBox 147"/>
          <p:cNvSpPr txBox="1"/>
          <p:nvPr/>
        </p:nvSpPr>
        <p:spPr>
          <a:xfrm>
            <a:off x="4892040" y="2487168"/>
            <a:ext cx="3566160" cy="1090042"/>
          </a:xfrm>
          <a:prstGeom prst="rect">
            <a:avLst/>
          </a:prstGeom>
          <a:noFill/>
        </p:spPr>
        <p:txBody>
          <a:bodyPr wrap="square" lIns="0" tIns="0" rIns="0" bIns="0" anchor="t">
            <a:spAutoFit/>
          </a:bodyPr>
          <a:lstStyle/>
          <a:p>
            <a:pPr algn="l">
              <a:spcAft>
                <a:spcPts val="500"/>
              </a:spcAft>
            </a:pPr>
            <a:r>
              <a:rPr sz="1250" b="0" dirty="0">
                <a:solidFill>
                  <a:srgbClr val="4A4458"/>
                </a:solidFill>
                <a:latin typeface="Arial"/>
              </a:rPr>
              <a:t>•  One topic per PGN: /can1/{</a:t>
            </a:r>
            <a:r>
              <a:rPr sz="1250" b="0" dirty="0" err="1">
                <a:solidFill>
                  <a:srgbClr val="4A4458"/>
                </a:solidFill>
                <a:latin typeface="Arial"/>
              </a:rPr>
              <a:t>pgn</a:t>
            </a:r>
            <a:r>
              <a:rPr sz="1250" b="0" dirty="0">
                <a:solidFill>
                  <a:srgbClr val="4A4458"/>
                </a:solidFill>
                <a:latin typeface="Arial"/>
              </a:rPr>
              <a:t>}/{name}</a:t>
            </a:r>
          </a:p>
          <a:p>
            <a:pPr algn="l">
              <a:spcAft>
                <a:spcPts val="500"/>
              </a:spcAft>
            </a:pPr>
            <a:r>
              <a:rPr sz="1250" b="0" dirty="0">
                <a:solidFill>
                  <a:srgbClr val="4A4458"/>
                </a:solidFill>
                <a:latin typeface="Arial"/>
              </a:rPr>
              <a:t>•  8-byte frames at 250 kbit/s; fast-packet messages up to 223 bytes</a:t>
            </a:r>
          </a:p>
          <a:p>
            <a:pPr algn="l">
              <a:spcAft>
                <a:spcPts val="500"/>
              </a:spcAft>
            </a:pPr>
            <a:r>
              <a:rPr sz="1250" b="0" dirty="0">
                <a:solidFill>
                  <a:srgbClr val="4A4458"/>
                </a:solidFill>
                <a:latin typeface="Arial"/>
              </a:rPr>
              <a:t>•  On one </a:t>
            </a:r>
            <a:r>
              <a:rPr lang="en-US" sz="1250" b="0" dirty="0">
                <a:solidFill>
                  <a:srgbClr val="4A4458"/>
                </a:solidFill>
                <a:latin typeface="Arial"/>
              </a:rPr>
              <a:t>vessel</a:t>
            </a:r>
            <a:r>
              <a:rPr sz="1250" b="0" dirty="0">
                <a:solidFill>
                  <a:srgbClr val="4A4458"/>
                </a:solidFill>
                <a:latin typeface="Arial"/>
              </a:rPr>
              <a:t>: 17 source addresses, 36 decoded PGNs, plus proprietary traffic</a:t>
            </a:r>
          </a:p>
        </p:txBody>
      </p:sp>
      <p:sp>
        <p:nvSpPr>
          <p:cNvPr id="149" name="TextBox 148"/>
          <p:cNvSpPr txBox="1"/>
          <p:nvPr/>
        </p:nvSpPr>
        <p:spPr>
          <a:xfrm>
            <a:off x="457200" y="4069080"/>
            <a:ext cx="8138160" cy="457200"/>
          </a:xfrm>
          <a:prstGeom prst="rect">
            <a:avLst/>
          </a:prstGeom>
          <a:noFill/>
        </p:spPr>
        <p:txBody>
          <a:bodyPr wrap="square" lIns="0" tIns="0" rIns="0" bIns="0" anchor="t">
            <a:spAutoFit/>
          </a:bodyPr>
          <a:lstStyle/>
          <a:p>
            <a:pPr algn="l"/>
            <a:r>
              <a:rPr sz="1600" b="1">
                <a:solidFill>
                  <a:srgbClr val="1D1722"/>
                </a:solidFill>
                <a:latin typeface="Arial"/>
              </a:rPr>
              <a:t>Decode once, at the source. Downstream, everything is a topic.</a:t>
            </a:r>
          </a:p>
        </p:txBody>
      </p:sp>
      <p:sp>
        <p:nvSpPr>
          <p:cNvPr id="150" name="TextBox 149"/>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MAPS edge config (marine and GCS classes) · MAVLink 2 and NMEA 2000 framing </a:t>
            </a:r>
          </a:p>
        </p:txBody>
      </p:sp>
      <p:pic>
        <p:nvPicPr>
          <p:cNvPr id="3" name="Picture 2">
            <a:extLst>
              <a:ext uri="{FF2B5EF4-FFF2-40B4-BE49-F238E27FC236}">
                <a16:creationId xmlns:a16="http://schemas.microsoft.com/office/drawing/2014/main" id="{912FD988-DB8B-C59C-6BD7-28CC3207D90E}"/>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02 · FROM BUS TO STATE</a:t>
            </a:r>
          </a:p>
        </p:txBody>
      </p:sp>
      <p:sp>
        <p:nvSpPr>
          <p:cNvPr id="140" name="TextBox 139"/>
          <p:cNvSpPr txBox="1"/>
          <p:nvPr/>
        </p:nvSpPr>
        <p:spPr>
          <a:xfrm>
            <a:off x="457200" y="530352"/>
            <a:ext cx="6675120" cy="369332"/>
          </a:xfrm>
          <a:prstGeom prst="rect">
            <a:avLst/>
          </a:prstGeom>
          <a:noFill/>
        </p:spPr>
        <p:txBody>
          <a:bodyPr wrap="square" lIns="0" tIns="0" rIns="0" bIns="0" anchor="t">
            <a:spAutoFit/>
          </a:bodyPr>
          <a:lstStyle/>
          <a:p>
            <a:pPr algn="l"/>
            <a:r>
              <a:rPr sz="2400" b="1" dirty="0">
                <a:solidFill>
                  <a:srgbClr val="1D1722"/>
                </a:solidFill>
                <a:latin typeface="Arial"/>
              </a:rPr>
              <a:t>One </a:t>
            </a:r>
            <a:r>
              <a:rPr lang="en-US" sz="2400" b="1" dirty="0">
                <a:solidFill>
                  <a:srgbClr val="1D1722"/>
                </a:solidFill>
                <a:latin typeface="Arial"/>
              </a:rPr>
              <a:t>vessel</a:t>
            </a:r>
            <a:r>
              <a:rPr sz="2400" b="1" dirty="0">
                <a:solidFill>
                  <a:srgbClr val="1D1722"/>
                </a:solidFill>
                <a:latin typeface="Arial"/>
              </a:rPr>
              <a:t>, 283 frames a second</a:t>
            </a:r>
          </a:p>
        </p:txBody>
      </p:sp>
      <p:cxnSp>
        <p:nvCxnSpPr>
          <p:cNvPr id="141" name="Connector 140"/>
          <p:cNvCxnSpPr/>
          <p:nvPr/>
        </p:nvCxnSpPr>
        <p:spPr>
          <a:xfrm>
            <a:off x="4971722" y="1417320"/>
            <a:ext cx="0" cy="2560319"/>
          </a:xfrm>
          <a:prstGeom prst="line">
            <a:avLst/>
          </a:prstGeom>
          <a:ln w="25400">
            <a:solidFill>
              <a:srgbClr val="8A6A1F"/>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457200" y="1691640"/>
            <a:ext cx="2560320" cy="347472"/>
          </a:xfrm>
          <a:prstGeom prst="rect">
            <a:avLst/>
          </a:prstGeom>
          <a:noFill/>
        </p:spPr>
        <p:txBody>
          <a:bodyPr wrap="square" lIns="0" tIns="0" rIns="0" bIns="0" anchor="ctr">
            <a:spAutoFit/>
          </a:bodyPr>
          <a:lstStyle/>
          <a:p>
            <a:pPr algn="r"/>
            <a:r>
              <a:rPr sz="1200" b="0">
                <a:solidFill>
                  <a:srgbClr val="1D1722"/>
                </a:solidFill>
                <a:latin typeface="Arial"/>
              </a:rPr>
              <a:t>NMEA 2000 frames as JSON</a:t>
            </a:r>
          </a:p>
        </p:txBody>
      </p:sp>
      <p:sp>
        <p:nvSpPr>
          <p:cNvPr id="143" name="Rectangle 142"/>
          <p:cNvSpPr/>
          <p:nvPr/>
        </p:nvSpPr>
        <p:spPr>
          <a:xfrm>
            <a:off x="3063240" y="1746504"/>
            <a:ext cx="4559604" cy="237744"/>
          </a:xfrm>
          <a:prstGeom prst="rect">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Box 143"/>
          <p:cNvSpPr txBox="1"/>
          <p:nvPr/>
        </p:nvSpPr>
        <p:spPr>
          <a:xfrm>
            <a:off x="7695996" y="1728216"/>
            <a:ext cx="777240" cy="274320"/>
          </a:xfrm>
          <a:prstGeom prst="rect">
            <a:avLst/>
          </a:prstGeom>
          <a:solidFill>
            <a:srgbClr val="FFFFFF"/>
          </a:solidFill>
        </p:spPr>
        <p:txBody>
          <a:bodyPr wrap="square" lIns="0" tIns="0" rIns="0" bIns="0" anchor="ctr">
            <a:spAutoFit/>
          </a:bodyPr>
          <a:lstStyle/>
          <a:p>
            <a:pPr algn="l"/>
            <a:r>
              <a:rPr sz="1200" b="1">
                <a:solidFill>
                  <a:srgbClr val="1D1722"/>
                </a:solidFill>
                <a:latin typeface="Arial"/>
              </a:rPr>
              <a:t>~750 kbps</a:t>
            </a:r>
          </a:p>
        </p:txBody>
      </p:sp>
      <p:sp>
        <p:nvSpPr>
          <p:cNvPr id="145" name="TextBox 144"/>
          <p:cNvSpPr txBox="1"/>
          <p:nvPr/>
        </p:nvSpPr>
        <p:spPr>
          <a:xfrm>
            <a:off x="457200" y="2148840"/>
            <a:ext cx="2560320" cy="347472"/>
          </a:xfrm>
          <a:prstGeom prst="rect">
            <a:avLst/>
          </a:prstGeom>
          <a:noFill/>
        </p:spPr>
        <p:txBody>
          <a:bodyPr wrap="square" lIns="0" tIns="0" rIns="0" bIns="0" anchor="ctr">
            <a:spAutoFit/>
          </a:bodyPr>
          <a:lstStyle/>
          <a:p>
            <a:pPr algn="r"/>
            <a:r>
              <a:rPr sz="1200" b="0">
                <a:solidFill>
                  <a:srgbClr val="1D1722"/>
                </a:solidFill>
                <a:latin typeface="Arial"/>
              </a:rPr>
              <a:t>Same frames, raw binary</a:t>
            </a:r>
          </a:p>
        </p:txBody>
      </p:sp>
      <p:sp>
        <p:nvSpPr>
          <p:cNvPr id="146" name="Rectangle 145"/>
          <p:cNvSpPr/>
          <p:nvPr/>
        </p:nvSpPr>
        <p:spPr>
          <a:xfrm>
            <a:off x="3063240" y="2203704"/>
            <a:ext cx="2329609" cy="237744"/>
          </a:xfrm>
          <a:prstGeom prst="rect">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Box 146"/>
          <p:cNvSpPr txBox="1"/>
          <p:nvPr/>
        </p:nvSpPr>
        <p:spPr>
          <a:xfrm>
            <a:off x="5466001" y="2185416"/>
            <a:ext cx="777240" cy="274320"/>
          </a:xfrm>
          <a:prstGeom prst="rect">
            <a:avLst/>
          </a:prstGeom>
          <a:solidFill>
            <a:srgbClr val="FFFFFF"/>
          </a:solidFill>
        </p:spPr>
        <p:txBody>
          <a:bodyPr wrap="square" lIns="0" tIns="0" rIns="0" bIns="0" anchor="ctr">
            <a:spAutoFit/>
          </a:bodyPr>
          <a:lstStyle/>
          <a:p>
            <a:pPr algn="l"/>
            <a:r>
              <a:rPr sz="1200" b="1">
                <a:solidFill>
                  <a:srgbClr val="1D1722"/>
                </a:solidFill>
                <a:latin typeface="Arial"/>
              </a:rPr>
              <a:t>29 kbps</a:t>
            </a:r>
          </a:p>
        </p:txBody>
      </p:sp>
      <p:sp>
        <p:nvSpPr>
          <p:cNvPr id="148" name="TextBox 147"/>
          <p:cNvSpPr txBox="1"/>
          <p:nvPr/>
        </p:nvSpPr>
        <p:spPr>
          <a:xfrm>
            <a:off x="457200" y="2606040"/>
            <a:ext cx="2560320" cy="347472"/>
          </a:xfrm>
          <a:prstGeom prst="rect">
            <a:avLst/>
          </a:prstGeom>
          <a:noFill/>
        </p:spPr>
        <p:txBody>
          <a:bodyPr wrap="square" lIns="0" tIns="0" rIns="0" bIns="0" anchor="ctr">
            <a:spAutoFit/>
          </a:bodyPr>
          <a:lstStyle/>
          <a:p>
            <a:pPr algn="r"/>
            <a:r>
              <a:rPr sz="1200" b="0">
                <a:solidFill>
                  <a:srgbClr val="1D1722"/>
                </a:solidFill>
                <a:latin typeface="Arial"/>
              </a:rPr>
              <a:t>Twin state, 2 Hz</a:t>
            </a:r>
          </a:p>
        </p:txBody>
      </p:sp>
      <p:sp>
        <p:nvSpPr>
          <p:cNvPr id="149" name="Rectangle 148"/>
          <p:cNvSpPr/>
          <p:nvPr/>
        </p:nvSpPr>
        <p:spPr>
          <a:xfrm>
            <a:off x="3063240" y="2660904"/>
            <a:ext cx="2268654" cy="237744"/>
          </a:xfrm>
          <a:prstGeom prst="rect">
            <a:avLst/>
          </a:prstGeom>
          <a:solidFill>
            <a:srgbClr val="8FB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Box 149"/>
          <p:cNvSpPr txBox="1"/>
          <p:nvPr/>
        </p:nvSpPr>
        <p:spPr>
          <a:xfrm>
            <a:off x="5405046" y="2642616"/>
            <a:ext cx="777240" cy="274320"/>
          </a:xfrm>
          <a:prstGeom prst="rect">
            <a:avLst/>
          </a:prstGeom>
          <a:solidFill>
            <a:srgbClr val="FFFFFF"/>
          </a:solidFill>
        </p:spPr>
        <p:txBody>
          <a:bodyPr wrap="square" lIns="0" tIns="0" rIns="0" bIns="0" anchor="ctr">
            <a:spAutoFit/>
          </a:bodyPr>
          <a:lstStyle/>
          <a:p>
            <a:pPr algn="l"/>
            <a:r>
              <a:rPr sz="1200" b="1">
                <a:solidFill>
                  <a:srgbClr val="1D1722"/>
                </a:solidFill>
                <a:latin typeface="Arial"/>
              </a:rPr>
              <a:t>27 kbps</a:t>
            </a:r>
          </a:p>
        </p:txBody>
      </p:sp>
      <p:sp>
        <p:nvSpPr>
          <p:cNvPr id="151" name="TextBox 150"/>
          <p:cNvSpPr txBox="1"/>
          <p:nvPr/>
        </p:nvSpPr>
        <p:spPr>
          <a:xfrm>
            <a:off x="457200" y="3063240"/>
            <a:ext cx="2560320" cy="347472"/>
          </a:xfrm>
          <a:prstGeom prst="rect">
            <a:avLst/>
          </a:prstGeom>
          <a:noFill/>
        </p:spPr>
        <p:txBody>
          <a:bodyPr wrap="square" lIns="0" tIns="0" rIns="0" bIns="0" anchor="ctr">
            <a:spAutoFit/>
          </a:bodyPr>
          <a:lstStyle/>
          <a:p>
            <a:pPr algn="r"/>
            <a:r>
              <a:rPr sz="1200" b="0">
                <a:solidFill>
                  <a:srgbClr val="1D1722"/>
                </a:solidFill>
                <a:latin typeface="Arial"/>
              </a:rPr>
              <a:t>STANAG 4817 status, 1 Hz, JSON</a:t>
            </a:r>
          </a:p>
        </p:txBody>
      </p:sp>
      <p:sp>
        <p:nvSpPr>
          <p:cNvPr id="152" name="Rectangle 151"/>
          <p:cNvSpPr/>
          <p:nvPr/>
        </p:nvSpPr>
        <p:spPr>
          <a:xfrm>
            <a:off x="3063240" y="3118104"/>
            <a:ext cx="1675151" cy="237744"/>
          </a:xfrm>
          <a:prstGeom prst="rect">
            <a:avLst/>
          </a:prstGeom>
          <a:solidFill>
            <a:srgbClr val="8FB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TextBox 152"/>
          <p:cNvSpPr txBox="1"/>
          <p:nvPr/>
        </p:nvSpPr>
        <p:spPr>
          <a:xfrm>
            <a:off x="4811543" y="3099816"/>
            <a:ext cx="777240" cy="274320"/>
          </a:xfrm>
          <a:prstGeom prst="rect">
            <a:avLst/>
          </a:prstGeom>
          <a:solidFill>
            <a:srgbClr val="FFFFFF"/>
          </a:solidFill>
        </p:spPr>
        <p:txBody>
          <a:bodyPr wrap="square" lIns="0" tIns="0" rIns="0" bIns="0" anchor="ctr">
            <a:spAutoFit/>
          </a:bodyPr>
          <a:lstStyle/>
          <a:p>
            <a:pPr algn="l"/>
            <a:r>
              <a:rPr sz="1200" b="1">
                <a:solidFill>
                  <a:srgbClr val="1D1722"/>
                </a:solidFill>
                <a:latin typeface="Arial"/>
              </a:rPr>
              <a:t>11 kbps</a:t>
            </a:r>
          </a:p>
        </p:txBody>
      </p:sp>
      <p:sp>
        <p:nvSpPr>
          <p:cNvPr id="154" name="TextBox 153"/>
          <p:cNvSpPr txBox="1"/>
          <p:nvPr/>
        </p:nvSpPr>
        <p:spPr>
          <a:xfrm>
            <a:off x="457200" y="3520440"/>
            <a:ext cx="2560320" cy="347472"/>
          </a:xfrm>
          <a:prstGeom prst="rect">
            <a:avLst/>
          </a:prstGeom>
          <a:noFill/>
        </p:spPr>
        <p:txBody>
          <a:bodyPr wrap="square" lIns="0" tIns="0" rIns="0" bIns="0" anchor="ctr">
            <a:spAutoFit/>
          </a:bodyPr>
          <a:lstStyle/>
          <a:p>
            <a:pPr algn="r"/>
            <a:r>
              <a:rPr sz="1200" b="0">
                <a:solidFill>
                  <a:srgbClr val="1D1722"/>
                </a:solidFill>
                <a:latin typeface="Arial"/>
              </a:rPr>
              <a:t>Same status as protobuf</a:t>
            </a:r>
          </a:p>
        </p:txBody>
      </p:sp>
      <p:sp>
        <p:nvSpPr>
          <p:cNvPr id="155" name="Rectangle 154"/>
          <p:cNvSpPr/>
          <p:nvPr/>
        </p:nvSpPr>
        <p:spPr>
          <a:xfrm>
            <a:off x="3063240" y="3575304"/>
            <a:ext cx="404596" cy="237744"/>
          </a:xfrm>
          <a:prstGeom prst="rect">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TextBox 155"/>
          <p:cNvSpPr txBox="1"/>
          <p:nvPr/>
        </p:nvSpPr>
        <p:spPr>
          <a:xfrm>
            <a:off x="3540988" y="3557016"/>
            <a:ext cx="777240" cy="274320"/>
          </a:xfrm>
          <a:prstGeom prst="rect">
            <a:avLst/>
          </a:prstGeom>
          <a:solidFill>
            <a:srgbClr val="FFFFFF"/>
          </a:solidFill>
        </p:spPr>
        <p:txBody>
          <a:bodyPr wrap="square" lIns="0" tIns="0" rIns="0" bIns="0" anchor="ctr">
            <a:spAutoFit/>
          </a:bodyPr>
          <a:lstStyle/>
          <a:p>
            <a:pPr algn="l"/>
            <a:r>
              <a:rPr sz="1200" b="1">
                <a:solidFill>
                  <a:srgbClr val="1D1722"/>
                </a:solidFill>
                <a:latin typeface="Arial"/>
              </a:rPr>
              <a:t>1.8 kbps</a:t>
            </a:r>
          </a:p>
        </p:txBody>
      </p:sp>
      <p:sp>
        <p:nvSpPr>
          <p:cNvPr id="157" name="TextBox 156"/>
          <p:cNvSpPr txBox="1"/>
          <p:nvPr/>
        </p:nvSpPr>
        <p:spPr>
          <a:xfrm>
            <a:off x="5044874" y="1417320"/>
            <a:ext cx="2377440" cy="228600"/>
          </a:xfrm>
          <a:prstGeom prst="rect">
            <a:avLst/>
          </a:prstGeom>
          <a:noFill/>
        </p:spPr>
        <p:txBody>
          <a:bodyPr wrap="square" lIns="0" tIns="0" rIns="0" bIns="0" anchor="t">
            <a:spAutoFit/>
          </a:bodyPr>
          <a:lstStyle/>
          <a:p>
            <a:pPr algn="l"/>
            <a:r>
              <a:rPr sz="1100" b="1">
                <a:solidFill>
                  <a:srgbClr val="8A6A1F"/>
                </a:solidFill>
                <a:latin typeface="Arial"/>
              </a:rPr>
              <a:t>IoT Nano burst ceiling, 16 kbps</a:t>
            </a:r>
          </a:p>
        </p:txBody>
      </p:sp>
      <p:sp>
        <p:nvSpPr>
          <p:cNvPr id="158" name="TextBox 157"/>
          <p:cNvSpPr txBox="1"/>
          <p:nvPr/>
        </p:nvSpPr>
        <p:spPr>
          <a:xfrm>
            <a:off x="2788920" y="3995927"/>
            <a:ext cx="822960" cy="201168"/>
          </a:xfrm>
          <a:prstGeom prst="rect">
            <a:avLst/>
          </a:prstGeom>
          <a:noFill/>
        </p:spPr>
        <p:txBody>
          <a:bodyPr wrap="square" lIns="0" tIns="0" rIns="0" bIns="0" anchor="t">
            <a:spAutoFit/>
          </a:bodyPr>
          <a:lstStyle/>
          <a:p>
            <a:pPr algn="ctr"/>
            <a:r>
              <a:rPr sz="900" b="0">
                <a:solidFill>
                  <a:srgbClr val="7A7290"/>
                </a:solidFill>
                <a:latin typeface="Arial"/>
              </a:rPr>
              <a:t>1</a:t>
            </a:r>
          </a:p>
        </p:txBody>
      </p:sp>
      <p:sp>
        <p:nvSpPr>
          <p:cNvPr id="159" name="TextBox 158"/>
          <p:cNvSpPr txBox="1"/>
          <p:nvPr/>
        </p:nvSpPr>
        <p:spPr>
          <a:xfrm>
            <a:off x="4373880" y="3995927"/>
            <a:ext cx="822960" cy="201168"/>
          </a:xfrm>
          <a:prstGeom prst="rect">
            <a:avLst/>
          </a:prstGeom>
          <a:noFill/>
        </p:spPr>
        <p:txBody>
          <a:bodyPr wrap="square" lIns="0" tIns="0" rIns="0" bIns="0" anchor="t">
            <a:spAutoFit/>
          </a:bodyPr>
          <a:lstStyle/>
          <a:p>
            <a:pPr algn="ctr"/>
            <a:r>
              <a:rPr sz="900" b="0">
                <a:solidFill>
                  <a:srgbClr val="7A7290"/>
                </a:solidFill>
                <a:latin typeface="Arial"/>
              </a:rPr>
              <a:t>10</a:t>
            </a:r>
          </a:p>
        </p:txBody>
      </p:sp>
      <p:sp>
        <p:nvSpPr>
          <p:cNvPr id="160" name="TextBox 159"/>
          <p:cNvSpPr txBox="1"/>
          <p:nvPr/>
        </p:nvSpPr>
        <p:spPr>
          <a:xfrm>
            <a:off x="5958840" y="3995927"/>
            <a:ext cx="822960" cy="201168"/>
          </a:xfrm>
          <a:prstGeom prst="rect">
            <a:avLst/>
          </a:prstGeom>
          <a:noFill/>
        </p:spPr>
        <p:txBody>
          <a:bodyPr wrap="square" lIns="0" tIns="0" rIns="0" bIns="0" anchor="t">
            <a:spAutoFit/>
          </a:bodyPr>
          <a:lstStyle/>
          <a:p>
            <a:pPr algn="ctr"/>
            <a:r>
              <a:rPr sz="900" b="0">
                <a:solidFill>
                  <a:srgbClr val="7A7290"/>
                </a:solidFill>
                <a:latin typeface="Arial"/>
              </a:rPr>
              <a:t>100</a:t>
            </a:r>
          </a:p>
        </p:txBody>
      </p:sp>
      <p:sp>
        <p:nvSpPr>
          <p:cNvPr id="161" name="TextBox 160"/>
          <p:cNvSpPr txBox="1"/>
          <p:nvPr/>
        </p:nvSpPr>
        <p:spPr>
          <a:xfrm>
            <a:off x="7269480" y="3995927"/>
            <a:ext cx="822960" cy="201168"/>
          </a:xfrm>
          <a:prstGeom prst="rect">
            <a:avLst/>
          </a:prstGeom>
          <a:noFill/>
        </p:spPr>
        <p:txBody>
          <a:bodyPr wrap="square" lIns="0" tIns="0" rIns="0" bIns="0" anchor="t">
            <a:spAutoFit/>
          </a:bodyPr>
          <a:lstStyle/>
          <a:p>
            <a:pPr algn="r"/>
            <a:r>
              <a:rPr sz="900" b="0">
                <a:solidFill>
                  <a:srgbClr val="7A7290"/>
                </a:solidFill>
                <a:latin typeface="Arial"/>
              </a:rPr>
              <a:t>1,000 kbps</a:t>
            </a:r>
          </a:p>
        </p:txBody>
      </p:sp>
      <p:sp>
        <p:nvSpPr>
          <p:cNvPr id="162" name="TextBox 161"/>
          <p:cNvSpPr txBox="1"/>
          <p:nvPr/>
        </p:nvSpPr>
        <p:spPr>
          <a:xfrm>
            <a:off x="457200" y="4251960"/>
            <a:ext cx="8138160" cy="365760"/>
          </a:xfrm>
          <a:prstGeom prst="rect">
            <a:avLst/>
          </a:prstGeom>
          <a:noFill/>
        </p:spPr>
        <p:txBody>
          <a:bodyPr wrap="square" lIns="0" tIns="0" rIns="0" bIns="0" anchor="t">
            <a:spAutoFit/>
          </a:bodyPr>
          <a:lstStyle/>
          <a:p>
            <a:pPr algn="l"/>
            <a:r>
              <a:rPr sz="1600" b="1">
                <a:solidFill>
                  <a:srgbClr val="1D1722"/>
                </a:solidFill>
                <a:latin typeface="Arial"/>
              </a:rPr>
              <a:t>Raw, it does not fit. As state, it does.</a:t>
            </a:r>
          </a:p>
        </p:txBody>
      </p:sp>
      <p:sp>
        <p:nvSpPr>
          <p:cNvPr id="163" name="TextBox 162"/>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 </a:t>
            </a:r>
            <a:r>
              <a:rPr lang="en-US" sz="1000" b="0" dirty="0">
                <a:solidFill>
                  <a:srgbClr val="7A7290"/>
                </a:solidFill>
                <a:latin typeface="Arial"/>
              </a:rPr>
              <a:t>vessel</a:t>
            </a:r>
            <a:r>
              <a:rPr sz="1000" b="0" dirty="0">
                <a:solidFill>
                  <a:srgbClr val="7A7290"/>
                </a:solidFill>
                <a:latin typeface="Arial"/>
              </a:rPr>
              <a:t>: median of 4,552 live minutes; sizes from recorded payloads. Log scale.</a:t>
            </a:r>
          </a:p>
        </p:txBody>
      </p:sp>
      <p:pic>
        <p:nvPicPr>
          <p:cNvPr id="3" name="Picture 2">
            <a:extLst>
              <a:ext uri="{FF2B5EF4-FFF2-40B4-BE49-F238E27FC236}">
                <a16:creationId xmlns:a16="http://schemas.microsoft.com/office/drawing/2014/main" id="{9F79FD03-8887-40BB-A604-B695151E4D1D}"/>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02 · FROM BUS TO STATE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Frames become state, state becomes events</a:t>
            </a:r>
          </a:p>
        </p:txBody>
      </p:sp>
      <p:sp>
        <p:nvSpPr>
          <p:cNvPr id="141" name="Rounded Rectangle 140"/>
          <p:cNvSpPr/>
          <p:nvPr/>
        </p:nvSpPr>
        <p:spPr>
          <a:xfrm>
            <a:off x="457200" y="1627632"/>
            <a:ext cx="1828800" cy="1234440"/>
          </a:xfrm>
          <a:prstGeom prst="roundRect">
            <a:avLst>
              <a:gd name="adj" fmla="val 8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621792" y="1719072"/>
            <a:ext cx="1554480" cy="457200"/>
          </a:xfrm>
          <a:prstGeom prst="rect">
            <a:avLst/>
          </a:prstGeom>
          <a:noFill/>
        </p:spPr>
        <p:txBody>
          <a:bodyPr wrap="square" lIns="0" tIns="0" rIns="0" bIns="0" anchor="t">
            <a:spAutoFit/>
          </a:bodyPr>
          <a:lstStyle/>
          <a:p>
            <a:pPr algn="l"/>
            <a:r>
              <a:rPr sz="2400" b="1">
                <a:solidFill>
                  <a:srgbClr val="C9A15F"/>
                </a:solidFill>
                <a:latin typeface="Arial"/>
              </a:rPr>
              <a:t>283 / s</a:t>
            </a:r>
          </a:p>
        </p:txBody>
      </p:sp>
      <p:sp>
        <p:nvSpPr>
          <p:cNvPr id="143" name="TextBox 142"/>
          <p:cNvSpPr txBox="1"/>
          <p:nvPr/>
        </p:nvSpPr>
        <p:spPr>
          <a:xfrm>
            <a:off x="594360" y="2212848"/>
            <a:ext cx="1645920" cy="274320"/>
          </a:xfrm>
          <a:prstGeom prst="rect">
            <a:avLst/>
          </a:prstGeom>
          <a:noFill/>
        </p:spPr>
        <p:txBody>
          <a:bodyPr wrap="square" lIns="0" tIns="0" rIns="0" bIns="0" anchor="t">
            <a:spAutoFit/>
          </a:bodyPr>
          <a:lstStyle/>
          <a:p>
            <a:pPr algn="l"/>
            <a:r>
              <a:rPr sz="1150" b="1">
                <a:solidFill>
                  <a:srgbClr val="FFFFFF"/>
                </a:solidFill>
                <a:latin typeface="Arial"/>
              </a:rPr>
              <a:t>NMEA 2000 frames</a:t>
            </a:r>
          </a:p>
        </p:txBody>
      </p:sp>
      <p:sp>
        <p:nvSpPr>
          <p:cNvPr id="144" name="TextBox 143"/>
          <p:cNvSpPr txBox="1"/>
          <p:nvPr/>
        </p:nvSpPr>
        <p:spPr>
          <a:xfrm>
            <a:off x="621792" y="2487168"/>
            <a:ext cx="1600200" cy="274320"/>
          </a:xfrm>
          <a:prstGeom prst="rect">
            <a:avLst/>
          </a:prstGeom>
          <a:noFill/>
        </p:spPr>
        <p:txBody>
          <a:bodyPr wrap="square" lIns="0" tIns="0" rIns="0" bIns="0" anchor="t">
            <a:spAutoFit/>
          </a:bodyPr>
          <a:lstStyle/>
          <a:p>
            <a:pPr algn="l"/>
            <a:r>
              <a:rPr sz="1050" b="0">
                <a:solidFill>
                  <a:srgbClr val="D9D2EA"/>
                </a:solidFill>
                <a:latin typeface="Arial"/>
              </a:rPr>
              <a:t>on the boat’s bus</a:t>
            </a:r>
          </a:p>
        </p:txBody>
      </p:sp>
      <p:sp>
        <p:nvSpPr>
          <p:cNvPr id="145" name="Right Arrow 144"/>
          <p:cNvSpPr/>
          <p:nvPr/>
        </p:nvSpPr>
        <p:spPr>
          <a:xfrm>
            <a:off x="2322576" y="214884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ounded Rectangle 145"/>
          <p:cNvSpPr/>
          <p:nvPr/>
        </p:nvSpPr>
        <p:spPr>
          <a:xfrm>
            <a:off x="2560320" y="1627632"/>
            <a:ext cx="1828800" cy="123444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Box 146"/>
          <p:cNvSpPr txBox="1"/>
          <p:nvPr/>
        </p:nvSpPr>
        <p:spPr>
          <a:xfrm>
            <a:off x="2724912" y="1719072"/>
            <a:ext cx="1554480" cy="457200"/>
          </a:xfrm>
          <a:prstGeom prst="rect">
            <a:avLst/>
          </a:prstGeom>
          <a:noFill/>
        </p:spPr>
        <p:txBody>
          <a:bodyPr wrap="square" lIns="0" tIns="0" rIns="0" bIns="0" anchor="t">
            <a:spAutoFit/>
          </a:bodyPr>
          <a:lstStyle/>
          <a:p>
            <a:pPr algn="l"/>
            <a:r>
              <a:rPr sz="2400" b="1">
                <a:solidFill>
                  <a:srgbClr val="6B4BC0"/>
                </a:solidFill>
                <a:latin typeface="Arial"/>
              </a:rPr>
              <a:t>2 / s</a:t>
            </a:r>
          </a:p>
        </p:txBody>
      </p:sp>
      <p:sp>
        <p:nvSpPr>
          <p:cNvPr id="148" name="TextBox 147"/>
          <p:cNvSpPr txBox="1"/>
          <p:nvPr/>
        </p:nvSpPr>
        <p:spPr>
          <a:xfrm>
            <a:off x="2697479" y="2212848"/>
            <a:ext cx="1645920" cy="274320"/>
          </a:xfrm>
          <a:prstGeom prst="rect">
            <a:avLst/>
          </a:prstGeom>
          <a:noFill/>
        </p:spPr>
        <p:txBody>
          <a:bodyPr wrap="square" lIns="0" tIns="0" rIns="0" bIns="0" anchor="t">
            <a:spAutoFit/>
          </a:bodyPr>
          <a:lstStyle/>
          <a:p>
            <a:pPr algn="l"/>
            <a:r>
              <a:rPr sz="1300" b="1">
                <a:solidFill>
                  <a:srgbClr val="1D1722"/>
                </a:solidFill>
                <a:latin typeface="Arial"/>
              </a:rPr>
              <a:t>Twin</a:t>
            </a:r>
          </a:p>
        </p:txBody>
      </p:sp>
      <p:sp>
        <p:nvSpPr>
          <p:cNvPr id="149" name="TextBox 148"/>
          <p:cNvSpPr txBox="1"/>
          <p:nvPr/>
        </p:nvSpPr>
        <p:spPr>
          <a:xfrm>
            <a:off x="2724912" y="2487168"/>
            <a:ext cx="1600200" cy="274320"/>
          </a:xfrm>
          <a:prstGeom prst="rect">
            <a:avLst/>
          </a:prstGeom>
          <a:noFill/>
        </p:spPr>
        <p:txBody>
          <a:bodyPr wrap="square" lIns="0" tIns="0" rIns="0" bIns="0" anchor="t">
            <a:spAutoFit/>
          </a:bodyPr>
          <a:lstStyle/>
          <a:p>
            <a:pPr algn="l"/>
            <a:r>
              <a:rPr sz="1050" b="0">
                <a:solidFill>
                  <a:srgbClr val="4A4458"/>
                </a:solidFill>
                <a:latin typeface="Arial"/>
              </a:rPr>
              <a:t>/state/twins/RHIB-001</a:t>
            </a:r>
          </a:p>
        </p:txBody>
      </p:sp>
      <p:sp>
        <p:nvSpPr>
          <p:cNvPr id="150" name="Right Arrow 149"/>
          <p:cNvSpPr/>
          <p:nvPr/>
        </p:nvSpPr>
        <p:spPr>
          <a:xfrm>
            <a:off x="4425696" y="214884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150"/>
          <p:cNvSpPr/>
          <p:nvPr/>
        </p:nvSpPr>
        <p:spPr>
          <a:xfrm>
            <a:off x="4663440" y="1627632"/>
            <a:ext cx="1828800" cy="123444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TextBox 151"/>
          <p:cNvSpPr txBox="1"/>
          <p:nvPr/>
        </p:nvSpPr>
        <p:spPr>
          <a:xfrm>
            <a:off x="4828031" y="1719072"/>
            <a:ext cx="1554480" cy="457200"/>
          </a:xfrm>
          <a:prstGeom prst="rect">
            <a:avLst/>
          </a:prstGeom>
          <a:noFill/>
        </p:spPr>
        <p:txBody>
          <a:bodyPr wrap="square" lIns="0" tIns="0" rIns="0" bIns="0" anchor="t">
            <a:spAutoFit/>
          </a:bodyPr>
          <a:lstStyle/>
          <a:p>
            <a:pPr algn="l"/>
            <a:r>
              <a:rPr sz="2400" b="1">
                <a:solidFill>
                  <a:srgbClr val="6B4BC0"/>
                </a:solidFill>
                <a:latin typeface="Arial"/>
              </a:rPr>
              <a:t>1 / s</a:t>
            </a:r>
          </a:p>
        </p:txBody>
      </p:sp>
      <p:sp>
        <p:nvSpPr>
          <p:cNvPr id="153" name="TextBox 152"/>
          <p:cNvSpPr txBox="1"/>
          <p:nvPr/>
        </p:nvSpPr>
        <p:spPr>
          <a:xfrm>
            <a:off x="4800600" y="2212848"/>
            <a:ext cx="1645920" cy="274320"/>
          </a:xfrm>
          <a:prstGeom prst="rect">
            <a:avLst/>
          </a:prstGeom>
          <a:noFill/>
        </p:spPr>
        <p:txBody>
          <a:bodyPr wrap="square" lIns="0" tIns="0" rIns="0" bIns="0" anchor="t">
            <a:spAutoFit/>
          </a:bodyPr>
          <a:lstStyle/>
          <a:p>
            <a:pPr algn="l"/>
            <a:r>
              <a:rPr sz="1300" b="1">
                <a:solidFill>
                  <a:srgbClr val="1D1722"/>
                </a:solidFill>
                <a:latin typeface="Arial"/>
              </a:rPr>
              <a:t>NODE_STATUS</a:t>
            </a:r>
          </a:p>
        </p:txBody>
      </p:sp>
      <p:sp>
        <p:nvSpPr>
          <p:cNvPr id="154" name="TextBox 153"/>
          <p:cNvSpPr txBox="1"/>
          <p:nvPr/>
        </p:nvSpPr>
        <p:spPr>
          <a:xfrm>
            <a:off x="4828031" y="2487168"/>
            <a:ext cx="1600200" cy="274320"/>
          </a:xfrm>
          <a:prstGeom prst="rect">
            <a:avLst/>
          </a:prstGeom>
          <a:noFill/>
        </p:spPr>
        <p:txBody>
          <a:bodyPr wrap="square" lIns="0" tIns="0" rIns="0" bIns="0" anchor="t">
            <a:spAutoFit/>
          </a:bodyPr>
          <a:lstStyle/>
          <a:p>
            <a:pPr algn="l"/>
            <a:r>
              <a:rPr sz="1050" b="0">
                <a:solidFill>
                  <a:srgbClr val="4A4458"/>
                </a:solidFill>
                <a:latin typeface="Arial"/>
              </a:rPr>
              <a:t>STANAG 4817</a:t>
            </a:r>
          </a:p>
        </p:txBody>
      </p:sp>
      <p:sp>
        <p:nvSpPr>
          <p:cNvPr id="155" name="Right Arrow 154"/>
          <p:cNvSpPr/>
          <p:nvPr/>
        </p:nvSpPr>
        <p:spPr>
          <a:xfrm>
            <a:off x="6528816" y="2148840"/>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ounded Rectangle 155"/>
          <p:cNvSpPr/>
          <p:nvPr/>
        </p:nvSpPr>
        <p:spPr>
          <a:xfrm>
            <a:off x="6766559" y="1627632"/>
            <a:ext cx="1828800" cy="123444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TextBox 156"/>
          <p:cNvSpPr txBox="1"/>
          <p:nvPr/>
        </p:nvSpPr>
        <p:spPr>
          <a:xfrm>
            <a:off x="6931151" y="1719072"/>
            <a:ext cx="1554480" cy="457200"/>
          </a:xfrm>
          <a:prstGeom prst="rect">
            <a:avLst/>
          </a:prstGeom>
          <a:noFill/>
        </p:spPr>
        <p:txBody>
          <a:bodyPr wrap="square" lIns="0" tIns="0" rIns="0" bIns="0" anchor="t">
            <a:spAutoFit/>
          </a:bodyPr>
          <a:lstStyle/>
          <a:p>
            <a:pPr algn="l"/>
            <a:r>
              <a:rPr sz="2400" b="1">
                <a:solidFill>
                  <a:srgbClr val="6B4BC0"/>
                </a:solidFill>
                <a:latin typeface="Arial"/>
              </a:rPr>
              <a:t>1 / 15 s</a:t>
            </a:r>
          </a:p>
        </p:txBody>
      </p:sp>
      <p:sp>
        <p:nvSpPr>
          <p:cNvPr id="158" name="TextBox 157"/>
          <p:cNvSpPr txBox="1"/>
          <p:nvPr/>
        </p:nvSpPr>
        <p:spPr>
          <a:xfrm>
            <a:off x="6903720" y="2212848"/>
            <a:ext cx="1645920" cy="274320"/>
          </a:xfrm>
          <a:prstGeom prst="rect">
            <a:avLst/>
          </a:prstGeom>
          <a:noFill/>
        </p:spPr>
        <p:txBody>
          <a:bodyPr wrap="square" lIns="0" tIns="0" rIns="0" bIns="0" anchor="t">
            <a:spAutoFit/>
          </a:bodyPr>
          <a:lstStyle/>
          <a:p>
            <a:pPr algn="l"/>
            <a:r>
              <a:rPr sz="1150" b="1">
                <a:solidFill>
                  <a:srgbClr val="1D1722"/>
                </a:solidFill>
                <a:latin typeface="Arial"/>
              </a:rPr>
              <a:t>NODE_DESCRIPTION</a:t>
            </a:r>
          </a:p>
        </p:txBody>
      </p:sp>
      <p:sp>
        <p:nvSpPr>
          <p:cNvPr id="159" name="TextBox 158"/>
          <p:cNvSpPr txBox="1"/>
          <p:nvPr/>
        </p:nvSpPr>
        <p:spPr>
          <a:xfrm>
            <a:off x="6931151" y="2487168"/>
            <a:ext cx="1600200" cy="274320"/>
          </a:xfrm>
          <a:prstGeom prst="rect">
            <a:avLst/>
          </a:prstGeom>
          <a:noFill/>
        </p:spPr>
        <p:txBody>
          <a:bodyPr wrap="square" lIns="0" tIns="0" rIns="0" bIns="0" anchor="t">
            <a:spAutoFit/>
          </a:bodyPr>
          <a:lstStyle/>
          <a:p>
            <a:pPr algn="l"/>
            <a:r>
              <a:rPr sz="1050" b="0">
                <a:solidFill>
                  <a:srgbClr val="4A4458"/>
                </a:solidFill>
                <a:latin typeface="Arial"/>
              </a:rPr>
              <a:t>STANAG 4817</a:t>
            </a:r>
          </a:p>
        </p:txBody>
      </p:sp>
      <p:sp>
        <p:nvSpPr>
          <p:cNvPr id="160" name="TextBox 159"/>
          <p:cNvSpPr txBox="1"/>
          <p:nvPr/>
        </p:nvSpPr>
        <p:spPr>
          <a:xfrm>
            <a:off x="457200" y="3127248"/>
            <a:ext cx="2606040" cy="274320"/>
          </a:xfrm>
          <a:prstGeom prst="rect">
            <a:avLst/>
          </a:prstGeom>
          <a:noFill/>
        </p:spPr>
        <p:txBody>
          <a:bodyPr wrap="square" lIns="0" tIns="0" rIns="0" bIns="0" anchor="t">
            <a:spAutoFit/>
          </a:bodyPr>
          <a:lstStyle/>
          <a:p>
            <a:pPr algn="l"/>
            <a:r>
              <a:rPr sz="1000" b="1">
                <a:solidFill>
                  <a:srgbClr val="6B4BC0"/>
                </a:solidFill>
                <a:latin typeface="Arial"/>
              </a:rPr>
              <a:t>RATE</a:t>
            </a:r>
          </a:p>
        </p:txBody>
      </p:sp>
      <p:sp>
        <p:nvSpPr>
          <p:cNvPr id="161" name="TextBox 160"/>
          <p:cNvSpPr txBox="1"/>
          <p:nvPr/>
        </p:nvSpPr>
        <p:spPr>
          <a:xfrm>
            <a:off x="457200" y="3383280"/>
            <a:ext cx="2606040" cy="640080"/>
          </a:xfrm>
          <a:prstGeom prst="rect">
            <a:avLst/>
          </a:prstGeom>
          <a:noFill/>
        </p:spPr>
        <p:txBody>
          <a:bodyPr wrap="square" lIns="0" tIns="0" rIns="0" bIns="0" anchor="t">
            <a:spAutoFit/>
          </a:bodyPr>
          <a:lstStyle/>
          <a:p>
            <a:pPr algn="l"/>
            <a:r>
              <a:rPr sz="1300" b="0">
                <a:solidFill>
                  <a:srgbClr val="1D1722"/>
                </a:solidFill>
                <a:latin typeface="Arial"/>
              </a:rPr>
              <a:t>Twin every 500 ms, status every 1 s, description every 15 s</a:t>
            </a:r>
          </a:p>
        </p:txBody>
      </p:sp>
      <p:sp>
        <p:nvSpPr>
          <p:cNvPr id="162" name="TextBox 161"/>
          <p:cNvSpPr txBox="1"/>
          <p:nvPr/>
        </p:nvSpPr>
        <p:spPr>
          <a:xfrm>
            <a:off x="3273552" y="3127248"/>
            <a:ext cx="2606040" cy="274320"/>
          </a:xfrm>
          <a:prstGeom prst="rect">
            <a:avLst/>
          </a:prstGeom>
          <a:noFill/>
        </p:spPr>
        <p:txBody>
          <a:bodyPr wrap="square" lIns="0" tIns="0" rIns="0" bIns="0" anchor="t">
            <a:spAutoFit/>
          </a:bodyPr>
          <a:lstStyle/>
          <a:p>
            <a:pPr algn="l"/>
            <a:r>
              <a:rPr sz="1000" b="1">
                <a:solidFill>
                  <a:srgbClr val="6B4BC0"/>
                </a:solidFill>
                <a:latin typeface="Arial"/>
              </a:rPr>
              <a:t>LIVENESS</a:t>
            </a:r>
          </a:p>
        </p:txBody>
      </p:sp>
      <p:sp>
        <p:nvSpPr>
          <p:cNvPr id="163" name="TextBox 162"/>
          <p:cNvSpPr txBox="1"/>
          <p:nvPr/>
        </p:nvSpPr>
        <p:spPr>
          <a:xfrm>
            <a:off x="3273552" y="3383280"/>
            <a:ext cx="2606040" cy="640080"/>
          </a:xfrm>
          <a:prstGeom prst="rect">
            <a:avLst/>
          </a:prstGeom>
          <a:noFill/>
        </p:spPr>
        <p:txBody>
          <a:bodyPr wrap="square" lIns="0" tIns="0" rIns="0" bIns="0" anchor="t">
            <a:spAutoFit/>
          </a:bodyPr>
          <a:lstStyle/>
          <a:p>
            <a:pPr algn="l"/>
            <a:r>
              <a:rPr sz="1300" b="0">
                <a:solidFill>
                  <a:srgbClr val="1D1722"/>
                </a:solidFill>
                <a:latin typeface="Arial"/>
              </a:rPr>
              <a:t>Heartbeat 5 s, stale after 10 s, twin retired after 120 s</a:t>
            </a:r>
          </a:p>
        </p:txBody>
      </p:sp>
      <p:sp>
        <p:nvSpPr>
          <p:cNvPr id="164" name="TextBox 163"/>
          <p:cNvSpPr txBox="1"/>
          <p:nvPr/>
        </p:nvSpPr>
        <p:spPr>
          <a:xfrm>
            <a:off x="6089904" y="3127248"/>
            <a:ext cx="2606040" cy="274320"/>
          </a:xfrm>
          <a:prstGeom prst="rect">
            <a:avLst/>
          </a:prstGeom>
          <a:noFill/>
        </p:spPr>
        <p:txBody>
          <a:bodyPr wrap="square" lIns="0" tIns="0" rIns="0" bIns="0" anchor="t">
            <a:spAutoFit/>
          </a:bodyPr>
          <a:lstStyle/>
          <a:p>
            <a:pPr algn="l"/>
            <a:r>
              <a:rPr sz="1000" b="1">
                <a:solidFill>
                  <a:srgbClr val="6B4BC0"/>
                </a:solidFill>
                <a:latin typeface="Arial"/>
              </a:rPr>
              <a:t>VALIDITY</a:t>
            </a:r>
          </a:p>
        </p:txBody>
      </p:sp>
      <p:sp>
        <p:nvSpPr>
          <p:cNvPr id="165" name="TextBox 164"/>
          <p:cNvSpPr txBox="1"/>
          <p:nvPr/>
        </p:nvSpPr>
        <p:spPr>
          <a:xfrm>
            <a:off x="6089904" y="3383280"/>
            <a:ext cx="2606040" cy="640080"/>
          </a:xfrm>
          <a:prstGeom prst="rect">
            <a:avLst/>
          </a:prstGeom>
          <a:noFill/>
        </p:spPr>
        <p:txBody>
          <a:bodyPr wrap="square" lIns="0" tIns="0" rIns="0" bIns="0" anchor="t">
            <a:spAutoFit/>
          </a:bodyPr>
          <a:lstStyle/>
          <a:p>
            <a:pPr algn="l"/>
            <a:r>
              <a:rPr sz="1300" b="0">
                <a:solidFill>
                  <a:srgbClr val="1D1722"/>
                </a:solidFill>
                <a:latin typeface="Arial"/>
              </a:rPr>
              <a:t>Every status says how long it stays true: 2 hours at REPMUS</a:t>
            </a:r>
          </a:p>
        </p:txBody>
      </p:sp>
      <p:sp>
        <p:nvSpPr>
          <p:cNvPr id="166" name="TextBox 165"/>
          <p:cNvSpPr txBox="1"/>
          <p:nvPr/>
        </p:nvSpPr>
        <p:spPr>
          <a:xfrm>
            <a:off x="457200" y="4160520"/>
            <a:ext cx="8138160" cy="365760"/>
          </a:xfrm>
          <a:prstGeom prst="rect">
            <a:avLst/>
          </a:prstGeom>
          <a:noFill/>
        </p:spPr>
        <p:txBody>
          <a:bodyPr wrap="square" lIns="0" tIns="0" rIns="0" bIns="0" anchor="t">
            <a:spAutoFit/>
          </a:bodyPr>
          <a:lstStyle/>
          <a:p>
            <a:pPr algn="l"/>
            <a:r>
              <a:rPr sz="1600" b="1">
                <a:solidFill>
                  <a:srgbClr val="1D1722"/>
                </a:solidFill>
                <a:latin typeface="Arial"/>
              </a:rPr>
              <a:t>Every one of these is configuration, per asset class. None of it is code.</a:t>
            </a:r>
          </a:p>
        </p:txBody>
      </p:sp>
      <p:sp>
        <p:nvSpPr>
          <p:cNvPr id="167" name="TextBox 166"/>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 </a:t>
            </a:r>
            <a:r>
              <a:rPr lang="en-US" sz="1000" b="0" dirty="0">
                <a:solidFill>
                  <a:srgbClr val="7A7290"/>
                </a:solidFill>
                <a:latin typeface="Arial"/>
              </a:rPr>
              <a:t>vessel</a:t>
            </a:r>
            <a:r>
              <a:rPr sz="1000" b="0" dirty="0">
                <a:solidFill>
                  <a:srgbClr val="7A7290"/>
                </a:solidFill>
                <a:latin typeface="Arial"/>
              </a:rPr>
              <a:t> recorded cadences (median intervals) · MAPS </a:t>
            </a:r>
            <a:r>
              <a:rPr sz="1000" b="0" dirty="0" err="1">
                <a:solidFill>
                  <a:srgbClr val="7A7290"/>
                </a:solidFill>
                <a:latin typeface="Arial"/>
              </a:rPr>
              <a:t>TwinManager</a:t>
            </a:r>
            <a:r>
              <a:rPr sz="1000" b="0" dirty="0">
                <a:solidFill>
                  <a:srgbClr val="7A7290"/>
                </a:solidFill>
                <a:latin typeface="Arial"/>
              </a:rPr>
              <a:t> configuration</a:t>
            </a:r>
          </a:p>
        </p:txBody>
      </p:sp>
      <p:pic>
        <p:nvPicPr>
          <p:cNvPr id="3" name="Picture 2">
            <a:extLst>
              <a:ext uri="{FF2B5EF4-FFF2-40B4-BE49-F238E27FC236}">
                <a16:creationId xmlns:a16="http://schemas.microsoft.com/office/drawing/2014/main" id="{F4F85784-3D7F-65B7-DE24-DBB28F682097}"/>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02 · FROM BUS TO STATE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Down-sample before you route, not after</a:t>
            </a:r>
          </a:p>
        </p:txBody>
      </p:sp>
      <p:graphicFrame>
        <p:nvGraphicFramePr>
          <p:cNvPr id="141" name="Table 140"/>
          <p:cNvGraphicFramePr>
            <a:graphicFrameLocks noGrp="1"/>
          </p:cNvGraphicFramePr>
          <p:nvPr>
            <p:extLst>
              <p:ext uri="{D42A27DB-BD31-4B8C-83A1-F6EECF244321}">
                <p14:modId xmlns:p14="http://schemas.microsoft.com/office/powerpoint/2010/main" val="1043790507"/>
              </p:ext>
            </p:extLst>
          </p:nvPr>
        </p:nvGraphicFramePr>
        <p:xfrm>
          <a:off x="457200" y="1572768"/>
          <a:ext cx="8229599" cy="2084832"/>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621024">
                  <a:extLst>
                    <a:ext uri="{9D8B030D-6E8A-4147-A177-3AD203B41FA5}">
                      <a16:colId xmlns:a16="http://schemas.microsoft.com/office/drawing/2014/main" val="20001"/>
                    </a:ext>
                  </a:extLst>
                </a:gridCol>
                <a:gridCol w="1234439">
                  <a:extLst>
                    <a:ext uri="{9D8B030D-6E8A-4147-A177-3AD203B41FA5}">
                      <a16:colId xmlns:a16="http://schemas.microsoft.com/office/drawing/2014/main" val="20002"/>
                    </a:ext>
                  </a:extLst>
                </a:gridCol>
                <a:gridCol w="1728216">
                  <a:extLst>
                    <a:ext uri="{9D8B030D-6E8A-4147-A177-3AD203B41FA5}">
                      <a16:colId xmlns:a16="http://schemas.microsoft.com/office/drawing/2014/main" val="20003"/>
                    </a:ext>
                  </a:extLst>
                </a:gridCol>
              </a:tblGrid>
              <a:tr h="402336">
                <a:tc>
                  <a:txBody>
                    <a:bodyPr/>
                    <a:lstStyle/>
                    <a:p>
                      <a:r>
                        <a:rPr sz="1200" b="1">
                          <a:solidFill>
                            <a:srgbClr val="FFFFFF"/>
                          </a:solidFill>
                          <a:latin typeface="Arial"/>
                        </a:rPr>
                        <a:t>Path</a:t>
                      </a:r>
                    </a:p>
                  </a:txBody>
                  <a:tcPr marT="36576" marB="36576" anchor="ctr">
                    <a:solidFill>
                      <a:srgbClr val="321241"/>
                    </a:solidFill>
                  </a:tcPr>
                </a:tc>
                <a:tc>
                  <a:txBody>
                    <a:bodyPr/>
                    <a:lstStyle/>
                    <a:p>
                      <a:r>
                        <a:rPr sz="1200" b="1">
                          <a:solidFill>
                            <a:srgbClr val="FFFFFF"/>
                          </a:solidFill>
                          <a:latin typeface="Arial"/>
                        </a:rPr>
                        <a:t>What leaves the edge</a:t>
                      </a:r>
                    </a:p>
                  </a:txBody>
                  <a:tcPr marT="36576" marB="36576" anchor="ctr">
                    <a:solidFill>
                      <a:srgbClr val="321241"/>
                    </a:solidFill>
                  </a:tcPr>
                </a:tc>
                <a:tc>
                  <a:txBody>
                    <a:bodyPr/>
                    <a:lstStyle/>
                    <a:p>
                      <a:r>
                        <a:rPr sz="1200" b="1">
                          <a:solidFill>
                            <a:srgbClr val="FFFFFF"/>
                          </a:solidFill>
                          <a:latin typeface="Arial"/>
                        </a:rPr>
                        <a:t>Measured</a:t>
                      </a:r>
                    </a:p>
                  </a:txBody>
                  <a:tcPr marT="36576" marB="36576" anchor="ctr">
                    <a:solidFill>
                      <a:srgbClr val="321241"/>
                    </a:solidFill>
                  </a:tcPr>
                </a:tc>
                <a:tc>
                  <a:txBody>
                    <a:bodyPr/>
                    <a:lstStyle/>
                    <a:p>
                      <a:r>
                        <a:rPr sz="1200" b="1">
                          <a:solidFill>
                            <a:srgbClr val="FFFFFF"/>
                          </a:solidFill>
                          <a:latin typeface="Arial"/>
                        </a:rPr>
                        <a:t>Suits</a:t>
                      </a:r>
                    </a:p>
                  </a:txBody>
                  <a:tcPr marT="36576" marB="36576" anchor="ctr">
                    <a:solidFill>
                      <a:srgbClr val="321241"/>
                    </a:solidFill>
                  </a:tcPr>
                </a:tc>
                <a:extLst>
                  <a:ext uri="{0D108BD9-81ED-4DB2-BD59-A6C34878D82A}">
                    <a16:rowId xmlns:a16="http://schemas.microsoft.com/office/drawing/2014/main" val="10000"/>
                  </a:ext>
                </a:extLst>
              </a:tr>
              <a:tr h="402336">
                <a:tc>
                  <a:txBody>
                    <a:bodyPr/>
                    <a:lstStyle/>
                    <a:p>
                      <a:r>
                        <a:rPr sz="1200" b="1">
                          <a:solidFill>
                            <a:srgbClr val="1D1722"/>
                          </a:solidFill>
                          <a:latin typeface="Arial"/>
                        </a:rPr>
                        <a:t>Raw bus</a:t>
                      </a:r>
                    </a:p>
                  </a:txBody>
                  <a:tcPr marT="36576" marB="36576" anchor="ctr">
                    <a:solidFill>
                      <a:srgbClr val="FFFFFF"/>
                    </a:solidFill>
                  </a:tcPr>
                </a:tc>
                <a:tc>
                  <a:txBody>
                    <a:bodyPr/>
                    <a:lstStyle/>
                    <a:p>
                      <a:r>
                        <a:rPr sz="1200" b="0">
                          <a:solidFill>
                            <a:srgbClr val="4A4458"/>
                          </a:solidFill>
                          <a:latin typeface="Arial"/>
                        </a:rPr>
                        <a:t>Every NMEA 2000 frame, as JSON</a:t>
                      </a:r>
                    </a:p>
                  </a:txBody>
                  <a:tcPr marT="36576" marB="36576" anchor="ctr">
                    <a:solidFill>
                      <a:srgbClr val="FFFFFF"/>
                    </a:solidFill>
                  </a:tcPr>
                </a:tc>
                <a:tc>
                  <a:txBody>
                    <a:bodyPr/>
                    <a:lstStyle/>
                    <a:p>
                      <a:r>
                        <a:rPr sz="1200" b="0">
                          <a:solidFill>
                            <a:srgbClr val="4A4458"/>
                          </a:solidFill>
                          <a:latin typeface="Arial"/>
                        </a:rPr>
                        <a:t>~750 kbps</a:t>
                      </a:r>
                    </a:p>
                  </a:txBody>
                  <a:tcPr marT="36576" marB="36576" anchor="ctr">
                    <a:solidFill>
                      <a:srgbClr val="FFFFFF"/>
                    </a:solidFill>
                  </a:tcPr>
                </a:tc>
                <a:tc>
                  <a:txBody>
                    <a:bodyPr/>
                    <a:lstStyle/>
                    <a:p>
                      <a:r>
                        <a:rPr sz="1200" b="0">
                          <a:solidFill>
                            <a:srgbClr val="4A4458"/>
                          </a:solidFill>
                          <a:latin typeface="Arial"/>
                        </a:rPr>
                        <a:t>Nothing off the boat</a:t>
                      </a:r>
                    </a:p>
                  </a:txBody>
                  <a:tcPr marT="36576" marB="36576" anchor="ctr">
                    <a:solidFill>
                      <a:srgbClr val="FFFFFF"/>
                    </a:solidFill>
                  </a:tcPr>
                </a:tc>
                <a:extLst>
                  <a:ext uri="{0D108BD9-81ED-4DB2-BD59-A6C34878D82A}">
                    <a16:rowId xmlns:a16="http://schemas.microsoft.com/office/drawing/2014/main" val="10001"/>
                  </a:ext>
                </a:extLst>
              </a:tr>
              <a:tr h="402336">
                <a:tc>
                  <a:txBody>
                    <a:bodyPr/>
                    <a:lstStyle/>
                    <a:p>
                      <a:r>
                        <a:rPr lang="en-US" sz="1200" b="1" dirty="0">
                          <a:solidFill>
                            <a:srgbClr val="1D1722"/>
                          </a:solidFill>
                          <a:latin typeface="Arial"/>
                        </a:rPr>
                        <a:t>4817 </a:t>
                      </a:r>
                      <a:r>
                        <a:rPr sz="1200" b="1" dirty="0">
                          <a:solidFill>
                            <a:srgbClr val="1D1722"/>
                          </a:solidFill>
                          <a:latin typeface="Arial"/>
                        </a:rPr>
                        <a:t>High bandwidth</a:t>
                      </a:r>
                    </a:p>
                  </a:txBody>
                  <a:tcPr marT="36576" marB="36576" anchor="ctr">
                    <a:solidFill>
                      <a:srgbClr val="F4F1FA"/>
                    </a:solidFill>
                  </a:tcPr>
                </a:tc>
                <a:tc>
                  <a:txBody>
                    <a:bodyPr/>
                    <a:lstStyle/>
                    <a:p>
                      <a:r>
                        <a:rPr sz="1200" b="0">
                          <a:solidFill>
                            <a:srgbClr val="4A4458"/>
                          </a:solidFill>
                          <a:latin typeface="Arial"/>
                        </a:rPr>
                        <a:t>STANAG 4817 JSON, status at 1 Hz</a:t>
                      </a:r>
                    </a:p>
                  </a:txBody>
                  <a:tcPr marT="36576" marB="36576" anchor="ctr">
                    <a:solidFill>
                      <a:srgbClr val="F4F1FA"/>
                    </a:solidFill>
                  </a:tcPr>
                </a:tc>
                <a:tc>
                  <a:txBody>
                    <a:bodyPr/>
                    <a:lstStyle/>
                    <a:p>
                      <a:r>
                        <a:rPr sz="1200" b="0">
                          <a:solidFill>
                            <a:srgbClr val="4A4458"/>
                          </a:solidFill>
                          <a:latin typeface="Arial"/>
                        </a:rPr>
                        <a:t>16.8 kbps</a:t>
                      </a:r>
                    </a:p>
                  </a:txBody>
                  <a:tcPr marT="36576" marB="36576" anchor="ctr">
                    <a:solidFill>
                      <a:srgbClr val="F4F1FA"/>
                    </a:solidFill>
                  </a:tcPr>
                </a:tc>
                <a:tc>
                  <a:txBody>
                    <a:bodyPr/>
                    <a:lstStyle/>
                    <a:p>
                      <a:r>
                        <a:rPr sz="1200" b="0">
                          <a:solidFill>
                            <a:srgbClr val="4A4458"/>
                          </a:solidFill>
                          <a:latin typeface="Arial"/>
                        </a:rPr>
                        <a:t>LTE, Starlink</a:t>
                      </a:r>
                    </a:p>
                  </a:txBody>
                  <a:tcPr marT="36576" marB="36576" anchor="ctr">
                    <a:solidFill>
                      <a:srgbClr val="F4F1FA"/>
                    </a:solidFill>
                  </a:tcPr>
                </a:tc>
                <a:extLst>
                  <a:ext uri="{0D108BD9-81ED-4DB2-BD59-A6C34878D82A}">
                    <a16:rowId xmlns:a16="http://schemas.microsoft.com/office/drawing/2014/main" val="10002"/>
                  </a:ext>
                </a:extLst>
              </a:tr>
              <a:tr h="402336">
                <a:tc>
                  <a:txBody>
                    <a:bodyPr/>
                    <a:lstStyle/>
                    <a:p>
                      <a:r>
                        <a:rPr lang="en-US" sz="1200" b="1" dirty="0">
                          <a:solidFill>
                            <a:srgbClr val="1D1722"/>
                          </a:solidFill>
                          <a:latin typeface="Arial"/>
                        </a:rPr>
                        <a:t>4817 </a:t>
                      </a:r>
                      <a:r>
                        <a:rPr sz="1200" b="1" dirty="0">
                          <a:solidFill>
                            <a:srgbClr val="1D1722"/>
                          </a:solidFill>
                          <a:latin typeface="Arial"/>
                        </a:rPr>
                        <a:t>Medium bandwidth</a:t>
                      </a:r>
                    </a:p>
                  </a:txBody>
                  <a:tcPr marT="36576" marB="36576" anchor="ctr">
                    <a:solidFill>
                      <a:srgbClr val="FFFFFF"/>
                    </a:solidFill>
                  </a:tcPr>
                </a:tc>
                <a:tc>
                  <a:txBody>
                    <a:bodyPr/>
                    <a:lstStyle/>
                    <a:p>
                      <a:r>
                        <a:rPr sz="1200" b="0">
                          <a:solidFill>
                            <a:srgbClr val="4A4458"/>
                          </a:solidFill>
                          <a:latin typeface="Arial"/>
                        </a:rPr>
                        <a:t>The same messages as protobuf</a:t>
                      </a:r>
                    </a:p>
                  </a:txBody>
                  <a:tcPr marT="36576" marB="36576" anchor="ctr">
                    <a:solidFill>
                      <a:srgbClr val="FFFFFF"/>
                    </a:solidFill>
                  </a:tcPr>
                </a:tc>
                <a:tc>
                  <a:txBody>
                    <a:bodyPr/>
                    <a:lstStyle/>
                    <a:p>
                      <a:r>
                        <a:rPr sz="1200" b="0">
                          <a:solidFill>
                            <a:srgbClr val="4A4458"/>
                          </a:solidFill>
                          <a:latin typeface="Arial"/>
                        </a:rPr>
                        <a:t>~2.7 kbps</a:t>
                      </a:r>
                    </a:p>
                  </a:txBody>
                  <a:tcPr marT="36576" marB="36576" anchor="ctr">
                    <a:solidFill>
                      <a:srgbClr val="FFFFFF"/>
                    </a:solidFill>
                  </a:tcPr>
                </a:tc>
                <a:tc>
                  <a:txBody>
                    <a:bodyPr/>
                    <a:lstStyle/>
                    <a:p>
                      <a:r>
                        <a:rPr sz="1200" b="0">
                          <a:solidFill>
                            <a:srgbClr val="4A4458"/>
                          </a:solidFill>
                          <a:latin typeface="Arial"/>
                        </a:rPr>
                        <a:t>Degraded or shared links</a:t>
                      </a:r>
                    </a:p>
                  </a:txBody>
                  <a:tcPr marT="36576" marB="36576" anchor="ctr">
                    <a:solidFill>
                      <a:srgbClr val="FFFFFF"/>
                    </a:solidFill>
                  </a:tcPr>
                </a:tc>
                <a:extLst>
                  <a:ext uri="{0D108BD9-81ED-4DB2-BD59-A6C34878D82A}">
                    <a16:rowId xmlns:a16="http://schemas.microsoft.com/office/drawing/2014/main" val="10003"/>
                  </a:ext>
                </a:extLst>
              </a:tr>
              <a:tr h="402336">
                <a:tc>
                  <a:txBody>
                    <a:bodyPr/>
                    <a:lstStyle/>
                    <a:p>
                      <a:r>
                        <a:rPr sz="1200" b="1">
                          <a:solidFill>
                            <a:srgbClr val="1D1722"/>
                          </a:solidFill>
                          <a:latin typeface="Arial"/>
                        </a:rPr>
                        <a:t>Narrowband</a:t>
                      </a:r>
                    </a:p>
                  </a:txBody>
                  <a:tcPr marT="36576" marB="36576" anchor="ctr">
                    <a:solidFill>
                      <a:srgbClr val="F4F1FA"/>
                    </a:solidFill>
                  </a:tcPr>
                </a:tc>
                <a:tc>
                  <a:txBody>
                    <a:bodyPr/>
                    <a:lstStyle/>
                    <a:p>
                      <a:r>
                        <a:rPr sz="1200" b="0">
                          <a:solidFill>
                            <a:srgbClr val="4A4458"/>
                          </a:solidFill>
                          <a:latin typeface="Arial"/>
                        </a:rPr>
                        <a:t>Protobuf status at a mission-set interval</a:t>
                      </a:r>
                    </a:p>
                  </a:txBody>
                  <a:tcPr marT="36576" marB="36576" anchor="ctr">
                    <a:solidFill>
                      <a:srgbClr val="F4F1FA"/>
                    </a:solidFill>
                  </a:tcPr>
                </a:tc>
                <a:tc>
                  <a:txBody>
                    <a:bodyPr/>
                    <a:lstStyle/>
                    <a:p>
                      <a:r>
                        <a:rPr sz="1200" b="0">
                          <a:solidFill>
                            <a:srgbClr val="4A4458"/>
                          </a:solidFill>
                          <a:latin typeface="Arial"/>
                        </a:rPr>
                        <a:t>[per mission]</a:t>
                      </a:r>
                    </a:p>
                  </a:txBody>
                  <a:tcPr marT="36576" marB="36576" anchor="ctr">
                    <a:solidFill>
                      <a:srgbClr val="F4F1FA"/>
                    </a:solidFill>
                  </a:tcPr>
                </a:tc>
                <a:tc>
                  <a:txBody>
                    <a:bodyPr/>
                    <a:lstStyle/>
                    <a:p>
                      <a:r>
                        <a:rPr sz="1200" b="0" dirty="0">
                          <a:solidFill>
                            <a:srgbClr val="4A4458"/>
                          </a:solidFill>
                          <a:latin typeface="Arial"/>
                        </a:rPr>
                        <a:t>IoT Nano (</a:t>
                      </a:r>
                      <a:r>
                        <a:rPr sz="1200" b="0" dirty="0" err="1">
                          <a:solidFill>
                            <a:srgbClr val="4A4458"/>
                          </a:solidFill>
                          <a:latin typeface="Arial"/>
                        </a:rPr>
                        <a:t>STx</a:t>
                      </a:r>
                      <a:r>
                        <a:rPr sz="1200" b="0" dirty="0">
                          <a:solidFill>
                            <a:srgbClr val="4A4458"/>
                          </a:solidFill>
                          <a:latin typeface="Arial"/>
                        </a:rPr>
                        <a:t>)</a:t>
                      </a:r>
                    </a:p>
                  </a:txBody>
                  <a:tcPr marT="36576" marB="36576" anchor="ctr">
                    <a:solidFill>
                      <a:srgbClr val="F4F1FA"/>
                    </a:solidFill>
                  </a:tcPr>
                </a:tc>
                <a:extLst>
                  <a:ext uri="{0D108BD9-81ED-4DB2-BD59-A6C34878D82A}">
                    <a16:rowId xmlns:a16="http://schemas.microsoft.com/office/drawing/2014/main" val="10004"/>
                  </a:ext>
                </a:extLst>
              </a:tr>
            </a:tbl>
          </a:graphicData>
        </a:graphic>
      </p:graphicFrame>
      <p:sp>
        <p:nvSpPr>
          <p:cNvPr id="142" name="TextBox 141"/>
          <p:cNvSpPr txBox="1"/>
          <p:nvPr/>
        </p:nvSpPr>
        <p:spPr>
          <a:xfrm>
            <a:off x="457200" y="3826106"/>
            <a:ext cx="8138160" cy="230832"/>
          </a:xfrm>
          <a:prstGeom prst="rect">
            <a:avLst/>
          </a:prstGeom>
          <a:noFill/>
        </p:spPr>
        <p:txBody>
          <a:bodyPr wrap="square" lIns="0" tIns="0" rIns="0" bIns="0" anchor="t">
            <a:spAutoFit/>
          </a:bodyPr>
          <a:lstStyle/>
          <a:p>
            <a:pPr algn="l"/>
            <a:r>
              <a:rPr sz="1500" b="1" dirty="0">
                <a:solidFill>
                  <a:srgbClr val="1D1722"/>
                </a:solidFill>
                <a:latin typeface="Arial"/>
              </a:rPr>
              <a:t>Per message, a </a:t>
            </a:r>
            <a:r>
              <a:rPr lang="en-US" sz="1500" b="1" dirty="0">
                <a:solidFill>
                  <a:srgbClr val="1D1722"/>
                </a:solidFill>
                <a:latin typeface="Arial"/>
              </a:rPr>
              <a:t>4817 </a:t>
            </a:r>
            <a:r>
              <a:rPr sz="1500" b="1" dirty="0">
                <a:solidFill>
                  <a:srgbClr val="1D1722"/>
                </a:solidFill>
                <a:latin typeface="Arial"/>
              </a:rPr>
              <a:t>status is 1,475 bytes as JSON and 226 as </a:t>
            </a:r>
            <a:r>
              <a:rPr sz="1500" b="1" dirty="0" err="1">
                <a:solidFill>
                  <a:srgbClr val="1D1722"/>
                </a:solidFill>
                <a:latin typeface="Arial"/>
              </a:rPr>
              <a:t>protobuf</a:t>
            </a:r>
            <a:r>
              <a:rPr sz="1500" b="1" dirty="0">
                <a:solidFill>
                  <a:srgbClr val="1D1722"/>
                </a:solidFill>
                <a:latin typeface="Arial"/>
              </a:rPr>
              <a:t>: 6.5× smaller</a:t>
            </a:r>
            <a:endParaRPr lang="en-US" sz="1500" b="1" dirty="0">
              <a:solidFill>
                <a:srgbClr val="1D1722"/>
              </a:solidFill>
              <a:latin typeface="Arial"/>
            </a:endParaRPr>
          </a:p>
        </p:txBody>
      </p:sp>
      <p:sp>
        <p:nvSpPr>
          <p:cNvPr id="143" name="TextBox 142"/>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 </a:t>
            </a:r>
            <a:r>
              <a:rPr lang="en-US" sz="1000" b="0" dirty="0">
                <a:solidFill>
                  <a:srgbClr val="7A7290"/>
                </a:solidFill>
                <a:latin typeface="Arial"/>
              </a:rPr>
              <a:t>vessel</a:t>
            </a:r>
            <a:r>
              <a:rPr sz="1000" b="0" dirty="0">
                <a:solidFill>
                  <a:srgbClr val="7A7290"/>
                </a:solidFill>
                <a:latin typeface="Arial"/>
              </a:rPr>
              <a:t> capture</a:t>
            </a:r>
            <a:r>
              <a:rPr lang="en-US" sz="1000" dirty="0">
                <a:solidFill>
                  <a:srgbClr val="7A7290"/>
                </a:solidFill>
              </a:rPr>
              <a:t>, </a:t>
            </a:r>
            <a:r>
              <a:rPr sz="1000" b="0" dirty="0">
                <a:solidFill>
                  <a:srgbClr val="7A7290"/>
                </a:solidFill>
                <a:latin typeface="Arial"/>
              </a:rPr>
              <a:t>both encodings recorded (</a:t>
            </a:r>
            <a:r>
              <a:rPr sz="1000" b="0" dirty="0" err="1">
                <a:solidFill>
                  <a:srgbClr val="7A7290"/>
                </a:solidFill>
                <a:latin typeface="Arial"/>
              </a:rPr>
              <a:t>protobuf</a:t>
            </a:r>
            <a:r>
              <a:rPr sz="1000" b="0" dirty="0">
                <a:solidFill>
                  <a:srgbClr val="7A7290"/>
                </a:solidFill>
                <a:latin typeface="Arial"/>
              </a:rPr>
              <a:t> feed estimated per message class)</a:t>
            </a:r>
          </a:p>
        </p:txBody>
      </p:sp>
      <p:sp>
        <p:nvSpPr>
          <p:cNvPr id="3" name="TextBox 2">
            <a:extLst>
              <a:ext uri="{FF2B5EF4-FFF2-40B4-BE49-F238E27FC236}">
                <a16:creationId xmlns:a16="http://schemas.microsoft.com/office/drawing/2014/main" id="{9B80DDD6-0077-8A24-DEA9-4201F0542EDC}"/>
              </a:ext>
            </a:extLst>
          </p:cNvPr>
          <p:cNvSpPr txBox="1"/>
          <p:nvPr/>
        </p:nvSpPr>
        <p:spPr>
          <a:xfrm>
            <a:off x="457200" y="4290493"/>
            <a:ext cx="8138160" cy="230832"/>
          </a:xfrm>
          <a:prstGeom prst="rect">
            <a:avLst/>
          </a:prstGeom>
          <a:noFill/>
        </p:spPr>
        <p:txBody>
          <a:bodyPr wrap="square" lIns="0" tIns="0" rIns="0" bIns="0" anchor="t">
            <a:spAutoFit/>
          </a:bodyPr>
          <a:lstStyle/>
          <a:p>
            <a:pPr algn="l"/>
            <a:r>
              <a:rPr lang="en-GR" sz="1500" b="1" dirty="0">
                <a:solidFill>
                  <a:srgbClr val="1D1722"/>
                </a:solidFill>
              </a:rPr>
              <a:t>Per broker, using MQTT 5 topic alias saved 27MB of traffic / hour / asset</a:t>
            </a:r>
            <a:endParaRPr sz="1500" b="1" dirty="0">
              <a:solidFill>
                <a:srgbClr val="1D1722"/>
              </a:solidFill>
              <a:latin typeface="Arial"/>
            </a:endParaRPr>
          </a:p>
        </p:txBody>
      </p:sp>
      <p:pic>
        <p:nvPicPr>
          <p:cNvPr id="4" name="Picture 3">
            <a:extLst>
              <a:ext uri="{FF2B5EF4-FFF2-40B4-BE49-F238E27FC236}">
                <a16:creationId xmlns:a16="http://schemas.microsoft.com/office/drawing/2014/main" id="{73643DE9-2274-2DC1-B21B-9F78FD1751A0}"/>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02 · FROM BUS TO STATE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The whole pipeline is configuration</a:t>
            </a:r>
          </a:p>
        </p:txBody>
      </p:sp>
      <p:sp>
        <p:nvSpPr>
          <p:cNvPr id="141" name="Rounded Rectangle 140"/>
          <p:cNvSpPr/>
          <p:nvPr/>
        </p:nvSpPr>
        <p:spPr>
          <a:xfrm>
            <a:off x="457200" y="1572768"/>
            <a:ext cx="8229600" cy="2971800"/>
          </a:xfrm>
          <a:prstGeom prst="roundRect">
            <a:avLst>
              <a:gd name="adj" fmla="val 4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685800" y="1755648"/>
            <a:ext cx="3840480" cy="2651760"/>
          </a:xfrm>
          <a:prstGeom prst="rect">
            <a:avLst/>
          </a:prstGeom>
          <a:noFill/>
        </p:spPr>
        <p:txBody>
          <a:bodyPr wrap="square" lIns="0" tIns="0" rIns="0" bIns="0" anchor="t">
            <a:spAutoFit/>
          </a:bodyPr>
          <a:lstStyle/>
          <a:p>
            <a:pPr algn="l">
              <a:spcAft>
                <a:spcPts val="300"/>
              </a:spcAft>
            </a:pPr>
            <a:r>
              <a:rPr sz="1100" b="0">
                <a:solidFill>
                  <a:srgbClr val="8FBCF5"/>
                </a:solidFill>
                <a:latin typeface="Courier New"/>
              </a:rPr>
              <a:t>TwinManager:</a:t>
            </a:r>
          </a:p>
          <a:p>
            <a:pPr algn="l">
              <a:spcAft>
                <a:spcPts val="300"/>
              </a:spcAft>
            </a:pPr>
            <a:r>
              <a:rPr sz="1100" b="0">
                <a:solidFill>
                  <a:srgbClr val="D9D2EA"/>
                </a:solidFill>
                <a:latin typeface="Courier New"/>
              </a:rPr>
              <a:t>  heartbeatTimeoutMillis: 5000</a:t>
            </a:r>
          </a:p>
          <a:p>
            <a:pPr algn="l">
              <a:spcAft>
                <a:spcPts val="300"/>
              </a:spcAft>
            </a:pPr>
            <a:r>
              <a:rPr sz="1100" b="0">
                <a:solidFill>
                  <a:srgbClr val="D9D2EA"/>
                </a:solidFill>
                <a:latin typeface="Courier New"/>
              </a:rPr>
              <a:t>  staleTimeoutMillis: 10000</a:t>
            </a:r>
          </a:p>
          <a:p>
            <a:pPr algn="l">
              <a:spcAft>
                <a:spcPts val="300"/>
              </a:spcAft>
            </a:pPr>
            <a:r>
              <a:rPr sz="1100" b="0">
                <a:solidFill>
                  <a:srgbClr val="D9D2EA"/>
                </a:solidFill>
                <a:latin typeface="Courier New"/>
              </a:rPr>
              <a:t>  retentionTimeoutMillis: 120000</a:t>
            </a:r>
          </a:p>
          <a:p>
            <a:pPr algn="l">
              <a:spcAft>
                <a:spcPts val="300"/>
              </a:spcAft>
            </a:pPr>
            <a:r>
              <a:rPr sz="1100" b="0">
                <a:solidFill>
                  <a:srgbClr val="8FBCF5"/>
                </a:solidFill>
                <a:latin typeface="Courier New"/>
              </a:rPr>
              <a:t>  publish:</a:t>
            </a:r>
          </a:p>
          <a:p>
            <a:pPr algn="l">
              <a:spcAft>
                <a:spcPts val="300"/>
              </a:spcAft>
            </a:pPr>
            <a:r>
              <a:rPr sz="1100" b="0">
                <a:solidFill>
                  <a:srgbClr val="D9D2EA"/>
                </a:solidFill>
                <a:latin typeface="Courier New"/>
              </a:rPr>
              <a:t>    topicTemplate: /state/twins/{twinId}</a:t>
            </a:r>
          </a:p>
          <a:p>
            <a:pPr algn="l">
              <a:spcAft>
                <a:spcPts val="300"/>
              </a:spcAft>
            </a:pPr>
            <a:r>
              <a:rPr sz="1100" b="0">
                <a:solidFill>
                  <a:srgbClr val="C9A15F"/>
                </a:solidFill>
                <a:latin typeface="Courier New"/>
              </a:rPr>
              <a:t>    publishRateMs: 500</a:t>
            </a:r>
          </a:p>
          <a:p>
            <a:pPr algn="l">
              <a:spcAft>
                <a:spcPts val="300"/>
              </a:spcAft>
            </a:pPr>
            <a:r>
              <a:rPr sz="1100" b="0">
                <a:solidFill>
                  <a:srgbClr val="8FBCF5"/>
                </a:solidFill>
                <a:latin typeface="Courier New"/>
              </a:rPr>
              <a:t>  n2k:</a:t>
            </a:r>
          </a:p>
          <a:p>
            <a:pPr algn="l">
              <a:spcAft>
                <a:spcPts val="300"/>
              </a:spcAft>
            </a:pPr>
            <a:r>
              <a:rPr sz="1100" b="0">
                <a:solidFill>
                  <a:srgbClr val="D9D2EA"/>
                </a:solidFill>
                <a:latin typeface="Courier New"/>
              </a:rPr>
              <a:t>    topic: /can1/#</a:t>
            </a:r>
          </a:p>
        </p:txBody>
      </p:sp>
      <p:sp>
        <p:nvSpPr>
          <p:cNvPr id="143" name="TextBox 142"/>
          <p:cNvSpPr txBox="1"/>
          <p:nvPr/>
        </p:nvSpPr>
        <p:spPr>
          <a:xfrm>
            <a:off x="4343400" y="1755648"/>
            <a:ext cx="4251960" cy="2651760"/>
          </a:xfrm>
          <a:prstGeom prst="rect">
            <a:avLst/>
          </a:prstGeom>
          <a:noFill/>
        </p:spPr>
        <p:txBody>
          <a:bodyPr wrap="square" lIns="0" tIns="0" rIns="0" bIns="0" anchor="t">
            <a:spAutoFit/>
          </a:bodyPr>
          <a:lstStyle/>
          <a:p>
            <a:pPr algn="l">
              <a:spcAft>
                <a:spcPts val="300"/>
              </a:spcAft>
            </a:pPr>
            <a:r>
              <a:rPr sz="1100" b="0">
                <a:solidFill>
                  <a:srgbClr val="8FBCF5"/>
                </a:solidFill>
                <a:latin typeface="Courier New"/>
              </a:rPr>
              <a:t>  stateAdapters:</a:t>
            </a:r>
          </a:p>
          <a:p>
            <a:pPr algn="l">
              <a:spcAft>
                <a:spcPts val="300"/>
              </a:spcAft>
            </a:pPr>
            <a:r>
              <a:rPr sz="1100" b="0">
                <a:solidFill>
                  <a:srgbClr val="8FBCF5"/>
                </a:solidFill>
                <a:latin typeface="Courier New"/>
              </a:rPr>
              <a:t>    stanag:</a:t>
            </a:r>
          </a:p>
          <a:p>
            <a:pPr algn="l">
              <a:spcAft>
                <a:spcPts val="300"/>
              </a:spcAft>
            </a:pPr>
            <a:r>
              <a:rPr sz="1100" b="0">
                <a:solidFill>
                  <a:srgbClr val="C9A15F"/>
                </a:solidFill>
                <a:latin typeface="Courier New"/>
              </a:rPr>
              <a:t>      statusIntervalSec: 1</a:t>
            </a:r>
          </a:p>
          <a:p>
            <a:pPr algn="l">
              <a:spcAft>
                <a:spcPts val="300"/>
              </a:spcAft>
            </a:pPr>
            <a:r>
              <a:rPr sz="1100" b="0">
                <a:solidFill>
                  <a:srgbClr val="C9A15F"/>
                </a:solidFill>
                <a:latin typeface="Courier New"/>
              </a:rPr>
              <a:t>      descriptionIntervalSec: 15</a:t>
            </a:r>
          </a:p>
          <a:p>
            <a:pPr algn="l">
              <a:spcAft>
                <a:spcPts val="300"/>
              </a:spcAft>
            </a:pPr>
            <a:r>
              <a:rPr sz="1100" b="0">
                <a:solidFill>
                  <a:srgbClr val="D9D2EA"/>
                </a:solidFill>
                <a:latin typeface="Courier New"/>
              </a:rPr>
              <a:t>      taskTopicTemplate:</a:t>
            </a:r>
          </a:p>
          <a:p>
            <a:pPr algn="l">
              <a:spcAft>
                <a:spcPts val="300"/>
              </a:spcAft>
            </a:pPr>
            <a:r>
              <a:rPr sz="1100" b="0">
                <a:solidFill>
                  <a:srgbClr val="D9D2EA"/>
                </a:solidFill>
                <a:latin typeface="Courier New"/>
              </a:rPr>
              <a:t>        4817/catl/maps/json/{twinId}/…</a:t>
            </a:r>
          </a:p>
          <a:p>
            <a:pPr algn="l">
              <a:spcAft>
                <a:spcPts val="300"/>
              </a:spcAft>
            </a:pPr>
            <a:r>
              <a:rPr sz="1100" b="0">
                <a:solidFill>
                  <a:srgbClr val="8FBCF5"/>
                </a:solidFill>
                <a:latin typeface="Courier New"/>
              </a:rPr>
              <a:t>      bridge:   # JSON in, protobuf out</a:t>
            </a:r>
          </a:p>
          <a:p>
            <a:pPr algn="l">
              <a:spcAft>
                <a:spcPts val="300"/>
              </a:spcAft>
            </a:pPr>
            <a:r>
              <a:rPr sz="1100" b="0">
                <a:solidFill>
                  <a:srgbClr val="D9D2EA"/>
                </a:solidFill>
                <a:latin typeface="Courier New"/>
              </a:rPr>
              <a:t>        jsonNamespace: 4817/catl/maps/json</a:t>
            </a:r>
          </a:p>
          <a:p>
            <a:pPr algn="l">
              <a:spcAft>
                <a:spcPts val="300"/>
              </a:spcAft>
            </a:pPr>
            <a:r>
              <a:rPr sz="1100" b="0">
                <a:solidFill>
                  <a:srgbClr val="D9D2EA"/>
                </a:solidFill>
                <a:latin typeface="Courier New"/>
              </a:rPr>
              <a:t>        protobufNamespace: 4817/catl/maps/proto</a:t>
            </a:r>
          </a:p>
        </p:txBody>
      </p:sp>
      <p:sp>
        <p:nvSpPr>
          <p:cNvPr id="144" name="TextBox 143"/>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MAPS edge, marine class, as run at REPMUS 2026 (trimmed; identities and hosts removed)</a:t>
            </a:r>
          </a:p>
        </p:txBody>
      </p:sp>
      <p:pic>
        <p:nvPicPr>
          <p:cNvPr id="3" name="Picture 2">
            <a:extLst>
              <a:ext uri="{FF2B5EF4-FFF2-40B4-BE49-F238E27FC236}">
                <a16:creationId xmlns:a16="http://schemas.microsoft.com/office/drawing/2014/main" id="{7B659661-666E-B79C-6301-BB81FFBD32FF}"/>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03 · TASKING GOES BOTH WAYS</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One task, down and back up</a:t>
            </a:r>
          </a:p>
        </p:txBody>
      </p:sp>
      <p:sp>
        <p:nvSpPr>
          <p:cNvPr id="141" name="Rounded Rectangle 140"/>
          <p:cNvSpPr/>
          <p:nvPr/>
        </p:nvSpPr>
        <p:spPr>
          <a:xfrm>
            <a:off x="457200" y="2331720"/>
            <a:ext cx="1600200" cy="868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594360" y="2395728"/>
            <a:ext cx="1325880" cy="320040"/>
          </a:xfrm>
          <a:prstGeom prst="rect">
            <a:avLst/>
          </a:prstGeom>
          <a:noFill/>
        </p:spPr>
        <p:txBody>
          <a:bodyPr wrap="square" lIns="0" tIns="0" rIns="0" bIns="0" anchor="t">
            <a:spAutoFit/>
          </a:bodyPr>
          <a:lstStyle/>
          <a:p>
            <a:pPr algn="ctr"/>
            <a:r>
              <a:rPr sz="1400" b="1">
                <a:solidFill>
                  <a:srgbClr val="1D1722"/>
                </a:solidFill>
                <a:latin typeface="Arial"/>
              </a:rPr>
              <a:t>C2 systems</a:t>
            </a:r>
          </a:p>
        </p:txBody>
      </p:sp>
      <p:sp>
        <p:nvSpPr>
          <p:cNvPr id="143" name="TextBox 142"/>
          <p:cNvSpPr txBox="1"/>
          <p:nvPr/>
        </p:nvSpPr>
        <p:spPr>
          <a:xfrm>
            <a:off x="548640" y="2715768"/>
            <a:ext cx="1417320" cy="323165"/>
          </a:xfrm>
          <a:prstGeom prst="rect">
            <a:avLst/>
          </a:prstGeom>
          <a:noFill/>
        </p:spPr>
        <p:txBody>
          <a:bodyPr wrap="square" lIns="0" tIns="0" rIns="0" bIns="0" anchor="t">
            <a:spAutoFit/>
          </a:bodyPr>
          <a:lstStyle/>
          <a:p>
            <a:pPr algn="ctr"/>
            <a:r>
              <a:rPr sz="1050" b="0" dirty="0">
                <a:solidFill>
                  <a:srgbClr val="4A4458"/>
                </a:solidFill>
                <a:latin typeface="Arial"/>
              </a:rPr>
              <a:t>STANAG 4817</a:t>
            </a:r>
            <a:r>
              <a:rPr lang="en-US" sz="1050" b="0" dirty="0">
                <a:solidFill>
                  <a:srgbClr val="4A4458"/>
                </a:solidFill>
                <a:latin typeface="Arial"/>
              </a:rPr>
              <a:t> / TAK or proprietary</a:t>
            </a:r>
            <a:endParaRPr sz="1050" b="0" dirty="0">
              <a:solidFill>
                <a:srgbClr val="4A4458"/>
              </a:solidFill>
              <a:latin typeface="Arial"/>
            </a:endParaRPr>
          </a:p>
        </p:txBody>
      </p:sp>
      <p:sp>
        <p:nvSpPr>
          <p:cNvPr id="144" name="Rounded Rectangle 143"/>
          <p:cNvSpPr/>
          <p:nvPr/>
        </p:nvSpPr>
        <p:spPr>
          <a:xfrm>
            <a:off x="2670048" y="2331720"/>
            <a:ext cx="1600200" cy="868680"/>
          </a:xfrm>
          <a:prstGeom prst="roundRect">
            <a:avLst>
              <a:gd name="adj" fmla="val 8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2807208" y="2395728"/>
            <a:ext cx="1325880" cy="320040"/>
          </a:xfrm>
          <a:prstGeom prst="rect">
            <a:avLst/>
          </a:prstGeom>
          <a:noFill/>
        </p:spPr>
        <p:txBody>
          <a:bodyPr wrap="square" lIns="0" tIns="0" rIns="0" bIns="0" anchor="t">
            <a:spAutoFit/>
          </a:bodyPr>
          <a:lstStyle/>
          <a:p>
            <a:pPr algn="ctr"/>
            <a:r>
              <a:rPr sz="1400" b="1">
                <a:solidFill>
                  <a:srgbClr val="FFFFFF"/>
                </a:solidFill>
                <a:latin typeface="Arial"/>
              </a:rPr>
              <a:t>Shore MAPS</a:t>
            </a:r>
          </a:p>
        </p:txBody>
      </p:sp>
      <p:sp>
        <p:nvSpPr>
          <p:cNvPr id="146" name="TextBox 145"/>
          <p:cNvSpPr txBox="1"/>
          <p:nvPr/>
        </p:nvSpPr>
        <p:spPr>
          <a:xfrm>
            <a:off x="2761488" y="2715768"/>
            <a:ext cx="1417320" cy="411480"/>
          </a:xfrm>
          <a:prstGeom prst="rect">
            <a:avLst/>
          </a:prstGeom>
          <a:noFill/>
        </p:spPr>
        <p:txBody>
          <a:bodyPr wrap="square" lIns="0" tIns="0" rIns="0" bIns="0" anchor="t">
            <a:spAutoFit/>
          </a:bodyPr>
          <a:lstStyle/>
          <a:p>
            <a:pPr algn="ctr"/>
            <a:r>
              <a:rPr sz="1050" b="0">
                <a:solidFill>
                  <a:srgbClr val="D9D2EA"/>
                </a:solidFill>
                <a:latin typeface="Arial"/>
              </a:rPr>
              <a:t>Routes tasks to the node</a:t>
            </a:r>
          </a:p>
        </p:txBody>
      </p:sp>
      <p:sp>
        <p:nvSpPr>
          <p:cNvPr id="147" name="Rounded Rectangle 146"/>
          <p:cNvSpPr/>
          <p:nvPr/>
        </p:nvSpPr>
        <p:spPr>
          <a:xfrm>
            <a:off x="4882896" y="2331720"/>
            <a:ext cx="1600200" cy="868680"/>
          </a:xfrm>
          <a:prstGeom prst="roundRect">
            <a:avLst>
              <a:gd name="adj" fmla="val 8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Box 147"/>
          <p:cNvSpPr txBox="1"/>
          <p:nvPr/>
        </p:nvSpPr>
        <p:spPr>
          <a:xfrm>
            <a:off x="5020056" y="2395728"/>
            <a:ext cx="1325880" cy="320040"/>
          </a:xfrm>
          <a:prstGeom prst="rect">
            <a:avLst/>
          </a:prstGeom>
          <a:noFill/>
        </p:spPr>
        <p:txBody>
          <a:bodyPr wrap="square" lIns="0" tIns="0" rIns="0" bIns="0" anchor="t">
            <a:spAutoFit/>
          </a:bodyPr>
          <a:lstStyle/>
          <a:p>
            <a:pPr algn="ctr"/>
            <a:r>
              <a:rPr sz="1400" b="1">
                <a:solidFill>
                  <a:srgbClr val="FFFFFF"/>
                </a:solidFill>
                <a:latin typeface="Arial"/>
              </a:rPr>
              <a:t>Edge MAPS</a:t>
            </a:r>
          </a:p>
        </p:txBody>
      </p:sp>
      <p:sp>
        <p:nvSpPr>
          <p:cNvPr id="149" name="TextBox 148"/>
          <p:cNvSpPr txBox="1"/>
          <p:nvPr/>
        </p:nvSpPr>
        <p:spPr>
          <a:xfrm>
            <a:off x="4974336" y="2715768"/>
            <a:ext cx="1417320" cy="411480"/>
          </a:xfrm>
          <a:prstGeom prst="rect">
            <a:avLst/>
          </a:prstGeom>
          <a:noFill/>
        </p:spPr>
        <p:txBody>
          <a:bodyPr wrap="square" lIns="0" tIns="0" rIns="0" bIns="0" anchor="t">
            <a:spAutoFit/>
          </a:bodyPr>
          <a:lstStyle/>
          <a:p>
            <a:pPr algn="ctr"/>
            <a:r>
              <a:rPr sz="1050" b="0">
                <a:solidFill>
                  <a:srgbClr val="D9D2EA"/>
                </a:solidFill>
                <a:latin typeface="Arial"/>
              </a:rPr>
              <a:t>Twin and STANAG adapter</a:t>
            </a:r>
          </a:p>
        </p:txBody>
      </p:sp>
      <p:sp>
        <p:nvSpPr>
          <p:cNvPr id="150" name="Rounded Rectangle 149"/>
          <p:cNvSpPr/>
          <p:nvPr/>
        </p:nvSpPr>
        <p:spPr>
          <a:xfrm>
            <a:off x="7095744" y="2331720"/>
            <a:ext cx="1600200" cy="868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TextBox 150"/>
          <p:cNvSpPr txBox="1"/>
          <p:nvPr/>
        </p:nvSpPr>
        <p:spPr>
          <a:xfrm>
            <a:off x="7232904" y="2395728"/>
            <a:ext cx="1325880" cy="320040"/>
          </a:xfrm>
          <a:prstGeom prst="rect">
            <a:avLst/>
          </a:prstGeom>
          <a:noFill/>
        </p:spPr>
        <p:txBody>
          <a:bodyPr wrap="square" lIns="0" tIns="0" rIns="0" bIns="0" anchor="t">
            <a:spAutoFit/>
          </a:bodyPr>
          <a:lstStyle/>
          <a:p>
            <a:pPr algn="ctr"/>
            <a:r>
              <a:rPr sz="1400" b="1">
                <a:solidFill>
                  <a:srgbClr val="1D1722"/>
                </a:solidFill>
                <a:latin typeface="Arial"/>
              </a:rPr>
              <a:t>Autopilot</a:t>
            </a:r>
          </a:p>
        </p:txBody>
      </p:sp>
      <p:sp>
        <p:nvSpPr>
          <p:cNvPr id="152" name="TextBox 151"/>
          <p:cNvSpPr txBox="1"/>
          <p:nvPr/>
        </p:nvSpPr>
        <p:spPr>
          <a:xfrm>
            <a:off x="7187183" y="2715768"/>
            <a:ext cx="1417320" cy="411480"/>
          </a:xfrm>
          <a:prstGeom prst="rect">
            <a:avLst/>
          </a:prstGeom>
          <a:noFill/>
        </p:spPr>
        <p:txBody>
          <a:bodyPr wrap="square" lIns="0" tIns="0" rIns="0" bIns="0" anchor="t">
            <a:spAutoFit/>
          </a:bodyPr>
          <a:lstStyle/>
          <a:p>
            <a:pPr algn="ctr"/>
            <a:r>
              <a:rPr sz="1050" b="0" dirty="0" err="1">
                <a:solidFill>
                  <a:srgbClr val="4A4458"/>
                </a:solidFill>
                <a:latin typeface="Arial"/>
              </a:rPr>
              <a:t>ArduPilot</a:t>
            </a:r>
            <a:r>
              <a:rPr sz="1050" b="0" dirty="0">
                <a:solidFill>
                  <a:srgbClr val="4A4458"/>
                </a:solidFill>
                <a:latin typeface="Arial"/>
              </a:rPr>
              <a:t>, MAVLink</a:t>
            </a:r>
          </a:p>
        </p:txBody>
      </p:sp>
      <p:sp>
        <p:nvSpPr>
          <p:cNvPr id="153" name="Right Arrow 152"/>
          <p:cNvSpPr/>
          <p:nvPr/>
        </p:nvSpPr>
        <p:spPr>
          <a:xfrm>
            <a:off x="2103120" y="2441448"/>
            <a:ext cx="521207" cy="219456"/>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Left Arrow 153"/>
          <p:cNvSpPr/>
          <p:nvPr/>
        </p:nvSpPr>
        <p:spPr>
          <a:xfrm>
            <a:off x="2103120" y="2871216"/>
            <a:ext cx="521207" cy="219456"/>
          </a:xfrm>
          <a:prstGeom prst="leftArrow">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ight Arrow 154"/>
          <p:cNvSpPr/>
          <p:nvPr/>
        </p:nvSpPr>
        <p:spPr>
          <a:xfrm>
            <a:off x="4315968" y="2441448"/>
            <a:ext cx="521207" cy="219456"/>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Left Arrow 155"/>
          <p:cNvSpPr/>
          <p:nvPr/>
        </p:nvSpPr>
        <p:spPr>
          <a:xfrm>
            <a:off x="4315968" y="2871216"/>
            <a:ext cx="521207" cy="219456"/>
          </a:xfrm>
          <a:prstGeom prst="leftArrow">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ight Arrow 156"/>
          <p:cNvSpPr/>
          <p:nvPr/>
        </p:nvSpPr>
        <p:spPr>
          <a:xfrm>
            <a:off x="6528816" y="2441448"/>
            <a:ext cx="521207" cy="219456"/>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Left Arrow 157"/>
          <p:cNvSpPr/>
          <p:nvPr/>
        </p:nvSpPr>
        <p:spPr>
          <a:xfrm>
            <a:off x="6528816" y="2871216"/>
            <a:ext cx="521207" cy="219456"/>
          </a:xfrm>
          <a:prstGeom prst="leftArrow">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457200" y="1627632"/>
            <a:ext cx="1097280" cy="274320"/>
          </a:xfrm>
          <a:prstGeom prst="rect">
            <a:avLst/>
          </a:prstGeom>
          <a:noFill/>
        </p:spPr>
        <p:txBody>
          <a:bodyPr wrap="square" lIns="0" tIns="0" rIns="0" bIns="0" anchor="t">
            <a:spAutoFit/>
          </a:bodyPr>
          <a:lstStyle/>
          <a:p>
            <a:pPr algn="l"/>
            <a:r>
              <a:rPr sz="1000" b="1">
                <a:solidFill>
                  <a:srgbClr val="6B4BC0"/>
                </a:solidFill>
                <a:latin typeface="Arial"/>
              </a:rPr>
              <a:t>DOWN</a:t>
            </a:r>
          </a:p>
        </p:txBody>
      </p:sp>
      <p:sp>
        <p:nvSpPr>
          <p:cNvPr id="160" name="TextBox 159"/>
          <p:cNvSpPr txBox="1"/>
          <p:nvPr/>
        </p:nvSpPr>
        <p:spPr>
          <a:xfrm>
            <a:off x="1357884" y="1874519"/>
            <a:ext cx="2011680" cy="411480"/>
          </a:xfrm>
          <a:prstGeom prst="rect">
            <a:avLst/>
          </a:prstGeom>
          <a:noFill/>
        </p:spPr>
        <p:txBody>
          <a:bodyPr wrap="square" lIns="0" tIns="0" rIns="0" bIns="0" anchor="b">
            <a:spAutoFit/>
          </a:bodyPr>
          <a:lstStyle/>
          <a:p>
            <a:pPr algn="ctr"/>
            <a:r>
              <a:rPr sz="1100" b="0">
                <a:solidFill>
                  <a:srgbClr val="6B4BC0"/>
                </a:solidFill>
                <a:latin typeface="Arial"/>
              </a:rPr>
              <a:t>TASK_ADMIN: PATROL, SURVEY, NAVIGATE…</a:t>
            </a:r>
          </a:p>
        </p:txBody>
      </p:sp>
      <p:sp>
        <p:nvSpPr>
          <p:cNvPr id="161" name="TextBox 160"/>
          <p:cNvSpPr txBox="1"/>
          <p:nvPr/>
        </p:nvSpPr>
        <p:spPr>
          <a:xfrm>
            <a:off x="3570732" y="1874519"/>
            <a:ext cx="2011680" cy="411480"/>
          </a:xfrm>
          <a:prstGeom prst="rect">
            <a:avLst/>
          </a:prstGeom>
          <a:noFill/>
        </p:spPr>
        <p:txBody>
          <a:bodyPr wrap="square" lIns="0" tIns="0" rIns="0" bIns="0" anchor="b">
            <a:spAutoFit/>
          </a:bodyPr>
          <a:lstStyle/>
          <a:p>
            <a:pPr algn="ctr"/>
            <a:r>
              <a:rPr sz="1100" b="0">
                <a:solidFill>
                  <a:srgbClr val="6B4BC0"/>
                </a:solidFill>
                <a:latin typeface="Arial"/>
              </a:rPr>
              <a:t>Persisted under /incoming</a:t>
            </a:r>
          </a:p>
        </p:txBody>
      </p:sp>
      <p:sp>
        <p:nvSpPr>
          <p:cNvPr id="162" name="TextBox 161"/>
          <p:cNvSpPr txBox="1"/>
          <p:nvPr/>
        </p:nvSpPr>
        <p:spPr>
          <a:xfrm>
            <a:off x="5783579" y="1874519"/>
            <a:ext cx="2011680" cy="411480"/>
          </a:xfrm>
          <a:prstGeom prst="rect">
            <a:avLst/>
          </a:prstGeom>
          <a:noFill/>
        </p:spPr>
        <p:txBody>
          <a:bodyPr wrap="square" lIns="0" tIns="0" rIns="0" bIns="0" anchor="b">
            <a:spAutoFit/>
          </a:bodyPr>
          <a:lstStyle/>
          <a:p>
            <a:pPr algn="ctr"/>
            <a:r>
              <a:rPr sz="1100" b="0" dirty="0">
                <a:solidFill>
                  <a:srgbClr val="6B4BC0"/>
                </a:solidFill>
                <a:latin typeface="Arial"/>
              </a:rPr>
              <a:t>MAVLink mission upload</a:t>
            </a:r>
          </a:p>
        </p:txBody>
      </p:sp>
      <p:sp>
        <p:nvSpPr>
          <p:cNvPr id="163" name="TextBox 162"/>
          <p:cNvSpPr txBox="1"/>
          <p:nvPr/>
        </p:nvSpPr>
        <p:spPr>
          <a:xfrm>
            <a:off x="457200" y="3584448"/>
            <a:ext cx="548640" cy="274320"/>
          </a:xfrm>
          <a:prstGeom prst="rect">
            <a:avLst/>
          </a:prstGeom>
          <a:noFill/>
        </p:spPr>
        <p:txBody>
          <a:bodyPr wrap="square" lIns="0" tIns="0" rIns="0" bIns="0" anchor="t">
            <a:spAutoFit/>
          </a:bodyPr>
          <a:lstStyle/>
          <a:p>
            <a:pPr algn="l"/>
            <a:r>
              <a:rPr sz="1000" b="1" dirty="0">
                <a:solidFill>
                  <a:srgbClr val="8A6A1F"/>
                </a:solidFill>
                <a:latin typeface="Arial"/>
              </a:rPr>
              <a:t>UP</a:t>
            </a:r>
          </a:p>
        </p:txBody>
      </p:sp>
      <p:sp>
        <p:nvSpPr>
          <p:cNvPr id="164" name="TextBox 163"/>
          <p:cNvSpPr txBox="1"/>
          <p:nvPr/>
        </p:nvSpPr>
        <p:spPr>
          <a:xfrm>
            <a:off x="1312164" y="3200400"/>
            <a:ext cx="2103120" cy="457200"/>
          </a:xfrm>
          <a:prstGeom prst="rect">
            <a:avLst/>
          </a:prstGeom>
          <a:noFill/>
        </p:spPr>
        <p:txBody>
          <a:bodyPr wrap="square" lIns="0" tIns="0" rIns="0" bIns="0" anchor="t">
            <a:spAutoFit/>
          </a:bodyPr>
          <a:lstStyle/>
          <a:p>
            <a:pPr algn="ctr"/>
            <a:r>
              <a:rPr sz="1100" b="0">
                <a:solidFill>
                  <a:srgbClr val="8A6A1F"/>
                </a:solidFill>
                <a:latin typeface="Arial"/>
              </a:rPr>
              <a:t>TASK_FEEDBACK · NODE_STATUS · DYNAMIC_UPDATE · TASK_RESULT</a:t>
            </a:r>
          </a:p>
        </p:txBody>
      </p:sp>
      <p:sp>
        <p:nvSpPr>
          <p:cNvPr id="165" name="TextBox 164"/>
          <p:cNvSpPr txBox="1"/>
          <p:nvPr/>
        </p:nvSpPr>
        <p:spPr>
          <a:xfrm>
            <a:off x="3936491" y="3200400"/>
            <a:ext cx="1280160" cy="457200"/>
          </a:xfrm>
          <a:prstGeom prst="rect">
            <a:avLst/>
          </a:prstGeom>
          <a:noFill/>
        </p:spPr>
        <p:txBody>
          <a:bodyPr wrap="square" lIns="0" tIns="0" rIns="0" bIns="0" anchor="t">
            <a:spAutoFit/>
          </a:bodyPr>
          <a:lstStyle/>
          <a:p>
            <a:pPr algn="ctr"/>
            <a:r>
              <a:rPr sz="1100" b="0">
                <a:solidFill>
                  <a:srgbClr val="8A6A1F"/>
                </a:solidFill>
                <a:latin typeface="Arial"/>
              </a:rPr>
              <a:t>Twin state</a:t>
            </a:r>
          </a:p>
        </p:txBody>
      </p:sp>
      <p:sp>
        <p:nvSpPr>
          <p:cNvPr id="166" name="TextBox 165"/>
          <p:cNvSpPr txBox="1"/>
          <p:nvPr/>
        </p:nvSpPr>
        <p:spPr>
          <a:xfrm>
            <a:off x="5875020" y="3200400"/>
            <a:ext cx="1828800" cy="457200"/>
          </a:xfrm>
          <a:prstGeom prst="rect">
            <a:avLst/>
          </a:prstGeom>
          <a:noFill/>
        </p:spPr>
        <p:txBody>
          <a:bodyPr wrap="square" lIns="0" tIns="0" rIns="0" bIns="0" anchor="t">
            <a:spAutoFit/>
          </a:bodyPr>
          <a:lstStyle/>
          <a:p>
            <a:pPr algn="ctr"/>
            <a:r>
              <a:rPr sz="1100" b="0" dirty="0">
                <a:solidFill>
                  <a:srgbClr val="8A6A1F"/>
                </a:solidFill>
                <a:latin typeface="Arial"/>
              </a:rPr>
              <a:t>MAVLink telemetry</a:t>
            </a:r>
          </a:p>
        </p:txBody>
      </p:sp>
      <p:sp>
        <p:nvSpPr>
          <p:cNvPr id="167" name="TextBox 166"/>
          <p:cNvSpPr txBox="1"/>
          <p:nvPr/>
        </p:nvSpPr>
        <p:spPr>
          <a:xfrm>
            <a:off x="457200" y="4023360"/>
            <a:ext cx="8138160" cy="548640"/>
          </a:xfrm>
          <a:prstGeom prst="rect">
            <a:avLst/>
          </a:prstGeom>
          <a:noFill/>
        </p:spPr>
        <p:txBody>
          <a:bodyPr wrap="square" lIns="0" tIns="0" rIns="0" bIns="0" anchor="t">
            <a:spAutoFit/>
          </a:bodyPr>
          <a:lstStyle/>
          <a:p>
            <a:pPr algn="l"/>
            <a:r>
              <a:rPr sz="1500" b="1">
                <a:solidFill>
                  <a:srgbClr val="1D1722"/>
                </a:solidFill>
                <a:latin typeface="Arial"/>
              </a:rPr>
              <a:t>Task feedback is the end-to-end ack: the edge reports what the vehicle is doing, not what a broker stored.</a:t>
            </a:r>
          </a:p>
        </p:txBody>
      </p:sp>
      <p:sp>
        <p:nvSpPr>
          <p:cNvPr id="168" name="TextBox 167"/>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 MAPS C2 node configuration; </a:t>
            </a:r>
            <a:r>
              <a:rPr lang="en-GB" sz="1000" b="0" dirty="0">
                <a:solidFill>
                  <a:srgbClr val="7A7290"/>
                </a:solidFill>
                <a:latin typeface="Arial"/>
              </a:rPr>
              <a:t>vessel</a:t>
            </a:r>
            <a:r>
              <a:rPr sz="1000" b="0" dirty="0">
                <a:solidFill>
                  <a:srgbClr val="7A7290"/>
                </a:solidFill>
                <a:latin typeface="Arial"/>
              </a:rPr>
              <a:t> STANAG capture</a:t>
            </a:r>
          </a:p>
        </p:txBody>
      </p:sp>
      <p:pic>
        <p:nvPicPr>
          <p:cNvPr id="3" name="Picture 2">
            <a:extLst>
              <a:ext uri="{FF2B5EF4-FFF2-40B4-BE49-F238E27FC236}">
                <a16:creationId xmlns:a16="http://schemas.microsoft.com/office/drawing/2014/main" id="{8FACD7D4-E665-7342-9D7D-E9509DA3E90C}"/>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03 · TASKING GOES BOTH WAYS</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REPMUS, 21 September: a partner C2 tasks our USV</a:t>
            </a:r>
          </a:p>
        </p:txBody>
      </p:sp>
      <p:cxnSp>
        <p:nvCxnSpPr>
          <p:cNvPr id="141" name="Connector 140"/>
          <p:cNvCxnSpPr/>
          <p:nvPr/>
        </p:nvCxnSpPr>
        <p:spPr>
          <a:xfrm>
            <a:off x="548640" y="2514600"/>
            <a:ext cx="8046720" cy="0"/>
          </a:xfrm>
          <a:prstGeom prst="line">
            <a:avLst/>
          </a:prstGeom>
          <a:ln w="38100">
            <a:solidFill>
              <a:srgbClr val="DDD5EE"/>
            </a:solidFill>
          </a:ln>
        </p:spPr>
        <p:style>
          <a:lnRef idx="2">
            <a:schemeClr val="accent1"/>
          </a:lnRef>
          <a:fillRef idx="0">
            <a:schemeClr val="accent1"/>
          </a:fillRef>
          <a:effectRef idx="1">
            <a:schemeClr val="accent1"/>
          </a:effectRef>
          <a:fontRef idx="minor">
            <a:schemeClr val="tx1"/>
          </a:fontRef>
        </p:style>
      </p:cxnSp>
      <p:sp>
        <p:nvSpPr>
          <p:cNvPr id="142" name="Oval 141"/>
          <p:cNvSpPr/>
          <p:nvPr/>
        </p:nvSpPr>
        <p:spPr>
          <a:xfrm>
            <a:off x="1143000" y="2414016"/>
            <a:ext cx="201168" cy="201168"/>
          </a:xfrm>
          <a:prstGeom prst="ellipse">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457200" y="1920240"/>
            <a:ext cx="1572768" cy="320040"/>
          </a:xfrm>
          <a:prstGeom prst="rect">
            <a:avLst/>
          </a:prstGeom>
          <a:noFill/>
        </p:spPr>
        <p:txBody>
          <a:bodyPr wrap="square" lIns="0" tIns="0" rIns="0" bIns="0" anchor="t">
            <a:spAutoFit/>
          </a:bodyPr>
          <a:lstStyle/>
          <a:p>
            <a:pPr algn="ctr"/>
            <a:r>
              <a:rPr sz="1200" b="1">
                <a:solidFill>
                  <a:srgbClr val="6B4BC0"/>
                </a:solidFill>
                <a:latin typeface="Arial"/>
              </a:rPr>
              <a:t>14:40:47</a:t>
            </a:r>
          </a:p>
        </p:txBody>
      </p:sp>
      <p:sp>
        <p:nvSpPr>
          <p:cNvPr id="144" name="TextBox 143"/>
          <p:cNvSpPr txBox="1"/>
          <p:nvPr/>
        </p:nvSpPr>
        <p:spPr>
          <a:xfrm>
            <a:off x="457200" y="2743200"/>
            <a:ext cx="1572768" cy="320040"/>
          </a:xfrm>
          <a:prstGeom prst="rect">
            <a:avLst/>
          </a:prstGeom>
          <a:noFill/>
        </p:spPr>
        <p:txBody>
          <a:bodyPr wrap="square" lIns="0" tIns="0" rIns="0" bIns="0" anchor="t">
            <a:spAutoFit/>
          </a:bodyPr>
          <a:lstStyle/>
          <a:p>
            <a:pPr algn="ctr"/>
            <a:r>
              <a:rPr sz="1300" b="1">
                <a:solidFill>
                  <a:srgbClr val="1D1722"/>
                </a:solidFill>
                <a:latin typeface="Arial"/>
              </a:rPr>
              <a:t>SURVEY pushed</a:t>
            </a:r>
          </a:p>
        </p:txBody>
      </p:sp>
      <p:sp>
        <p:nvSpPr>
          <p:cNvPr id="145" name="TextBox 144"/>
          <p:cNvSpPr txBox="1"/>
          <p:nvPr/>
        </p:nvSpPr>
        <p:spPr>
          <a:xfrm>
            <a:off x="457200" y="3063240"/>
            <a:ext cx="1572768" cy="548640"/>
          </a:xfrm>
          <a:prstGeom prst="rect">
            <a:avLst/>
          </a:prstGeom>
          <a:noFill/>
        </p:spPr>
        <p:txBody>
          <a:bodyPr wrap="square" lIns="0" tIns="0" rIns="0" bIns="0" anchor="t">
            <a:spAutoFit/>
          </a:bodyPr>
          <a:lstStyle/>
          <a:p>
            <a:pPr algn="ctr"/>
            <a:r>
              <a:rPr sz="1150" b="0">
                <a:solidFill>
                  <a:srgbClr val="4A4458"/>
                </a:solidFill>
                <a:latin typeface="Arial"/>
              </a:rPr>
              <a:t>by a partner C2: 8-point polygon</a:t>
            </a:r>
          </a:p>
        </p:txBody>
      </p:sp>
      <p:sp>
        <p:nvSpPr>
          <p:cNvPr id="146" name="Oval 145"/>
          <p:cNvSpPr/>
          <p:nvPr/>
        </p:nvSpPr>
        <p:spPr>
          <a:xfrm>
            <a:off x="2807208" y="2414016"/>
            <a:ext cx="201168" cy="201168"/>
          </a:xfrm>
          <a:prstGeom prst="ellipse">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2121408" y="1920240"/>
            <a:ext cx="1572768" cy="320040"/>
          </a:xfrm>
          <a:prstGeom prst="rect">
            <a:avLst/>
          </a:prstGeom>
          <a:noFill/>
        </p:spPr>
        <p:txBody>
          <a:bodyPr wrap="square" lIns="0" tIns="0" rIns="0" bIns="0" anchor="t">
            <a:spAutoFit/>
          </a:bodyPr>
          <a:lstStyle/>
          <a:p>
            <a:pPr algn="ctr"/>
            <a:r>
              <a:rPr sz="1200" b="1">
                <a:solidFill>
                  <a:srgbClr val="6B4BC0"/>
                </a:solidFill>
                <a:latin typeface="Arial"/>
              </a:rPr>
              <a:t>+1.1 s</a:t>
            </a:r>
          </a:p>
        </p:txBody>
      </p:sp>
      <p:sp>
        <p:nvSpPr>
          <p:cNvPr id="148" name="TextBox 147"/>
          <p:cNvSpPr txBox="1"/>
          <p:nvPr/>
        </p:nvSpPr>
        <p:spPr>
          <a:xfrm>
            <a:off x="2121408" y="2743200"/>
            <a:ext cx="1572768" cy="320040"/>
          </a:xfrm>
          <a:prstGeom prst="rect">
            <a:avLst/>
          </a:prstGeom>
          <a:noFill/>
        </p:spPr>
        <p:txBody>
          <a:bodyPr wrap="square" lIns="0" tIns="0" rIns="0" bIns="0" anchor="t">
            <a:spAutoFit/>
          </a:bodyPr>
          <a:lstStyle/>
          <a:p>
            <a:pPr algn="ctr"/>
            <a:r>
              <a:rPr sz="1300" b="1">
                <a:solidFill>
                  <a:srgbClr val="1D1722"/>
                </a:solidFill>
                <a:latin typeface="Arial"/>
              </a:rPr>
              <a:t>PENDING</a:t>
            </a:r>
          </a:p>
        </p:txBody>
      </p:sp>
      <p:sp>
        <p:nvSpPr>
          <p:cNvPr id="149" name="TextBox 148"/>
          <p:cNvSpPr txBox="1"/>
          <p:nvPr/>
        </p:nvSpPr>
        <p:spPr>
          <a:xfrm>
            <a:off x="2121408" y="3063240"/>
            <a:ext cx="1572768" cy="548640"/>
          </a:xfrm>
          <a:prstGeom prst="rect">
            <a:avLst/>
          </a:prstGeom>
          <a:noFill/>
        </p:spPr>
        <p:txBody>
          <a:bodyPr wrap="square" lIns="0" tIns="0" rIns="0" bIns="0" anchor="t">
            <a:spAutoFit/>
          </a:bodyPr>
          <a:lstStyle/>
          <a:p>
            <a:pPr algn="ctr"/>
            <a:r>
              <a:rPr sz="1150" b="0">
                <a:solidFill>
                  <a:srgbClr val="4A4458"/>
                </a:solidFill>
                <a:latin typeface="Arial"/>
              </a:rPr>
              <a:t>task accepted at the edge</a:t>
            </a:r>
          </a:p>
        </p:txBody>
      </p:sp>
      <p:sp>
        <p:nvSpPr>
          <p:cNvPr id="150" name="Oval 149"/>
          <p:cNvSpPr/>
          <p:nvPr/>
        </p:nvSpPr>
        <p:spPr>
          <a:xfrm>
            <a:off x="4471416" y="2414016"/>
            <a:ext cx="201168" cy="201168"/>
          </a:xfrm>
          <a:prstGeom prst="ellipse">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3785616" y="1920240"/>
            <a:ext cx="1572768" cy="320040"/>
          </a:xfrm>
          <a:prstGeom prst="rect">
            <a:avLst/>
          </a:prstGeom>
          <a:noFill/>
        </p:spPr>
        <p:txBody>
          <a:bodyPr wrap="square" lIns="0" tIns="0" rIns="0" bIns="0" anchor="t">
            <a:spAutoFit/>
          </a:bodyPr>
          <a:lstStyle/>
          <a:p>
            <a:pPr algn="ctr"/>
            <a:r>
              <a:rPr sz="1200" b="1">
                <a:solidFill>
                  <a:srgbClr val="6B4BC0"/>
                </a:solidFill>
                <a:latin typeface="Arial"/>
              </a:rPr>
              <a:t>+4.2 s</a:t>
            </a:r>
          </a:p>
        </p:txBody>
      </p:sp>
      <p:sp>
        <p:nvSpPr>
          <p:cNvPr id="152" name="TextBox 151"/>
          <p:cNvSpPr txBox="1"/>
          <p:nvPr/>
        </p:nvSpPr>
        <p:spPr>
          <a:xfrm>
            <a:off x="3785616" y="2743200"/>
            <a:ext cx="1572768" cy="320040"/>
          </a:xfrm>
          <a:prstGeom prst="rect">
            <a:avLst/>
          </a:prstGeom>
          <a:noFill/>
        </p:spPr>
        <p:txBody>
          <a:bodyPr wrap="square" lIns="0" tIns="0" rIns="0" bIns="0" anchor="t">
            <a:spAutoFit/>
          </a:bodyPr>
          <a:lstStyle/>
          <a:p>
            <a:pPr algn="ctr"/>
            <a:r>
              <a:rPr sz="1300" b="1">
                <a:solidFill>
                  <a:srgbClr val="1D1722"/>
                </a:solidFill>
                <a:latin typeface="Arial"/>
              </a:rPr>
              <a:t>ACTIVE</a:t>
            </a:r>
          </a:p>
        </p:txBody>
      </p:sp>
      <p:sp>
        <p:nvSpPr>
          <p:cNvPr id="153" name="TextBox 152"/>
          <p:cNvSpPr txBox="1"/>
          <p:nvPr/>
        </p:nvSpPr>
        <p:spPr>
          <a:xfrm>
            <a:off x="3785616" y="3063240"/>
            <a:ext cx="1572768" cy="548640"/>
          </a:xfrm>
          <a:prstGeom prst="rect">
            <a:avLst/>
          </a:prstGeom>
          <a:noFill/>
        </p:spPr>
        <p:txBody>
          <a:bodyPr wrap="square" lIns="0" tIns="0" rIns="0" bIns="0" anchor="t">
            <a:spAutoFit/>
          </a:bodyPr>
          <a:lstStyle/>
          <a:p>
            <a:pPr algn="ctr"/>
            <a:r>
              <a:rPr sz="1150" b="0">
                <a:solidFill>
                  <a:srgbClr val="4A4458"/>
                </a:solidFill>
                <a:latin typeface="Arial"/>
              </a:rPr>
              <a:t>mission running on the autopilot</a:t>
            </a:r>
          </a:p>
        </p:txBody>
      </p:sp>
      <p:sp>
        <p:nvSpPr>
          <p:cNvPr id="154" name="Oval 153"/>
          <p:cNvSpPr/>
          <p:nvPr/>
        </p:nvSpPr>
        <p:spPr>
          <a:xfrm>
            <a:off x="6135624" y="2414016"/>
            <a:ext cx="201168" cy="201168"/>
          </a:xfrm>
          <a:prstGeom prst="ellipse">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5449824" y="1920240"/>
            <a:ext cx="1572768" cy="320040"/>
          </a:xfrm>
          <a:prstGeom prst="rect">
            <a:avLst/>
          </a:prstGeom>
          <a:noFill/>
        </p:spPr>
        <p:txBody>
          <a:bodyPr wrap="square" lIns="0" tIns="0" rIns="0" bIns="0" anchor="t">
            <a:spAutoFit/>
          </a:bodyPr>
          <a:lstStyle/>
          <a:p>
            <a:pPr algn="ctr"/>
            <a:r>
              <a:rPr sz="1200" b="1">
                <a:solidFill>
                  <a:srgbClr val="6B4BC0"/>
                </a:solidFill>
                <a:latin typeface="Arial"/>
              </a:rPr>
              <a:t>every 2 s</a:t>
            </a:r>
          </a:p>
        </p:txBody>
      </p:sp>
      <p:sp>
        <p:nvSpPr>
          <p:cNvPr id="156" name="TextBox 155"/>
          <p:cNvSpPr txBox="1"/>
          <p:nvPr/>
        </p:nvSpPr>
        <p:spPr>
          <a:xfrm>
            <a:off x="5449824" y="2743200"/>
            <a:ext cx="1572768" cy="320040"/>
          </a:xfrm>
          <a:prstGeom prst="rect">
            <a:avLst/>
          </a:prstGeom>
          <a:noFill/>
        </p:spPr>
        <p:txBody>
          <a:bodyPr wrap="square" lIns="0" tIns="0" rIns="0" bIns="0" anchor="t">
            <a:spAutoFit/>
          </a:bodyPr>
          <a:lstStyle/>
          <a:p>
            <a:pPr algn="ctr"/>
            <a:r>
              <a:rPr sz="1300" b="1">
                <a:solidFill>
                  <a:srgbClr val="1D1722"/>
                </a:solidFill>
                <a:latin typeface="Arial"/>
              </a:rPr>
              <a:t>Progress</a:t>
            </a:r>
          </a:p>
        </p:txBody>
      </p:sp>
      <p:sp>
        <p:nvSpPr>
          <p:cNvPr id="157" name="TextBox 156"/>
          <p:cNvSpPr txBox="1"/>
          <p:nvPr/>
        </p:nvSpPr>
        <p:spPr>
          <a:xfrm>
            <a:off x="5449824" y="3063240"/>
            <a:ext cx="1572768" cy="548640"/>
          </a:xfrm>
          <a:prstGeom prst="rect">
            <a:avLst/>
          </a:prstGeom>
          <a:noFill/>
        </p:spPr>
        <p:txBody>
          <a:bodyPr wrap="square" lIns="0" tIns="0" rIns="0" bIns="0" anchor="t">
            <a:spAutoFit/>
          </a:bodyPr>
          <a:lstStyle/>
          <a:p>
            <a:pPr algn="ctr"/>
            <a:r>
              <a:rPr sz="1150" b="0">
                <a:solidFill>
                  <a:srgbClr val="4A4458"/>
                </a:solidFill>
                <a:latin typeface="Arial"/>
              </a:rPr>
              <a:t>393 feedback messages</a:t>
            </a:r>
          </a:p>
        </p:txBody>
      </p:sp>
      <p:sp>
        <p:nvSpPr>
          <p:cNvPr id="158" name="Oval 157"/>
          <p:cNvSpPr/>
          <p:nvPr/>
        </p:nvSpPr>
        <p:spPr>
          <a:xfrm>
            <a:off x="7799832" y="2414016"/>
            <a:ext cx="201168" cy="201168"/>
          </a:xfrm>
          <a:prstGeom prst="ellipse">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7114032" y="1920240"/>
            <a:ext cx="1572768" cy="320040"/>
          </a:xfrm>
          <a:prstGeom prst="rect">
            <a:avLst/>
          </a:prstGeom>
          <a:noFill/>
        </p:spPr>
        <p:txBody>
          <a:bodyPr wrap="square" lIns="0" tIns="0" rIns="0" bIns="0" anchor="t">
            <a:spAutoFit/>
          </a:bodyPr>
          <a:lstStyle/>
          <a:p>
            <a:pPr algn="ctr"/>
            <a:r>
              <a:rPr sz="1200" b="1">
                <a:solidFill>
                  <a:srgbClr val="8A6A1F"/>
                </a:solidFill>
                <a:latin typeface="Arial"/>
              </a:rPr>
              <a:t>14:53:51</a:t>
            </a:r>
          </a:p>
        </p:txBody>
      </p:sp>
      <p:sp>
        <p:nvSpPr>
          <p:cNvPr id="160" name="TextBox 159"/>
          <p:cNvSpPr txBox="1"/>
          <p:nvPr/>
        </p:nvSpPr>
        <p:spPr>
          <a:xfrm>
            <a:off x="7114032" y="2743200"/>
            <a:ext cx="1572768" cy="320040"/>
          </a:xfrm>
          <a:prstGeom prst="rect">
            <a:avLst/>
          </a:prstGeom>
          <a:noFill/>
        </p:spPr>
        <p:txBody>
          <a:bodyPr wrap="square" lIns="0" tIns="0" rIns="0" bIns="0" anchor="t">
            <a:spAutoFit/>
          </a:bodyPr>
          <a:lstStyle/>
          <a:p>
            <a:pPr algn="ctr"/>
            <a:r>
              <a:rPr sz="1300" b="1">
                <a:solidFill>
                  <a:srgbClr val="1D1722"/>
                </a:solidFill>
                <a:latin typeface="Arial"/>
              </a:rPr>
              <a:t>SUCCEEDED</a:t>
            </a:r>
          </a:p>
        </p:txBody>
      </p:sp>
      <p:sp>
        <p:nvSpPr>
          <p:cNvPr id="161" name="TextBox 160"/>
          <p:cNvSpPr txBox="1"/>
          <p:nvPr/>
        </p:nvSpPr>
        <p:spPr>
          <a:xfrm>
            <a:off x="7114032" y="3063240"/>
            <a:ext cx="1572768" cy="548640"/>
          </a:xfrm>
          <a:prstGeom prst="rect">
            <a:avLst/>
          </a:prstGeom>
          <a:noFill/>
        </p:spPr>
        <p:txBody>
          <a:bodyPr wrap="square" lIns="0" tIns="0" rIns="0" bIns="0" anchor="t">
            <a:spAutoFit/>
          </a:bodyPr>
          <a:lstStyle/>
          <a:p>
            <a:pPr algn="ctr"/>
            <a:r>
              <a:rPr sz="1150" b="0">
                <a:solidFill>
                  <a:srgbClr val="4A4458"/>
                </a:solidFill>
                <a:latin typeface="Arial"/>
              </a:rPr>
              <a:t>13 minutes after the push</a:t>
            </a:r>
          </a:p>
        </p:txBody>
      </p:sp>
      <p:sp>
        <p:nvSpPr>
          <p:cNvPr id="162" name="TextBox 161"/>
          <p:cNvSpPr txBox="1"/>
          <p:nvPr/>
        </p:nvSpPr>
        <p:spPr>
          <a:xfrm>
            <a:off x="457200" y="3931920"/>
            <a:ext cx="8138160" cy="594360"/>
          </a:xfrm>
          <a:prstGeom prst="rect">
            <a:avLst/>
          </a:prstGeom>
          <a:noFill/>
        </p:spPr>
        <p:txBody>
          <a:bodyPr wrap="square" lIns="0" tIns="0" rIns="0" bIns="0" anchor="t">
            <a:spAutoFit/>
          </a:bodyPr>
          <a:lstStyle/>
          <a:p>
            <a:pPr algn="l"/>
            <a:r>
              <a:rPr sz="1500" b="1">
                <a:solidFill>
                  <a:srgbClr val="1D1722"/>
                </a:solidFill>
                <a:latin typeface="Arial"/>
              </a:rPr>
              <a:t>That afternoon: 14 tasks, 5 task types, 2 C2 systems. Median 181 ms from push to first feedback.</a:t>
            </a:r>
          </a:p>
        </p:txBody>
      </p:sp>
      <p:sp>
        <p:nvSpPr>
          <p:cNvPr id="163" name="TextBox 162"/>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 STANAG 4817 capture</a:t>
            </a:r>
          </a:p>
        </p:txBody>
      </p:sp>
      <p:pic>
        <p:nvPicPr>
          <p:cNvPr id="3" name="Picture 2">
            <a:extLst>
              <a:ext uri="{FF2B5EF4-FFF2-40B4-BE49-F238E27FC236}">
                <a16:creationId xmlns:a16="http://schemas.microsoft.com/office/drawing/2014/main" id="{396780BF-7578-EE40-F641-53DBB53854DE}"/>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03 · TASKING GOES BOTH WAYS</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One survey, two views</a:t>
            </a:r>
          </a:p>
        </p:txBody>
      </p:sp>
      <p:pic>
        <p:nvPicPr>
          <p:cNvPr id="141" name="Picture 140" descr="survey_vehicle.jpg"/>
          <p:cNvPicPr>
            <a:picLocks noChangeAspect="1"/>
          </p:cNvPicPr>
          <p:nvPr/>
        </p:nvPicPr>
        <p:blipFill>
          <a:blip r:embed="rId4"/>
          <a:stretch>
            <a:fillRect/>
          </a:stretch>
        </p:blipFill>
        <p:spPr>
          <a:xfrm>
            <a:off x="457200" y="1599493"/>
            <a:ext cx="3530082" cy="2244214"/>
          </a:xfrm>
          <a:prstGeom prst="rect">
            <a:avLst/>
          </a:prstGeom>
        </p:spPr>
      </p:pic>
      <p:sp>
        <p:nvSpPr>
          <p:cNvPr id="142" name="TextBox 141"/>
          <p:cNvSpPr txBox="1"/>
          <p:nvPr/>
        </p:nvSpPr>
        <p:spPr>
          <a:xfrm>
            <a:off x="457200" y="4279392"/>
            <a:ext cx="3931920" cy="274320"/>
          </a:xfrm>
          <a:prstGeom prst="rect">
            <a:avLst/>
          </a:prstGeom>
          <a:noFill/>
        </p:spPr>
        <p:txBody>
          <a:bodyPr wrap="square" lIns="0" tIns="0" rIns="0" bIns="0" anchor="t">
            <a:spAutoFit/>
          </a:bodyPr>
          <a:lstStyle/>
          <a:p>
            <a:pPr algn="ctr"/>
            <a:r>
              <a:rPr sz="1200" b="1">
                <a:solidFill>
                  <a:srgbClr val="1D1722"/>
                </a:solidFill>
                <a:latin typeface="Arial"/>
              </a:rPr>
              <a:t>Vehicle view: the survey at 79.9%</a:t>
            </a:r>
          </a:p>
        </p:txBody>
      </p:sp>
      <p:sp>
        <p:nvSpPr>
          <p:cNvPr id="144" name="TextBox 143"/>
          <p:cNvSpPr txBox="1"/>
          <p:nvPr/>
        </p:nvSpPr>
        <p:spPr>
          <a:xfrm>
            <a:off x="4663440" y="4279392"/>
            <a:ext cx="3931920" cy="274320"/>
          </a:xfrm>
          <a:prstGeom prst="rect">
            <a:avLst/>
          </a:prstGeom>
          <a:noFill/>
        </p:spPr>
        <p:txBody>
          <a:bodyPr wrap="square" lIns="0" tIns="0" rIns="0" bIns="0" anchor="t">
            <a:spAutoFit/>
          </a:bodyPr>
          <a:lstStyle/>
          <a:p>
            <a:pPr algn="ctr"/>
            <a:r>
              <a:rPr sz="1200" b="1">
                <a:solidFill>
                  <a:srgbClr val="1D1722"/>
                </a:solidFill>
                <a:latin typeface="Arial"/>
              </a:rPr>
              <a:t>Operational view: the same survey on the COP</a:t>
            </a:r>
          </a:p>
        </p:txBody>
      </p:sp>
      <p:sp>
        <p:nvSpPr>
          <p:cNvPr id="145" name="TextBox 144"/>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a:t>
            </a:r>
            <a:r>
              <a:rPr lang="en-US" sz="1000" dirty="0">
                <a:solidFill>
                  <a:srgbClr val="7A7290"/>
                </a:solidFill>
              </a:rPr>
              <a:t> -</a:t>
            </a:r>
            <a:r>
              <a:rPr sz="1000" b="0" dirty="0">
                <a:solidFill>
                  <a:srgbClr val="7A7290"/>
                </a:solidFill>
                <a:latin typeface="Arial"/>
              </a:rPr>
              <a:t> map data © OpenStreetMap contributors</a:t>
            </a:r>
          </a:p>
        </p:txBody>
      </p:sp>
      <p:pic>
        <p:nvPicPr>
          <p:cNvPr id="3" name="Picture 2" descr="survey_cop.jpg">
            <a:extLst>
              <a:ext uri="{FF2B5EF4-FFF2-40B4-BE49-F238E27FC236}">
                <a16:creationId xmlns:a16="http://schemas.microsoft.com/office/drawing/2014/main" id="{5757CF52-A0FB-8DD1-D57A-C9FA4DDC4890}"/>
              </a:ext>
            </a:extLst>
          </p:cNvPr>
          <p:cNvPicPr>
            <a:picLocks noChangeAspect="1"/>
          </p:cNvPicPr>
          <p:nvPr/>
        </p:nvPicPr>
        <p:blipFill>
          <a:blip r:embed="rId5"/>
          <a:stretch>
            <a:fillRect/>
          </a:stretch>
        </p:blipFill>
        <p:spPr>
          <a:xfrm>
            <a:off x="4663440" y="1600200"/>
            <a:ext cx="3931920" cy="2243507"/>
          </a:xfrm>
          <a:prstGeom prst="rect">
            <a:avLst/>
          </a:prstGeom>
        </p:spPr>
      </p:pic>
      <p:pic>
        <p:nvPicPr>
          <p:cNvPr id="4" name="Picture 3">
            <a:extLst>
              <a:ext uri="{FF2B5EF4-FFF2-40B4-BE49-F238E27FC236}">
                <a16:creationId xmlns:a16="http://schemas.microsoft.com/office/drawing/2014/main" id="{80DADC22-F68D-DD94-5FB7-0C40DCB6424E}"/>
              </a:ext>
            </a:extLst>
          </p:cNvPr>
          <p:cNvPicPr>
            <a:picLocks noChangeAspect="1"/>
          </p:cNvPicPr>
          <p:nvPr/>
        </p:nvPicPr>
        <p:blipFill>
          <a:blip r:embed="rId6"/>
          <a:stretch>
            <a:fillRect/>
          </a:stretch>
        </p:blipFill>
        <p:spPr>
          <a:xfrm>
            <a:off x="7403469" y="4543222"/>
            <a:ext cx="1237611" cy="4661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04 · DELIVERED IS INCOMPLETE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One message, five hops, four different acks</a:t>
            </a:r>
          </a:p>
        </p:txBody>
      </p:sp>
      <p:sp>
        <p:nvSpPr>
          <p:cNvPr id="141" name="Rounded Rectangle 140"/>
          <p:cNvSpPr/>
          <p:nvPr/>
        </p:nvSpPr>
        <p:spPr>
          <a:xfrm>
            <a:off x="457200" y="1600200"/>
            <a:ext cx="1371600" cy="160020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594360" y="1764792"/>
            <a:ext cx="1097280" cy="274320"/>
          </a:xfrm>
          <a:prstGeom prst="rect">
            <a:avLst/>
          </a:prstGeom>
          <a:noFill/>
        </p:spPr>
        <p:txBody>
          <a:bodyPr wrap="square" lIns="0" tIns="0" rIns="0" bIns="0" anchor="t">
            <a:spAutoFit/>
          </a:bodyPr>
          <a:lstStyle/>
          <a:p>
            <a:pPr algn="l"/>
            <a:r>
              <a:rPr sz="1400" b="1">
                <a:solidFill>
                  <a:srgbClr val="1D1722"/>
                </a:solidFill>
                <a:latin typeface="Arial"/>
              </a:rPr>
              <a:t>Sensor</a:t>
            </a:r>
          </a:p>
        </p:txBody>
      </p:sp>
      <p:sp>
        <p:nvSpPr>
          <p:cNvPr id="143" name="TextBox 142"/>
          <p:cNvSpPr txBox="1"/>
          <p:nvPr/>
        </p:nvSpPr>
        <p:spPr>
          <a:xfrm>
            <a:off x="594360" y="2258568"/>
            <a:ext cx="1097280" cy="400110"/>
          </a:xfrm>
          <a:prstGeom prst="rect">
            <a:avLst/>
          </a:prstGeom>
          <a:noFill/>
        </p:spPr>
        <p:txBody>
          <a:bodyPr wrap="square" lIns="0" tIns="0" rIns="0" bIns="0" anchor="t">
            <a:spAutoFit/>
          </a:bodyPr>
          <a:lstStyle/>
          <a:p>
            <a:pPr algn="l"/>
            <a:r>
              <a:rPr sz="1300" b="0" dirty="0">
                <a:solidFill>
                  <a:srgbClr val="4A4458"/>
                </a:solidFill>
                <a:latin typeface="Arial"/>
              </a:rPr>
              <a:t>Published</a:t>
            </a:r>
            <a:r>
              <a:rPr lang="en-US" sz="1300" dirty="0">
                <a:solidFill>
                  <a:srgbClr val="4A4458"/>
                </a:solidFill>
              </a:rPr>
              <a:t> (QOS 1)</a:t>
            </a:r>
            <a:endParaRPr sz="1300" b="0" dirty="0">
              <a:solidFill>
                <a:srgbClr val="4A4458"/>
              </a:solidFill>
              <a:latin typeface="Arial"/>
            </a:endParaRPr>
          </a:p>
        </p:txBody>
      </p:sp>
      <p:sp>
        <p:nvSpPr>
          <p:cNvPr id="144" name="Right Arrow 143"/>
          <p:cNvSpPr/>
          <p:nvPr/>
        </p:nvSpPr>
        <p:spPr>
          <a:xfrm>
            <a:off x="1883664" y="2313432"/>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ounded Rectangle 144"/>
          <p:cNvSpPr/>
          <p:nvPr/>
        </p:nvSpPr>
        <p:spPr>
          <a:xfrm>
            <a:off x="2148840" y="1600200"/>
            <a:ext cx="1371600" cy="160020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2286000" y="1764792"/>
            <a:ext cx="1097280" cy="274320"/>
          </a:xfrm>
          <a:prstGeom prst="rect">
            <a:avLst/>
          </a:prstGeom>
          <a:noFill/>
        </p:spPr>
        <p:txBody>
          <a:bodyPr wrap="square" lIns="0" tIns="0" rIns="0" bIns="0" anchor="t">
            <a:spAutoFit/>
          </a:bodyPr>
          <a:lstStyle/>
          <a:p>
            <a:pPr algn="l"/>
            <a:r>
              <a:rPr sz="1400" b="1">
                <a:solidFill>
                  <a:srgbClr val="1D1722"/>
                </a:solidFill>
                <a:latin typeface="Arial"/>
              </a:rPr>
              <a:t>Edge broker</a:t>
            </a:r>
          </a:p>
        </p:txBody>
      </p:sp>
      <p:sp>
        <p:nvSpPr>
          <p:cNvPr id="147" name="TextBox 146"/>
          <p:cNvSpPr txBox="1"/>
          <p:nvPr/>
        </p:nvSpPr>
        <p:spPr>
          <a:xfrm>
            <a:off x="2286000" y="2258568"/>
            <a:ext cx="1097280" cy="868680"/>
          </a:xfrm>
          <a:prstGeom prst="rect">
            <a:avLst/>
          </a:prstGeom>
          <a:noFill/>
        </p:spPr>
        <p:txBody>
          <a:bodyPr wrap="square" lIns="0" tIns="0" rIns="0" bIns="0" anchor="t">
            <a:spAutoFit/>
          </a:bodyPr>
          <a:lstStyle/>
          <a:p>
            <a:pPr algn="l"/>
            <a:r>
              <a:rPr sz="1300" b="0">
                <a:solidFill>
                  <a:srgbClr val="4A4458"/>
                </a:solidFill>
                <a:latin typeface="Arial"/>
              </a:rPr>
              <a:t>MQTT PUBACK: the edge has it.</a:t>
            </a:r>
          </a:p>
        </p:txBody>
      </p:sp>
      <p:sp>
        <p:nvSpPr>
          <p:cNvPr id="148" name="Right Arrow 147"/>
          <p:cNvSpPr/>
          <p:nvPr/>
        </p:nvSpPr>
        <p:spPr>
          <a:xfrm>
            <a:off x="3575304" y="2313432"/>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148"/>
          <p:cNvSpPr/>
          <p:nvPr/>
        </p:nvSpPr>
        <p:spPr>
          <a:xfrm>
            <a:off x="3840480" y="1600200"/>
            <a:ext cx="1371600" cy="160020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Box 149"/>
          <p:cNvSpPr txBox="1"/>
          <p:nvPr/>
        </p:nvSpPr>
        <p:spPr>
          <a:xfrm>
            <a:off x="3977640" y="1764792"/>
            <a:ext cx="1097280" cy="274320"/>
          </a:xfrm>
          <a:prstGeom prst="rect">
            <a:avLst/>
          </a:prstGeom>
          <a:noFill/>
        </p:spPr>
        <p:txBody>
          <a:bodyPr wrap="square" lIns="0" tIns="0" rIns="0" bIns="0" anchor="t">
            <a:spAutoFit/>
          </a:bodyPr>
          <a:lstStyle/>
          <a:p>
            <a:pPr algn="l"/>
            <a:r>
              <a:rPr sz="1400" b="1">
                <a:solidFill>
                  <a:srgbClr val="1D1722"/>
                </a:solidFill>
                <a:latin typeface="Arial"/>
              </a:rPr>
              <a:t>Sat modem</a:t>
            </a:r>
          </a:p>
        </p:txBody>
      </p:sp>
      <p:sp>
        <p:nvSpPr>
          <p:cNvPr id="151" name="TextBox 150"/>
          <p:cNvSpPr txBox="1"/>
          <p:nvPr/>
        </p:nvSpPr>
        <p:spPr>
          <a:xfrm>
            <a:off x="3977640" y="2258568"/>
            <a:ext cx="1097280" cy="868680"/>
          </a:xfrm>
          <a:prstGeom prst="rect">
            <a:avLst/>
          </a:prstGeom>
          <a:noFill/>
        </p:spPr>
        <p:txBody>
          <a:bodyPr wrap="square" lIns="0" tIns="0" rIns="0" bIns="0" anchor="t">
            <a:spAutoFit/>
          </a:bodyPr>
          <a:lstStyle/>
          <a:p>
            <a:pPr algn="l"/>
            <a:r>
              <a:rPr sz="1300" b="0">
                <a:solidFill>
                  <a:srgbClr val="4A4458"/>
                </a:solidFill>
                <a:latin typeface="Arial"/>
              </a:rPr>
              <a:t>STx ack: the message left.</a:t>
            </a:r>
          </a:p>
        </p:txBody>
      </p:sp>
      <p:sp>
        <p:nvSpPr>
          <p:cNvPr id="152" name="Right Arrow 151"/>
          <p:cNvSpPr/>
          <p:nvPr/>
        </p:nvSpPr>
        <p:spPr>
          <a:xfrm>
            <a:off x="5266944" y="2313432"/>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ounded Rectangle 152"/>
          <p:cNvSpPr/>
          <p:nvPr/>
        </p:nvSpPr>
        <p:spPr>
          <a:xfrm>
            <a:off x="5532120" y="1600200"/>
            <a:ext cx="1371600" cy="160020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5669280" y="1764792"/>
            <a:ext cx="1097280" cy="274320"/>
          </a:xfrm>
          <a:prstGeom prst="rect">
            <a:avLst/>
          </a:prstGeom>
          <a:noFill/>
        </p:spPr>
        <p:txBody>
          <a:bodyPr wrap="square" lIns="0" tIns="0" rIns="0" bIns="0" anchor="t">
            <a:spAutoFit/>
          </a:bodyPr>
          <a:lstStyle/>
          <a:p>
            <a:pPr algn="l"/>
            <a:r>
              <a:rPr sz="1400" b="1">
                <a:solidFill>
                  <a:srgbClr val="1D1722"/>
                </a:solidFill>
                <a:latin typeface="Arial"/>
              </a:rPr>
              <a:t>Shore broker</a:t>
            </a:r>
          </a:p>
        </p:txBody>
      </p:sp>
      <p:sp>
        <p:nvSpPr>
          <p:cNvPr id="155" name="TextBox 154"/>
          <p:cNvSpPr txBox="1"/>
          <p:nvPr/>
        </p:nvSpPr>
        <p:spPr>
          <a:xfrm>
            <a:off x="5669280" y="2258568"/>
            <a:ext cx="1097280" cy="868680"/>
          </a:xfrm>
          <a:prstGeom prst="rect">
            <a:avLst/>
          </a:prstGeom>
          <a:noFill/>
        </p:spPr>
        <p:txBody>
          <a:bodyPr wrap="square" lIns="0" tIns="0" rIns="0" bIns="0" anchor="t">
            <a:spAutoFit/>
          </a:bodyPr>
          <a:lstStyle/>
          <a:p>
            <a:pPr algn="l"/>
            <a:r>
              <a:rPr sz="1300" b="0">
                <a:solidFill>
                  <a:srgbClr val="4A4458"/>
                </a:solidFill>
                <a:latin typeface="Arial"/>
              </a:rPr>
              <a:t>AMQP settled: shore has it.</a:t>
            </a:r>
          </a:p>
        </p:txBody>
      </p:sp>
      <p:sp>
        <p:nvSpPr>
          <p:cNvPr id="156" name="Right Arrow 155"/>
          <p:cNvSpPr/>
          <p:nvPr/>
        </p:nvSpPr>
        <p:spPr>
          <a:xfrm>
            <a:off x="6958584" y="2313432"/>
            <a:ext cx="201168" cy="182880"/>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ounded Rectangle 156"/>
          <p:cNvSpPr/>
          <p:nvPr/>
        </p:nvSpPr>
        <p:spPr>
          <a:xfrm>
            <a:off x="7223760" y="1600200"/>
            <a:ext cx="1371600" cy="1600200"/>
          </a:xfrm>
          <a:prstGeom prst="roundRect">
            <a:avLst>
              <a:gd name="adj" fmla="val 8000"/>
            </a:avLst>
          </a:prstGeom>
          <a:solidFill>
            <a:srgbClr val="1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Box 157"/>
          <p:cNvSpPr txBox="1"/>
          <p:nvPr/>
        </p:nvSpPr>
        <p:spPr>
          <a:xfrm>
            <a:off x="7360920" y="1764792"/>
            <a:ext cx="1097280" cy="274320"/>
          </a:xfrm>
          <a:prstGeom prst="rect">
            <a:avLst/>
          </a:prstGeom>
          <a:noFill/>
        </p:spPr>
        <p:txBody>
          <a:bodyPr wrap="square" lIns="0" tIns="0" rIns="0" bIns="0" anchor="t">
            <a:spAutoFit/>
          </a:bodyPr>
          <a:lstStyle/>
          <a:p>
            <a:pPr algn="l"/>
            <a:r>
              <a:rPr sz="1400" b="1">
                <a:solidFill>
                  <a:srgbClr val="FFFFFF"/>
                </a:solidFill>
                <a:latin typeface="Arial"/>
              </a:rPr>
              <a:t>Consumer</a:t>
            </a:r>
          </a:p>
        </p:txBody>
      </p:sp>
      <p:sp>
        <p:nvSpPr>
          <p:cNvPr id="159" name="TextBox 158"/>
          <p:cNvSpPr txBox="1"/>
          <p:nvPr/>
        </p:nvSpPr>
        <p:spPr>
          <a:xfrm>
            <a:off x="7360920" y="2258568"/>
            <a:ext cx="1097280" cy="868680"/>
          </a:xfrm>
          <a:prstGeom prst="rect">
            <a:avLst/>
          </a:prstGeom>
          <a:noFill/>
        </p:spPr>
        <p:txBody>
          <a:bodyPr wrap="square" lIns="0" tIns="0" rIns="0" bIns="0" anchor="t">
            <a:spAutoFit/>
          </a:bodyPr>
          <a:lstStyle/>
          <a:p>
            <a:pPr algn="l"/>
            <a:r>
              <a:rPr sz="1300" b="0">
                <a:solidFill>
                  <a:srgbClr val="D9D2EA"/>
                </a:solidFill>
                <a:latin typeface="Arial"/>
              </a:rPr>
              <a:t>Processed? Nobody tells the sensor.</a:t>
            </a:r>
          </a:p>
        </p:txBody>
      </p:sp>
      <p:sp>
        <p:nvSpPr>
          <p:cNvPr id="160" name="TextBox 159"/>
          <p:cNvSpPr txBox="1"/>
          <p:nvPr/>
        </p:nvSpPr>
        <p:spPr>
          <a:xfrm>
            <a:off x="457200" y="3611880"/>
            <a:ext cx="8138160" cy="457200"/>
          </a:xfrm>
          <a:prstGeom prst="rect">
            <a:avLst/>
          </a:prstGeom>
          <a:noFill/>
        </p:spPr>
        <p:txBody>
          <a:bodyPr wrap="square" lIns="0" tIns="0" rIns="0" bIns="0" anchor="t">
            <a:spAutoFit/>
          </a:bodyPr>
          <a:lstStyle/>
          <a:p>
            <a:pPr algn="l"/>
            <a:r>
              <a:rPr sz="1800" b="1">
                <a:solidFill>
                  <a:srgbClr val="1D1722"/>
                </a:solidFill>
                <a:latin typeface="Arial"/>
              </a:rPr>
              <a:t>Each ack is true. None of them means the message did its job.</a:t>
            </a:r>
          </a:p>
        </p:txBody>
      </p:sp>
      <p:sp>
        <p:nvSpPr>
          <p:cNvPr id="161" name="TextBox 160"/>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E422BCFF-C34F-8E5E-67DC-EE550AA84C5A}"/>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04 · DELIVERED IS INCOMPLETE</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What an ack actually promises</a:t>
            </a:r>
          </a:p>
        </p:txBody>
      </p:sp>
      <p:graphicFrame>
        <p:nvGraphicFramePr>
          <p:cNvPr id="141" name="Table 140"/>
          <p:cNvGraphicFramePr>
            <a:graphicFrameLocks noGrp="1"/>
          </p:cNvGraphicFramePr>
          <p:nvPr>
            <p:extLst>
              <p:ext uri="{D42A27DB-BD31-4B8C-83A1-F6EECF244321}">
                <p14:modId xmlns:p14="http://schemas.microsoft.com/office/powerpoint/2010/main" val="2885034019"/>
              </p:ext>
            </p:extLst>
          </p:nvPr>
        </p:nvGraphicFramePr>
        <p:xfrm>
          <a:off x="457200" y="1627632"/>
          <a:ext cx="8229600" cy="2731008"/>
        </p:xfrm>
        <a:graphic>
          <a:graphicData uri="http://schemas.openxmlformats.org/drawingml/2006/table">
            <a:tbl>
              <a:tblPr firstRow="1" bandRow="1">
                <a:tableStyleId>{5C22544A-7EE6-4342-B048-85BDC9FD1C3A}</a:tableStyleId>
              </a:tblPr>
              <a:tblGrid>
                <a:gridCol w="2139696">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798064">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Protocol</a:t>
                      </a:r>
                    </a:p>
                  </a:txBody>
                  <a:tcPr marT="36576" marB="36576" anchor="ctr">
                    <a:solidFill>
                      <a:srgbClr val="321241"/>
                    </a:solidFill>
                  </a:tcPr>
                </a:tc>
                <a:tc>
                  <a:txBody>
                    <a:bodyPr/>
                    <a:lstStyle/>
                    <a:p>
                      <a:r>
                        <a:rPr sz="1300" b="1">
                          <a:solidFill>
                            <a:srgbClr val="FFFFFF"/>
                          </a:solidFill>
                          <a:latin typeface="Arial"/>
                        </a:rPr>
                        <a:t>An ack means</a:t>
                      </a:r>
                    </a:p>
                  </a:txBody>
                  <a:tcPr marT="36576" marB="36576" anchor="ctr">
                    <a:solidFill>
                      <a:srgbClr val="321241"/>
                    </a:solidFill>
                  </a:tcPr>
                </a:tc>
                <a:tc>
                  <a:txBody>
                    <a:bodyPr/>
                    <a:lstStyle/>
                    <a:p>
                      <a:r>
                        <a:rPr sz="1300" b="1">
                          <a:solidFill>
                            <a:srgbClr val="FFFFFF"/>
                          </a:solidFill>
                          <a:latin typeface="Arial"/>
                        </a:rPr>
                        <a:t>It does not tell you</a:t>
                      </a:r>
                    </a:p>
                  </a:txBody>
                  <a:tcPr marT="36576" marB="36576" anchor="ctr">
                    <a:solidFill>
                      <a:srgbClr val="321241"/>
                    </a:solidFill>
                  </a:tcPr>
                </a:tc>
                <a:extLst>
                  <a:ext uri="{0D108BD9-81ED-4DB2-BD59-A6C34878D82A}">
                    <a16:rowId xmlns:a16="http://schemas.microsoft.com/office/drawing/2014/main" val="10000"/>
                  </a:ext>
                </a:extLst>
              </a:tr>
              <a:tr h="384048">
                <a:tc>
                  <a:txBody>
                    <a:bodyPr/>
                    <a:lstStyle/>
                    <a:p>
                      <a:r>
                        <a:rPr sz="1300" b="1">
                          <a:solidFill>
                            <a:srgbClr val="1D1722"/>
                          </a:solidFill>
                          <a:latin typeface="Arial"/>
                        </a:rPr>
                        <a:t>MQTT QoS 1</a:t>
                      </a:r>
                    </a:p>
                  </a:txBody>
                  <a:tcPr marT="36576" marB="36576" anchor="ctr">
                    <a:solidFill>
                      <a:srgbClr val="FFFFFF"/>
                    </a:solidFill>
                  </a:tcPr>
                </a:tc>
                <a:tc>
                  <a:txBody>
                    <a:bodyPr/>
                    <a:lstStyle/>
                    <a:p>
                      <a:r>
                        <a:rPr lang="en-GB" sz="1300" b="0" dirty="0">
                          <a:solidFill>
                            <a:srgbClr val="4A4458"/>
                          </a:solidFill>
                          <a:latin typeface="+mn-lt"/>
                        </a:rPr>
                        <a:t>Completion of an at-least-once delivery exchange</a:t>
                      </a:r>
                      <a:endParaRPr sz="1300" b="0" dirty="0">
                        <a:solidFill>
                          <a:srgbClr val="4A4458"/>
                        </a:solidFill>
                        <a:latin typeface="Arial"/>
                      </a:endParaRPr>
                    </a:p>
                  </a:txBody>
                  <a:tcPr marT="36576" marB="36576" anchor="ctr">
                    <a:solidFill>
                      <a:srgbClr val="FFFFFF"/>
                    </a:solidFill>
                  </a:tcPr>
                </a:tc>
                <a:tc>
                  <a:txBody>
                    <a:bodyPr/>
                    <a:lstStyle/>
                    <a:p>
                      <a:r>
                        <a:rPr sz="1300" b="0">
                          <a:solidFill>
                            <a:srgbClr val="4A4458"/>
                          </a:solidFill>
                          <a:latin typeface="Arial"/>
                        </a:rPr>
                        <a:t>Whether it went any further</a:t>
                      </a:r>
                    </a:p>
                  </a:txBody>
                  <a:tcPr marT="36576" marB="36576" anchor="ctr">
                    <a:solidFill>
                      <a:srgbClr val="FFFFFF"/>
                    </a:solidFill>
                  </a:tcPr>
                </a:tc>
                <a:extLst>
                  <a:ext uri="{0D108BD9-81ED-4DB2-BD59-A6C34878D82A}">
                    <a16:rowId xmlns:a16="http://schemas.microsoft.com/office/drawing/2014/main" val="10001"/>
                  </a:ext>
                </a:extLst>
              </a:tr>
              <a:tr h="384048">
                <a:tc>
                  <a:txBody>
                    <a:bodyPr/>
                    <a:lstStyle/>
                    <a:p>
                      <a:r>
                        <a:rPr sz="1300" b="1">
                          <a:solidFill>
                            <a:srgbClr val="1D1722"/>
                          </a:solidFill>
                          <a:latin typeface="Arial"/>
                        </a:rPr>
                        <a:t>MQTT QoS 2</a:t>
                      </a:r>
                    </a:p>
                  </a:txBody>
                  <a:tcPr marT="36576" marB="36576" anchor="ctr">
                    <a:solidFill>
                      <a:srgbClr val="F4F1FA"/>
                    </a:solidFill>
                  </a:tcPr>
                </a:tc>
                <a:tc>
                  <a:txBody>
                    <a:bodyPr/>
                    <a:lstStyle/>
                    <a:p>
                      <a:r>
                        <a:rPr lang="en-GB" sz="1300" b="0" dirty="0">
                          <a:solidFill>
                            <a:srgbClr val="4A4458"/>
                          </a:solidFill>
                          <a:latin typeface="+mn-lt"/>
                        </a:rPr>
                        <a:t>Completion of an exactly-once delivery exchange</a:t>
                      </a:r>
                      <a:endParaRPr sz="1300" b="0" dirty="0">
                        <a:solidFill>
                          <a:srgbClr val="4A4458"/>
                        </a:solidFill>
                        <a:latin typeface="Arial"/>
                      </a:endParaRPr>
                    </a:p>
                  </a:txBody>
                  <a:tcPr marT="36576" marB="36576" anchor="ctr">
                    <a:solidFill>
                      <a:srgbClr val="F4F1FA"/>
                    </a:solidFill>
                  </a:tcPr>
                </a:tc>
                <a:tc>
                  <a:txBody>
                    <a:bodyPr/>
                    <a:lstStyle/>
                    <a:p>
                      <a:r>
                        <a:rPr sz="1300" b="0">
                          <a:solidFill>
                            <a:srgbClr val="4A4458"/>
                          </a:solidFill>
                          <a:latin typeface="Arial"/>
                        </a:rPr>
                        <a:t>Anything past the broker</a:t>
                      </a:r>
                    </a:p>
                  </a:txBody>
                  <a:tcPr marT="36576" marB="36576" anchor="ctr">
                    <a:solidFill>
                      <a:srgbClr val="F4F1FA"/>
                    </a:solidFill>
                  </a:tcPr>
                </a:tc>
                <a:extLst>
                  <a:ext uri="{0D108BD9-81ED-4DB2-BD59-A6C34878D82A}">
                    <a16:rowId xmlns:a16="http://schemas.microsoft.com/office/drawing/2014/main" val="10002"/>
                  </a:ext>
                </a:extLst>
              </a:tr>
              <a:tr h="384048">
                <a:tc>
                  <a:txBody>
                    <a:bodyPr/>
                    <a:lstStyle/>
                    <a:p>
                      <a:r>
                        <a:rPr sz="1300" b="1">
                          <a:solidFill>
                            <a:srgbClr val="1D1722"/>
                          </a:solidFill>
                          <a:latin typeface="Arial"/>
                        </a:rPr>
                        <a:t>AMQP 1.0</a:t>
                      </a:r>
                    </a:p>
                  </a:txBody>
                  <a:tcPr marT="36576" marB="36576" anchor="ctr">
                    <a:solidFill>
                      <a:srgbClr val="FFFFFF"/>
                    </a:solidFill>
                  </a:tcPr>
                </a:tc>
                <a:tc>
                  <a:txBody>
                    <a:bodyPr/>
                    <a:lstStyle/>
                    <a:p>
                      <a:r>
                        <a:rPr lang="en-GB" sz="1300" b="0" dirty="0">
                          <a:solidFill>
                            <a:srgbClr val="4A4458"/>
                          </a:solidFill>
                          <a:latin typeface="+mn-lt"/>
                        </a:rPr>
                        <a:t>A delivery outcome accepted or settled by the peer</a:t>
                      </a:r>
                      <a:endParaRPr sz="1300" b="0" dirty="0">
                        <a:solidFill>
                          <a:srgbClr val="4A4458"/>
                        </a:solidFill>
                        <a:latin typeface="Arial"/>
                      </a:endParaRPr>
                    </a:p>
                  </a:txBody>
                  <a:tcPr marT="36576" marB="36576" anchor="ctr">
                    <a:solidFill>
                      <a:srgbClr val="FFFFFF"/>
                    </a:solidFill>
                  </a:tcPr>
                </a:tc>
                <a:tc>
                  <a:txBody>
                    <a:bodyPr/>
                    <a:lstStyle/>
                    <a:p>
                      <a:r>
                        <a:rPr sz="1300" b="0">
                          <a:solidFill>
                            <a:srgbClr val="4A4458"/>
                          </a:solidFill>
                          <a:latin typeface="Arial"/>
                        </a:rPr>
                        <a:t>What the far end did with it</a:t>
                      </a:r>
                    </a:p>
                  </a:txBody>
                  <a:tcPr marT="36576" marB="36576" anchor="ctr">
                    <a:solidFill>
                      <a:srgbClr val="FFFFFF"/>
                    </a:solidFill>
                  </a:tcPr>
                </a:tc>
                <a:extLst>
                  <a:ext uri="{0D108BD9-81ED-4DB2-BD59-A6C34878D82A}">
                    <a16:rowId xmlns:a16="http://schemas.microsoft.com/office/drawing/2014/main" val="10003"/>
                  </a:ext>
                </a:extLst>
              </a:tr>
              <a:tr h="384048">
                <a:tc>
                  <a:txBody>
                    <a:bodyPr/>
                    <a:lstStyle/>
                    <a:p>
                      <a:r>
                        <a:rPr sz="1300" b="1">
                          <a:solidFill>
                            <a:srgbClr val="1D1722"/>
                          </a:solidFill>
                          <a:latin typeface="Arial"/>
                        </a:rPr>
                        <a:t>CoAP confirmable</a:t>
                      </a:r>
                    </a:p>
                  </a:txBody>
                  <a:tcPr marT="36576" marB="36576" anchor="ctr">
                    <a:solidFill>
                      <a:srgbClr val="F4F1FA"/>
                    </a:solidFill>
                  </a:tcPr>
                </a:tc>
                <a:tc>
                  <a:txBody>
                    <a:bodyPr/>
                    <a:lstStyle/>
                    <a:p>
                      <a:r>
                        <a:rPr lang="en-GB" sz="1300" b="0" dirty="0">
                          <a:solidFill>
                            <a:srgbClr val="4A4458"/>
                          </a:solidFill>
                          <a:latin typeface="+mn-lt"/>
                        </a:rPr>
                        <a:t>Reliable receipt at the CoAP layer, not necessarily application completion</a:t>
                      </a:r>
                      <a:endParaRPr sz="1300" b="0" dirty="0">
                        <a:solidFill>
                          <a:srgbClr val="4A4458"/>
                        </a:solidFill>
                        <a:latin typeface="Arial"/>
                      </a:endParaRPr>
                    </a:p>
                  </a:txBody>
                  <a:tcPr marT="36576" marB="36576" anchor="ctr">
                    <a:solidFill>
                      <a:srgbClr val="F4F1FA"/>
                    </a:solidFill>
                  </a:tcPr>
                </a:tc>
                <a:tc>
                  <a:txBody>
                    <a:bodyPr/>
                    <a:lstStyle/>
                    <a:p>
                      <a:r>
                        <a:rPr sz="1300" b="0">
                          <a:solidFill>
                            <a:srgbClr val="4A4458"/>
                          </a:solidFill>
                          <a:latin typeface="Arial"/>
                        </a:rPr>
                        <a:t>Whether it was processed</a:t>
                      </a:r>
                    </a:p>
                  </a:txBody>
                  <a:tcPr marT="36576" marB="36576" anchor="ctr">
                    <a:solidFill>
                      <a:srgbClr val="F4F1FA"/>
                    </a:solidFill>
                  </a:tcPr>
                </a:tc>
                <a:extLst>
                  <a:ext uri="{0D108BD9-81ED-4DB2-BD59-A6C34878D82A}">
                    <a16:rowId xmlns:a16="http://schemas.microsoft.com/office/drawing/2014/main" val="10004"/>
                  </a:ext>
                </a:extLst>
              </a:tr>
              <a:tr h="384048">
                <a:tc>
                  <a:txBody>
                    <a:bodyPr/>
                    <a:lstStyle/>
                    <a:p>
                      <a:r>
                        <a:rPr sz="1300" b="1" dirty="0">
                          <a:solidFill>
                            <a:srgbClr val="1D1722"/>
                          </a:solidFill>
                          <a:latin typeface="Arial"/>
                        </a:rPr>
                        <a:t>NMEA </a:t>
                      </a:r>
                      <a:r>
                        <a:rPr lang="en-US" sz="1300" b="1" dirty="0">
                          <a:solidFill>
                            <a:srgbClr val="1D1722"/>
                          </a:solidFill>
                          <a:latin typeface="Arial"/>
                        </a:rPr>
                        <a:t>2K</a:t>
                      </a:r>
                      <a:r>
                        <a:rPr sz="1300" b="1" dirty="0">
                          <a:solidFill>
                            <a:srgbClr val="1D1722"/>
                          </a:solidFill>
                          <a:latin typeface="Arial"/>
                        </a:rPr>
                        <a:t> / </a:t>
                      </a:r>
                      <a:r>
                        <a:rPr lang="en-US" sz="1300" b="1" dirty="0">
                          <a:solidFill>
                            <a:srgbClr val="1D1722"/>
                          </a:solidFill>
                          <a:latin typeface="Arial"/>
                        </a:rPr>
                        <a:t>RAW </a:t>
                      </a:r>
                      <a:r>
                        <a:rPr sz="1300" b="1" dirty="0">
                          <a:solidFill>
                            <a:srgbClr val="1D1722"/>
                          </a:solidFill>
                          <a:latin typeface="Arial"/>
                        </a:rPr>
                        <a:t>UDP</a:t>
                      </a:r>
                    </a:p>
                  </a:txBody>
                  <a:tcPr marT="36576" marB="36576" anchor="ctr">
                    <a:solidFill>
                      <a:srgbClr val="F4F1FA"/>
                    </a:solidFill>
                  </a:tcPr>
                </a:tc>
                <a:tc>
                  <a:txBody>
                    <a:bodyPr/>
                    <a:lstStyle/>
                    <a:p>
                      <a:r>
                        <a:rPr lang="en-GB" sz="1300" b="0" dirty="0">
                          <a:solidFill>
                            <a:srgbClr val="4A4458"/>
                          </a:solidFill>
                          <a:latin typeface="+mn-lt"/>
                        </a:rPr>
                        <a:t>No comparable end-to-end application acknowledgement</a:t>
                      </a:r>
                      <a:endParaRPr sz="1300" b="0" dirty="0">
                        <a:solidFill>
                          <a:srgbClr val="4A4458"/>
                        </a:solidFill>
                        <a:latin typeface="Arial"/>
                      </a:endParaRPr>
                    </a:p>
                  </a:txBody>
                  <a:tcPr marT="36576" marB="36576" anchor="ctr">
                    <a:solidFill>
                      <a:srgbClr val="F4F1FA"/>
                    </a:solidFill>
                  </a:tcPr>
                </a:tc>
                <a:tc>
                  <a:txBody>
                    <a:bodyPr/>
                    <a:lstStyle/>
                    <a:p>
                      <a:r>
                        <a:rPr sz="1300" b="0" dirty="0">
                          <a:solidFill>
                            <a:srgbClr val="4A4458"/>
                          </a:solidFill>
                          <a:latin typeface="Arial"/>
                        </a:rPr>
                        <a:t>Anything</a:t>
                      </a:r>
                    </a:p>
                  </a:txBody>
                  <a:tcPr marT="36576" marB="36576" anchor="ctr">
                    <a:solidFill>
                      <a:srgbClr val="F4F1FA"/>
                    </a:solidFill>
                  </a:tcPr>
                </a:tc>
                <a:extLst>
                  <a:ext uri="{0D108BD9-81ED-4DB2-BD59-A6C34878D82A}">
                    <a16:rowId xmlns:a16="http://schemas.microsoft.com/office/drawing/2014/main" val="10006"/>
                  </a:ext>
                </a:extLst>
              </a:tr>
            </a:tbl>
          </a:graphicData>
        </a:graphic>
      </p:graphicFrame>
      <p:sp>
        <p:nvSpPr>
          <p:cNvPr id="142" name="TextBox 141"/>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C4B86D68-4025-12FA-4F74-E19295DA075B}"/>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TextBox 122"/>
          <p:cNvSpPr txBox="1"/>
          <p:nvPr/>
        </p:nvSpPr>
        <p:spPr>
          <a:xfrm>
            <a:off x="548640" y="1371600"/>
            <a:ext cx="6766560" cy="2194560"/>
          </a:xfrm>
          <a:prstGeom prst="rect">
            <a:avLst/>
          </a:prstGeom>
          <a:noFill/>
        </p:spPr>
        <p:txBody>
          <a:bodyPr wrap="square" lIns="0" tIns="0" rIns="0" bIns="0" anchor="t">
            <a:spAutoFit/>
          </a:bodyPr>
          <a:lstStyle/>
          <a:p>
            <a:pPr algn="l">
              <a:spcAft>
                <a:spcPts val="1400"/>
              </a:spcAft>
            </a:pPr>
            <a:r>
              <a:rPr sz="3200" b="1" dirty="0">
                <a:solidFill>
                  <a:srgbClr val="FFFFFF"/>
                </a:solidFill>
                <a:latin typeface="Arial"/>
              </a:rPr>
              <a:t>Every acknowledgement is local.</a:t>
            </a:r>
          </a:p>
          <a:p>
            <a:pPr algn="l">
              <a:spcAft>
                <a:spcPts val="1400"/>
              </a:spcAft>
            </a:pPr>
            <a:r>
              <a:rPr sz="3200" b="1" dirty="0">
                <a:solidFill>
                  <a:srgbClr val="C9A15F"/>
                </a:solidFill>
                <a:latin typeface="Arial"/>
              </a:rPr>
              <a:t>End-to-end is something you design.</a:t>
            </a:r>
          </a:p>
        </p:txBody>
      </p:sp>
      <p:sp>
        <p:nvSpPr>
          <p:cNvPr id="2" name="TextBox 1">
            <a:extLst>
              <a:ext uri="{FF2B5EF4-FFF2-40B4-BE49-F238E27FC236}">
                <a16:creationId xmlns:a16="http://schemas.microsoft.com/office/drawing/2014/main" id="{22A3EB73-829E-A052-4A84-BC8778717A7E}"/>
              </a:ext>
            </a:extLst>
          </p:cNvPr>
          <p:cNvSpPr txBox="1"/>
          <p:nvPr/>
        </p:nvSpPr>
        <p:spPr>
          <a:xfrm>
            <a:off x="7498079" y="4754880"/>
            <a:ext cx="1188720" cy="228600"/>
          </a:xfrm>
          <a:prstGeom prst="rect">
            <a:avLst/>
          </a:prstGeom>
          <a:noFill/>
        </p:spPr>
        <p:txBody>
          <a:bodyPr wrap="square" lIns="0" tIns="0" rIns="0" bIns="0" anchor="t">
            <a:spAutoFit/>
          </a:bodyPr>
          <a:lstStyle/>
          <a:p>
            <a:pPr algn="r"/>
            <a:r>
              <a:rPr sz="1000" b="1" dirty="0">
                <a:solidFill>
                  <a:srgbClr val="C9A15F"/>
                </a:solidFill>
                <a:latin typeface="Arial"/>
              </a:rPr>
              <a:t>mapsmessaging.io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0"/>
        <p:cNvGrpSpPr/>
        <p:nvPr/>
      </p:nvGrpSpPr>
      <p:grpSpPr>
        <a:xfrm>
          <a:off x="0" y="0"/>
          <a:ext cx="0" cy="0"/>
          <a:chOff x="0" y="0"/>
          <a:chExt cx="0" cy="0"/>
        </a:xfrm>
      </p:grpSpPr>
      <p:sp>
        <p:nvSpPr>
          <p:cNvPr id="131" name="TextBox 130"/>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C9A15F"/>
                </a:solidFill>
                <a:latin typeface="Arial"/>
              </a:rPr>
              <a:t>05 · SHAPING A THIN LINK</a:t>
            </a:r>
          </a:p>
        </p:txBody>
      </p:sp>
      <p:sp>
        <p:nvSpPr>
          <p:cNvPr id="132" name="TextBox 131"/>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FFFFFF"/>
                </a:solidFill>
                <a:latin typeface="Arial"/>
              </a:rPr>
              <a:t>You cannot transform what you cannot read</a:t>
            </a:r>
          </a:p>
        </p:txBody>
      </p:sp>
      <p:sp>
        <p:nvSpPr>
          <p:cNvPr id="133" name="Rounded Rectangle 132"/>
          <p:cNvSpPr/>
          <p:nvPr/>
        </p:nvSpPr>
        <p:spPr>
          <a:xfrm>
            <a:off x="457200" y="1417320"/>
            <a:ext cx="3931920" cy="160020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Box 133"/>
          <p:cNvSpPr txBox="1"/>
          <p:nvPr/>
        </p:nvSpPr>
        <p:spPr>
          <a:xfrm>
            <a:off x="731520" y="1600200"/>
            <a:ext cx="3474720" cy="365760"/>
          </a:xfrm>
          <a:prstGeom prst="rect">
            <a:avLst/>
          </a:prstGeom>
          <a:noFill/>
        </p:spPr>
        <p:txBody>
          <a:bodyPr wrap="square" lIns="0" tIns="0" rIns="0" bIns="0" anchor="t">
            <a:spAutoFit/>
          </a:bodyPr>
          <a:lstStyle/>
          <a:p>
            <a:pPr algn="l"/>
            <a:r>
              <a:rPr sz="1700" b="1">
                <a:solidFill>
                  <a:srgbClr val="8FBCF5"/>
                </a:solidFill>
                <a:latin typeface="Arial"/>
              </a:rPr>
              <a:t>End-to-end protection wants</a:t>
            </a:r>
          </a:p>
        </p:txBody>
      </p:sp>
      <p:sp>
        <p:nvSpPr>
          <p:cNvPr id="135" name="TextBox 134"/>
          <p:cNvSpPr txBox="1"/>
          <p:nvPr/>
        </p:nvSpPr>
        <p:spPr>
          <a:xfrm>
            <a:off x="731520" y="2057400"/>
            <a:ext cx="3474720" cy="822960"/>
          </a:xfrm>
          <a:prstGeom prst="rect">
            <a:avLst/>
          </a:prstGeom>
          <a:noFill/>
        </p:spPr>
        <p:txBody>
          <a:bodyPr wrap="square" lIns="0" tIns="0" rIns="0" bIns="0" anchor="t">
            <a:spAutoFit/>
          </a:bodyPr>
          <a:lstStyle/>
          <a:p>
            <a:pPr algn="l"/>
            <a:r>
              <a:rPr sz="1500" b="0">
                <a:solidFill>
                  <a:srgbClr val="D9D2EA"/>
                </a:solidFill>
                <a:latin typeface="Arial"/>
              </a:rPr>
              <a:t>The payload untouched from sensor to consumer</a:t>
            </a:r>
          </a:p>
        </p:txBody>
      </p:sp>
      <p:sp>
        <p:nvSpPr>
          <p:cNvPr id="136" name="Rounded Rectangle 135"/>
          <p:cNvSpPr/>
          <p:nvPr/>
        </p:nvSpPr>
        <p:spPr>
          <a:xfrm>
            <a:off x="4617720" y="1417320"/>
            <a:ext cx="3931920" cy="160020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TextBox 136"/>
          <p:cNvSpPr txBox="1"/>
          <p:nvPr/>
        </p:nvSpPr>
        <p:spPr>
          <a:xfrm>
            <a:off x="4892040" y="1600200"/>
            <a:ext cx="3474720" cy="365760"/>
          </a:xfrm>
          <a:prstGeom prst="rect">
            <a:avLst/>
          </a:prstGeom>
          <a:noFill/>
        </p:spPr>
        <p:txBody>
          <a:bodyPr wrap="square" lIns="0" tIns="0" rIns="0" bIns="0" anchor="t">
            <a:spAutoFit/>
          </a:bodyPr>
          <a:lstStyle/>
          <a:p>
            <a:pPr algn="l"/>
            <a:r>
              <a:rPr sz="1700" b="1">
                <a:solidFill>
                  <a:srgbClr val="C9A15F"/>
                </a:solidFill>
                <a:latin typeface="Arial"/>
              </a:rPr>
              <a:t>Mediation wants</a:t>
            </a:r>
          </a:p>
        </p:txBody>
      </p:sp>
      <p:sp>
        <p:nvSpPr>
          <p:cNvPr id="138" name="TextBox 137"/>
          <p:cNvSpPr txBox="1"/>
          <p:nvPr/>
        </p:nvSpPr>
        <p:spPr>
          <a:xfrm>
            <a:off x="4892040" y="2057400"/>
            <a:ext cx="3474720" cy="822960"/>
          </a:xfrm>
          <a:prstGeom prst="rect">
            <a:avLst/>
          </a:prstGeom>
          <a:noFill/>
        </p:spPr>
        <p:txBody>
          <a:bodyPr wrap="square" lIns="0" tIns="0" rIns="0" bIns="0" anchor="t">
            <a:spAutoFit/>
          </a:bodyPr>
          <a:lstStyle/>
          <a:p>
            <a:pPr algn="l"/>
            <a:r>
              <a:rPr sz="1500" b="0">
                <a:solidFill>
                  <a:srgbClr val="D9D2EA"/>
                </a:solidFill>
                <a:latin typeface="Arial"/>
              </a:rPr>
              <a:t>To filter, down-sample and re-encode at the edge</a:t>
            </a:r>
          </a:p>
        </p:txBody>
      </p:sp>
      <p:sp>
        <p:nvSpPr>
          <p:cNvPr id="139" name="TextBox 138"/>
          <p:cNvSpPr txBox="1"/>
          <p:nvPr/>
        </p:nvSpPr>
        <p:spPr>
          <a:xfrm>
            <a:off x="457200" y="3337560"/>
            <a:ext cx="8138160" cy="822960"/>
          </a:xfrm>
          <a:prstGeom prst="rect">
            <a:avLst/>
          </a:prstGeom>
          <a:noFill/>
        </p:spPr>
        <p:txBody>
          <a:bodyPr wrap="square" lIns="0" tIns="0" rIns="0" bIns="0" anchor="t">
            <a:spAutoFit/>
          </a:bodyPr>
          <a:lstStyle/>
          <a:p>
            <a:pPr algn="l"/>
            <a:r>
              <a:rPr sz="1600" b="1">
                <a:solidFill>
                  <a:srgbClr val="FFFFFF"/>
                </a:solidFill>
                <a:latin typeface="Arial"/>
              </a:rPr>
              <a:t>Decide per data class: sign what must survive, keep routing metadata readable, transform only at trusted points.</a:t>
            </a:r>
          </a:p>
        </p:txBody>
      </p:sp>
      <p:sp>
        <p:nvSpPr>
          <p:cNvPr id="140" name="TextBox 139"/>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9A8FB3"/>
                </a:solidFill>
                <a:latin typeface="Arial"/>
              </a:rPr>
              <a:t>When the Network Stops Behaving · Alex Kritikos</a:t>
            </a:r>
          </a:p>
        </p:txBody>
      </p:sp>
      <p:sp>
        <p:nvSpPr>
          <p:cNvPr id="2" name="TextBox 1">
            <a:extLst>
              <a:ext uri="{FF2B5EF4-FFF2-40B4-BE49-F238E27FC236}">
                <a16:creationId xmlns:a16="http://schemas.microsoft.com/office/drawing/2014/main" id="{90D09174-2385-835F-EFB8-AD1604CCA90E}"/>
              </a:ext>
            </a:extLst>
          </p:cNvPr>
          <p:cNvSpPr txBox="1"/>
          <p:nvPr/>
        </p:nvSpPr>
        <p:spPr>
          <a:xfrm>
            <a:off x="7498079" y="4754880"/>
            <a:ext cx="1188720" cy="228600"/>
          </a:xfrm>
          <a:prstGeom prst="rect">
            <a:avLst/>
          </a:prstGeom>
          <a:noFill/>
        </p:spPr>
        <p:txBody>
          <a:bodyPr wrap="square" lIns="0" tIns="0" rIns="0" bIns="0" anchor="t">
            <a:spAutoFit/>
          </a:bodyPr>
          <a:lstStyle/>
          <a:p>
            <a:pPr algn="r"/>
            <a:r>
              <a:rPr sz="1000" b="1" dirty="0">
                <a:solidFill>
                  <a:srgbClr val="C9A15F"/>
                </a:solidFill>
                <a:latin typeface="Arial"/>
              </a:rPr>
              <a:t>mapsmessaging.io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05 · SHAPING A THIN LINK</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Classify before the link degrades</a:t>
            </a:r>
          </a:p>
        </p:txBody>
      </p:sp>
      <p:graphicFrame>
        <p:nvGraphicFramePr>
          <p:cNvPr id="141" name="Table 140"/>
          <p:cNvGraphicFramePr>
            <a:graphicFrameLocks noGrp="1"/>
          </p:cNvGraphicFramePr>
          <p:nvPr>
            <p:extLst>
              <p:ext uri="{D42A27DB-BD31-4B8C-83A1-F6EECF244321}">
                <p14:modId xmlns:p14="http://schemas.microsoft.com/office/powerpoint/2010/main" val="2080667724"/>
              </p:ext>
            </p:extLst>
          </p:nvPr>
        </p:nvGraphicFramePr>
        <p:xfrm>
          <a:off x="457200" y="1627632"/>
          <a:ext cx="8229600" cy="1731264"/>
        </p:xfrm>
        <a:graphic>
          <a:graphicData uri="http://schemas.openxmlformats.org/drawingml/2006/table">
            <a:tbl>
              <a:tblPr firstRow="1" bandRow="1">
                <a:tableStyleId>{5C22544A-7EE6-4342-B048-85BDC9FD1C3A}</a:tableStyleId>
              </a:tblPr>
              <a:tblGrid>
                <a:gridCol w="2304288">
                  <a:extLst>
                    <a:ext uri="{9D8B030D-6E8A-4147-A177-3AD203B41FA5}">
                      <a16:colId xmlns:a16="http://schemas.microsoft.com/office/drawing/2014/main" val="20000"/>
                    </a:ext>
                  </a:extLst>
                </a:gridCol>
                <a:gridCol w="3044952">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420624">
                <a:tc>
                  <a:txBody>
                    <a:bodyPr/>
                    <a:lstStyle/>
                    <a:p>
                      <a:r>
                        <a:rPr sz="1300" b="1">
                          <a:solidFill>
                            <a:srgbClr val="FFFFFF"/>
                          </a:solidFill>
                          <a:latin typeface="Arial"/>
                        </a:rPr>
                        <a:t>Class</a:t>
                      </a:r>
                    </a:p>
                  </a:txBody>
                  <a:tcPr marT="36576" marB="36576" anchor="ctr">
                    <a:solidFill>
                      <a:srgbClr val="321241"/>
                    </a:solidFill>
                  </a:tcPr>
                </a:tc>
                <a:tc>
                  <a:txBody>
                    <a:bodyPr/>
                    <a:lstStyle/>
                    <a:p>
                      <a:r>
                        <a:rPr sz="1300" b="1">
                          <a:solidFill>
                            <a:srgbClr val="FFFFFF"/>
                          </a:solidFill>
                          <a:latin typeface="Arial"/>
                        </a:rPr>
                        <a:t>Examples</a:t>
                      </a:r>
                    </a:p>
                  </a:txBody>
                  <a:tcPr marT="36576" marB="36576" anchor="ctr">
                    <a:solidFill>
                      <a:srgbClr val="321241"/>
                    </a:solidFill>
                  </a:tcPr>
                </a:tc>
                <a:tc>
                  <a:txBody>
                    <a:bodyPr/>
                    <a:lstStyle/>
                    <a:p>
                      <a:r>
                        <a:rPr sz="1300" b="1">
                          <a:solidFill>
                            <a:srgbClr val="FFFFFF"/>
                          </a:solidFill>
                          <a:latin typeface="Arial"/>
                        </a:rPr>
                        <a:t>On a degraded link</a:t>
                      </a:r>
                    </a:p>
                  </a:txBody>
                  <a:tcPr marT="36576" marB="36576" anchor="ctr">
                    <a:solidFill>
                      <a:srgbClr val="321241"/>
                    </a:solidFill>
                  </a:tcPr>
                </a:tc>
                <a:extLst>
                  <a:ext uri="{0D108BD9-81ED-4DB2-BD59-A6C34878D82A}">
                    <a16:rowId xmlns:a16="http://schemas.microsoft.com/office/drawing/2014/main" val="10000"/>
                  </a:ext>
                </a:extLst>
              </a:tr>
              <a:tr h="420624">
                <a:tc>
                  <a:txBody>
                    <a:bodyPr/>
                    <a:lstStyle/>
                    <a:p>
                      <a:r>
                        <a:rPr sz="1300" b="1">
                          <a:solidFill>
                            <a:srgbClr val="1D1722"/>
                          </a:solidFill>
                          <a:latin typeface="Arial"/>
                        </a:rPr>
                        <a:t>1 · Commands &amp; safety</a:t>
                      </a:r>
                    </a:p>
                  </a:txBody>
                  <a:tcPr marT="36576" marB="36576" anchor="ctr">
                    <a:solidFill>
                      <a:srgbClr val="FFFFFF"/>
                    </a:solidFill>
                  </a:tcPr>
                </a:tc>
                <a:tc>
                  <a:txBody>
                    <a:bodyPr/>
                    <a:lstStyle/>
                    <a:p>
                      <a:r>
                        <a:rPr sz="1300" b="0">
                          <a:solidFill>
                            <a:srgbClr val="4A4458"/>
                          </a:solidFill>
                          <a:latin typeface="Arial"/>
                        </a:rPr>
                        <a:t>Tasks, collision alerts</a:t>
                      </a:r>
                    </a:p>
                  </a:txBody>
                  <a:tcPr marT="36576" marB="36576" anchor="ctr">
                    <a:solidFill>
                      <a:srgbClr val="FFFFFF"/>
                    </a:solidFill>
                  </a:tcPr>
                </a:tc>
                <a:tc>
                  <a:txBody>
                    <a:bodyPr/>
                    <a:lstStyle/>
                    <a:p>
                      <a:r>
                        <a:rPr sz="1300" b="0">
                          <a:solidFill>
                            <a:srgbClr val="4A4458"/>
                          </a:solidFill>
                          <a:latin typeface="Arial"/>
                        </a:rPr>
                        <a:t>Always first, never dropped</a:t>
                      </a:r>
                    </a:p>
                  </a:txBody>
                  <a:tcPr marT="36576" marB="36576" anchor="ctr">
                    <a:solidFill>
                      <a:srgbClr val="FFFFFF"/>
                    </a:solidFill>
                  </a:tcPr>
                </a:tc>
                <a:extLst>
                  <a:ext uri="{0D108BD9-81ED-4DB2-BD59-A6C34878D82A}">
                    <a16:rowId xmlns:a16="http://schemas.microsoft.com/office/drawing/2014/main" val="10001"/>
                  </a:ext>
                </a:extLst>
              </a:tr>
              <a:tr h="420624">
                <a:tc>
                  <a:txBody>
                    <a:bodyPr/>
                    <a:lstStyle/>
                    <a:p>
                      <a:r>
                        <a:rPr sz="1300" b="1">
                          <a:solidFill>
                            <a:srgbClr val="1D1722"/>
                          </a:solidFill>
                          <a:latin typeface="Arial"/>
                        </a:rPr>
                        <a:t>2 · Current state</a:t>
                      </a:r>
                    </a:p>
                  </a:txBody>
                  <a:tcPr marT="36576" marB="36576" anchor="ctr">
                    <a:solidFill>
                      <a:srgbClr val="F4F1FA"/>
                    </a:solidFill>
                  </a:tcPr>
                </a:tc>
                <a:tc>
                  <a:txBody>
                    <a:bodyPr/>
                    <a:lstStyle/>
                    <a:p>
                      <a:r>
                        <a:rPr sz="1300" b="0">
                          <a:solidFill>
                            <a:srgbClr val="4A4458"/>
                          </a:solidFill>
                          <a:latin typeface="Arial"/>
                        </a:rPr>
                        <a:t>Position, heading, task progress</a:t>
                      </a:r>
                    </a:p>
                  </a:txBody>
                  <a:tcPr marT="36576" marB="36576" anchor="ctr">
                    <a:solidFill>
                      <a:srgbClr val="F4F1FA"/>
                    </a:solidFill>
                  </a:tcPr>
                </a:tc>
                <a:tc>
                  <a:txBody>
                    <a:bodyPr/>
                    <a:lstStyle/>
                    <a:p>
                      <a:r>
                        <a:rPr sz="1300" b="0">
                          <a:solidFill>
                            <a:srgbClr val="4A4458"/>
                          </a:solidFill>
                          <a:latin typeface="Arial"/>
                        </a:rPr>
                        <a:t>Latest value only</a:t>
                      </a:r>
                    </a:p>
                  </a:txBody>
                  <a:tcPr marT="36576" marB="36576" anchor="ctr">
                    <a:solidFill>
                      <a:srgbClr val="F4F1FA"/>
                    </a:solidFill>
                  </a:tcPr>
                </a:tc>
                <a:extLst>
                  <a:ext uri="{0D108BD9-81ED-4DB2-BD59-A6C34878D82A}">
                    <a16:rowId xmlns:a16="http://schemas.microsoft.com/office/drawing/2014/main" val="10002"/>
                  </a:ext>
                </a:extLst>
              </a:tr>
              <a:tr h="420624">
                <a:tc>
                  <a:txBody>
                    <a:bodyPr/>
                    <a:lstStyle/>
                    <a:p>
                      <a:r>
                        <a:rPr sz="1300" b="1">
                          <a:solidFill>
                            <a:srgbClr val="1D1722"/>
                          </a:solidFill>
                          <a:latin typeface="Arial"/>
                        </a:rPr>
                        <a:t>3 · Telemetry</a:t>
                      </a:r>
                    </a:p>
                  </a:txBody>
                  <a:tcPr marT="36576" marB="36576" anchor="ctr">
                    <a:solidFill>
                      <a:srgbClr val="FFFFFF"/>
                    </a:solidFill>
                  </a:tcPr>
                </a:tc>
                <a:tc>
                  <a:txBody>
                    <a:bodyPr/>
                    <a:lstStyle/>
                    <a:p>
                      <a:r>
                        <a:rPr sz="1300" b="0" dirty="0">
                          <a:solidFill>
                            <a:srgbClr val="4A4458"/>
                          </a:solidFill>
                          <a:latin typeface="Arial"/>
                        </a:rPr>
                        <a:t>Sensor streams, CAN</a:t>
                      </a:r>
                      <a:r>
                        <a:rPr lang="en-US" sz="1300" b="0" dirty="0">
                          <a:solidFill>
                            <a:srgbClr val="4A4458"/>
                          </a:solidFill>
                          <a:latin typeface="Arial"/>
                        </a:rPr>
                        <a:t> / MAVLink</a:t>
                      </a:r>
                      <a:r>
                        <a:rPr sz="1300" b="0" dirty="0">
                          <a:solidFill>
                            <a:srgbClr val="4A4458"/>
                          </a:solidFill>
                          <a:latin typeface="Arial"/>
                        </a:rPr>
                        <a:t> frames</a:t>
                      </a:r>
                    </a:p>
                  </a:txBody>
                  <a:tcPr marT="36576" marB="36576" anchor="ctr">
                    <a:solidFill>
                      <a:srgbClr val="FFFFFF"/>
                    </a:solidFill>
                  </a:tcPr>
                </a:tc>
                <a:tc>
                  <a:txBody>
                    <a:bodyPr/>
                    <a:lstStyle/>
                    <a:p>
                      <a:r>
                        <a:rPr sz="1300" b="0" dirty="0">
                          <a:solidFill>
                            <a:srgbClr val="4A4458"/>
                          </a:solidFill>
                          <a:latin typeface="Arial"/>
                        </a:rPr>
                        <a:t>Down-sampled, or kept on board</a:t>
                      </a: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142" name="TextBox 141"/>
          <p:cNvSpPr txBox="1"/>
          <p:nvPr/>
        </p:nvSpPr>
        <p:spPr>
          <a:xfrm>
            <a:off x="457200" y="3931920"/>
            <a:ext cx="8138160" cy="492443"/>
          </a:xfrm>
          <a:prstGeom prst="rect">
            <a:avLst/>
          </a:prstGeom>
          <a:noFill/>
        </p:spPr>
        <p:txBody>
          <a:bodyPr wrap="square" lIns="0" tIns="0" rIns="0" bIns="0" anchor="t">
            <a:spAutoFit/>
          </a:bodyPr>
          <a:lstStyle/>
          <a:p>
            <a:pPr algn="l"/>
            <a:r>
              <a:rPr lang="en-US" sz="1600" b="1" dirty="0">
                <a:solidFill>
                  <a:srgbClr val="1D1722"/>
                </a:solidFill>
                <a:latin typeface="Arial"/>
              </a:rPr>
              <a:t>Traffic</a:t>
            </a:r>
            <a:r>
              <a:rPr sz="1600" b="1" dirty="0">
                <a:solidFill>
                  <a:srgbClr val="1D1722"/>
                </a:solidFill>
                <a:latin typeface="Arial"/>
              </a:rPr>
              <a:t> classes are a design decision. The broker should enforce them, not guess them.</a:t>
            </a:r>
          </a:p>
        </p:txBody>
      </p:sp>
      <p:sp>
        <p:nvSpPr>
          <p:cNvPr id="143" name="TextBox 142"/>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8619BE5A-7602-A8F2-51AC-7E70652C0925}"/>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06 · OUTAGE AND RECONNECT</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When the vessel went quiet, the edge knew when and where</a:t>
            </a:r>
          </a:p>
        </p:txBody>
      </p:sp>
      <p:cxnSp>
        <p:nvCxnSpPr>
          <p:cNvPr id="141" name="Connector 140"/>
          <p:cNvCxnSpPr/>
          <p:nvPr/>
        </p:nvCxnSpPr>
        <p:spPr>
          <a:xfrm>
            <a:off x="548640" y="2103120"/>
            <a:ext cx="8046720" cy="0"/>
          </a:xfrm>
          <a:prstGeom prst="line">
            <a:avLst/>
          </a:prstGeom>
          <a:ln w="38100">
            <a:solidFill>
              <a:srgbClr val="DDD5EE"/>
            </a:solidFill>
          </a:ln>
        </p:spPr>
        <p:style>
          <a:lnRef idx="2">
            <a:schemeClr val="accent1"/>
          </a:lnRef>
          <a:fillRef idx="0">
            <a:schemeClr val="accent1"/>
          </a:fillRef>
          <a:effectRef idx="1">
            <a:schemeClr val="accent1"/>
          </a:effectRef>
          <a:fontRef idx="minor">
            <a:schemeClr val="tx1"/>
          </a:fontRef>
        </p:style>
      </p:cxnSp>
      <p:sp>
        <p:nvSpPr>
          <p:cNvPr id="142" name="Oval 141"/>
          <p:cNvSpPr/>
          <p:nvPr/>
        </p:nvSpPr>
        <p:spPr>
          <a:xfrm>
            <a:off x="1344168" y="2002536"/>
            <a:ext cx="201168" cy="201168"/>
          </a:xfrm>
          <a:prstGeom prst="ellipse">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457200" y="1572768"/>
            <a:ext cx="1965960" cy="320040"/>
          </a:xfrm>
          <a:prstGeom prst="rect">
            <a:avLst/>
          </a:prstGeom>
          <a:noFill/>
        </p:spPr>
        <p:txBody>
          <a:bodyPr wrap="square" lIns="0" tIns="0" rIns="0" bIns="0" anchor="t">
            <a:spAutoFit/>
          </a:bodyPr>
          <a:lstStyle/>
          <a:p>
            <a:pPr algn="ctr"/>
            <a:r>
              <a:rPr sz="1200" b="1">
                <a:solidFill>
                  <a:srgbClr val="6B4BC0"/>
                </a:solidFill>
                <a:latin typeface="Arial"/>
              </a:rPr>
              <a:t>14:08:47</a:t>
            </a:r>
          </a:p>
        </p:txBody>
      </p:sp>
      <p:sp>
        <p:nvSpPr>
          <p:cNvPr id="144" name="TextBox 143"/>
          <p:cNvSpPr txBox="1"/>
          <p:nvPr/>
        </p:nvSpPr>
        <p:spPr>
          <a:xfrm>
            <a:off x="457200" y="2304288"/>
            <a:ext cx="1965960" cy="274320"/>
          </a:xfrm>
          <a:prstGeom prst="rect">
            <a:avLst/>
          </a:prstGeom>
          <a:noFill/>
        </p:spPr>
        <p:txBody>
          <a:bodyPr wrap="square" lIns="0" tIns="0" rIns="0" bIns="0" anchor="t">
            <a:spAutoFit/>
          </a:bodyPr>
          <a:lstStyle/>
          <a:p>
            <a:pPr algn="ctr"/>
            <a:r>
              <a:rPr sz="1300" b="1">
                <a:solidFill>
                  <a:srgbClr val="1D1722"/>
                </a:solidFill>
                <a:latin typeface="Arial"/>
              </a:rPr>
              <a:t>Last detection</a:t>
            </a:r>
          </a:p>
        </p:txBody>
      </p:sp>
      <p:sp>
        <p:nvSpPr>
          <p:cNvPr id="145" name="TextBox 144"/>
          <p:cNvSpPr txBox="1"/>
          <p:nvPr/>
        </p:nvSpPr>
        <p:spPr>
          <a:xfrm>
            <a:off x="457200" y="2596896"/>
            <a:ext cx="1965960" cy="502920"/>
          </a:xfrm>
          <a:prstGeom prst="rect">
            <a:avLst/>
          </a:prstGeom>
          <a:noFill/>
        </p:spPr>
        <p:txBody>
          <a:bodyPr wrap="square" lIns="0" tIns="0" rIns="0" bIns="0" anchor="t">
            <a:spAutoFit/>
          </a:bodyPr>
          <a:lstStyle/>
          <a:p>
            <a:pPr algn="ctr"/>
            <a:r>
              <a:rPr sz="1100" b="0">
                <a:solidFill>
                  <a:srgbClr val="4A4458"/>
                </a:solidFill>
                <a:latin typeface="Arial"/>
              </a:rPr>
              <a:t>track update from the USV</a:t>
            </a:r>
          </a:p>
        </p:txBody>
      </p:sp>
      <p:sp>
        <p:nvSpPr>
          <p:cNvPr id="146" name="Oval 145"/>
          <p:cNvSpPr/>
          <p:nvPr/>
        </p:nvSpPr>
        <p:spPr>
          <a:xfrm>
            <a:off x="3419856" y="2002536"/>
            <a:ext cx="201168" cy="201168"/>
          </a:xfrm>
          <a:prstGeom prst="ellipse">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2532888" y="1572768"/>
            <a:ext cx="1965960" cy="320040"/>
          </a:xfrm>
          <a:prstGeom prst="rect">
            <a:avLst/>
          </a:prstGeom>
          <a:noFill/>
        </p:spPr>
        <p:txBody>
          <a:bodyPr wrap="square" lIns="0" tIns="0" rIns="0" bIns="0" anchor="t">
            <a:spAutoFit/>
          </a:bodyPr>
          <a:lstStyle/>
          <a:p>
            <a:pPr algn="ctr"/>
            <a:r>
              <a:rPr sz="1200" b="1">
                <a:solidFill>
                  <a:srgbClr val="6B4BC0"/>
                </a:solidFill>
                <a:latin typeface="Arial"/>
              </a:rPr>
              <a:t>14:11:00.033</a:t>
            </a:r>
          </a:p>
        </p:txBody>
      </p:sp>
      <p:sp>
        <p:nvSpPr>
          <p:cNvPr id="148" name="TextBox 147"/>
          <p:cNvSpPr txBox="1"/>
          <p:nvPr/>
        </p:nvSpPr>
        <p:spPr>
          <a:xfrm>
            <a:off x="2532888" y="2304288"/>
            <a:ext cx="1965960" cy="274320"/>
          </a:xfrm>
          <a:prstGeom prst="rect">
            <a:avLst/>
          </a:prstGeom>
          <a:noFill/>
        </p:spPr>
        <p:txBody>
          <a:bodyPr wrap="square" lIns="0" tIns="0" rIns="0" bIns="0" anchor="t">
            <a:spAutoFit/>
          </a:bodyPr>
          <a:lstStyle/>
          <a:p>
            <a:pPr algn="ctr"/>
            <a:r>
              <a:rPr sz="1300" b="1">
                <a:solidFill>
                  <a:srgbClr val="1D1722"/>
                </a:solidFill>
                <a:latin typeface="Arial"/>
              </a:rPr>
              <a:t>Last status</a:t>
            </a:r>
          </a:p>
        </p:txBody>
      </p:sp>
      <p:sp>
        <p:nvSpPr>
          <p:cNvPr id="149" name="TextBox 148"/>
          <p:cNvSpPr txBox="1"/>
          <p:nvPr/>
        </p:nvSpPr>
        <p:spPr>
          <a:xfrm>
            <a:off x="2532888" y="2596896"/>
            <a:ext cx="1965960" cy="502920"/>
          </a:xfrm>
          <a:prstGeom prst="rect">
            <a:avLst/>
          </a:prstGeom>
          <a:noFill/>
        </p:spPr>
        <p:txBody>
          <a:bodyPr wrap="square" lIns="0" tIns="0" rIns="0" bIns="0" anchor="t">
            <a:spAutoFit/>
          </a:bodyPr>
          <a:lstStyle/>
          <a:p>
            <a:pPr algn="ctr"/>
            <a:r>
              <a:rPr sz="1100" b="0">
                <a:solidFill>
                  <a:srgbClr val="4A4458"/>
                </a:solidFill>
                <a:latin typeface="Arial"/>
              </a:rPr>
              <a:t>38.4243 N, 9.0818 W · 1.5 m/s · course 179°</a:t>
            </a:r>
          </a:p>
        </p:txBody>
      </p:sp>
      <p:sp>
        <p:nvSpPr>
          <p:cNvPr id="150" name="Oval 149"/>
          <p:cNvSpPr/>
          <p:nvPr/>
        </p:nvSpPr>
        <p:spPr>
          <a:xfrm>
            <a:off x="5495544" y="2002536"/>
            <a:ext cx="201168" cy="201168"/>
          </a:xfrm>
          <a:prstGeom prst="ellipse">
            <a:avLst/>
          </a:prstGeom>
          <a:solidFill>
            <a:srgbClr val="7A7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4608576" y="1572768"/>
            <a:ext cx="1965960" cy="320040"/>
          </a:xfrm>
          <a:prstGeom prst="rect">
            <a:avLst/>
          </a:prstGeom>
          <a:noFill/>
        </p:spPr>
        <p:txBody>
          <a:bodyPr wrap="square" lIns="0" tIns="0" rIns="0" bIns="0" anchor="t">
            <a:spAutoFit/>
          </a:bodyPr>
          <a:lstStyle/>
          <a:p>
            <a:pPr algn="ctr"/>
            <a:r>
              <a:rPr sz="1200" b="1">
                <a:solidFill>
                  <a:srgbClr val="6B4BC0"/>
                </a:solidFill>
                <a:latin typeface="Arial"/>
              </a:rPr>
              <a:t>14:11 → 14:13</a:t>
            </a:r>
          </a:p>
        </p:txBody>
      </p:sp>
      <p:sp>
        <p:nvSpPr>
          <p:cNvPr id="152" name="TextBox 151"/>
          <p:cNvSpPr txBox="1"/>
          <p:nvPr/>
        </p:nvSpPr>
        <p:spPr>
          <a:xfrm>
            <a:off x="4608576" y="2304288"/>
            <a:ext cx="1965960" cy="274320"/>
          </a:xfrm>
          <a:prstGeom prst="rect">
            <a:avLst/>
          </a:prstGeom>
          <a:noFill/>
        </p:spPr>
        <p:txBody>
          <a:bodyPr wrap="square" lIns="0" tIns="0" rIns="0" bIns="0" anchor="t">
            <a:spAutoFit/>
          </a:bodyPr>
          <a:lstStyle/>
          <a:p>
            <a:pPr algn="ctr"/>
            <a:r>
              <a:rPr sz="1300" b="1">
                <a:solidFill>
                  <a:srgbClr val="1D1722"/>
                </a:solidFill>
                <a:latin typeface="Arial"/>
              </a:rPr>
              <a:t>Silence</a:t>
            </a:r>
          </a:p>
        </p:txBody>
      </p:sp>
      <p:sp>
        <p:nvSpPr>
          <p:cNvPr id="153" name="TextBox 152"/>
          <p:cNvSpPr txBox="1"/>
          <p:nvPr/>
        </p:nvSpPr>
        <p:spPr>
          <a:xfrm>
            <a:off x="4608576" y="2596896"/>
            <a:ext cx="1965960" cy="502920"/>
          </a:xfrm>
          <a:prstGeom prst="rect">
            <a:avLst/>
          </a:prstGeom>
          <a:noFill/>
        </p:spPr>
        <p:txBody>
          <a:bodyPr wrap="square" lIns="0" tIns="0" rIns="0" bIns="0" anchor="t">
            <a:spAutoFit/>
          </a:bodyPr>
          <a:lstStyle/>
          <a:p>
            <a:pPr algn="ctr"/>
            <a:r>
              <a:rPr sz="1100" b="0">
                <a:solidFill>
                  <a:srgbClr val="4A4458"/>
                </a:solidFill>
                <a:latin typeface="Arial"/>
              </a:rPr>
              <a:t>progress still advancing, on the task clock</a:t>
            </a:r>
          </a:p>
        </p:txBody>
      </p:sp>
      <p:sp>
        <p:nvSpPr>
          <p:cNvPr id="154" name="Oval 153"/>
          <p:cNvSpPr/>
          <p:nvPr/>
        </p:nvSpPr>
        <p:spPr>
          <a:xfrm>
            <a:off x="7571232" y="2002536"/>
            <a:ext cx="201168" cy="201168"/>
          </a:xfrm>
          <a:prstGeom prst="ellipse">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6684264" y="1572768"/>
            <a:ext cx="1965960" cy="320040"/>
          </a:xfrm>
          <a:prstGeom prst="rect">
            <a:avLst/>
          </a:prstGeom>
          <a:noFill/>
        </p:spPr>
        <p:txBody>
          <a:bodyPr wrap="square" lIns="0" tIns="0" rIns="0" bIns="0" anchor="t">
            <a:spAutoFit/>
          </a:bodyPr>
          <a:lstStyle/>
          <a:p>
            <a:pPr algn="ctr"/>
            <a:r>
              <a:rPr sz="1200" b="1">
                <a:solidFill>
                  <a:srgbClr val="8A6A1F"/>
                </a:solidFill>
                <a:latin typeface="Arial"/>
              </a:rPr>
              <a:t>14:13:13</a:t>
            </a:r>
          </a:p>
        </p:txBody>
      </p:sp>
      <p:sp>
        <p:nvSpPr>
          <p:cNvPr id="156" name="TextBox 155"/>
          <p:cNvSpPr txBox="1"/>
          <p:nvPr/>
        </p:nvSpPr>
        <p:spPr>
          <a:xfrm>
            <a:off x="6684264" y="2304288"/>
            <a:ext cx="1965960" cy="274320"/>
          </a:xfrm>
          <a:prstGeom prst="rect">
            <a:avLst/>
          </a:prstGeom>
          <a:noFill/>
        </p:spPr>
        <p:txBody>
          <a:bodyPr wrap="square" lIns="0" tIns="0" rIns="0" bIns="0" anchor="t">
            <a:spAutoFit/>
          </a:bodyPr>
          <a:lstStyle/>
          <a:p>
            <a:pPr algn="ctr"/>
            <a:r>
              <a:rPr sz="1300" b="1">
                <a:solidFill>
                  <a:srgbClr val="1D1722"/>
                </a:solidFill>
                <a:latin typeface="Arial"/>
              </a:rPr>
              <a:t>TASK_RESULT: LOST</a:t>
            </a:r>
          </a:p>
        </p:txBody>
      </p:sp>
      <p:sp>
        <p:nvSpPr>
          <p:cNvPr id="157" name="TextBox 156"/>
          <p:cNvSpPr txBox="1"/>
          <p:nvPr/>
        </p:nvSpPr>
        <p:spPr>
          <a:xfrm>
            <a:off x="6684264" y="2596896"/>
            <a:ext cx="1965960" cy="502920"/>
          </a:xfrm>
          <a:prstGeom prst="rect">
            <a:avLst/>
          </a:prstGeom>
          <a:noFill/>
        </p:spPr>
        <p:txBody>
          <a:bodyPr wrap="square" lIns="0" tIns="0" rIns="0" bIns="0" anchor="t">
            <a:spAutoFit/>
          </a:bodyPr>
          <a:lstStyle/>
          <a:p>
            <a:pPr algn="ctr"/>
            <a:r>
              <a:rPr sz="1100" b="0">
                <a:solidFill>
                  <a:srgbClr val="4A4458"/>
                </a:solidFill>
                <a:latin typeface="Arial"/>
              </a:rPr>
              <a:t>at 59.2% of the patrol</a:t>
            </a:r>
          </a:p>
        </p:txBody>
      </p:sp>
      <p:sp>
        <p:nvSpPr>
          <p:cNvPr id="158" name="Rounded Rectangle 157"/>
          <p:cNvSpPr/>
          <p:nvPr/>
        </p:nvSpPr>
        <p:spPr>
          <a:xfrm>
            <a:off x="457200" y="3310128"/>
            <a:ext cx="2606040" cy="10972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Box 158"/>
          <p:cNvSpPr txBox="1"/>
          <p:nvPr/>
        </p:nvSpPr>
        <p:spPr>
          <a:xfrm>
            <a:off x="640080" y="3401568"/>
            <a:ext cx="2286000" cy="274320"/>
          </a:xfrm>
          <a:prstGeom prst="rect">
            <a:avLst/>
          </a:prstGeom>
          <a:noFill/>
        </p:spPr>
        <p:txBody>
          <a:bodyPr wrap="square" lIns="0" tIns="0" rIns="0" bIns="0" anchor="t">
            <a:spAutoFit/>
          </a:bodyPr>
          <a:lstStyle/>
          <a:p>
            <a:pPr algn="l"/>
            <a:r>
              <a:rPr sz="1300" b="1">
                <a:solidFill>
                  <a:srgbClr val="1D1722"/>
                </a:solidFill>
                <a:latin typeface="Arial"/>
              </a:rPr>
              <a:t>No warning</a:t>
            </a:r>
          </a:p>
        </p:txBody>
      </p:sp>
      <p:sp>
        <p:nvSpPr>
          <p:cNvPr id="160" name="TextBox 159"/>
          <p:cNvSpPr txBox="1"/>
          <p:nvPr/>
        </p:nvSpPr>
        <p:spPr>
          <a:xfrm>
            <a:off x="640080" y="3685032"/>
            <a:ext cx="2286000" cy="685800"/>
          </a:xfrm>
          <a:prstGeom prst="rect">
            <a:avLst/>
          </a:prstGeom>
          <a:noFill/>
        </p:spPr>
        <p:txBody>
          <a:bodyPr wrap="square" lIns="0" tIns="0" rIns="0" bIns="0" anchor="t">
            <a:spAutoFit/>
          </a:bodyPr>
          <a:lstStyle/>
          <a:p>
            <a:pPr algn="l"/>
            <a:r>
              <a:rPr sz="1150" b="0">
                <a:solidFill>
                  <a:srgbClr val="4A4458"/>
                </a:solidFill>
                <a:latin typeface="Arial"/>
              </a:rPr>
              <a:t>Speed, course and attitude normal up to the last message</a:t>
            </a:r>
          </a:p>
        </p:txBody>
      </p:sp>
      <p:sp>
        <p:nvSpPr>
          <p:cNvPr id="161" name="Rounded Rectangle 160"/>
          <p:cNvSpPr/>
          <p:nvPr/>
        </p:nvSpPr>
        <p:spPr>
          <a:xfrm>
            <a:off x="3273552" y="3310128"/>
            <a:ext cx="2606040" cy="10972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Box 161"/>
          <p:cNvSpPr txBox="1"/>
          <p:nvPr/>
        </p:nvSpPr>
        <p:spPr>
          <a:xfrm>
            <a:off x="3456432" y="3401568"/>
            <a:ext cx="2286000" cy="274320"/>
          </a:xfrm>
          <a:prstGeom prst="rect">
            <a:avLst/>
          </a:prstGeom>
          <a:noFill/>
        </p:spPr>
        <p:txBody>
          <a:bodyPr wrap="square" lIns="0" tIns="0" rIns="0" bIns="0" anchor="t">
            <a:spAutoFit/>
          </a:bodyPr>
          <a:lstStyle/>
          <a:p>
            <a:pPr algn="l"/>
            <a:r>
              <a:rPr sz="1300" b="1">
                <a:solidFill>
                  <a:srgbClr val="1D1722"/>
                </a:solidFill>
                <a:latin typeface="Arial"/>
              </a:rPr>
              <a:t>A known last position</a:t>
            </a:r>
          </a:p>
        </p:txBody>
      </p:sp>
      <p:sp>
        <p:nvSpPr>
          <p:cNvPr id="163" name="TextBox 162"/>
          <p:cNvSpPr txBox="1"/>
          <p:nvPr/>
        </p:nvSpPr>
        <p:spPr>
          <a:xfrm>
            <a:off x="3456432" y="3685032"/>
            <a:ext cx="2286000" cy="685800"/>
          </a:xfrm>
          <a:prstGeom prst="rect">
            <a:avLst/>
          </a:prstGeom>
          <a:noFill/>
        </p:spPr>
        <p:txBody>
          <a:bodyPr wrap="square" lIns="0" tIns="0" rIns="0" bIns="0" anchor="t">
            <a:spAutoFit/>
          </a:bodyPr>
          <a:lstStyle/>
          <a:p>
            <a:pPr algn="l"/>
            <a:r>
              <a:rPr sz="1150" b="0">
                <a:solidFill>
                  <a:srgbClr val="4A4458"/>
                </a:solidFill>
                <a:latin typeface="Arial"/>
              </a:rPr>
              <a:t>Position, speed and course to the second, for the recovery</a:t>
            </a:r>
          </a:p>
        </p:txBody>
      </p:sp>
      <p:sp>
        <p:nvSpPr>
          <p:cNvPr id="164" name="Rounded Rectangle 163"/>
          <p:cNvSpPr/>
          <p:nvPr/>
        </p:nvSpPr>
        <p:spPr>
          <a:xfrm>
            <a:off x="6089904" y="3310128"/>
            <a:ext cx="2606040" cy="10972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TextBox 164"/>
          <p:cNvSpPr txBox="1"/>
          <p:nvPr/>
        </p:nvSpPr>
        <p:spPr>
          <a:xfrm>
            <a:off x="6272784" y="3401568"/>
            <a:ext cx="2286000" cy="274320"/>
          </a:xfrm>
          <a:prstGeom prst="rect">
            <a:avLst/>
          </a:prstGeom>
          <a:noFill/>
        </p:spPr>
        <p:txBody>
          <a:bodyPr wrap="square" lIns="0" tIns="0" rIns="0" bIns="0" anchor="t">
            <a:spAutoFit/>
          </a:bodyPr>
          <a:lstStyle/>
          <a:p>
            <a:pPr algn="l"/>
            <a:r>
              <a:rPr sz="1300" b="1">
                <a:solidFill>
                  <a:srgbClr val="1D1722"/>
                </a:solidFill>
                <a:latin typeface="Arial"/>
              </a:rPr>
              <a:t>Cause</a:t>
            </a:r>
          </a:p>
        </p:txBody>
      </p:sp>
      <p:sp>
        <p:nvSpPr>
          <p:cNvPr id="166" name="TextBox 165"/>
          <p:cNvSpPr txBox="1"/>
          <p:nvPr/>
        </p:nvSpPr>
        <p:spPr>
          <a:xfrm>
            <a:off x="6272784" y="3685032"/>
            <a:ext cx="2286000" cy="353943"/>
          </a:xfrm>
          <a:prstGeom prst="rect">
            <a:avLst/>
          </a:prstGeom>
          <a:noFill/>
        </p:spPr>
        <p:txBody>
          <a:bodyPr wrap="square" lIns="0" tIns="0" rIns="0" bIns="0" anchor="t">
            <a:spAutoFit/>
          </a:bodyPr>
          <a:lstStyle/>
          <a:p>
            <a:pPr algn="l"/>
            <a:r>
              <a:rPr lang="en-US" sz="1150" b="0" dirty="0">
                <a:solidFill>
                  <a:srgbClr val="4A4458"/>
                </a:solidFill>
                <a:latin typeface="Arial"/>
              </a:rPr>
              <a:t>W</a:t>
            </a:r>
            <a:r>
              <a:rPr sz="1150" b="0" dirty="0">
                <a:solidFill>
                  <a:srgbClr val="4A4458"/>
                </a:solidFill>
                <a:latin typeface="Arial"/>
              </a:rPr>
              <a:t>hat failed, as confirmed from the edge </a:t>
            </a:r>
            <a:r>
              <a:rPr lang="en-US" sz="1150" b="0" dirty="0">
                <a:solidFill>
                  <a:srgbClr val="4A4458"/>
                </a:solidFill>
                <a:latin typeface="Arial"/>
              </a:rPr>
              <a:t>message store</a:t>
            </a:r>
            <a:endParaRPr sz="1150" b="0" dirty="0">
              <a:solidFill>
                <a:srgbClr val="4A4458"/>
              </a:solidFill>
              <a:latin typeface="Arial"/>
            </a:endParaRPr>
          </a:p>
        </p:txBody>
      </p:sp>
      <p:sp>
        <p:nvSpPr>
          <p:cNvPr id="167" name="TextBox 166"/>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REPMUS 2026, </a:t>
            </a:r>
            <a:r>
              <a:rPr lang="en-US" sz="1000" b="0" dirty="0">
                <a:solidFill>
                  <a:srgbClr val="7A7290"/>
                </a:solidFill>
                <a:latin typeface="Arial"/>
              </a:rPr>
              <a:t>vessel</a:t>
            </a:r>
            <a:r>
              <a:rPr sz="1000" b="0" dirty="0">
                <a:solidFill>
                  <a:srgbClr val="7A7290"/>
                </a:solidFill>
                <a:latin typeface="Arial"/>
              </a:rPr>
              <a:t> PATROL</a:t>
            </a:r>
            <a:r>
              <a:rPr lang="en-US" sz="1000" b="0" dirty="0">
                <a:solidFill>
                  <a:srgbClr val="7A7290"/>
                </a:solidFill>
                <a:latin typeface="Arial"/>
              </a:rPr>
              <a:t> task</a:t>
            </a:r>
            <a:r>
              <a:rPr sz="1000" b="0" dirty="0">
                <a:solidFill>
                  <a:srgbClr val="7A7290"/>
                </a:solidFill>
                <a:latin typeface="Arial"/>
              </a:rPr>
              <a:t>, 20 Sept · STANAG 4817 record kept at the edge · times UTC</a:t>
            </a:r>
          </a:p>
        </p:txBody>
      </p:sp>
      <p:pic>
        <p:nvPicPr>
          <p:cNvPr id="3" name="Picture 2">
            <a:extLst>
              <a:ext uri="{FF2B5EF4-FFF2-40B4-BE49-F238E27FC236}">
                <a16:creationId xmlns:a16="http://schemas.microsoft.com/office/drawing/2014/main" id="{386AF4F6-58C1-4599-BD29-BB19059461DB}"/>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06 · OUTAGE AND RECONNECT</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What survives an outage, by design</a:t>
            </a:r>
          </a:p>
        </p:txBody>
      </p:sp>
      <p:graphicFrame>
        <p:nvGraphicFramePr>
          <p:cNvPr id="141" name="Table 140"/>
          <p:cNvGraphicFramePr>
            <a:graphicFrameLocks noGrp="1"/>
          </p:cNvGraphicFramePr>
          <p:nvPr/>
        </p:nvGraphicFramePr>
        <p:xfrm>
          <a:off x="457200" y="1572768"/>
          <a:ext cx="8229599" cy="2139696"/>
        </p:xfrm>
        <a:graphic>
          <a:graphicData uri="http://schemas.openxmlformats.org/drawingml/2006/table">
            <a:tbl>
              <a:tblPr firstRow="1" bandRow="1">
                <a:tableStyleId>{5C22544A-7EE6-4342-B048-85BDC9FD1C3A}</a:tableStyleId>
              </a:tblPr>
              <a:tblGrid>
                <a:gridCol w="2468879">
                  <a:extLst>
                    <a:ext uri="{9D8B030D-6E8A-4147-A177-3AD203B41FA5}">
                      <a16:colId xmlns:a16="http://schemas.microsoft.com/office/drawing/2014/main" val="20000"/>
                    </a:ext>
                  </a:extLst>
                </a:gridCol>
                <a:gridCol w="2962656">
                  <a:extLst>
                    <a:ext uri="{9D8B030D-6E8A-4147-A177-3AD203B41FA5}">
                      <a16:colId xmlns:a16="http://schemas.microsoft.com/office/drawing/2014/main" val="20001"/>
                    </a:ext>
                  </a:extLst>
                </a:gridCol>
                <a:gridCol w="2798064">
                  <a:extLst>
                    <a:ext uri="{9D8B030D-6E8A-4147-A177-3AD203B41FA5}">
                      <a16:colId xmlns:a16="http://schemas.microsoft.com/office/drawing/2014/main" val="20002"/>
                    </a:ext>
                  </a:extLst>
                </a:gridCol>
              </a:tblGrid>
              <a:tr h="420624">
                <a:tc>
                  <a:txBody>
                    <a:bodyPr/>
                    <a:lstStyle/>
                    <a:p>
                      <a:r>
                        <a:rPr sz="1200" b="1">
                          <a:solidFill>
                            <a:srgbClr val="FFFFFF"/>
                          </a:solidFill>
                          <a:latin typeface="Arial"/>
                        </a:rPr>
                        <a:t>Data</a:t>
                      </a:r>
                    </a:p>
                  </a:txBody>
                  <a:tcPr marT="36576" marB="36576" anchor="ctr">
                    <a:solidFill>
                      <a:srgbClr val="321241"/>
                    </a:solidFill>
                  </a:tcPr>
                </a:tc>
                <a:tc>
                  <a:txBody>
                    <a:bodyPr/>
                    <a:lstStyle/>
                    <a:p>
                      <a:r>
                        <a:rPr sz="1200" b="1">
                          <a:solidFill>
                            <a:srgbClr val="FFFFFF"/>
                          </a:solidFill>
                          <a:latin typeface="Arial"/>
                        </a:rPr>
                        <a:t>Kept at the edge in</a:t>
                      </a:r>
                    </a:p>
                  </a:txBody>
                  <a:tcPr marT="36576" marB="36576" anchor="ctr">
                    <a:solidFill>
                      <a:srgbClr val="321241"/>
                    </a:solidFill>
                  </a:tcPr>
                </a:tc>
                <a:tc>
                  <a:txBody>
                    <a:bodyPr/>
                    <a:lstStyle/>
                    <a:p>
                      <a:r>
                        <a:rPr sz="1200" b="1">
                          <a:solidFill>
                            <a:srgbClr val="FFFFFF"/>
                          </a:solidFill>
                          <a:latin typeface="Arial"/>
                        </a:rPr>
                        <a:t>On reconnect</a:t>
                      </a:r>
                    </a:p>
                  </a:txBody>
                  <a:tcPr marT="36576" marB="36576" anchor="ctr">
                    <a:solidFill>
                      <a:srgbClr val="321241"/>
                    </a:solidFill>
                  </a:tcPr>
                </a:tc>
                <a:extLst>
                  <a:ext uri="{0D108BD9-81ED-4DB2-BD59-A6C34878D82A}">
                    <a16:rowId xmlns:a16="http://schemas.microsoft.com/office/drawing/2014/main" val="10000"/>
                  </a:ext>
                </a:extLst>
              </a:tr>
              <a:tr h="420624">
                <a:tc>
                  <a:txBody>
                    <a:bodyPr/>
                    <a:lstStyle/>
                    <a:p>
                      <a:r>
                        <a:rPr sz="1200" b="1" dirty="0">
                          <a:solidFill>
                            <a:srgbClr val="1D1722"/>
                          </a:solidFill>
                          <a:latin typeface="Arial"/>
                        </a:rPr>
                        <a:t>NMEA 2000 and MAVLink frames</a:t>
                      </a:r>
                    </a:p>
                  </a:txBody>
                  <a:tcPr marT="36576" marB="36576" anchor="ctr">
                    <a:solidFill>
                      <a:srgbClr val="FFFFFF"/>
                    </a:solidFill>
                  </a:tcPr>
                </a:tc>
                <a:tc>
                  <a:txBody>
                    <a:bodyPr/>
                    <a:lstStyle/>
                    <a:p>
                      <a:r>
                        <a:rPr sz="1200" b="0">
                          <a:solidFill>
                            <a:srgbClr val="4A4458"/>
                          </a:solidFill>
                          <a:latin typeface="Arial"/>
                        </a:rPr>
                        <a:t>Memory: the last 10</a:t>
                      </a:r>
                    </a:p>
                  </a:txBody>
                  <a:tcPr marT="36576" marB="36576" anchor="ctr">
                    <a:solidFill>
                      <a:srgbClr val="FFFFFF"/>
                    </a:solidFill>
                  </a:tcPr>
                </a:tc>
                <a:tc>
                  <a:txBody>
                    <a:bodyPr/>
                    <a:lstStyle/>
                    <a:p>
                      <a:r>
                        <a:rPr sz="1200" b="0">
                          <a:solidFill>
                            <a:srgbClr val="4A4458"/>
                          </a:solidFill>
                          <a:latin typeface="Arial"/>
                        </a:rPr>
                        <a:t>Gone, already summarised into state</a:t>
                      </a:r>
                    </a:p>
                  </a:txBody>
                  <a:tcPr marT="36576" marB="36576" anchor="ctr">
                    <a:solidFill>
                      <a:srgbClr val="FFFFFF"/>
                    </a:solidFill>
                  </a:tcPr>
                </a:tc>
                <a:extLst>
                  <a:ext uri="{0D108BD9-81ED-4DB2-BD59-A6C34878D82A}">
                    <a16:rowId xmlns:a16="http://schemas.microsoft.com/office/drawing/2014/main" val="10001"/>
                  </a:ext>
                </a:extLst>
              </a:tr>
              <a:tr h="420624">
                <a:tc>
                  <a:txBody>
                    <a:bodyPr/>
                    <a:lstStyle/>
                    <a:p>
                      <a:r>
                        <a:rPr sz="1200" b="1">
                          <a:solidFill>
                            <a:srgbClr val="1D1722"/>
                          </a:solidFill>
                          <a:latin typeface="Arial"/>
                        </a:rPr>
                        <a:t>Twin state</a:t>
                      </a:r>
                    </a:p>
                  </a:txBody>
                  <a:tcPr marT="36576" marB="36576" anchor="ctr">
                    <a:solidFill>
                      <a:srgbClr val="F4F1FA"/>
                    </a:solidFill>
                  </a:tcPr>
                </a:tc>
                <a:tc>
                  <a:txBody>
                    <a:bodyPr/>
                    <a:lstStyle/>
                    <a:p>
                      <a:r>
                        <a:rPr sz="1200" b="0">
                          <a:solidFill>
                            <a:srgbClr val="4A4458"/>
                          </a:solidFill>
                          <a:latin typeface="Arial"/>
                        </a:rPr>
                        <a:t>Memory: the last 50</a:t>
                      </a:r>
                    </a:p>
                  </a:txBody>
                  <a:tcPr marT="36576" marB="36576" anchor="ctr">
                    <a:solidFill>
                      <a:srgbClr val="F4F1FA"/>
                    </a:solidFill>
                  </a:tcPr>
                </a:tc>
                <a:tc>
                  <a:txBody>
                    <a:bodyPr/>
                    <a:lstStyle/>
                    <a:p>
                      <a:r>
                        <a:rPr sz="1200" b="0">
                          <a:solidFill>
                            <a:srgbClr val="4A4458"/>
                          </a:solidFill>
                          <a:latin typeface="Arial"/>
                        </a:rPr>
                        <a:t>Latest value, published again</a:t>
                      </a:r>
                    </a:p>
                  </a:txBody>
                  <a:tcPr marT="36576" marB="36576" anchor="ctr">
                    <a:solidFill>
                      <a:srgbClr val="F4F1FA"/>
                    </a:solidFill>
                  </a:tcPr>
                </a:tc>
                <a:extLst>
                  <a:ext uri="{0D108BD9-81ED-4DB2-BD59-A6C34878D82A}">
                    <a16:rowId xmlns:a16="http://schemas.microsoft.com/office/drawing/2014/main" val="10002"/>
                  </a:ext>
                </a:extLst>
              </a:tr>
              <a:tr h="420624">
                <a:tc>
                  <a:txBody>
                    <a:bodyPr/>
                    <a:lstStyle/>
                    <a:p>
                      <a:r>
                        <a:rPr sz="1200" b="1">
                          <a:solidFill>
                            <a:srgbClr val="1D1722"/>
                          </a:solidFill>
                          <a:latin typeface="Arial"/>
                        </a:rPr>
                        <a:t>Tasks pushed to the node</a:t>
                      </a:r>
                    </a:p>
                  </a:txBody>
                  <a:tcPr marT="36576" marB="36576" anchor="ctr">
                    <a:solidFill>
                      <a:srgbClr val="FFFFFF"/>
                    </a:solidFill>
                  </a:tcPr>
                </a:tc>
                <a:tc>
                  <a:txBody>
                    <a:bodyPr/>
                    <a:lstStyle/>
                    <a:p>
                      <a:r>
                        <a:rPr sz="1200" b="0">
                          <a:solidFill>
                            <a:srgbClr val="4A4458"/>
                          </a:solidFill>
                          <a:latin typeface="Arial"/>
                        </a:rPr>
                        <a:t>Disk partitions</a:t>
                      </a:r>
                    </a:p>
                  </a:txBody>
                  <a:tcPr marT="36576" marB="36576" anchor="ctr">
                    <a:solidFill>
                      <a:srgbClr val="FFFFFF"/>
                    </a:solidFill>
                  </a:tcPr>
                </a:tc>
                <a:tc>
                  <a:txBody>
                    <a:bodyPr/>
                    <a:lstStyle/>
                    <a:p>
                      <a:r>
                        <a:rPr sz="1200" b="0">
                          <a:solidFill>
                            <a:srgbClr val="4A4458"/>
                          </a:solidFill>
                          <a:latin typeface="Arial"/>
                        </a:rPr>
                        <a:t>Still there; not lost with the link</a:t>
                      </a:r>
                    </a:p>
                  </a:txBody>
                  <a:tcPr marT="36576" marB="36576" anchor="ctr">
                    <a:solidFill>
                      <a:srgbClr val="FFFFFF"/>
                    </a:solidFill>
                  </a:tcPr>
                </a:tc>
                <a:extLst>
                  <a:ext uri="{0D108BD9-81ED-4DB2-BD59-A6C34878D82A}">
                    <a16:rowId xmlns:a16="http://schemas.microsoft.com/office/drawing/2014/main" val="10003"/>
                  </a:ext>
                </a:extLst>
              </a:tr>
              <a:tr h="420624">
                <a:tc>
                  <a:txBody>
                    <a:bodyPr/>
                    <a:lstStyle/>
                    <a:p>
                      <a:r>
                        <a:rPr sz="1200" b="1">
                          <a:solidFill>
                            <a:srgbClr val="1D1722"/>
                          </a:solidFill>
                          <a:latin typeface="Arial"/>
                        </a:rPr>
                        <a:t>STANAG 4817, JSON and protobuf</a:t>
                      </a:r>
                    </a:p>
                  </a:txBody>
                  <a:tcPr marT="36576" marB="36576" anchor="ctr">
                    <a:solidFill>
                      <a:srgbClr val="F4F1FA"/>
                    </a:solidFill>
                  </a:tcPr>
                </a:tc>
                <a:tc>
                  <a:txBody>
                    <a:bodyPr/>
                    <a:lstStyle/>
                    <a:p>
                      <a:r>
                        <a:rPr sz="1200" b="0">
                          <a:solidFill>
                            <a:srgbClr val="4A4458"/>
                          </a:solidFill>
                          <a:latin typeface="Arial"/>
                        </a:rPr>
                        <a:t>Disk, compressed; sized for a 90-day gap</a:t>
                      </a:r>
                    </a:p>
                  </a:txBody>
                  <a:tcPr marT="36576" marB="36576" anchor="ctr">
                    <a:solidFill>
                      <a:srgbClr val="F4F1FA"/>
                    </a:solidFill>
                  </a:tcPr>
                </a:tc>
                <a:tc>
                  <a:txBody>
                    <a:bodyPr/>
                    <a:lstStyle/>
                    <a:p>
                      <a:r>
                        <a:rPr sz="1200" b="0">
                          <a:solidFill>
                            <a:srgbClr val="4A4458"/>
                          </a:solidFill>
                          <a:latin typeface="Arial"/>
                        </a:rPr>
                        <a:t>Drained up the push link</a:t>
                      </a:r>
                    </a:p>
                  </a:txBody>
                  <a:tcPr marT="36576" marB="36576" anchor="ctr">
                    <a:solidFill>
                      <a:srgbClr val="F4F1FA"/>
                    </a:solidFill>
                  </a:tcPr>
                </a:tc>
                <a:extLst>
                  <a:ext uri="{0D108BD9-81ED-4DB2-BD59-A6C34878D82A}">
                    <a16:rowId xmlns:a16="http://schemas.microsoft.com/office/drawing/2014/main" val="10004"/>
                  </a:ext>
                </a:extLst>
              </a:tr>
            </a:tbl>
          </a:graphicData>
        </a:graphic>
      </p:graphicFrame>
      <p:sp>
        <p:nvSpPr>
          <p:cNvPr id="142" name="TextBox 141"/>
          <p:cNvSpPr txBox="1"/>
          <p:nvPr/>
        </p:nvSpPr>
        <p:spPr>
          <a:xfrm>
            <a:off x="457200" y="3840480"/>
            <a:ext cx="8138160" cy="430887"/>
          </a:xfrm>
          <a:prstGeom prst="rect">
            <a:avLst/>
          </a:prstGeom>
          <a:noFill/>
        </p:spPr>
        <p:txBody>
          <a:bodyPr wrap="square" lIns="0" tIns="0" rIns="0" bIns="0" anchor="t">
            <a:spAutoFit/>
          </a:bodyPr>
          <a:lstStyle/>
          <a:p>
            <a:pPr algn="l"/>
            <a:r>
              <a:rPr sz="1400" b="1" dirty="0">
                <a:solidFill>
                  <a:srgbClr val="1D1722"/>
                </a:solidFill>
                <a:latin typeface="Arial"/>
              </a:rPr>
              <a:t>At REPMUS, 5,272 </a:t>
            </a:r>
            <a:r>
              <a:rPr lang="en-US" sz="1400" b="1" dirty="0">
                <a:solidFill>
                  <a:srgbClr val="1D1722"/>
                </a:solidFill>
                <a:latin typeface="Arial"/>
              </a:rPr>
              <a:t>vessel</a:t>
            </a:r>
            <a:r>
              <a:rPr sz="1400" b="1" dirty="0">
                <a:solidFill>
                  <a:srgbClr val="1D1722"/>
                </a:solidFill>
                <a:latin typeface="Arial"/>
              </a:rPr>
              <a:t> statuses reached the COP path over a minute late. The latest arrived after 15.5 hours, long past its 2-hour validity.</a:t>
            </a:r>
          </a:p>
        </p:txBody>
      </p:sp>
      <p:sp>
        <p:nvSpPr>
          <p:cNvPr id="143" name="TextBox 142"/>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7A7290"/>
                </a:solidFill>
                <a:latin typeface="Arial"/>
              </a:rPr>
              <a:t>MAPS edge store map (</a:t>
            </a:r>
            <a:r>
              <a:rPr sz="1000" b="0" dirty="0" err="1">
                <a:solidFill>
                  <a:srgbClr val="7A7290"/>
                </a:solidFill>
                <a:latin typeface="Arial"/>
              </a:rPr>
              <a:t>DestinationManager</a:t>
            </a:r>
            <a:r>
              <a:rPr sz="1000" b="0" dirty="0">
                <a:solidFill>
                  <a:srgbClr val="7A7290"/>
                </a:solidFill>
                <a:latin typeface="Arial"/>
              </a:rPr>
              <a:t>), REPMUS 2026 · </a:t>
            </a:r>
            <a:r>
              <a:rPr lang="en-US" sz="1000" b="0" dirty="0">
                <a:solidFill>
                  <a:srgbClr val="7A7290"/>
                </a:solidFill>
                <a:latin typeface="Arial"/>
              </a:rPr>
              <a:t>vessel</a:t>
            </a:r>
            <a:r>
              <a:rPr sz="1000" b="0" dirty="0">
                <a:solidFill>
                  <a:srgbClr val="7A7290"/>
                </a:solidFill>
                <a:latin typeface="Arial"/>
              </a:rPr>
              <a:t> local vs COP-path records</a:t>
            </a:r>
          </a:p>
        </p:txBody>
      </p:sp>
      <p:pic>
        <p:nvPicPr>
          <p:cNvPr id="3" name="Picture 2">
            <a:extLst>
              <a:ext uri="{FF2B5EF4-FFF2-40B4-BE49-F238E27FC236}">
                <a16:creationId xmlns:a16="http://schemas.microsoft.com/office/drawing/2014/main" id="{7622633C-7D65-96DE-E0E8-1C733E19A37D}"/>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06 · OUTAGE AND RECONNECT</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Reconnection is the most dangerous moment</a:t>
            </a:r>
          </a:p>
        </p:txBody>
      </p:sp>
      <p:sp>
        <p:nvSpPr>
          <p:cNvPr id="141" name="Rectangle 140"/>
          <p:cNvSpPr/>
          <p:nvPr/>
        </p:nvSpPr>
        <p:spPr>
          <a:xfrm>
            <a:off x="2011680" y="1554480"/>
            <a:ext cx="3657600" cy="2788920"/>
          </a:xfrm>
          <a:prstGeom prst="rect">
            <a:avLst/>
          </a:prstGeom>
          <a:solidFill>
            <a:srgbClr val="F1E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Right Triangle 141"/>
          <p:cNvSpPr/>
          <p:nvPr/>
        </p:nvSpPr>
        <p:spPr>
          <a:xfrm flipH="1">
            <a:off x="2011680" y="2743200"/>
            <a:ext cx="3657600" cy="1600200"/>
          </a:xfrm>
          <a:prstGeom prst="rtTriangle">
            <a:avLst/>
          </a:prstGeom>
          <a:solidFill>
            <a:srgbClr val="8FB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Rectangle 142"/>
          <p:cNvSpPr/>
          <p:nvPr/>
        </p:nvSpPr>
        <p:spPr>
          <a:xfrm>
            <a:off x="5669280" y="1645920"/>
            <a:ext cx="640080" cy="2697480"/>
          </a:xfrm>
          <a:prstGeom prst="rect">
            <a:avLst/>
          </a:prstGeom>
          <a:solidFill>
            <a:srgbClr val="C9A1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4" name="Connector 143"/>
          <p:cNvCxnSpPr/>
          <p:nvPr/>
        </p:nvCxnSpPr>
        <p:spPr>
          <a:xfrm>
            <a:off x="548640" y="3246120"/>
            <a:ext cx="8046720" cy="0"/>
          </a:xfrm>
          <a:prstGeom prst="line">
            <a:avLst/>
          </a:prstGeom>
          <a:ln w="25400">
            <a:solidFill>
              <a:srgbClr val="6B4BC0"/>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548640" y="3977639"/>
            <a:ext cx="1463040" cy="0"/>
          </a:xfrm>
          <a:prstGeom prst="line">
            <a:avLst/>
          </a:prstGeom>
          <a:ln w="38100">
            <a:solidFill>
              <a:srgbClr val="1D1722"/>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6675120" y="3977639"/>
            <a:ext cx="1920240" cy="0"/>
          </a:xfrm>
          <a:prstGeom prst="line">
            <a:avLst/>
          </a:prstGeom>
          <a:ln w="38100">
            <a:solidFill>
              <a:srgbClr val="1D1722"/>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548640" y="4343400"/>
            <a:ext cx="8046720" cy="0"/>
          </a:xfrm>
          <a:prstGeom prst="line">
            <a:avLst/>
          </a:prstGeom>
          <a:ln w="12700">
            <a:solidFill>
              <a:srgbClr val="7A7290"/>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2148840" y="1691640"/>
            <a:ext cx="3383280" cy="457200"/>
          </a:xfrm>
          <a:prstGeom prst="rect">
            <a:avLst/>
          </a:prstGeom>
          <a:noFill/>
        </p:spPr>
        <p:txBody>
          <a:bodyPr wrap="square" lIns="0" tIns="0" rIns="0" bIns="0" anchor="t">
            <a:spAutoFit/>
          </a:bodyPr>
          <a:lstStyle/>
          <a:p>
            <a:pPr algn="l"/>
            <a:r>
              <a:rPr sz="1200" b="1">
                <a:solidFill>
                  <a:srgbClr val="1D1722"/>
                </a:solidFill>
                <a:latin typeface="Arial"/>
              </a:rPr>
              <a:t>Link down: the backlog grows at the edge</a:t>
            </a:r>
          </a:p>
        </p:txBody>
      </p:sp>
      <p:sp>
        <p:nvSpPr>
          <p:cNvPr id="149" name="TextBox 148"/>
          <p:cNvSpPr txBox="1"/>
          <p:nvPr/>
        </p:nvSpPr>
        <p:spPr>
          <a:xfrm>
            <a:off x="6812280" y="1691640"/>
            <a:ext cx="1828800" cy="457200"/>
          </a:xfrm>
          <a:prstGeom prst="rect">
            <a:avLst/>
          </a:prstGeom>
          <a:noFill/>
        </p:spPr>
        <p:txBody>
          <a:bodyPr wrap="square" lIns="0" tIns="0" rIns="0" bIns="0" anchor="t">
            <a:spAutoFit/>
          </a:bodyPr>
          <a:lstStyle/>
          <a:p>
            <a:pPr algn="l"/>
            <a:r>
              <a:rPr sz="1200" b="1">
                <a:solidFill>
                  <a:srgbClr val="8A6A1F"/>
                </a:solidFill>
                <a:latin typeface="Arial"/>
              </a:rPr>
              <a:t>Link back: everything at once</a:t>
            </a:r>
          </a:p>
        </p:txBody>
      </p:sp>
      <p:sp>
        <p:nvSpPr>
          <p:cNvPr id="150" name="TextBox 149"/>
          <p:cNvSpPr txBox="1"/>
          <p:nvPr/>
        </p:nvSpPr>
        <p:spPr>
          <a:xfrm>
            <a:off x="6812280" y="2852928"/>
            <a:ext cx="1828800" cy="365760"/>
          </a:xfrm>
          <a:prstGeom prst="rect">
            <a:avLst/>
          </a:prstGeom>
          <a:noFill/>
        </p:spPr>
        <p:txBody>
          <a:bodyPr wrap="square" lIns="0" tIns="0" rIns="0" bIns="0" anchor="t">
            <a:spAutoFit/>
          </a:bodyPr>
          <a:lstStyle/>
          <a:p>
            <a:pPr algn="l"/>
            <a:r>
              <a:rPr sz="1100" b="0">
                <a:solidFill>
                  <a:srgbClr val="6B4BC0"/>
                </a:solidFill>
                <a:latin typeface="Arial"/>
              </a:rPr>
              <a:t>What downstream can absorb</a:t>
            </a:r>
          </a:p>
        </p:txBody>
      </p:sp>
      <p:sp>
        <p:nvSpPr>
          <p:cNvPr id="151" name="TextBox 150"/>
          <p:cNvSpPr txBox="1"/>
          <p:nvPr/>
        </p:nvSpPr>
        <p:spPr>
          <a:xfrm>
            <a:off x="548640" y="3639312"/>
            <a:ext cx="1371600" cy="274320"/>
          </a:xfrm>
          <a:prstGeom prst="rect">
            <a:avLst/>
          </a:prstGeom>
          <a:noFill/>
        </p:spPr>
        <p:txBody>
          <a:bodyPr wrap="square" lIns="0" tIns="0" rIns="0" bIns="0" anchor="t">
            <a:spAutoFit/>
          </a:bodyPr>
          <a:lstStyle/>
          <a:p>
            <a:pPr algn="l"/>
            <a:r>
              <a:rPr sz="1100" b="0">
                <a:solidFill>
                  <a:srgbClr val="1D1722"/>
                </a:solidFill>
                <a:latin typeface="Arial"/>
              </a:rPr>
              <a:t>Normal traffic</a:t>
            </a:r>
          </a:p>
        </p:txBody>
      </p:sp>
      <p:sp>
        <p:nvSpPr>
          <p:cNvPr id="152" name="TextBox 151"/>
          <p:cNvSpPr txBox="1"/>
          <p:nvPr/>
        </p:nvSpPr>
        <p:spPr>
          <a:xfrm>
            <a:off x="548640" y="4407408"/>
            <a:ext cx="1371600" cy="228600"/>
          </a:xfrm>
          <a:prstGeom prst="rect">
            <a:avLst/>
          </a:prstGeom>
          <a:noFill/>
        </p:spPr>
        <p:txBody>
          <a:bodyPr wrap="square" lIns="0" tIns="0" rIns="0" bIns="0" anchor="t">
            <a:spAutoFit/>
          </a:bodyPr>
          <a:lstStyle/>
          <a:p>
            <a:pPr algn="l"/>
            <a:r>
              <a:rPr sz="1000" b="0">
                <a:solidFill>
                  <a:srgbClr val="7A7290"/>
                </a:solidFill>
                <a:latin typeface="Arial"/>
              </a:rPr>
              <a:t>Time →</a:t>
            </a:r>
          </a:p>
        </p:txBody>
      </p:sp>
      <p:sp>
        <p:nvSpPr>
          <p:cNvPr id="153" name="TextBox 152"/>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E9787CE0-3A9E-B08D-97B5-72367290C70D}"/>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06 · OUTAGE AND RECONNECT</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Six ways to replay without flooding</a:t>
            </a:r>
          </a:p>
        </p:txBody>
      </p:sp>
      <p:sp>
        <p:nvSpPr>
          <p:cNvPr id="141" name="Rounded Rectangle 140"/>
          <p:cNvSpPr/>
          <p:nvPr/>
        </p:nvSpPr>
        <p:spPr>
          <a:xfrm>
            <a:off x="457200" y="1645920"/>
            <a:ext cx="2606040" cy="1298448"/>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658368" y="1810512"/>
            <a:ext cx="2240280" cy="320040"/>
          </a:xfrm>
          <a:prstGeom prst="rect">
            <a:avLst/>
          </a:prstGeom>
          <a:noFill/>
        </p:spPr>
        <p:txBody>
          <a:bodyPr wrap="square" lIns="0" tIns="0" rIns="0" bIns="0" anchor="t">
            <a:spAutoFit/>
          </a:bodyPr>
          <a:lstStyle/>
          <a:p>
            <a:pPr algn="l"/>
            <a:r>
              <a:rPr sz="1500" b="1">
                <a:solidFill>
                  <a:srgbClr val="1D1722"/>
                </a:solidFill>
                <a:latin typeface="Arial"/>
              </a:rPr>
              <a:t>Rate-limited replay</a:t>
            </a:r>
          </a:p>
        </p:txBody>
      </p:sp>
      <p:sp>
        <p:nvSpPr>
          <p:cNvPr id="143" name="TextBox 142"/>
          <p:cNvSpPr txBox="1"/>
          <p:nvPr/>
        </p:nvSpPr>
        <p:spPr>
          <a:xfrm>
            <a:off x="658368" y="2194560"/>
            <a:ext cx="2240280" cy="685800"/>
          </a:xfrm>
          <a:prstGeom prst="rect">
            <a:avLst/>
          </a:prstGeom>
          <a:noFill/>
        </p:spPr>
        <p:txBody>
          <a:bodyPr wrap="square" lIns="0" tIns="0" rIns="0" bIns="0" anchor="t">
            <a:spAutoFit/>
          </a:bodyPr>
          <a:lstStyle/>
          <a:p>
            <a:pPr algn="l"/>
            <a:r>
              <a:rPr sz="1300" b="0">
                <a:solidFill>
                  <a:srgbClr val="4A4458"/>
                </a:solidFill>
                <a:latin typeface="Arial"/>
              </a:rPr>
              <a:t>Drain at a fixed share of link and downstream capacity</a:t>
            </a:r>
          </a:p>
        </p:txBody>
      </p:sp>
      <p:sp>
        <p:nvSpPr>
          <p:cNvPr id="144" name="Rounded Rectangle 143"/>
          <p:cNvSpPr/>
          <p:nvPr/>
        </p:nvSpPr>
        <p:spPr>
          <a:xfrm>
            <a:off x="3273552" y="1645920"/>
            <a:ext cx="2606040" cy="1298448"/>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3474720" y="1810512"/>
            <a:ext cx="2240280" cy="320040"/>
          </a:xfrm>
          <a:prstGeom prst="rect">
            <a:avLst/>
          </a:prstGeom>
          <a:noFill/>
        </p:spPr>
        <p:txBody>
          <a:bodyPr wrap="square" lIns="0" tIns="0" rIns="0" bIns="0" anchor="t">
            <a:spAutoFit/>
          </a:bodyPr>
          <a:lstStyle/>
          <a:p>
            <a:pPr algn="l"/>
            <a:r>
              <a:rPr sz="1500" b="1">
                <a:solidFill>
                  <a:srgbClr val="1D1722"/>
                </a:solidFill>
                <a:latin typeface="Arial"/>
              </a:rPr>
              <a:t>Priority lanes</a:t>
            </a:r>
          </a:p>
        </p:txBody>
      </p:sp>
      <p:sp>
        <p:nvSpPr>
          <p:cNvPr id="146" name="TextBox 145"/>
          <p:cNvSpPr txBox="1"/>
          <p:nvPr/>
        </p:nvSpPr>
        <p:spPr>
          <a:xfrm>
            <a:off x="3474720" y="2194560"/>
            <a:ext cx="2240280" cy="685800"/>
          </a:xfrm>
          <a:prstGeom prst="rect">
            <a:avLst/>
          </a:prstGeom>
          <a:noFill/>
        </p:spPr>
        <p:txBody>
          <a:bodyPr wrap="square" lIns="0" tIns="0" rIns="0" bIns="0" anchor="t">
            <a:spAutoFit/>
          </a:bodyPr>
          <a:lstStyle/>
          <a:p>
            <a:pPr algn="l"/>
            <a:r>
              <a:rPr sz="1300" b="0">
                <a:solidFill>
                  <a:srgbClr val="4A4458"/>
                </a:solidFill>
                <a:latin typeface="Arial"/>
              </a:rPr>
              <a:t>Commands and state jump the backlog</a:t>
            </a:r>
          </a:p>
        </p:txBody>
      </p:sp>
      <p:sp>
        <p:nvSpPr>
          <p:cNvPr id="147" name="Rounded Rectangle 146"/>
          <p:cNvSpPr/>
          <p:nvPr/>
        </p:nvSpPr>
        <p:spPr>
          <a:xfrm>
            <a:off x="6089904" y="1645920"/>
            <a:ext cx="2606040" cy="1298448"/>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Box 147"/>
          <p:cNvSpPr txBox="1"/>
          <p:nvPr/>
        </p:nvSpPr>
        <p:spPr>
          <a:xfrm>
            <a:off x="6291072" y="1810512"/>
            <a:ext cx="2240280" cy="320040"/>
          </a:xfrm>
          <a:prstGeom prst="rect">
            <a:avLst/>
          </a:prstGeom>
          <a:noFill/>
        </p:spPr>
        <p:txBody>
          <a:bodyPr wrap="square" lIns="0" tIns="0" rIns="0" bIns="0" anchor="t">
            <a:spAutoFit/>
          </a:bodyPr>
          <a:lstStyle/>
          <a:p>
            <a:pPr algn="l"/>
            <a:r>
              <a:rPr sz="1500" b="1">
                <a:solidFill>
                  <a:srgbClr val="1D1722"/>
                </a:solidFill>
                <a:latin typeface="Arial"/>
              </a:rPr>
              <a:t>Latest-value collapse</a:t>
            </a:r>
          </a:p>
        </p:txBody>
      </p:sp>
      <p:sp>
        <p:nvSpPr>
          <p:cNvPr id="149" name="TextBox 148"/>
          <p:cNvSpPr txBox="1"/>
          <p:nvPr/>
        </p:nvSpPr>
        <p:spPr>
          <a:xfrm>
            <a:off x="6291072" y="2194560"/>
            <a:ext cx="2240280" cy="685800"/>
          </a:xfrm>
          <a:prstGeom prst="rect">
            <a:avLst/>
          </a:prstGeom>
          <a:noFill/>
        </p:spPr>
        <p:txBody>
          <a:bodyPr wrap="square" lIns="0" tIns="0" rIns="0" bIns="0" anchor="t">
            <a:spAutoFit/>
          </a:bodyPr>
          <a:lstStyle/>
          <a:p>
            <a:pPr algn="l"/>
            <a:r>
              <a:rPr sz="1300" b="0">
                <a:solidFill>
                  <a:srgbClr val="4A4458"/>
                </a:solidFill>
                <a:latin typeface="Arial"/>
              </a:rPr>
              <a:t>Keep only the newest state per key</a:t>
            </a:r>
          </a:p>
        </p:txBody>
      </p:sp>
      <p:sp>
        <p:nvSpPr>
          <p:cNvPr id="150" name="Rounded Rectangle 149"/>
          <p:cNvSpPr/>
          <p:nvPr/>
        </p:nvSpPr>
        <p:spPr>
          <a:xfrm>
            <a:off x="457200" y="3108960"/>
            <a:ext cx="2606040" cy="1298448"/>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TextBox 150"/>
          <p:cNvSpPr txBox="1"/>
          <p:nvPr/>
        </p:nvSpPr>
        <p:spPr>
          <a:xfrm>
            <a:off x="658368" y="3273552"/>
            <a:ext cx="2240280" cy="320040"/>
          </a:xfrm>
          <a:prstGeom prst="rect">
            <a:avLst/>
          </a:prstGeom>
          <a:noFill/>
        </p:spPr>
        <p:txBody>
          <a:bodyPr wrap="square" lIns="0" tIns="0" rIns="0" bIns="0" anchor="t">
            <a:spAutoFit/>
          </a:bodyPr>
          <a:lstStyle/>
          <a:p>
            <a:pPr algn="l"/>
            <a:r>
              <a:rPr sz="1500" b="1">
                <a:solidFill>
                  <a:srgbClr val="1D1722"/>
                </a:solidFill>
                <a:latin typeface="Arial"/>
              </a:rPr>
              <a:t>Expiry</a:t>
            </a:r>
          </a:p>
        </p:txBody>
      </p:sp>
      <p:sp>
        <p:nvSpPr>
          <p:cNvPr id="152" name="TextBox 151"/>
          <p:cNvSpPr txBox="1"/>
          <p:nvPr/>
        </p:nvSpPr>
        <p:spPr>
          <a:xfrm>
            <a:off x="658368" y="3657600"/>
            <a:ext cx="2240280" cy="685800"/>
          </a:xfrm>
          <a:prstGeom prst="rect">
            <a:avLst/>
          </a:prstGeom>
          <a:noFill/>
        </p:spPr>
        <p:txBody>
          <a:bodyPr wrap="square" lIns="0" tIns="0" rIns="0" bIns="0" anchor="t">
            <a:spAutoFit/>
          </a:bodyPr>
          <a:lstStyle/>
          <a:p>
            <a:pPr algn="l"/>
            <a:r>
              <a:rPr sz="1300" b="0">
                <a:solidFill>
                  <a:srgbClr val="4A4458"/>
                </a:solidFill>
                <a:latin typeface="Arial"/>
              </a:rPr>
              <a:t>Drop what is no longer true: STANAG validity, message TTLs</a:t>
            </a:r>
          </a:p>
        </p:txBody>
      </p:sp>
      <p:sp>
        <p:nvSpPr>
          <p:cNvPr id="153" name="Rounded Rectangle 152"/>
          <p:cNvSpPr/>
          <p:nvPr/>
        </p:nvSpPr>
        <p:spPr>
          <a:xfrm>
            <a:off x="3273552" y="3108960"/>
            <a:ext cx="2606040" cy="1298448"/>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3474720" y="3273552"/>
            <a:ext cx="2240280" cy="320040"/>
          </a:xfrm>
          <a:prstGeom prst="rect">
            <a:avLst/>
          </a:prstGeom>
          <a:noFill/>
        </p:spPr>
        <p:txBody>
          <a:bodyPr wrap="square" lIns="0" tIns="0" rIns="0" bIns="0" anchor="t">
            <a:spAutoFit/>
          </a:bodyPr>
          <a:lstStyle/>
          <a:p>
            <a:pPr algn="l"/>
            <a:r>
              <a:rPr sz="1500" b="1">
                <a:solidFill>
                  <a:srgbClr val="1D1722"/>
                </a:solidFill>
                <a:latin typeface="Arial"/>
              </a:rPr>
              <a:t>Idempotent consumers</a:t>
            </a:r>
          </a:p>
        </p:txBody>
      </p:sp>
      <p:sp>
        <p:nvSpPr>
          <p:cNvPr id="155" name="TextBox 154"/>
          <p:cNvSpPr txBox="1"/>
          <p:nvPr/>
        </p:nvSpPr>
        <p:spPr>
          <a:xfrm>
            <a:off x="3474720" y="3657600"/>
            <a:ext cx="2240280" cy="685800"/>
          </a:xfrm>
          <a:prstGeom prst="rect">
            <a:avLst/>
          </a:prstGeom>
          <a:noFill/>
        </p:spPr>
        <p:txBody>
          <a:bodyPr wrap="square" lIns="0" tIns="0" rIns="0" bIns="0" anchor="t">
            <a:spAutoFit/>
          </a:bodyPr>
          <a:lstStyle/>
          <a:p>
            <a:pPr algn="l"/>
            <a:r>
              <a:rPr sz="1300" b="0">
                <a:solidFill>
                  <a:srgbClr val="4A4458"/>
                </a:solidFill>
                <a:latin typeface="Arial"/>
              </a:rPr>
              <a:t>Duplicates are certain; make them harmless</a:t>
            </a:r>
          </a:p>
        </p:txBody>
      </p:sp>
      <p:sp>
        <p:nvSpPr>
          <p:cNvPr id="156" name="Rounded Rectangle 155"/>
          <p:cNvSpPr/>
          <p:nvPr/>
        </p:nvSpPr>
        <p:spPr>
          <a:xfrm>
            <a:off x="6089904" y="3108960"/>
            <a:ext cx="2606040" cy="1298448"/>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TextBox 156"/>
          <p:cNvSpPr txBox="1"/>
          <p:nvPr/>
        </p:nvSpPr>
        <p:spPr>
          <a:xfrm>
            <a:off x="6291072" y="3273552"/>
            <a:ext cx="2240280" cy="320040"/>
          </a:xfrm>
          <a:prstGeom prst="rect">
            <a:avLst/>
          </a:prstGeom>
          <a:noFill/>
        </p:spPr>
        <p:txBody>
          <a:bodyPr wrap="square" lIns="0" tIns="0" rIns="0" bIns="0" anchor="t">
            <a:spAutoFit/>
          </a:bodyPr>
          <a:lstStyle/>
          <a:p>
            <a:pPr algn="l"/>
            <a:r>
              <a:rPr sz="1500" b="1">
                <a:solidFill>
                  <a:srgbClr val="1D1722"/>
                </a:solidFill>
                <a:latin typeface="Arial"/>
              </a:rPr>
              <a:t>Consumer-set pace</a:t>
            </a:r>
          </a:p>
        </p:txBody>
      </p:sp>
      <p:sp>
        <p:nvSpPr>
          <p:cNvPr id="158" name="TextBox 157"/>
          <p:cNvSpPr txBox="1"/>
          <p:nvPr/>
        </p:nvSpPr>
        <p:spPr>
          <a:xfrm>
            <a:off x="6291072" y="3657600"/>
            <a:ext cx="2240280" cy="685800"/>
          </a:xfrm>
          <a:prstGeom prst="rect">
            <a:avLst/>
          </a:prstGeom>
          <a:noFill/>
        </p:spPr>
        <p:txBody>
          <a:bodyPr wrap="square" lIns="0" tIns="0" rIns="0" bIns="0" anchor="t">
            <a:spAutoFit/>
          </a:bodyPr>
          <a:lstStyle/>
          <a:p>
            <a:pPr algn="l"/>
            <a:r>
              <a:rPr sz="1300" b="0">
                <a:solidFill>
                  <a:srgbClr val="4A4458"/>
                </a:solidFill>
                <a:latin typeface="Arial"/>
              </a:rPr>
              <a:t>MQTT 5 receive maximum, AMQP link credit</a:t>
            </a:r>
          </a:p>
        </p:txBody>
      </p:sp>
      <p:sp>
        <p:nvSpPr>
          <p:cNvPr id="159" name="TextBox 158"/>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5F3DFAD9-CA73-C023-FBDC-3F9166DC6893}"/>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TextBox 138"/>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06 · OUTAGE AND RECONNECT</a:t>
            </a:r>
          </a:p>
        </p:txBody>
      </p:sp>
      <p:sp>
        <p:nvSpPr>
          <p:cNvPr id="140" name="TextBox 139"/>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A reconnect, in order</a:t>
            </a:r>
          </a:p>
        </p:txBody>
      </p:sp>
      <p:sp>
        <p:nvSpPr>
          <p:cNvPr id="141" name="Rounded Rectangle 140"/>
          <p:cNvSpPr/>
          <p:nvPr/>
        </p:nvSpPr>
        <p:spPr>
          <a:xfrm>
            <a:off x="457200" y="1691640"/>
            <a:ext cx="1517904" cy="2011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621792" y="1828800"/>
            <a:ext cx="1188720" cy="548640"/>
          </a:xfrm>
          <a:prstGeom prst="rect">
            <a:avLst/>
          </a:prstGeom>
          <a:noFill/>
        </p:spPr>
        <p:txBody>
          <a:bodyPr wrap="square" lIns="0" tIns="0" rIns="0" bIns="0" anchor="t">
            <a:spAutoFit/>
          </a:bodyPr>
          <a:lstStyle/>
          <a:p>
            <a:pPr algn="l"/>
            <a:r>
              <a:rPr sz="3000" b="1">
                <a:solidFill>
                  <a:srgbClr val="A6803A"/>
                </a:solidFill>
                <a:latin typeface="Arial"/>
              </a:rPr>
              <a:t>1</a:t>
            </a:r>
          </a:p>
        </p:txBody>
      </p:sp>
      <p:sp>
        <p:nvSpPr>
          <p:cNvPr id="143" name="TextBox 142"/>
          <p:cNvSpPr txBox="1"/>
          <p:nvPr/>
        </p:nvSpPr>
        <p:spPr>
          <a:xfrm>
            <a:off x="621792" y="2468880"/>
            <a:ext cx="1234440" cy="1188720"/>
          </a:xfrm>
          <a:prstGeom prst="rect">
            <a:avLst/>
          </a:prstGeom>
          <a:noFill/>
        </p:spPr>
        <p:txBody>
          <a:bodyPr wrap="square" lIns="0" tIns="0" rIns="0" bIns="0" anchor="t">
            <a:spAutoFit/>
          </a:bodyPr>
          <a:lstStyle/>
          <a:p>
            <a:pPr algn="l"/>
            <a:r>
              <a:rPr sz="1300" b="0">
                <a:solidFill>
                  <a:srgbClr val="1D1722"/>
                </a:solidFill>
                <a:latin typeface="Arial"/>
              </a:rPr>
              <a:t>Restore the session and authenticate</a:t>
            </a:r>
          </a:p>
        </p:txBody>
      </p:sp>
      <p:sp>
        <p:nvSpPr>
          <p:cNvPr id="144" name="Right Arrow 143"/>
          <p:cNvSpPr/>
          <p:nvPr/>
        </p:nvSpPr>
        <p:spPr>
          <a:xfrm>
            <a:off x="1984248" y="2606040"/>
            <a:ext cx="128016" cy="146304"/>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ounded Rectangle 144"/>
          <p:cNvSpPr/>
          <p:nvPr/>
        </p:nvSpPr>
        <p:spPr>
          <a:xfrm>
            <a:off x="2121408" y="1691640"/>
            <a:ext cx="1517904" cy="2011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2286000" y="1828800"/>
            <a:ext cx="1188720" cy="548640"/>
          </a:xfrm>
          <a:prstGeom prst="rect">
            <a:avLst/>
          </a:prstGeom>
          <a:noFill/>
        </p:spPr>
        <p:txBody>
          <a:bodyPr wrap="square" lIns="0" tIns="0" rIns="0" bIns="0" anchor="t">
            <a:spAutoFit/>
          </a:bodyPr>
          <a:lstStyle/>
          <a:p>
            <a:pPr algn="l"/>
            <a:r>
              <a:rPr sz="3000" b="1">
                <a:solidFill>
                  <a:srgbClr val="A6803A"/>
                </a:solidFill>
                <a:latin typeface="Arial"/>
              </a:rPr>
              <a:t>2</a:t>
            </a:r>
          </a:p>
        </p:txBody>
      </p:sp>
      <p:sp>
        <p:nvSpPr>
          <p:cNvPr id="147" name="TextBox 146"/>
          <p:cNvSpPr txBox="1"/>
          <p:nvPr/>
        </p:nvSpPr>
        <p:spPr>
          <a:xfrm>
            <a:off x="2286000" y="2468880"/>
            <a:ext cx="1234440" cy="1188720"/>
          </a:xfrm>
          <a:prstGeom prst="rect">
            <a:avLst/>
          </a:prstGeom>
          <a:noFill/>
        </p:spPr>
        <p:txBody>
          <a:bodyPr wrap="square" lIns="0" tIns="0" rIns="0" bIns="0" anchor="t">
            <a:spAutoFit/>
          </a:bodyPr>
          <a:lstStyle/>
          <a:p>
            <a:pPr algn="l"/>
            <a:r>
              <a:rPr sz="1300" b="0">
                <a:solidFill>
                  <a:srgbClr val="1D1722"/>
                </a:solidFill>
                <a:latin typeface="Arial"/>
              </a:rPr>
              <a:t>Commands and alerts first</a:t>
            </a:r>
          </a:p>
        </p:txBody>
      </p:sp>
      <p:sp>
        <p:nvSpPr>
          <p:cNvPr id="148" name="Right Arrow 147"/>
          <p:cNvSpPr/>
          <p:nvPr/>
        </p:nvSpPr>
        <p:spPr>
          <a:xfrm>
            <a:off x="3648456" y="2606040"/>
            <a:ext cx="128016" cy="146304"/>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148"/>
          <p:cNvSpPr/>
          <p:nvPr/>
        </p:nvSpPr>
        <p:spPr>
          <a:xfrm>
            <a:off x="3785616" y="1691640"/>
            <a:ext cx="1517904" cy="2011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Box 149"/>
          <p:cNvSpPr txBox="1"/>
          <p:nvPr/>
        </p:nvSpPr>
        <p:spPr>
          <a:xfrm>
            <a:off x="3950208" y="1828800"/>
            <a:ext cx="1188720" cy="548640"/>
          </a:xfrm>
          <a:prstGeom prst="rect">
            <a:avLst/>
          </a:prstGeom>
          <a:noFill/>
        </p:spPr>
        <p:txBody>
          <a:bodyPr wrap="square" lIns="0" tIns="0" rIns="0" bIns="0" anchor="t">
            <a:spAutoFit/>
          </a:bodyPr>
          <a:lstStyle/>
          <a:p>
            <a:pPr algn="l"/>
            <a:r>
              <a:rPr sz="3000" b="1">
                <a:solidFill>
                  <a:srgbClr val="A6803A"/>
                </a:solidFill>
                <a:latin typeface="Arial"/>
              </a:rPr>
              <a:t>3</a:t>
            </a:r>
          </a:p>
        </p:txBody>
      </p:sp>
      <p:sp>
        <p:nvSpPr>
          <p:cNvPr id="151" name="TextBox 150"/>
          <p:cNvSpPr txBox="1"/>
          <p:nvPr/>
        </p:nvSpPr>
        <p:spPr>
          <a:xfrm>
            <a:off x="3950208" y="2468880"/>
            <a:ext cx="1234440" cy="1188720"/>
          </a:xfrm>
          <a:prstGeom prst="rect">
            <a:avLst/>
          </a:prstGeom>
          <a:noFill/>
        </p:spPr>
        <p:txBody>
          <a:bodyPr wrap="square" lIns="0" tIns="0" rIns="0" bIns="0" anchor="t">
            <a:spAutoFit/>
          </a:bodyPr>
          <a:lstStyle/>
          <a:p>
            <a:pPr algn="l"/>
            <a:r>
              <a:rPr sz="1300" b="0">
                <a:solidFill>
                  <a:srgbClr val="1D1722"/>
                </a:solidFill>
                <a:latin typeface="Arial"/>
              </a:rPr>
              <a:t>Latest state, collapsed per key</a:t>
            </a:r>
          </a:p>
        </p:txBody>
      </p:sp>
      <p:sp>
        <p:nvSpPr>
          <p:cNvPr id="152" name="Right Arrow 151"/>
          <p:cNvSpPr/>
          <p:nvPr/>
        </p:nvSpPr>
        <p:spPr>
          <a:xfrm>
            <a:off x="5312664" y="2606040"/>
            <a:ext cx="128016" cy="146304"/>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ounded Rectangle 152"/>
          <p:cNvSpPr/>
          <p:nvPr/>
        </p:nvSpPr>
        <p:spPr>
          <a:xfrm>
            <a:off x="5449824" y="1691640"/>
            <a:ext cx="1517904" cy="2011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5614416" y="1828800"/>
            <a:ext cx="1188720" cy="548640"/>
          </a:xfrm>
          <a:prstGeom prst="rect">
            <a:avLst/>
          </a:prstGeom>
          <a:noFill/>
        </p:spPr>
        <p:txBody>
          <a:bodyPr wrap="square" lIns="0" tIns="0" rIns="0" bIns="0" anchor="t">
            <a:spAutoFit/>
          </a:bodyPr>
          <a:lstStyle/>
          <a:p>
            <a:pPr algn="l"/>
            <a:r>
              <a:rPr sz="3000" b="1">
                <a:solidFill>
                  <a:srgbClr val="A6803A"/>
                </a:solidFill>
                <a:latin typeface="Arial"/>
              </a:rPr>
              <a:t>4</a:t>
            </a:r>
          </a:p>
        </p:txBody>
      </p:sp>
      <p:sp>
        <p:nvSpPr>
          <p:cNvPr id="155" name="TextBox 154"/>
          <p:cNvSpPr txBox="1"/>
          <p:nvPr/>
        </p:nvSpPr>
        <p:spPr>
          <a:xfrm>
            <a:off x="5614416" y="2468880"/>
            <a:ext cx="1234440" cy="1188720"/>
          </a:xfrm>
          <a:prstGeom prst="rect">
            <a:avLst/>
          </a:prstGeom>
          <a:noFill/>
        </p:spPr>
        <p:txBody>
          <a:bodyPr wrap="square" lIns="0" tIns="0" rIns="0" bIns="0" anchor="t">
            <a:spAutoFit/>
          </a:bodyPr>
          <a:lstStyle/>
          <a:p>
            <a:pPr algn="l"/>
            <a:r>
              <a:rPr sz="1300" b="0">
                <a:solidFill>
                  <a:srgbClr val="1D1722"/>
                </a:solidFill>
                <a:latin typeface="Arial"/>
              </a:rPr>
              <a:t>Backfill telemetry at a bounded rate</a:t>
            </a:r>
          </a:p>
        </p:txBody>
      </p:sp>
      <p:sp>
        <p:nvSpPr>
          <p:cNvPr id="156" name="Right Arrow 155"/>
          <p:cNvSpPr/>
          <p:nvPr/>
        </p:nvSpPr>
        <p:spPr>
          <a:xfrm>
            <a:off x="6976872" y="2606040"/>
            <a:ext cx="128016" cy="146304"/>
          </a:xfrm>
          <a:prstGeom prst="rightArrow">
            <a:avLst/>
          </a:prstGeom>
          <a:solidFill>
            <a:srgbClr val="6B4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ounded Rectangle 156"/>
          <p:cNvSpPr/>
          <p:nvPr/>
        </p:nvSpPr>
        <p:spPr>
          <a:xfrm>
            <a:off x="7114032" y="1691640"/>
            <a:ext cx="1517904" cy="2011680"/>
          </a:xfrm>
          <a:prstGeom prst="roundRect">
            <a:avLst>
              <a:gd name="adj" fmla="val 8000"/>
            </a:avLst>
          </a:prstGeom>
          <a:solidFill>
            <a:srgbClr val="F4F1FA"/>
          </a:solidFill>
          <a:ln w="12700">
            <a:solidFill>
              <a:srgbClr val="DDD5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Box 157"/>
          <p:cNvSpPr txBox="1"/>
          <p:nvPr/>
        </p:nvSpPr>
        <p:spPr>
          <a:xfrm>
            <a:off x="7278624" y="1828800"/>
            <a:ext cx="1188720" cy="548640"/>
          </a:xfrm>
          <a:prstGeom prst="rect">
            <a:avLst/>
          </a:prstGeom>
          <a:noFill/>
        </p:spPr>
        <p:txBody>
          <a:bodyPr wrap="square" lIns="0" tIns="0" rIns="0" bIns="0" anchor="t">
            <a:spAutoFit/>
          </a:bodyPr>
          <a:lstStyle/>
          <a:p>
            <a:pPr algn="l"/>
            <a:r>
              <a:rPr sz="3000" b="1">
                <a:solidFill>
                  <a:srgbClr val="A6803A"/>
                </a:solidFill>
                <a:latin typeface="Arial"/>
              </a:rPr>
              <a:t>5</a:t>
            </a:r>
          </a:p>
        </p:txBody>
      </p:sp>
      <p:sp>
        <p:nvSpPr>
          <p:cNvPr id="159" name="TextBox 158"/>
          <p:cNvSpPr txBox="1"/>
          <p:nvPr/>
        </p:nvSpPr>
        <p:spPr>
          <a:xfrm>
            <a:off x="7278624" y="2468880"/>
            <a:ext cx="1234440" cy="1188720"/>
          </a:xfrm>
          <a:prstGeom prst="rect">
            <a:avLst/>
          </a:prstGeom>
          <a:noFill/>
        </p:spPr>
        <p:txBody>
          <a:bodyPr wrap="square" lIns="0" tIns="0" rIns="0" bIns="0" anchor="t">
            <a:spAutoFit/>
          </a:bodyPr>
          <a:lstStyle/>
          <a:p>
            <a:pPr algn="l"/>
            <a:r>
              <a:rPr sz="1300" b="0">
                <a:solidFill>
                  <a:srgbClr val="1D1722"/>
                </a:solidFill>
                <a:latin typeface="Arial"/>
              </a:rPr>
              <a:t>Expire the stale, and record what was dropped</a:t>
            </a:r>
          </a:p>
        </p:txBody>
      </p:sp>
      <p:sp>
        <p:nvSpPr>
          <p:cNvPr id="160" name="TextBox 159"/>
          <p:cNvSpPr txBox="1"/>
          <p:nvPr/>
        </p:nvSpPr>
        <p:spPr>
          <a:xfrm>
            <a:off x="457200" y="3931920"/>
            <a:ext cx="8138160" cy="548640"/>
          </a:xfrm>
          <a:prstGeom prst="rect">
            <a:avLst/>
          </a:prstGeom>
          <a:noFill/>
        </p:spPr>
        <p:txBody>
          <a:bodyPr wrap="square" lIns="0" tIns="0" rIns="0" bIns="0" anchor="t">
            <a:spAutoFit/>
          </a:bodyPr>
          <a:lstStyle/>
          <a:p>
            <a:pPr algn="l"/>
            <a:r>
              <a:rPr sz="1600" b="1">
                <a:solidFill>
                  <a:srgbClr val="1D1722"/>
                </a:solidFill>
                <a:latin typeface="Arial"/>
              </a:rPr>
              <a:t>Shore sees the present first and the past later, never the other way round.</a:t>
            </a:r>
          </a:p>
        </p:txBody>
      </p:sp>
      <p:sp>
        <p:nvSpPr>
          <p:cNvPr id="161" name="TextBox 160"/>
          <p:cNvSpPr txBox="1"/>
          <p:nvPr/>
        </p:nvSpPr>
        <p:spPr>
          <a:xfrm>
            <a:off x="457200" y="4754880"/>
            <a:ext cx="8138160" cy="228600"/>
          </a:xfrm>
          <a:prstGeom prst="rect">
            <a:avLst/>
          </a:prstGeom>
          <a:noFill/>
        </p:spPr>
        <p:txBody>
          <a:bodyPr wrap="square" lIns="0" tIns="0" rIns="0" bIns="0" anchor="t">
            <a:spAutoFit/>
          </a:bodyPr>
          <a:lstStyle/>
          <a:p>
            <a:pPr algn="l"/>
            <a:r>
              <a:rPr sz="1000" b="0">
                <a:solidFill>
                  <a:srgbClr val="7A7290"/>
                </a:solidFill>
                <a:latin typeface="Arial"/>
              </a:rPr>
              <a:t>When the Network Stops Behaving · Alex Kritikos</a:t>
            </a:r>
          </a:p>
        </p:txBody>
      </p:sp>
      <p:pic>
        <p:nvPicPr>
          <p:cNvPr id="3" name="Picture 2">
            <a:extLst>
              <a:ext uri="{FF2B5EF4-FFF2-40B4-BE49-F238E27FC236}">
                <a16:creationId xmlns:a16="http://schemas.microsoft.com/office/drawing/2014/main" id="{076795DF-FFE1-444F-772C-7732F3E20BBA}"/>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blipFill>
          <a:blip r:embed="rId3">
            <a:alphaModFix/>
          </a:blip>
          <a:stretch>
            <a:fillRect/>
          </a:stretch>
        </a:blipFill>
        <a:effectLst/>
      </p:bgPr>
    </p:bg>
    <p:spTree>
      <p:nvGrpSpPr>
        <p:cNvPr id="1" name="Shape 134"/>
        <p:cNvGrpSpPr/>
        <p:nvPr/>
      </p:nvGrpSpPr>
      <p:grpSpPr>
        <a:xfrm>
          <a:off x="0" y="0"/>
          <a:ext cx="0" cy="0"/>
          <a:chOff x="0" y="0"/>
          <a:chExt cx="0" cy="0"/>
        </a:xfrm>
      </p:grpSpPr>
      <p:sp>
        <p:nvSpPr>
          <p:cNvPr id="135" name="TextBox 134"/>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C9A15F"/>
                </a:solidFill>
                <a:latin typeface="Arial"/>
              </a:rPr>
              <a:t>FROM REPMUS 2026</a:t>
            </a:r>
          </a:p>
        </p:txBody>
      </p:sp>
      <p:sp>
        <p:nvSpPr>
          <p:cNvPr id="136" name="TextBox 135"/>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FFFFFF"/>
                </a:solidFill>
                <a:latin typeface="Arial"/>
              </a:rPr>
              <a:t>What we measured</a:t>
            </a:r>
          </a:p>
        </p:txBody>
      </p:sp>
      <p:sp>
        <p:nvSpPr>
          <p:cNvPr id="137" name="Rounded Rectangle 136"/>
          <p:cNvSpPr/>
          <p:nvPr/>
        </p:nvSpPr>
        <p:spPr>
          <a:xfrm>
            <a:off x="457200" y="1737360"/>
            <a:ext cx="2587752" cy="196596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Box 137"/>
          <p:cNvSpPr txBox="1"/>
          <p:nvPr/>
        </p:nvSpPr>
        <p:spPr>
          <a:xfrm>
            <a:off x="685800" y="2011679"/>
            <a:ext cx="2130552" cy="685800"/>
          </a:xfrm>
          <a:prstGeom prst="rect">
            <a:avLst/>
          </a:prstGeom>
          <a:noFill/>
        </p:spPr>
        <p:txBody>
          <a:bodyPr wrap="square" lIns="0" tIns="0" rIns="0" bIns="0" anchor="t">
            <a:spAutoFit/>
          </a:bodyPr>
          <a:lstStyle/>
          <a:p>
            <a:pPr algn="l"/>
            <a:r>
              <a:rPr sz="3600" b="1">
                <a:solidFill>
                  <a:srgbClr val="FFFFFF"/>
                </a:solidFill>
                <a:latin typeface="Arial"/>
              </a:rPr>
              <a:t>6.5×</a:t>
            </a:r>
          </a:p>
        </p:txBody>
      </p:sp>
      <p:sp>
        <p:nvSpPr>
          <p:cNvPr id="139" name="TextBox 138"/>
          <p:cNvSpPr txBox="1"/>
          <p:nvPr/>
        </p:nvSpPr>
        <p:spPr>
          <a:xfrm>
            <a:off x="685800" y="2788920"/>
            <a:ext cx="2130552" cy="822960"/>
          </a:xfrm>
          <a:prstGeom prst="rect">
            <a:avLst/>
          </a:prstGeom>
          <a:noFill/>
        </p:spPr>
        <p:txBody>
          <a:bodyPr wrap="square" lIns="0" tIns="0" rIns="0" bIns="0" anchor="t">
            <a:spAutoFit/>
          </a:bodyPr>
          <a:lstStyle/>
          <a:p>
            <a:pPr algn="l"/>
            <a:r>
              <a:rPr sz="1400" b="0">
                <a:solidFill>
                  <a:srgbClr val="D9D2EA"/>
                </a:solidFill>
                <a:latin typeface="Arial"/>
              </a:rPr>
              <a:t>smaller as protobuf: a STANAG 4817 status went from 1,475 to 226 bytes</a:t>
            </a:r>
          </a:p>
        </p:txBody>
      </p:sp>
      <p:sp>
        <p:nvSpPr>
          <p:cNvPr id="140" name="Rounded Rectangle 139"/>
          <p:cNvSpPr/>
          <p:nvPr/>
        </p:nvSpPr>
        <p:spPr>
          <a:xfrm>
            <a:off x="3273552" y="1737360"/>
            <a:ext cx="2587752" cy="196596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Box 140"/>
          <p:cNvSpPr txBox="1"/>
          <p:nvPr/>
        </p:nvSpPr>
        <p:spPr>
          <a:xfrm>
            <a:off x="3502152" y="2011679"/>
            <a:ext cx="2130552" cy="685800"/>
          </a:xfrm>
          <a:prstGeom prst="rect">
            <a:avLst/>
          </a:prstGeom>
          <a:noFill/>
        </p:spPr>
        <p:txBody>
          <a:bodyPr wrap="square" lIns="0" tIns="0" rIns="0" bIns="0" anchor="t">
            <a:spAutoFit/>
          </a:bodyPr>
          <a:lstStyle/>
          <a:p>
            <a:pPr algn="l"/>
            <a:r>
              <a:rPr sz="3600" b="1">
                <a:solidFill>
                  <a:srgbClr val="FFFFFF"/>
                </a:solidFill>
                <a:latin typeface="Arial"/>
              </a:rPr>
              <a:t>283 → 1</a:t>
            </a:r>
          </a:p>
        </p:txBody>
      </p:sp>
      <p:sp>
        <p:nvSpPr>
          <p:cNvPr id="142" name="TextBox 141"/>
          <p:cNvSpPr txBox="1"/>
          <p:nvPr/>
        </p:nvSpPr>
        <p:spPr>
          <a:xfrm>
            <a:off x="3502152" y="2788920"/>
            <a:ext cx="2130552" cy="822960"/>
          </a:xfrm>
          <a:prstGeom prst="rect">
            <a:avLst/>
          </a:prstGeom>
          <a:noFill/>
        </p:spPr>
        <p:txBody>
          <a:bodyPr wrap="square" lIns="0" tIns="0" rIns="0" bIns="0" anchor="t">
            <a:spAutoFit/>
          </a:bodyPr>
          <a:lstStyle/>
          <a:p>
            <a:pPr algn="l"/>
            <a:r>
              <a:rPr sz="1400" b="0">
                <a:solidFill>
                  <a:srgbClr val="D9D2EA"/>
                </a:solidFill>
                <a:latin typeface="Arial"/>
              </a:rPr>
              <a:t>NMEA 2000 frames per second, turned into one STANAG status at the edge</a:t>
            </a:r>
          </a:p>
        </p:txBody>
      </p:sp>
      <p:sp>
        <p:nvSpPr>
          <p:cNvPr id="143" name="Rounded Rectangle 142"/>
          <p:cNvSpPr/>
          <p:nvPr/>
        </p:nvSpPr>
        <p:spPr>
          <a:xfrm>
            <a:off x="6089904" y="1737360"/>
            <a:ext cx="2587752" cy="1965960"/>
          </a:xfrm>
          <a:prstGeom prst="roundRect">
            <a:avLst>
              <a:gd name="adj" fmla="val 8000"/>
            </a:avLst>
          </a:prstGeom>
          <a:solidFill>
            <a:srgbClr val="2C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Box 143"/>
          <p:cNvSpPr txBox="1"/>
          <p:nvPr/>
        </p:nvSpPr>
        <p:spPr>
          <a:xfrm>
            <a:off x="6318504" y="2011679"/>
            <a:ext cx="2130552" cy="685800"/>
          </a:xfrm>
          <a:prstGeom prst="rect">
            <a:avLst/>
          </a:prstGeom>
          <a:noFill/>
        </p:spPr>
        <p:txBody>
          <a:bodyPr wrap="square" lIns="0" tIns="0" rIns="0" bIns="0" anchor="t">
            <a:spAutoFit/>
          </a:bodyPr>
          <a:lstStyle/>
          <a:p>
            <a:pPr algn="l"/>
            <a:r>
              <a:rPr sz="3600" b="1">
                <a:solidFill>
                  <a:srgbClr val="FFFFFF"/>
                </a:solidFill>
                <a:latin typeface="Arial"/>
              </a:rPr>
              <a:t>181 ms</a:t>
            </a:r>
          </a:p>
        </p:txBody>
      </p:sp>
      <p:sp>
        <p:nvSpPr>
          <p:cNvPr id="145" name="TextBox 144"/>
          <p:cNvSpPr txBox="1"/>
          <p:nvPr/>
        </p:nvSpPr>
        <p:spPr>
          <a:xfrm>
            <a:off x="6318504" y="2788920"/>
            <a:ext cx="2130552" cy="822960"/>
          </a:xfrm>
          <a:prstGeom prst="rect">
            <a:avLst/>
          </a:prstGeom>
          <a:noFill/>
        </p:spPr>
        <p:txBody>
          <a:bodyPr wrap="square" lIns="0" tIns="0" rIns="0" bIns="0" anchor="t">
            <a:spAutoFit/>
          </a:bodyPr>
          <a:lstStyle/>
          <a:p>
            <a:pPr algn="l"/>
            <a:r>
              <a:rPr sz="1400" b="0">
                <a:solidFill>
                  <a:srgbClr val="D9D2EA"/>
                </a:solidFill>
                <a:latin typeface="Arial"/>
              </a:rPr>
              <a:t>median from a task being pushed to the first feedback, across 14 tasks</a:t>
            </a:r>
          </a:p>
        </p:txBody>
      </p:sp>
      <p:sp>
        <p:nvSpPr>
          <p:cNvPr id="146" name="TextBox 145"/>
          <p:cNvSpPr txBox="1"/>
          <p:nvPr/>
        </p:nvSpPr>
        <p:spPr>
          <a:xfrm>
            <a:off x="457200" y="4754880"/>
            <a:ext cx="8138160" cy="153888"/>
          </a:xfrm>
          <a:prstGeom prst="rect">
            <a:avLst/>
          </a:prstGeom>
          <a:noFill/>
        </p:spPr>
        <p:txBody>
          <a:bodyPr wrap="square" lIns="0" tIns="0" rIns="0" bIns="0" anchor="t">
            <a:spAutoFit/>
          </a:bodyPr>
          <a:lstStyle/>
          <a:p>
            <a:pPr algn="l"/>
            <a:r>
              <a:rPr sz="1000" b="0" dirty="0">
                <a:solidFill>
                  <a:srgbClr val="9A8FB3"/>
                </a:solidFill>
                <a:latin typeface="Arial"/>
              </a:rPr>
              <a:t>REPMUS 2026: </a:t>
            </a:r>
            <a:r>
              <a:rPr lang="en-US" sz="1000" b="0" dirty="0">
                <a:solidFill>
                  <a:srgbClr val="9A8FB3"/>
                </a:solidFill>
                <a:latin typeface="Arial"/>
              </a:rPr>
              <a:t>Vessel</a:t>
            </a:r>
            <a:r>
              <a:rPr sz="1000" b="0" dirty="0">
                <a:solidFill>
                  <a:srgbClr val="9A8FB3"/>
                </a:solidFill>
                <a:latin typeface="Arial"/>
              </a:rPr>
              <a:t> NMEA 2000 capture</a:t>
            </a:r>
            <a:r>
              <a:rPr lang="en-US" sz="1000" b="0" dirty="0">
                <a:solidFill>
                  <a:srgbClr val="9A8FB3"/>
                </a:solidFill>
                <a:latin typeface="Arial"/>
              </a:rPr>
              <a:t>, Drone</a:t>
            </a:r>
            <a:r>
              <a:rPr sz="1000" b="0" dirty="0">
                <a:solidFill>
                  <a:srgbClr val="9A8FB3"/>
                </a:solidFill>
                <a:latin typeface="Arial"/>
              </a:rPr>
              <a:t> STANAG capture</a:t>
            </a:r>
          </a:p>
        </p:txBody>
      </p:sp>
      <p:sp>
        <p:nvSpPr>
          <p:cNvPr id="2" name="TextBox 1">
            <a:extLst>
              <a:ext uri="{FF2B5EF4-FFF2-40B4-BE49-F238E27FC236}">
                <a16:creationId xmlns:a16="http://schemas.microsoft.com/office/drawing/2014/main" id="{66EDF675-E32F-E684-8FAD-FF4AC3B294D9}"/>
              </a:ext>
            </a:extLst>
          </p:cNvPr>
          <p:cNvSpPr txBox="1"/>
          <p:nvPr/>
        </p:nvSpPr>
        <p:spPr>
          <a:xfrm>
            <a:off x="7498079" y="4754880"/>
            <a:ext cx="1188720" cy="228600"/>
          </a:xfrm>
          <a:prstGeom prst="rect">
            <a:avLst/>
          </a:prstGeom>
          <a:noFill/>
        </p:spPr>
        <p:txBody>
          <a:bodyPr wrap="square" lIns="0" tIns="0" rIns="0" bIns="0" anchor="t">
            <a:spAutoFit/>
          </a:bodyPr>
          <a:lstStyle/>
          <a:p>
            <a:pPr algn="r"/>
            <a:r>
              <a:rPr sz="1000" b="1" dirty="0">
                <a:solidFill>
                  <a:srgbClr val="C9A15F"/>
                </a:solidFill>
                <a:latin typeface="Arial"/>
              </a:rPr>
              <a:t>mapsmessaging.io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sp>
        <p:nvSpPr>
          <p:cNvPr id="115" name="TextBox 114"/>
          <p:cNvSpPr txBox="1"/>
          <p:nvPr/>
        </p:nvSpPr>
        <p:spPr>
          <a:xfrm>
            <a:off x="457200" y="292608"/>
            <a:ext cx="6675120" cy="228600"/>
          </a:xfrm>
          <a:prstGeom prst="rect">
            <a:avLst/>
          </a:prstGeom>
          <a:noFill/>
        </p:spPr>
        <p:txBody>
          <a:bodyPr wrap="square" lIns="0" tIns="0" rIns="0" bIns="0" anchor="t">
            <a:spAutoFit/>
          </a:bodyPr>
          <a:lstStyle/>
          <a:p>
            <a:pPr algn="l"/>
            <a:r>
              <a:rPr sz="1000" b="1">
                <a:solidFill>
                  <a:srgbClr val="6B4BC0"/>
                </a:solidFill>
                <a:latin typeface="Arial"/>
              </a:rPr>
              <a:t>07 · TAKE-HOME</a:t>
            </a:r>
          </a:p>
        </p:txBody>
      </p:sp>
      <p:sp>
        <p:nvSpPr>
          <p:cNvPr id="116" name="TextBox 115"/>
          <p:cNvSpPr txBox="1"/>
          <p:nvPr/>
        </p:nvSpPr>
        <p:spPr>
          <a:xfrm>
            <a:off x="457200" y="530352"/>
            <a:ext cx="6675120" cy="548640"/>
          </a:xfrm>
          <a:prstGeom prst="rect">
            <a:avLst/>
          </a:prstGeom>
          <a:noFill/>
        </p:spPr>
        <p:txBody>
          <a:bodyPr wrap="square" lIns="0" tIns="0" rIns="0" bIns="0" anchor="t">
            <a:spAutoFit/>
          </a:bodyPr>
          <a:lstStyle/>
          <a:p>
            <a:pPr algn="l"/>
            <a:r>
              <a:rPr sz="2400" b="1">
                <a:solidFill>
                  <a:srgbClr val="1D1722"/>
                </a:solidFill>
                <a:latin typeface="Arial"/>
              </a:rPr>
              <a:t>Patterns for graceful degradation</a:t>
            </a:r>
          </a:p>
        </p:txBody>
      </p:sp>
      <p:sp>
        <p:nvSpPr>
          <p:cNvPr id="117" name="TextBox 116"/>
          <p:cNvSpPr txBox="1"/>
          <p:nvPr/>
        </p:nvSpPr>
        <p:spPr>
          <a:xfrm>
            <a:off x="548640" y="1463040"/>
            <a:ext cx="365760" cy="548640"/>
          </a:xfrm>
          <a:prstGeom prst="rect">
            <a:avLst/>
          </a:prstGeom>
          <a:noFill/>
        </p:spPr>
        <p:txBody>
          <a:bodyPr wrap="square" lIns="0" tIns="0" rIns="0" bIns="0" anchor="t">
            <a:spAutoFit/>
          </a:bodyPr>
          <a:lstStyle/>
          <a:p>
            <a:pPr algn="l"/>
            <a:r>
              <a:rPr sz="2400" b="1">
                <a:solidFill>
                  <a:srgbClr val="6B4BC0"/>
                </a:solidFill>
                <a:latin typeface="Arial"/>
              </a:rPr>
              <a:t>1</a:t>
            </a:r>
          </a:p>
        </p:txBody>
      </p:sp>
      <p:sp>
        <p:nvSpPr>
          <p:cNvPr id="118" name="TextBox 117"/>
          <p:cNvSpPr txBox="1"/>
          <p:nvPr/>
        </p:nvSpPr>
        <p:spPr>
          <a:xfrm>
            <a:off x="960120" y="1499616"/>
            <a:ext cx="2880360" cy="777240"/>
          </a:xfrm>
          <a:prstGeom prst="rect">
            <a:avLst/>
          </a:prstGeom>
          <a:noFill/>
        </p:spPr>
        <p:txBody>
          <a:bodyPr wrap="square" lIns="0" tIns="0" rIns="0" bIns="0" anchor="t">
            <a:spAutoFit/>
          </a:bodyPr>
          <a:lstStyle/>
          <a:p>
            <a:pPr algn="l"/>
            <a:r>
              <a:rPr sz="1500" b="1">
                <a:solidFill>
                  <a:srgbClr val="1D1722"/>
                </a:solidFill>
                <a:latin typeface="Arial"/>
              </a:rPr>
              <a:t>Turn frames into state at the edge</a:t>
            </a:r>
          </a:p>
        </p:txBody>
      </p:sp>
      <p:sp>
        <p:nvSpPr>
          <p:cNvPr id="119" name="TextBox 118"/>
          <p:cNvSpPr txBox="1"/>
          <p:nvPr/>
        </p:nvSpPr>
        <p:spPr>
          <a:xfrm>
            <a:off x="548640" y="2331720"/>
            <a:ext cx="365760" cy="548640"/>
          </a:xfrm>
          <a:prstGeom prst="rect">
            <a:avLst/>
          </a:prstGeom>
          <a:noFill/>
        </p:spPr>
        <p:txBody>
          <a:bodyPr wrap="square" lIns="0" tIns="0" rIns="0" bIns="0" anchor="t">
            <a:spAutoFit/>
          </a:bodyPr>
          <a:lstStyle/>
          <a:p>
            <a:pPr algn="l"/>
            <a:r>
              <a:rPr sz="2400" b="1">
                <a:solidFill>
                  <a:srgbClr val="6B4BC0"/>
                </a:solidFill>
                <a:latin typeface="Arial"/>
              </a:rPr>
              <a:t>2</a:t>
            </a:r>
          </a:p>
        </p:txBody>
      </p:sp>
      <p:sp>
        <p:nvSpPr>
          <p:cNvPr id="120" name="TextBox 119"/>
          <p:cNvSpPr txBox="1"/>
          <p:nvPr/>
        </p:nvSpPr>
        <p:spPr>
          <a:xfrm>
            <a:off x="960120" y="2368296"/>
            <a:ext cx="2880360" cy="777240"/>
          </a:xfrm>
          <a:prstGeom prst="rect">
            <a:avLst/>
          </a:prstGeom>
          <a:noFill/>
        </p:spPr>
        <p:txBody>
          <a:bodyPr wrap="square" lIns="0" tIns="0" rIns="0" bIns="0" anchor="t">
            <a:spAutoFit/>
          </a:bodyPr>
          <a:lstStyle/>
          <a:p>
            <a:pPr algn="l"/>
            <a:r>
              <a:rPr sz="1500" b="1">
                <a:solidFill>
                  <a:srgbClr val="1D1722"/>
                </a:solidFill>
                <a:latin typeface="Arial"/>
              </a:rPr>
              <a:t>Down-sample per link, before routing</a:t>
            </a:r>
          </a:p>
        </p:txBody>
      </p:sp>
      <p:sp>
        <p:nvSpPr>
          <p:cNvPr id="121" name="TextBox 120"/>
          <p:cNvSpPr txBox="1"/>
          <p:nvPr/>
        </p:nvSpPr>
        <p:spPr>
          <a:xfrm>
            <a:off x="548640" y="3200400"/>
            <a:ext cx="365760" cy="548640"/>
          </a:xfrm>
          <a:prstGeom prst="rect">
            <a:avLst/>
          </a:prstGeom>
          <a:noFill/>
        </p:spPr>
        <p:txBody>
          <a:bodyPr wrap="square" lIns="0" tIns="0" rIns="0" bIns="0" anchor="t">
            <a:spAutoFit/>
          </a:bodyPr>
          <a:lstStyle/>
          <a:p>
            <a:pPr algn="l"/>
            <a:r>
              <a:rPr sz="2400" b="1">
                <a:solidFill>
                  <a:srgbClr val="6B4BC0"/>
                </a:solidFill>
                <a:latin typeface="Arial"/>
              </a:rPr>
              <a:t>3</a:t>
            </a:r>
          </a:p>
        </p:txBody>
      </p:sp>
      <p:sp>
        <p:nvSpPr>
          <p:cNvPr id="122" name="TextBox 121"/>
          <p:cNvSpPr txBox="1"/>
          <p:nvPr/>
        </p:nvSpPr>
        <p:spPr>
          <a:xfrm>
            <a:off x="960120" y="3236976"/>
            <a:ext cx="2880360" cy="777240"/>
          </a:xfrm>
          <a:prstGeom prst="rect">
            <a:avLst/>
          </a:prstGeom>
          <a:noFill/>
        </p:spPr>
        <p:txBody>
          <a:bodyPr wrap="square" lIns="0" tIns="0" rIns="0" bIns="0" anchor="t">
            <a:spAutoFit/>
          </a:bodyPr>
          <a:lstStyle/>
          <a:p>
            <a:pPr algn="l"/>
            <a:r>
              <a:rPr sz="1500" b="1">
                <a:solidFill>
                  <a:srgbClr val="1D1722"/>
                </a:solidFill>
                <a:latin typeface="Arial"/>
              </a:rPr>
              <a:t>Define “delivered” end to end: task feedback, not broker acks</a:t>
            </a:r>
          </a:p>
        </p:txBody>
      </p:sp>
      <p:sp>
        <p:nvSpPr>
          <p:cNvPr id="123" name="TextBox 122"/>
          <p:cNvSpPr txBox="1"/>
          <p:nvPr/>
        </p:nvSpPr>
        <p:spPr>
          <a:xfrm>
            <a:off x="3977639" y="1463040"/>
            <a:ext cx="365760" cy="548640"/>
          </a:xfrm>
          <a:prstGeom prst="rect">
            <a:avLst/>
          </a:prstGeom>
          <a:noFill/>
        </p:spPr>
        <p:txBody>
          <a:bodyPr wrap="square" lIns="0" tIns="0" rIns="0" bIns="0" anchor="t">
            <a:spAutoFit/>
          </a:bodyPr>
          <a:lstStyle/>
          <a:p>
            <a:pPr algn="l"/>
            <a:r>
              <a:rPr sz="2400" b="1">
                <a:solidFill>
                  <a:srgbClr val="6B4BC0"/>
                </a:solidFill>
                <a:latin typeface="Arial"/>
              </a:rPr>
              <a:t>4</a:t>
            </a:r>
          </a:p>
        </p:txBody>
      </p:sp>
      <p:sp>
        <p:nvSpPr>
          <p:cNvPr id="124" name="TextBox 123"/>
          <p:cNvSpPr txBox="1"/>
          <p:nvPr/>
        </p:nvSpPr>
        <p:spPr>
          <a:xfrm>
            <a:off x="4389120" y="1499616"/>
            <a:ext cx="2514600" cy="777240"/>
          </a:xfrm>
          <a:prstGeom prst="rect">
            <a:avLst/>
          </a:prstGeom>
          <a:noFill/>
        </p:spPr>
        <p:txBody>
          <a:bodyPr wrap="square" lIns="0" tIns="0" rIns="0" bIns="0" anchor="t">
            <a:spAutoFit/>
          </a:bodyPr>
          <a:lstStyle/>
          <a:p>
            <a:pPr algn="l"/>
            <a:r>
              <a:rPr sz="1500" b="1">
                <a:solidFill>
                  <a:srgbClr val="1D1722"/>
                </a:solidFill>
                <a:latin typeface="Arial"/>
              </a:rPr>
              <a:t>Classify traffic before the link degrades</a:t>
            </a:r>
          </a:p>
        </p:txBody>
      </p:sp>
      <p:sp>
        <p:nvSpPr>
          <p:cNvPr id="125" name="TextBox 124"/>
          <p:cNvSpPr txBox="1"/>
          <p:nvPr/>
        </p:nvSpPr>
        <p:spPr>
          <a:xfrm>
            <a:off x="3977639" y="2331720"/>
            <a:ext cx="365760" cy="548640"/>
          </a:xfrm>
          <a:prstGeom prst="rect">
            <a:avLst/>
          </a:prstGeom>
          <a:noFill/>
        </p:spPr>
        <p:txBody>
          <a:bodyPr wrap="square" lIns="0" tIns="0" rIns="0" bIns="0" anchor="t">
            <a:spAutoFit/>
          </a:bodyPr>
          <a:lstStyle/>
          <a:p>
            <a:pPr algn="l"/>
            <a:r>
              <a:rPr sz="2400" b="1">
                <a:solidFill>
                  <a:srgbClr val="6B4BC0"/>
                </a:solidFill>
                <a:latin typeface="Arial"/>
              </a:rPr>
              <a:t>5</a:t>
            </a:r>
          </a:p>
        </p:txBody>
      </p:sp>
      <p:sp>
        <p:nvSpPr>
          <p:cNvPr id="126" name="TextBox 125"/>
          <p:cNvSpPr txBox="1"/>
          <p:nvPr/>
        </p:nvSpPr>
        <p:spPr>
          <a:xfrm>
            <a:off x="4389120" y="2368296"/>
            <a:ext cx="2514600" cy="777240"/>
          </a:xfrm>
          <a:prstGeom prst="rect">
            <a:avLst/>
          </a:prstGeom>
          <a:noFill/>
        </p:spPr>
        <p:txBody>
          <a:bodyPr wrap="square" lIns="0" tIns="0" rIns="0" bIns="0" anchor="t">
            <a:spAutoFit/>
          </a:bodyPr>
          <a:lstStyle/>
          <a:p>
            <a:pPr algn="l"/>
            <a:r>
              <a:rPr sz="1500" b="1">
                <a:solidFill>
                  <a:srgbClr val="1D1722"/>
                </a:solidFill>
                <a:latin typeface="Arial"/>
              </a:rPr>
              <a:t>Persist state, not streams</a:t>
            </a:r>
          </a:p>
        </p:txBody>
      </p:sp>
      <p:sp>
        <p:nvSpPr>
          <p:cNvPr id="127" name="TextBox 126"/>
          <p:cNvSpPr txBox="1"/>
          <p:nvPr/>
        </p:nvSpPr>
        <p:spPr>
          <a:xfrm>
            <a:off x="3977639" y="3200400"/>
            <a:ext cx="365760" cy="548640"/>
          </a:xfrm>
          <a:prstGeom prst="rect">
            <a:avLst/>
          </a:prstGeom>
          <a:noFill/>
        </p:spPr>
        <p:txBody>
          <a:bodyPr wrap="square" lIns="0" tIns="0" rIns="0" bIns="0" anchor="t">
            <a:spAutoFit/>
          </a:bodyPr>
          <a:lstStyle/>
          <a:p>
            <a:pPr algn="l"/>
            <a:r>
              <a:rPr sz="2400" b="1">
                <a:solidFill>
                  <a:srgbClr val="6B4BC0"/>
                </a:solidFill>
                <a:latin typeface="Arial"/>
              </a:rPr>
              <a:t>6</a:t>
            </a:r>
          </a:p>
        </p:txBody>
      </p:sp>
      <p:sp>
        <p:nvSpPr>
          <p:cNvPr id="128" name="TextBox 127"/>
          <p:cNvSpPr txBox="1"/>
          <p:nvPr/>
        </p:nvSpPr>
        <p:spPr>
          <a:xfrm>
            <a:off x="4389120" y="3236976"/>
            <a:ext cx="2514600" cy="777240"/>
          </a:xfrm>
          <a:prstGeom prst="rect">
            <a:avLst/>
          </a:prstGeom>
          <a:noFill/>
        </p:spPr>
        <p:txBody>
          <a:bodyPr wrap="square" lIns="0" tIns="0" rIns="0" bIns="0" anchor="t">
            <a:spAutoFit/>
          </a:bodyPr>
          <a:lstStyle/>
          <a:p>
            <a:pPr algn="l"/>
            <a:r>
              <a:rPr sz="1500" b="1">
                <a:solidFill>
                  <a:srgbClr val="1D1722"/>
                </a:solidFill>
                <a:latin typeface="Arial"/>
              </a:rPr>
              <a:t>Replay in priority order, and expire the stale</a:t>
            </a:r>
          </a:p>
        </p:txBody>
      </p:sp>
      <p:pic>
        <p:nvPicPr>
          <p:cNvPr id="3" name="Picture 2">
            <a:extLst>
              <a:ext uri="{FF2B5EF4-FFF2-40B4-BE49-F238E27FC236}">
                <a16:creationId xmlns:a16="http://schemas.microsoft.com/office/drawing/2014/main" id="{CE809AA0-74E1-DE38-EB77-4EA87FF08F51}"/>
              </a:ext>
            </a:extLst>
          </p:cNvPr>
          <p:cNvPicPr>
            <a:picLocks noChangeAspect="1"/>
          </p:cNvPicPr>
          <p:nvPr/>
        </p:nvPicPr>
        <p:blipFill>
          <a:blip r:embed="rId4"/>
          <a:stretch>
            <a:fillRect/>
          </a:stretch>
        </p:blipFill>
        <p:spPr>
          <a:xfrm>
            <a:off x="7403469" y="4543222"/>
            <a:ext cx="1237611" cy="46616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6"/>
        <p:cNvGrpSpPr/>
        <p:nvPr/>
      </p:nvGrpSpPr>
      <p:grpSpPr>
        <a:xfrm>
          <a:off x="0" y="0"/>
          <a:ext cx="0" cy="0"/>
          <a:chOff x="0" y="0"/>
          <a:chExt cx="0" cy="0"/>
        </a:xfrm>
      </p:grpSpPr>
      <p:sp>
        <p:nvSpPr>
          <p:cNvPr id="127" name="TextBox 126"/>
          <p:cNvSpPr txBox="1"/>
          <p:nvPr/>
        </p:nvSpPr>
        <p:spPr>
          <a:xfrm>
            <a:off x="548640" y="1097280"/>
            <a:ext cx="6400800" cy="1463040"/>
          </a:xfrm>
          <a:prstGeom prst="rect">
            <a:avLst/>
          </a:prstGeom>
          <a:noFill/>
        </p:spPr>
        <p:txBody>
          <a:bodyPr wrap="square" lIns="0" tIns="0" rIns="0" bIns="0" anchor="t">
            <a:spAutoFit/>
          </a:bodyPr>
          <a:lstStyle/>
          <a:p>
            <a:pPr algn="l"/>
            <a:r>
              <a:rPr sz="3200" b="1">
                <a:solidFill>
                  <a:srgbClr val="FFFFFF"/>
                </a:solidFill>
                <a:latin typeface="Arial"/>
              </a:rPr>
              <a:t>Design for the network you will actually have.</a:t>
            </a:r>
          </a:p>
        </p:txBody>
      </p:sp>
      <p:sp>
        <p:nvSpPr>
          <p:cNvPr id="128" name="TextBox 127"/>
          <p:cNvSpPr txBox="1"/>
          <p:nvPr/>
        </p:nvSpPr>
        <p:spPr>
          <a:xfrm>
            <a:off x="548640" y="2926080"/>
            <a:ext cx="6400800" cy="274320"/>
          </a:xfrm>
          <a:prstGeom prst="rect">
            <a:avLst/>
          </a:prstGeom>
          <a:noFill/>
        </p:spPr>
        <p:txBody>
          <a:bodyPr wrap="square" lIns="0" tIns="0" rIns="0" bIns="0" anchor="t">
            <a:spAutoFit/>
          </a:bodyPr>
          <a:lstStyle/>
          <a:p>
            <a:pPr algn="l"/>
            <a:r>
              <a:rPr sz="1600" b="1">
                <a:solidFill>
                  <a:srgbClr val="FFFFFF"/>
                </a:solidFill>
                <a:latin typeface="Arial"/>
              </a:rPr>
              <a:t>Alex Kritikos · MAPS Messaging</a:t>
            </a:r>
          </a:p>
        </p:txBody>
      </p:sp>
      <p:sp>
        <p:nvSpPr>
          <p:cNvPr id="129" name="TextBox 128"/>
          <p:cNvSpPr txBox="1"/>
          <p:nvPr/>
        </p:nvSpPr>
        <p:spPr>
          <a:xfrm>
            <a:off x="548640" y="3246120"/>
            <a:ext cx="6400800" cy="274320"/>
          </a:xfrm>
          <a:prstGeom prst="rect">
            <a:avLst/>
          </a:prstGeom>
          <a:noFill/>
        </p:spPr>
        <p:txBody>
          <a:bodyPr wrap="square" lIns="0" tIns="0" rIns="0" bIns="0" anchor="t">
            <a:spAutoFit/>
          </a:bodyPr>
          <a:lstStyle/>
          <a:p>
            <a:pPr algn="l"/>
            <a:r>
              <a:rPr sz="1300" b="0">
                <a:solidFill>
                  <a:srgbClr val="D9D2EA"/>
                </a:solidFill>
                <a:latin typeface="Arial"/>
              </a:rPr>
              <a:t>mapsmessaging.io · NATO DIANA 2026 cohort</a:t>
            </a:r>
          </a:p>
        </p:txBody>
      </p:sp>
      <p:sp>
        <p:nvSpPr>
          <p:cNvPr id="130" name="TextBox 129"/>
          <p:cNvSpPr txBox="1"/>
          <p:nvPr/>
        </p:nvSpPr>
        <p:spPr>
          <a:xfrm>
            <a:off x="548640" y="3566160"/>
            <a:ext cx="6400800" cy="184666"/>
          </a:xfrm>
          <a:prstGeom prst="rect">
            <a:avLst/>
          </a:prstGeom>
          <a:noFill/>
        </p:spPr>
        <p:txBody>
          <a:bodyPr wrap="square" lIns="0" tIns="0" rIns="0" bIns="0" anchor="t">
            <a:spAutoFit/>
          </a:bodyPr>
          <a:lstStyle/>
          <a:p>
            <a:pPr algn="l"/>
            <a:r>
              <a:rPr lang="en-US" sz="1200" b="0" dirty="0">
                <a:solidFill>
                  <a:srgbClr val="D9D2EA"/>
                </a:solidFill>
                <a:latin typeface="Arial"/>
              </a:rPr>
              <a:t>info@mapsmessaging.io</a:t>
            </a:r>
            <a:endParaRPr sz="1200" b="0" dirty="0">
              <a:solidFill>
                <a:srgbClr val="D9D2EA"/>
              </a:solidFill>
              <a:latin typeface="Arial"/>
            </a:endParaRPr>
          </a:p>
        </p:txBody>
      </p:sp>
      <p:sp>
        <p:nvSpPr>
          <p:cNvPr id="2" name="TextBox 1">
            <a:extLst>
              <a:ext uri="{FF2B5EF4-FFF2-40B4-BE49-F238E27FC236}">
                <a16:creationId xmlns:a16="http://schemas.microsoft.com/office/drawing/2014/main" id="{7C343A9A-2C47-326C-7274-51F13DD2B21B}"/>
              </a:ext>
            </a:extLst>
          </p:cNvPr>
          <p:cNvSpPr txBox="1"/>
          <p:nvPr/>
        </p:nvSpPr>
        <p:spPr>
          <a:xfrm>
            <a:off x="548640" y="3991946"/>
            <a:ext cx="6400800" cy="320040"/>
          </a:xfrm>
          <a:prstGeom prst="rect">
            <a:avLst/>
          </a:prstGeom>
          <a:noFill/>
        </p:spPr>
        <p:txBody>
          <a:bodyPr wrap="square" lIns="0" tIns="0" rIns="0" bIns="0" anchor="t">
            <a:spAutoFit/>
          </a:bodyPr>
          <a:lstStyle/>
          <a:p>
            <a:pPr algn="l"/>
            <a:r>
              <a:rPr sz="1400" b="1" dirty="0">
                <a:solidFill>
                  <a:srgbClr val="FFFFFF"/>
                </a:solidFill>
                <a:latin typeface="Arial"/>
              </a:rPr>
              <a:t>Bringing drones, vessels or sensors onto your broker? That is what we do.</a:t>
            </a:r>
          </a:p>
        </p:txBody>
      </p:sp>
      <p:pic>
        <p:nvPicPr>
          <p:cNvPr id="4" name="Picture 3">
            <a:extLst>
              <a:ext uri="{FF2B5EF4-FFF2-40B4-BE49-F238E27FC236}">
                <a16:creationId xmlns:a16="http://schemas.microsoft.com/office/drawing/2014/main" id="{C7342A97-CF62-6D33-4BC8-24CBE9B6F525}"/>
              </a:ext>
            </a:extLst>
          </p:cNvPr>
          <p:cNvPicPr>
            <a:picLocks noChangeAspect="1"/>
          </p:cNvPicPr>
          <p:nvPr/>
        </p:nvPicPr>
        <p:blipFill>
          <a:blip r:embed="rId4"/>
          <a:stretch>
            <a:fillRect/>
          </a:stretch>
        </p:blipFill>
        <p:spPr>
          <a:xfrm>
            <a:off x="5047861" y="2121046"/>
            <a:ext cx="1759987" cy="175998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blipFill>
          <a:blip r:embed="rId3">
            <a:alphaModFix/>
          </a:blip>
          <a:stretch>
            <a:fillRect/>
          </a:stretch>
        </a:blipFill>
        <a:effectLst/>
      </p:bgPr>
    </p:bg>
    <p:spTree>
      <p:nvGrpSpPr>
        <p:cNvPr id="1" name="Shape 102"/>
        <p:cNvGrpSpPr/>
        <p:nvPr/>
      </p:nvGrpSpPr>
      <p:grpSpPr>
        <a:xfrm>
          <a:off x="0" y="0"/>
          <a:ext cx="0" cy="0"/>
          <a:chOff x="0" y="0"/>
          <a:chExt cx="0" cy="0"/>
        </a:xfrm>
      </p:grpSpPr>
      <p:sp>
        <p:nvSpPr>
          <p:cNvPr id="103" name="TextBox 102"/>
          <p:cNvSpPr txBox="1"/>
          <p:nvPr/>
        </p:nvSpPr>
        <p:spPr>
          <a:xfrm>
            <a:off x="548640" y="1828800"/>
            <a:ext cx="5486400" cy="822960"/>
          </a:xfrm>
          <a:prstGeom prst="rect">
            <a:avLst/>
          </a:prstGeom>
          <a:noFill/>
        </p:spPr>
        <p:txBody>
          <a:bodyPr wrap="square" lIns="0" tIns="0" rIns="0" bIns="0" anchor="t">
            <a:spAutoFit/>
          </a:bodyPr>
          <a:lstStyle/>
          <a:p>
            <a:pPr algn="l"/>
            <a:r>
              <a:rPr sz="4400" b="1">
                <a:solidFill>
                  <a:srgbClr val="FFFFFF"/>
                </a:solidFill>
                <a:latin typeface="Arial"/>
              </a:rPr>
              <a:t>Questions?</a:t>
            </a:r>
          </a:p>
        </p:txBody>
      </p:sp>
      <p:sp>
        <p:nvSpPr>
          <p:cNvPr id="104" name="TextBox 103"/>
          <p:cNvSpPr txBox="1"/>
          <p:nvPr/>
        </p:nvSpPr>
        <p:spPr>
          <a:xfrm>
            <a:off x="548640" y="2651760"/>
            <a:ext cx="5486400" cy="365760"/>
          </a:xfrm>
          <a:prstGeom prst="rect">
            <a:avLst/>
          </a:prstGeom>
          <a:noFill/>
        </p:spPr>
        <p:txBody>
          <a:bodyPr wrap="square" lIns="0" tIns="0" rIns="0" bIns="0" anchor="t">
            <a:spAutoFit/>
          </a:bodyPr>
          <a:lstStyle/>
          <a:p>
            <a:pPr algn="l"/>
            <a:r>
              <a:rPr sz="1600" b="0">
                <a:solidFill>
                  <a:srgbClr val="FFFFFF"/>
                </a:solidFill>
                <a:latin typeface="Arial"/>
              </a:rPr>
              <a:t>#MQsummit</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5743</TotalTime>
  <Words>4920</Words>
  <Application>Microsoft Macintosh PowerPoint</Application>
  <PresentationFormat>On-screen Show (16:9)</PresentationFormat>
  <Paragraphs>791</Paragraphs>
  <Slides>29</Slides>
  <Notes>29</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Courier New</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Kritikos</cp:lastModifiedBy>
  <cp:revision>112</cp:revision>
  <dcterms:modified xsi:type="dcterms:W3CDTF">2026-10-20T11:52:34Z</dcterms:modified>
</cp:coreProperties>
</file>