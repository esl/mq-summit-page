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</p:sldIdLst>
  <p:sldSz cx="12192000" cy="6858000"/>
  <p:notesSz cx="6858000" cy="9874250"/>
  <p:embeddedFontLs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C3C342-E689-6A93-D08D-2B5854BF84A8}" name="Charlie Worcester" initials="CW" userId="S::charliew@blackwingcreative.com::b820063f-788c-43dc-bffe-a826b2f89b73" providerId="AD"/>
  <p188:author id="{E6C5996E-EA7E-0175-BE1B-92DEFFDE1151}" name="Jonathan Butts" initials="JB" userId="S::jonathanb@blackwingcreative.com::f2901fe5-f280-4ab1-8005-b82578597a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4B0"/>
    <a:srgbClr val="B5D5D3"/>
    <a:srgbClr val="B0D2D1"/>
    <a:srgbClr val="B3D3D2"/>
    <a:srgbClr val="7F7E1D"/>
    <a:srgbClr val="4B520B"/>
    <a:srgbClr val="7FC0EE"/>
    <a:srgbClr val="712F8A"/>
    <a:srgbClr val="C92C99"/>
    <a:srgbClr val="007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22" autoAdjust="0"/>
    <p:restoredTop sz="85359" autoAdjust="0"/>
  </p:normalViewPr>
  <p:slideViewPr>
    <p:cSldViewPr snapToGrid="0">
      <p:cViewPr varScale="1">
        <p:scale>
          <a:sx n="79" d="100"/>
          <a:sy n="79" d="100"/>
        </p:scale>
        <p:origin x="1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3278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9E0831-9C37-A3AE-7761-5AEB771F85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5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41DEA3-BEF2-B6AF-6A11-DF4BCAB486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5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735AB-8D58-264B-A1C5-763ABC355CB5}" type="datetimeFigureOut">
              <a:rPr lang="en-US" smtClean="0"/>
              <a:t>2026-10-20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3955B-92CD-8ABF-F9DF-55BA25D199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5"/>
            <a:ext cx="2971800" cy="495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BAD7E-225D-D02A-EDCF-D1F3966BD8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378825"/>
            <a:ext cx="2971800" cy="495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F98E9-658F-A441-B731-430FDE5B5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94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19250" y="492125"/>
            <a:ext cx="3619500" cy="20351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2896447"/>
            <a:ext cx="5486400" cy="6238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" y="9378823"/>
            <a:ext cx="6856413" cy="495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/>
            </a:lvl1pPr>
          </a:lstStyle>
          <a:p>
            <a:pPr algn="ctr"/>
            <a:fld id="{B58E5E9C-9706-2D4E-A491-AC318A241C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1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1pPr>
    <a:lvl2pPr marL="176213" indent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2pPr>
    <a:lvl3pPr marL="360363" indent="-4763" algn="l" defTabSz="914400" rtl="0" eaLnBrk="1" latinLnBrk="0" hangingPunct="1">
      <a:tabLst/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3pPr>
    <a:lvl4pPr marL="536575" indent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4pPr>
    <a:lvl5pPr marL="719138" indent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Calibri" panose="020F0502020204030204" pitchFamily="34" charset="0"/>
        <a:cs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 </a:t>
            </a:r>
            <a:r>
              <a:rPr lang="en-US" i="1" dirty="0"/>
              <a:t>(title) </a:t>
            </a:r>
            <a:r>
              <a:rPr lang="en-US" dirty="0"/>
              <a:t>… 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91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Organizations underestimate the OPERATIONAL COST of messaging platforms.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We FOCUS on COSTS that are VISIBLE and EASILY MEASURABLE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(</a:t>
            </a:r>
            <a:r>
              <a:rPr lang="en-US" i="1" dirty="0"/>
              <a:t>bullet points</a:t>
            </a:r>
            <a:r>
              <a:rPr lang="en-US" dirty="0"/>
              <a:t>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OPERATING messaging platforms creates another CLASS of COSTS … OPERATIONAL COSTS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(</a:t>
            </a:r>
            <a:r>
              <a:rPr lang="en-US" i="1" dirty="0"/>
              <a:t>bullet points</a:t>
            </a:r>
            <a:r>
              <a:rPr lang="en-US" dirty="0"/>
              <a:t>)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OPERATIONAL COSTS … LESS VISIBLE … HARDER to MEASURE … because “HIDDEN”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"/>
            </a:pPr>
            <a:r>
              <a:rPr lang="en-US" dirty="0"/>
              <a:t>COST of OPERATING messaging platforms … LARGER than VISIBLE costs we TYPICALLY ACCOUNT FOR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3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COSTS … are LESS APPARENT … in SMALL ENVIRONMENTS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When MESSAGING becomes BUSINESS-CRITICAL … </a:t>
            </a:r>
            <a:r>
              <a:rPr lang="en-US" i="1" dirty="0"/>
              <a:t>(bullet points) </a:t>
            </a:r>
            <a:r>
              <a:rPr lang="en-US" dirty="0"/>
              <a:t>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With increased SCALE … HIDDEN COSTS get LARGER … </a:t>
            </a:r>
            <a:r>
              <a:rPr lang="en-US" i="1" dirty="0"/>
              <a:t>(bullet points)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Why OPERATIONAL COSTS are INVISIBLE ? …  </a:t>
            </a:r>
            <a:r>
              <a:rPr lang="en-US" i="1" dirty="0"/>
              <a:t>(1 bullet point)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"/>
            </a:pPr>
            <a:r>
              <a:rPr lang="en-US" dirty="0"/>
              <a:t>“HIDDEN” = “NOT on PURCHASE ORDERS” … in people's CALENDARS … MEETING ROOMS … SUPPORT TICKETS … operational FRICTION … DUPLICATED WORK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"/>
            </a:pPr>
            <a:endParaRPr lang="fr-FR" dirty="0"/>
          </a:p>
          <a:p>
            <a:pPr lvl="0"/>
            <a:r>
              <a:rPr lang="en-US" dirty="0"/>
              <a:t>These COSTS ARE NONTHELESS REAL … If we ONLY measure the cost of BUILDING messaging platforms … we UNDERESTIMATE the COST of OPERATING them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3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Something happened to a MESSAGE FLOW … </a:t>
            </a:r>
            <a:r>
              <a:rPr lang="en-US" i="1" dirty="0"/>
              <a:t>(bullet points)</a:t>
            </a:r>
            <a:r>
              <a:rPr lang="en-US" dirty="0"/>
              <a:t> …</a:t>
            </a:r>
          </a:p>
          <a:p>
            <a:endParaRPr lang="en-US" dirty="0"/>
          </a:p>
          <a:p>
            <a:r>
              <a:rPr lang="en-US" dirty="0"/>
              <a:t>Messaging SITS BETWEEN SYSTEMS … messaging layer ONLY 1 of SEVERAL PLAUSIBLE AREAS of INVESTIGATION … </a:t>
            </a:r>
          </a:p>
          <a:p>
            <a:endParaRPr lang="en-US" dirty="0"/>
          </a:p>
          <a:p>
            <a:r>
              <a:rPr lang="en-US" dirty="0"/>
              <a:t>Investigation starts BROADLY … because root cause UNKNOWN … Investigation NARROWS ONLY as EVIDENCE is collected …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ORGANIZATIONAL “BLAST RADIUS” … Potentially LOTS of people can get involved … BEFORE we know what CAUSED it … many STAKEHOLDERS … many PARTS of the organization 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… </a:t>
            </a:r>
            <a:r>
              <a:rPr lang="en-US" i="1" dirty="0"/>
              <a:t>(bullet points)</a:t>
            </a:r>
            <a:r>
              <a:rPr lang="en-US" dirty="0"/>
              <a:t> …</a:t>
            </a:r>
          </a:p>
          <a:p>
            <a:endParaRPr lang="en-US" dirty="0"/>
          </a:p>
          <a:p>
            <a:r>
              <a:rPr lang="en-US" dirty="0"/>
              <a:t>When the INVESTIGATION STARTS … </a:t>
            </a:r>
            <a:r>
              <a:rPr lang="en-US" i="1" dirty="0"/>
              <a:t>(bullet points)</a:t>
            </a:r>
            <a:r>
              <a:rPr lang="en-US" dirty="0"/>
              <a:t> …  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38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incident begins … 2 WORKLOADS … running at the SAME TIME  </a:t>
            </a:r>
          </a:p>
          <a:p>
            <a:endParaRPr lang="en-US" dirty="0"/>
          </a:p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WORKLOAD … RESOLVE THE INCIDENT … </a:t>
            </a:r>
            <a:r>
              <a:rPr lang="en-US" i="1" dirty="0"/>
              <a:t>(bullet points) </a:t>
            </a:r>
            <a:r>
              <a:rPr lang="en-US" dirty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dirty="0"/>
              <a:t>PROVING INNOCENCE IS PART OF THE JOB ... Problem isolation is REAL WORK … even when middleware is ultimately NOT the cause</a:t>
            </a:r>
          </a:p>
          <a:p>
            <a:endParaRPr lang="en-US" dirty="0"/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WORKLOAD … MANAGE THE RESPONSE  … </a:t>
            </a:r>
            <a:r>
              <a:rPr lang="en-US" i="1" dirty="0"/>
              <a:t>(bullet points) …</a:t>
            </a:r>
          </a:p>
          <a:p>
            <a:endParaRPr lang="en-US" i="1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MANAGING THE RESPONSE IS PART OF THE INCIDENT WORKLOAD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BOTH WORKLOADS consume TIME … both are ESSENTIAL to RESOLVING incident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38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We</a:t>
            </a:r>
            <a:r>
              <a:rPr lang="fr-FR" dirty="0"/>
              <a:t> USUALLY MEASURE incidents </a:t>
            </a:r>
            <a:r>
              <a:rPr lang="fr-FR" dirty="0" err="1"/>
              <a:t>using</a:t>
            </a:r>
            <a:r>
              <a:rPr lang="fr-FR" dirty="0"/>
              <a:t> MTTR 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</a:t>
            </a:r>
            <a:r>
              <a:rPr lang="fr-FR" dirty="0"/>
              <a:t> …</a:t>
            </a:r>
            <a:br>
              <a:rPr lang="fr-FR" dirty="0"/>
            </a:br>
            <a:endParaRPr lang="fr-FR" dirty="0"/>
          </a:p>
          <a:p>
            <a:r>
              <a:rPr lang="fr-FR" dirty="0"/>
              <a:t>But DURATION </a:t>
            </a:r>
            <a:r>
              <a:rPr lang="fr-FR" dirty="0" err="1"/>
              <a:t>doesn't</a:t>
            </a:r>
            <a:r>
              <a:rPr lang="fr-FR" dirty="0"/>
              <a:t> tell us how </a:t>
            </a:r>
            <a:r>
              <a:rPr lang="fr-FR" dirty="0" err="1"/>
              <a:t>much</a:t>
            </a:r>
            <a:r>
              <a:rPr lang="fr-FR" dirty="0"/>
              <a:t> ORGANIZATIONAL EFFORT </a:t>
            </a:r>
            <a:r>
              <a:rPr lang="fr-FR" dirty="0" err="1"/>
              <a:t>was</a:t>
            </a:r>
            <a:r>
              <a:rPr lang="fr-FR" dirty="0"/>
              <a:t> SPENT</a:t>
            </a:r>
            <a:br>
              <a:rPr lang="fr-FR" dirty="0"/>
            </a:br>
            <a:endParaRPr lang="fr-FR" dirty="0"/>
          </a:p>
          <a:p>
            <a:pPr lvl="1"/>
            <a:r>
              <a:rPr lang="fr-FR" dirty="0"/>
              <a:t>GRAPHIC : 2 incidents … </a:t>
            </a:r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lasted</a:t>
            </a:r>
            <a:r>
              <a:rPr lang="fr-FR" dirty="0"/>
              <a:t> </a:t>
            </a:r>
            <a:r>
              <a:rPr lang="fr-FR" dirty="0" err="1"/>
              <a:t>exactly</a:t>
            </a:r>
            <a:r>
              <a:rPr lang="fr-FR" dirty="0"/>
              <a:t> TWO HOURS</a:t>
            </a:r>
          </a:p>
          <a:p>
            <a:pPr marL="347663" lvl="1" indent="-171450">
              <a:buFont typeface="Arial" panose="020B0604020202020204" pitchFamily="34" charset="0"/>
              <a:buChar char="•"/>
            </a:pPr>
            <a:r>
              <a:rPr lang="fr-FR" dirty="0"/>
              <a:t>Incident A … 1 RESPONDER … 2 RESPONDER-HOURS</a:t>
            </a:r>
          </a:p>
          <a:p>
            <a:pPr marL="347663" lvl="1" indent="-171450">
              <a:buFont typeface="Arial" panose="020B0604020202020204" pitchFamily="34" charset="0"/>
              <a:buChar char="•"/>
            </a:pPr>
            <a:r>
              <a:rPr lang="fr-FR" dirty="0"/>
              <a:t>Incident B … 8 RESPONDERS … 16 RESPONDER-HOURS</a:t>
            </a:r>
          </a:p>
          <a:p>
            <a:pPr marL="347663" lvl="1" indent="-171450">
              <a:buFont typeface="Arial" panose="020B0604020202020204" pitchFamily="34" charset="0"/>
              <a:buChar char="•"/>
            </a:pPr>
            <a:r>
              <a:rPr lang="fr-FR" dirty="0"/>
              <a:t>SAME MTTR … 8 X the HUMAN EFFORT</a:t>
            </a:r>
            <a:br>
              <a:rPr lang="fr-FR" dirty="0"/>
            </a:br>
            <a:endParaRPr lang="fr-FR" dirty="0"/>
          </a:p>
          <a:p>
            <a:r>
              <a:rPr lang="fr-FR" dirty="0"/>
              <a:t>ORGANIZATIONAL EFFORT </a:t>
            </a:r>
            <a:r>
              <a:rPr lang="fr-FR" dirty="0" err="1"/>
              <a:t>is</a:t>
            </a:r>
            <a:r>
              <a:rPr lang="fr-FR" dirty="0"/>
              <a:t> MEASURABLE …  </a:t>
            </a:r>
            <a:r>
              <a:rPr lang="fr-FR" dirty="0" err="1"/>
              <a:t>Each</a:t>
            </a:r>
            <a:r>
              <a:rPr lang="fr-FR" dirty="0"/>
              <a:t> RESPONDER-HOUR has a COST</a:t>
            </a:r>
          </a:p>
          <a:p>
            <a:endParaRPr lang="fr-FR" dirty="0"/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a MESSAGING INCIDENT EXPENSIVE ?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 </a:t>
            </a:r>
            <a:r>
              <a:rPr lang="fr-FR" dirty="0"/>
              <a:t>… </a:t>
            </a:r>
            <a:br>
              <a:rPr lang="fr-FR" dirty="0"/>
            </a:br>
            <a:endParaRPr lang="fr-FR" dirty="0"/>
          </a:p>
          <a:p>
            <a:r>
              <a:rPr lang="fr-FR" u="sng" dirty="0"/>
              <a:t>NOT</a:t>
            </a:r>
            <a:r>
              <a:rPr lang="fr-FR" dirty="0"/>
              <a:t> THEORY… PAGERDUTY … </a:t>
            </a:r>
            <a:r>
              <a:rPr lang="fr-FR" dirty="0" err="1"/>
              <a:t>measures</a:t>
            </a:r>
            <a:r>
              <a:rPr lang="fr-FR" dirty="0"/>
              <a:t> RESPONDER EFFORT and LABOR HOURS … the EMPLOYEE COST of incident RESPONSE</a:t>
            </a:r>
            <a:br>
              <a:rPr lang="fr-FR" dirty="0"/>
            </a:b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fr-FR" dirty="0"/>
              <a:t>Need to </a:t>
            </a:r>
            <a:r>
              <a:rPr lang="fr-FR" dirty="0" err="1"/>
              <a:t>think</a:t>
            </a:r>
            <a:r>
              <a:rPr lang="fr-FR" dirty="0"/>
              <a:t> ECONOMICALLY about RESPONSE EFFORT … NOT </a:t>
            </a:r>
            <a:r>
              <a:rPr lang="fr-FR" dirty="0" err="1"/>
              <a:t>just</a:t>
            </a:r>
            <a:r>
              <a:rPr lang="fr-FR" dirty="0"/>
              <a:t> MTTR.</a:t>
            </a:r>
            <a:br>
              <a:rPr lang="fr-FR" dirty="0"/>
            </a:b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37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Organizations RARELY REPLACE messaging technologies … </a:t>
            </a:r>
            <a:r>
              <a:rPr lang="fr-FR" dirty="0" err="1"/>
              <a:t>they</a:t>
            </a:r>
            <a:r>
              <a:rPr lang="fr-FR" dirty="0"/>
              <a:t> ACCUMULATE </a:t>
            </a:r>
            <a:r>
              <a:rPr lang="fr-FR" dirty="0" err="1"/>
              <a:t>them</a:t>
            </a:r>
            <a:br>
              <a:rPr lang="fr-FR" dirty="0"/>
            </a:b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ESTABLISHED platforms continue </a:t>
            </a:r>
            <a:r>
              <a:rPr lang="fr-FR" dirty="0" err="1"/>
              <a:t>supporting</a:t>
            </a:r>
            <a:r>
              <a:rPr lang="fr-FR" dirty="0"/>
              <a:t> TRANSACTIONAL WORKLOADS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NEW REQUIREMENTS </a:t>
            </a:r>
            <a:r>
              <a:rPr lang="fr-FR" dirty="0" err="1"/>
              <a:t>emerge</a:t>
            </a:r>
            <a:r>
              <a:rPr lang="fr-FR" dirty="0"/>
              <a:t>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</a:t>
            </a:r>
            <a:r>
              <a:rPr lang="fr-FR" dirty="0"/>
              <a:t> …  </a:t>
            </a:r>
            <a:br>
              <a:rPr lang="fr-FR" dirty="0"/>
            </a:br>
            <a:endParaRPr lang="fr-FR" dirty="0"/>
          </a:p>
          <a:p>
            <a:r>
              <a:rPr lang="fr-FR" dirty="0"/>
              <a:t>New TECHNOLOGIES … are ADDED to </a:t>
            </a:r>
            <a:r>
              <a:rPr lang="fr-FR" dirty="0" err="1"/>
              <a:t>address</a:t>
            </a:r>
            <a:r>
              <a:rPr lang="fr-FR" dirty="0"/>
              <a:t> NEW REQUIREMENTS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</a:t>
            </a:r>
            <a:r>
              <a:rPr lang="fr-FR" dirty="0"/>
              <a:t> …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EACH TECHNOLOGY DECISION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perfectly</a:t>
            </a:r>
            <a:r>
              <a:rPr lang="fr-FR" dirty="0"/>
              <a:t> RATIONAL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Different</a:t>
            </a:r>
            <a:r>
              <a:rPr lang="fr-FR" dirty="0"/>
              <a:t> messaging TECHNOLOGIES solve DIFFERENT PROBLEMS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Like a CITY … </a:t>
            </a:r>
            <a:r>
              <a:rPr lang="fr-FR" dirty="0" err="1"/>
              <a:t>different</a:t>
            </a:r>
            <a:r>
              <a:rPr lang="fr-FR" dirty="0"/>
              <a:t> buildings … </a:t>
            </a:r>
            <a:r>
              <a:rPr lang="fr-FR" dirty="0" err="1"/>
              <a:t>built</a:t>
            </a:r>
            <a:r>
              <a:rPr lang="fr-FR" dirty="0"/>
              <a:t> at </a:t>
            </a:r>
            <a:r>
              <a:rPr lang="fr-FR" dirty="0" err="1"/>
              <a:t>different</a:t>
            </a:r>
            <a:r>
              <a:rPr lang="fr-FR" dirty="0"/>
              <a:t> times …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purposes</a:t>
            </a:r>
            <a:r>
              <a:rPr lang="fr-FR" dirty="0"/>
              <a:t>  </a:t>
            </a:r>
          </a:p>
          <a:p>
            <a:endParaRPr lang="fr-FR" dirty="0"/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INHERIT </a:t>
            </a:r>
            <a:r>
              <a:rPr lang="fr-FR" dirty="0" err="1"/>
              <a:t>through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EVOLUTION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</a:t>
            </a:r>
            <a:r>
              <a:rPr lang="fr-FR" dirty="0"/>
              <a:t> … </a:t>
            </a:r>
          </a:p>
          <a:p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fr-FR" dirty="0"/>
              <a:t>RESULT : a </a:t>
            </a:r>
            <a:r>
              <a:rPr lang="fr-FR" dirty="0" err="1"/>
              <a:t>heterogeneous</a:t>
            </a:r>
            <a:r>
              <a:rPr lang="fr-FR" dirty="0"/>
              <a:t> MESSAGING ESTATE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55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Each</a:t>
            </a:r>
            <a:r>
              <a:rPr lang="fr-FR" dirty="0"/>
              <a:t> MESSAGING PLATFORM </a:t>
            </a:r>
            <a:r>
              <a:rPr lang="fr-FR" dirty="0" err="1"/>
              <a:t>brings</a:t>
            </a:r>
            <a:r>
              <a:rPr lang="fr-FR" dirty="0"/>
              <a:t>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OPERATIONAL MODEL 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dirty="0"/>
              <a:t>TOOL SPRAWL … </a:t>
            </a:r>
            <a:r>
              <a:rPr lang="fr-FR" i="1" dirty="0"/>
              <a:t>(</a:t>
            </a:r>
            <a:r>
              <a:rPr lang="fr-FR" i="1" dirty="0" err="1"/>
              <a:t>bullet</a:t>
            </a:r>
            <a:r>
              <a:rPr lang="fr-FR" i="1" dirty="0"/>
              <a:t> points)</a:t>
            </a:r>
            <a:r>
              <a:rPr lang="fr-FR" dirty="0"/>
              <a:t> … in </a:t>
            </a:r>
            <a:r>
              <a:rPr lang="fr-FR" dirty="0" err="1"/>
              <a:t>many</a:t>
            </a:r>
            <a:r>
              <a:rPr lang="fr-FR" dirty="0"/>
              <a:t> cases, UNAVOIDABLE</a:t>
            </a:r>
          </a:p>
          <a:p>
            <a:endParaRPr lang="fr-FR" dirty="0"/>
          </a:p>
          <a:p>
            <a:r>
              <a:rPr lang="fr-FR" dirty="0"/>
              <a:t>DIVERSITY </a:t>
            </a:r>
            <a:r>
              <a:rPr lang="fr-FR" dirty="0" err="1"/>
              <a:t>is</a:t>
            </a:r>
            <a:r>
              <a:rPr lang="fr-FR" dirty="0"/>
              <a:t> NOT a PROBLEM … the PROBLEM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PEOPLE have to carry the COMPLEXITY 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lvl="1"/>
            <a:r>
              <a:rPr lang="fr-FR" dirty="0"/>
              <a:t>… (</a:t>
            </a:r>
            <a:r>
              <a:rPr lang="fr-FR" dirty="0" err="1"/>
              <a:t>bullet</a:t>
            </a:r>
            <a:r>
              <a:rPr lang="fr-FR" dirty="0"/>
              <a:t> points) …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fr-FR" dirty="0"/>
              <a:t>PLATFORM FRAGMENTATION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happen</a:t>
            </a:r>
            <a:r>
              <a:rPr lang="fr-FR" dirty="0"/>
              <a:t> by DESIGN … DIVERSITY leads to COMPLEXITY … and COMPLEXITY </a:t>
            </a:r>
            <a:r>
              <a:rPr lang="fr-FR" dirty="0" err="1"/>
              <a:t>ultimately</a:t>
            </a:r>
            <a:r>
              <a:rPr lang="fr-FR" dirty="0"/>
              <a:t> lands in </a:t>
            </a:r>
            <a:r>
              <a:rPr lang="fr-FR" dirty="0" err="1"/>
              <a:t>somebody's</a:t>
            </a:r>
            <a:r>
              <a:rPr lang="fr-FR" dirty="0"/>
              <a:t> HEAD … (COGNITIVE LOAD)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fr-FR" dirty="0"/>
          </a:p>
          <a:p>
            <a:pPr lvl="1"/>
            <a:r>
              <a:rPr lang="fr-FR" i="1" dirty="0"/>
              <a:t>… (</a:t>
            </a:r>
            <a:r>
              <a:rPr lang="fr-FR" i="1" dirty="0" err="1"/>
              <a:t>next</a:t>
            </a:r>
            <a:r>
              <a:rPr lang="fr-FR" i="1" dirty="0"/>
              <a:t> slide) … :  </a:t>
            </a:r>
            <a:r>
              <a:rPr lang="fr-FR" dirty="0"/>
              <a:t>[FRAGMENTATION not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makes</a:t>
            </a:r>
            <a:r>
              <a:rPr lang="fr-FR" dirty="0"/>
              <a:t> </a:t>
            </a:r>
            <a:r>
              <a:rPr lang="fr-FR" dirty="0" err="1"/>
              <a:t>humans</a:t>
            </a:r>
            <a:r>
              <a:rPr lang="fr-FR" dirty="0"/>
              <a:t> </a:t>
            </a:r>
            <a:r>
              <a:rPr lang="fr-FR" dirty="0" err="1"/>
              <a:t>work</a:t>
            </a:r>
            <a:r>
              <a:rPr lang="fr-FR" dirty="0"/>
              <a:t> harder … </a:t>
            </a:r>
            <a:r>
              <a:rPr lang="fr-FR" dirty="0" err="1"/>
              <a:t>it</a:t>
            </a:r>
            <a:r>
              <a:rPr lang="fr-FR" dirty="0"/>
              <a:t> can </a:t>
            </a:r>
            <a:r>
              <a:rPr lang="fr-FR" dirty="0" err="1"/>
              <a:t>also</a:t>
            </a:r>
            <a:r>
              <a:rPr lang="fr-FR" dirty="0"/>
              <a:t> cause the SAME OPERATIONAL PROBLEMS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solved</a:t>
            </a:r>
            <a:r>
              <a:rPr lang="fr-FR" dirty="0"/>
              <a:t> AGAIN … AND AGAIN … in DIFFERENT PARTS of the ORGANIZATION]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27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EACH PLATFORM …  TEAMS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</a:t>
            </a:r>
            <a:r>
              <a:rPr lang="en-US" i="1" dirty="0"/>
              <a:t>(bullet points)</a:t>
            </a:r>
            <a:endParaRPr lang="fr-FR" dirty="0"/>
          </a:p>
          <a:p>
            <a:br>
              <a:rPr lang="en-US" dirty="0"/>
            </a:br>
            <a:r>
              <a:rPr lang="en-US" dirty="0"/>
              <a:t>But … ACROSS the ENTIRE ORGANIZATION … Each team solving the SAME KINDS OF PROBLEMS … but using DIFFERENT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IMPLEMENTATIONS may be DIFFERENT … because the TECHNOLOGIES are DIFFERENT … but the OPERATIONAL OBJECTIVES are REMARKABLY SIMILAR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NOBODY DECIDED: “LET'S DUPLICATE this WORK” … but without DELIBERATE GOVERNANCE, organizations gradually build MULTIPLE SOLUTIONS to the SAME operational PROBLEMS … 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75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new BUSINESS requirements EMERGE … TECHNICAL ESTATE may grow relatively STEADILY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</a:t>
            </a:r>
            <a:r>
              <a:rPr lang="en-US" i="1" dirty="0"/>
              <a:t>(bullet points)</a:t>
            </a:r>
            <a:r>
              <a:rPr lang="en-US" dirty="0"/>
              <a:t> …  </a:t>
            </a:r>
          </a:p>
          <a:p>
            <a:endParaRPr lang="en-US" dirty="0"/>
          </a:p>
          <a:p>
            <a:r>
              <a:rPr lang="en-US" dirty="0"/>
              <a:t>But SCALE by ITSELF is not MATURITY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ORGANIZATIONAL EFFORT doesn't necessarily grow at the SAME RATE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</a:t>
            </a:r>
            <a:r>
              <a:rPr lang="en-US" i="1" dirty="0"/>
              <a:t>(bullet points)</a:t>
            </a:r>
            <a:r>
              <a:rPr lang="en-US" dirty="0"/>
              <a:t> … 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If reliance on MANUAL COORDINATION … TRIBAL KNOWLEDGE … INCONSISTENT OPERATIONAL PRACTICES … GROWTH of operational COMPLEXITY can quickly OUTPACE growth of the ESTATE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17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MATURITY CHANGES that TRAJECTORY </a:t>
            </a:r>
          </a:p>
          <a:p>
            <a:endParaRPr lang="en-US" dirty="0"/>
          </a:p>
          <a:p>
            <a:pPr lvl="1"/>
            <a:r>
              <a:rPr lang="en-US" dirty="0"/>
              <a:t>… </a:t>
            </a:r>
            <a:r>
              <a:rPr lang="en-US" i="1" dirty="0"/>
              <a:t>(bullet points)</a:t>
            </a:r>
            <a:r>
              <a:rPr lang="en-US" dirty="0"/>
              <a:t>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COMPLEXITY still GROWS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It’s NOT about ELIMINATING COMPLEXITY … it's about increasing the organization's ABILITY TO MANAGE IT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dirty="0"/>
          </a:p>
          <a:p>
            <a:pPr lvl="1"/>
            <a:r>
              <a:rPr lang="en-US" dirty="0"/>
              <a:t>… </a:t>
            </a:r>
            <a:r>
              <a:rPr lang="en-US" i="1" dirty="0"/>
              <a:t>(bullet points)</a:t>
            </a:r>
            <a:r>
              <a:rPr lang="en-US" dirty="0"/>
              <a:t> …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fr-FR" dirty="0"/>
          </a:p>
          <a:p>
            <a:r>
              <a:rPr lang="en-US" dirty="0"/>
              <a:t> Operational MATURITY … </a:t>
            </a:r>
            <a:r>
              <a:rPr lang="en-US" i="1" dirty="0"/>
              <a:t>(1 bullet point)</a:t>
            </a:r>
            <a:r>
              <a:rPr lang="en-US" dirty="0"/>
              <a:t> …</a:t>
            </a:r>
            <a:endParaRPr lang="fr-FR" dirty="0"/>
          </a:p>
          <a:p>
            <a:r>
              <a:rPr lang="en-US" dirty="0"/>
              <a:t> 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TRUE MEASURE of OPERATIONAL MATURITY is NOT how LARGE the messaging estate becomes … but how LITTLE ADDITIONAL OPERATIONAL EFFORT is REQUIRED as it GROWS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3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Increased SCALE is </a:t>
            </a:r>
            <a:r>
              <a:rPr lang="en-US" u="sng" dirty="0"/>
              <a:t>ORGANIC</a:t>
            </a:r>
            <a:r>
              <a:rPr lang="en-US" dirty="0"/>
              <a:t> … but OPERATIONAL MATURITY is </a:t>
            </a:r>
            <a:r>
              <a:rPr lang="en-US" u="sng" dirty="0"/>
              <a:t>DELIBERATE</a:t>
            </a:r>
            <a:r>
              <a:rPr lang="en-US" dirty="0"/>
              <a:t>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i="1" dirty="0"/>
              <a:t>…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Organizations don't become OPERATIONALLY MATURE simply because they've operated messaging infrastructure for a LONG TIME … </a:t>
            </a:r>
            <a:r>
              <a:rPr lang="fr-FR" dirty="0"/>
              <a:t>SOMEBODY has to ENGINEER IT (</a:t>
            </a:r>
            <a:r>
              <a:rPr lang="en-US" dirty="0"/>
              <a:t>Google's </a:t>
            </a:r>
            <a:r>
              <a:rPr lang="en-US" i="1" dirty="0"/>
              <a:t>Site Reliability Workbook)</a:t>
            </a:r>
            <a:endParaRPr lang="fr-FR" dirty="0"/>
          </a:p>
          <a:p>
            <a:r>
              <a:rPr lang="fr-FR" dirty="0"/>
              <a:t> </a:t>
            </a:r>
          </a:p>
          <a:p>
            <a:r>
              <a:rPr lang="en-US" dirty="0"/>
              <a:t>Build for SCALE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Being able to ABSORB MORE COMPLEXITY without requiring proportionally MORE OPERATIONAL EFFORT ... THAT'S what we're trying to ENGINEER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77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TRADITIONALLY</a:t>
            </a:r>
            <a:r>
              <a:rPr lang="en-US" dirty="0"/>
              <a:t>, messaging platforms were CENTRALLY MANAGED … (IBM MQ - classic example)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Operational RESPONSIBILITY was highly CENTRALIZED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Very GOOD REASONS for that model ... CONSISTENCY … STANDARDIZATION … OPERATIONAL DISCIPLINE around infrastructure that is BUSINESS-CRITICAL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u="sng" dirty="0"/>
              <a:t>MORE RECENTLY</a:t>
            </a:r>
            <a:r>
              <a:rPr lang="en-US" dirty="0"/>
              <a:t> … widespread adoption of OPEN-SOURCE messaging technologies … CLOUD-NATIVE architectures … CHANGED messaging LANDSCAPE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…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Operational RESPONSIBILITY became increasingly DISTRIBUTED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Very real BENEFITS … Application teams gained greater AUTONOMY … could move more quickly … became LESS DEPENDENT on a centralized middleware organization 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55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BOTH</a:t>
            </a:r>
            <a:r>
              <a:rPr lang="en-US" dirty="0"/>
              <a:t> of these operating models offer REAL BENEFITS ...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lvl="0"/>
            <a:r>
              <a:rPr lang="en-US" dirty="0"/>
              <a:t>CENTRALIZATION … brings CONTROL, CONSISTENCY … </a:t>
            </a:r>
          </a:p>
          <a:p>
            <a:pPr lvl="1"/>
            <a:endParaRPr lang="fr-FR" dirty="0"/>
          </a:p>
          <a:p>
            <a:pPr lvl="0"/>
            <a:r>
              <a:rPr lang="en-US" dirty="0"/>
              <a:t>DECENTRALIZATION … gives application teams greater AUTONOMY and AGILITY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The </a:t>
            </a:r>
            <a:r>
              <a:rPr lang="en-US" u="sng" dirty="0"/>
              <a:t>PROBLEM</a:t>
            </a:r>
            <a:r>
              <a:rPr lang="en-US" dirty="0"/>
              <a:t> appears when EITHER MODEL is taken to an EXTREME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CENTRALIZED execution … (bullet points)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DECENTRALIZED execution … (bullet points)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The point … is NOT that CENTRALIZED operations are BAD or that DECENTRALIZED operations are BAD … it’s that NEITHER EXTREME PROVIDES THE BEST OPERATIONAL OUTCOME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83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We don't need to CHOOSE between these 2 models of governance …  We can CAPITALIZE on the STRENGTHS of EACH model … We don’t CENTRALIZE the WORK … We CENTRALIZE the FRAMEWORK within which work is PERFORMED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Centralize the FRAMEWORK … </a:t>
            </a:r>
            <a:r>
              <a:rPr lang="en-US" i="1" dirty="0"/>
              <a:t>(bullet points)</a:t>
            </a:r>
            <a:r>
              <a:rPr lang="en-US" dirty="0"/>
              <a:t> …  </a:t>
            </a:r>
          </a:p>
          <a:p>
            <a:endParaRPr lang="fr-FR" dirty="0"/>
          </a:p>
          <a:p>
            <a:r>
              <a:rPr lang="en-US" dirty="0"/>
              <a:t>ENABLE application TEAMS … </a:t>
            </a:r>
            <a:r>
              <a:rPr lang="en-US" i="1" dirty="0"/>
              <a:t>(bullet points)</a:t>
            </a:r>
            <a:r>
              <a:rPr lang="en-US" dirty="0"/>
              <a:t> </a:t>
            </a:r>
            <a:endParaRPr lang="fr-FR" dirty="0"/>
          </a:p>
          <a:p>
            <a:r>
              <a:rPr lang="en-US" dirty="0"/>
              <a:t>  </a:t>
            </a:r>
            <a:endParaRPr lang="fr-FR" dirty="0"/>
          </a:p>
          <a:p>
            <a:r>
              <a:rPr lang="en-US" dirty="0"/>
              <a:t>Messaging expertise moves to effective governance … </a:t>
            </a:r>
            <a:r>
              <a:rPr lang="en-US" i="1" dirty="0"/>
              <a:t>(bullet points)</a:t>
            </a:r>
            <a:r>
              <a:rPr lang="en-US" dirty="0"/>
              <a:t>  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Self-service doesn't mean “LESS GOVERNANCE” … it is the OUTCOME of GOOD GOVERNANCE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16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tend to think about OPERATIONAL FAILURE in BINARY terms … </a:t>
            </a:r>
            <a:r>
              <a:rPr lang="en-US" i="1" dirty="0"/>
              <a:t>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Effective ONLY for operational FAILURE … </a:t>
            </a:r>
            <a:r>
              <a:rPr lang="en-US" i="1" dirty="0"/>
              <a:t>(bullet points)</a:t>
            </a:r>
            <a:r>
              <a:rPr lang="en-US" dirty="0"/>
              <a:t>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In PRODUCTION systems, the REALITY is … (bullet points) … 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Key Indicators remain UP and GREEN … (bullet point) 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This is a PROBLEM … when QUALITY of SERVICE gradually DETERIORATES … organizations can start believing that it is NORMAL … this is where the LARGEST HIDDEN operational COSTS begin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3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in these situations ?  … Usually, PEOPLE COMPENSATE …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OPERATIONAL effort ESCALATES  … (bullet point)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When this happens REPEATEDLY, PEOPLE GET USED TO IT …  (bullet points)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Hidden cost is NOT SMALL … HIDDEN BECAUSE it’s ACCEPTED … (1 bullet point) …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dirty="0"/>
              <a:t>We may be MEASURING the WRONG THING … we might be REPORTING EXCELLENT AVAILABILITY … while the BUSINESS is EXPERIENCING something very DIFFERENT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96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 is NOT QUALITY of SERVICE … </a:t>
            </a:r>
            <a:r>
              <a:rPr lang="en-US" i="1" dirty="0"/>
              <a:t>(bullet points)</a:t>
            </a:r>
            <a:r>
              <a:rPr lang="en-US" dirty="0"/>
              <a:t> …</a:t>
            </a:r>
            <a:endParaRPr lang="fr-FR" dirty="0"/>
          </a:p>
          <a:p>
            <a:r>
              <a:rPr lang="en-US" dirty="0"/>
              <a:t> </a:t>
            </a:r>
            <a:endParaRPr lang="fr-FR" dirty="0"/>
          </a:p>
          <a:p>
            <a:r>
              <a:rPr lang="en-US" dirty="0"/>
              <a:t>AVAILABILITY ALONE gives us an INCOMPLETE PICTURE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OPERATIONAL MATURITY CHANGES the OBJECTIVE … </a:t>
            </a:r>
            <a:r>
              <a:rPr lang="en-US" i="1" dirty="0"/>
              <a:t>(bullet points)</a:t>
            </a:r>
            <a:r>
              <a:rPr lang="en-US" dirty="0"/>
              <a:t> …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lvl="0"/>
            <a:r>
              <a:rPr lang="en-US" dirty="0"/>
              <a:t>Consistent with MODERN SITE RELIABILITY ENGINEERING. Google's FOUR GOLDEN SIGNALS — LATENCY, TRAFFIC, ERRORS and SATURATION —service health cannot be understood through availability alone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r>
              <a:rPr lang="en-US" dirty="0"/>
              <a:t>OBJECTIVE is NOT MERELY to keep messaging platforms RUNNING … </a:t>
            </a:r>
            <a:r>
              <a:rPr lang="en-US" i="1" dirty="0"/>
              <a:t>(1 bullet point)</a:t>
            </a:r>
            <a:r>
              <a:rPr lang="en-US" dirty="0"/>
              <a:t> </a:t>
            </a:r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44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124F-E4D7-C877-9CC4-04F02E86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B0FF9-1A45-AC09-F108-B2B151960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6B4B7-D3F0-E6CC-49D8-96849937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 </a:t>
            </a:r>
            <a:r>
              <a:rPr lang="en-US" i="1" dirty="0"/>
              <a:t>(title) </a:t>
            </a:r>
            <a:r>
              <a:rPr lang="en-US" dirty="0"/>
              <a:t>… </a:t>
            </a:r>
          </a:p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B20CA-453D-DAE3-B576-C18B7FDB1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fld id="{B58E5E9C-9706-2D4E-A491-AC318A241CC1}" type="slidenum">
              <a:rPr lang="en-US" smtClean="0"/>
              <a:pPr algn="ctr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4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8" b="99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2C123-0440-EC62-4AAE-6E433BE8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3077" y="6356351"/>
            <a:ext cx="2743200" cy="365125"/>
          </a:xfr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7CF9-D924-9919-EB85-5D783725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4124" y="6356351"/>
            <a:ext cx="4114800" cy="365125"/>
          </a:xfr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0270" y="559344"/>
            <a:ext cx="2478652" cy="4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28784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97" b="4697"/>
          <a:stretch/>
        </p:blipFill>
        <p:spPr>
          <a:xfrm>
            <a:off x="0" y="0"/>
            <a:ext cx="12192000" cy="6904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2C123-0440-EC62-4AAE-6E433BE8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3077" y="6356351"/>
            <a:ext cx="2743200" cy="365125"/>
          </a:xfrm>
        </p:spPr>
        <p:txBody>
          <a:bodyPr/>
          <a:lstStyle>
            <a:lvl1pPr>
              <a:defRPr sz="8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7CF9-D924-9919-EB85-5D783725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4124" y="6356351"/>
            <a:ext cx="4114800" cy="365125"/>
          </a:xfrm>
        </p:spPr>
        <p:txBody>
          <a:bodyPr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20270" y="559344"/>
            <a:ext cx="2478652" cy="4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5638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Blac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7840" b="-27841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2069"/>
            <a:ext cx="9144000" cy="1522708"/>
          </a:xfrm>
        </p:spPr>
        <p:txBody>
          <a:bodyPr/>
          <a:lstStyle>
            <a:lvl1pPr marL="0" indent="0" algn="ctr">
              <a:buNone/>
              <a:defRPr sz="1801">
                <a:solidFill>
                  <a:schemeClr val="bg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6905" y="2388144"/>
            <a:ext cx="5478190" cy="104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395435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0000" b="-606"/>
          <a:stretch>
            <a:fillRect/>
          </a:stretch>
        </p:blipFill>
        <p:spPr>
          <a:xfrm flipH="1">
            <a:off x="0" y="0"/>
            <a:ext cx="12192000" cy="690416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81453"/>
            <a:ext cx="9144000" cy="1522708"/>
          </a:xfrm>
        </p:spPr>
        <p:txBody>
          <a:bodyPr/>
          <a:lstStyle>
            <a:lvl1pPr marL="0" indent="0" algn="ctr">
              <a:buNone/>
              <a:defRPr sz="1801">
                <a:solidFill>
                  <a:schemeClr val="accent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56908" y="4140579"/>
            <a:ext cx="5478188" cy="104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13200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- Bl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207" t="47181" r="6532" b="-19785"/>
          <a:stretch>
            <a:fillRect/>
          </a:stretch>
        </p:blipFill>
        <p:spPr>
          <a:xfrm rot="10800000" flipH="1">
            <a:off x="0" y="2144578"/>
            <a:ext cx="12192000" cy="4713422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8581"/>
            <a:ext cx="9144000" cy="1522708"/>
          </a:xfrm>
        </p:spPr>
        <p:txBody>
          <a:bodyPr/>
          <a:lstStyle>
            <a:lvl1pPr marL="0" indent="0" algn="ctr">
              <a:buNone/>
              <a:defRPr sz="1801">
                <a:solidFill>
                  <a:schemeClr val="bg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10" name="Picture 9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56905" y="1414657"/>
            <a:ext cx="5478190" cy="104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28410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1">
    <p:bg>
      <p:bgPr>
        <a:gradFill>
          <a:gsLst>
            <a:gs pos="88000">
              <a:schemeClr val="tx2"/>
            </a:gs>
            <a:gs pos="32000">
              <a:schemeClr val="accent1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8355" r="22408"/>
          <a:stretch>
            <a:fillRect/>
          </a:stretch>
        </p:blipFill>
        <p:spPr>
          <a:xfrm>
            <a:off x="7857642" y="0"/>
            <a:ext cx="4334359" cy="6904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895" y="1122363"/>
            <a:ext cx="6183824" cy="2387600"/>
          </a:xfrm>
        </p:spPr>
        <p:txBody>
          <a:bodyPr lIns="0" rIns="0" bIns="0"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895" y="3602038"/>
            <a:ext cx="6183824" cy="1655762"/>
          </a:xfrm>
        </p:spPr>
        <p:txBody>
          <a:bodyPr lIns="0" tIns="0" rIns="0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37B00-3A87-6F22-C2B3-A37A545DCD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76" r="77300"/>
          <a:stretch>
            <a:fillRect/>
          </a:stretch>
        </p:blipFill>
        <p:spPr>
          <a:xfrm>
            <a:off x="11091487" y="6011202"/>
            <a:ext cx="874843" cy="7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6851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9A3336-B45B-9D7B-30C3-9CC928E552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458" t="3250" r="26458"/>
          <a:stretch>
            <a:fillRect/>
          </a:stretch>
        </p:blipFill>
        <p:spPr>
          <a:xfrm>
            <a:off x="7857639" y="0"/>
            <a:ext cx="4334361" cy="6679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22" y="1122363"/>
            <a:ext cx="6431796" cy="2387600"/>
          </a:xfrm>
        </p:spPr>
        <p:txBody>
          <a:bodyPr lIns="0" tIns="0" rIns="0" bIns="0" anchor="b"/>
          <a:lstStyle>
            <a:lvl1pPr algn="l">
              <a:defRPr sz="48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422" y="3602038"/>
            <a:ext cx="6431796" cy="1655762"/>
          </a:xfrm>
        </p:spPr>
        <p:txBody>
          <a:bodyPr lIns="0" tIns="0" rIns="0" bIns="0"/>
          <a:lstStyle>
            <a:lvl1pPr marL="0" indent="0" algn="l">
              <a:buNone/>
              <a:defRPr sz="2000" b="1">
                <a:solidFill>
                  <a:schemeClr val="accent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30E3FD-882C-66E8-F4AD-CEE04A68163D}"/>
              </a:ext>
            </a:extLst>
          </p:cNvPr>
          <p:cNvSpPr/>
          <p:nvPr userDrawn="1"/>
        </p:nvSpPr>
        <p:spPr>
          <a:xfrm>
            <a:off x="2" y="6679769"/>
            <a:ext cx="12192000" cy="224391"/>
          </a:xfrm>
          <a:prstGeom prst="rect">
            <a:avLst/>
          </a:prstGeom>
          <a:gradFill>
            <a:gsLst>
              <a:gs pos="88000">
                <a:schemeClr val="accent1"/>
              </a:gs>
              <a:gs pos="32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7F799-3396-4A71-BC1A-1B9BEF9859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76" r="77300"/>
          <a:stretch>
            <a:fillRect/>
          </a:stretch>
        </p:blipFill>
        <p:spPr>
          <a:xfrm>
            <a:off x="356463" y="295596"/>
            <a:ext cx="874843" cy="7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589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9344" b="-12420"/>
          <a:stretch>
            <a:fillRect/>
          </a:stretch>
        </p:blipFill>
        <p:spPr>
          <a:xfrm>
            <a:off x="0" y="0"/>
            <a:ext cx="12192000" cy="6904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2D7F89-3C6E-9AB7-6CCA-F9F8DCA94A31}"/>
              </a:ext>
            </a:extLst>
          </p:cNvPr>
          <p:cNvSpPr/>
          <p:nvPr userDrawn="1"/>
        </p:nvSpPr>
        <p:spPr>
          <a:xfrm>
            <a:off x="2" y="4839772"/>
            <a:ext cx="12192000" cy="206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30E3FD-882C-66E8-F4AD-CEE04A68163D}"/>
              </a:ext>
            </a:extLst>
          </p:cNvPr>
          <p:cNvSpPr/>
          <p:nvPr userDrawn="1"/>
        </p:nvSpPr>
        <p:spPr>
          <a:xfrm>
            <a:off x="2" y="4748332"/>
            <a:ext cx="12192000" cy="91440"/>
          </a:xfrm>
          <a:prstGeom prst="rect">
            <a:avLst/>
          </a:prstGeom>
          <a:gradFill>
            <a:gsLst>
              <a:gs pos="88000">
                <a:schemeClr val="accent1"/>
              </a:gs>
              <a:gs pos="32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895" y="4931212"/>
            <a:ext cx="9670942" cy="1003044"/>
          </a:xfrm>
        </p:spPr>
        <p:txBody>
          <a:bodyPr lIns="0" tIns="0" rIns="0" bIns="0" anchor="b"/>
          <a:lstStyle>
            <a:lvl1pPr algn="l">
              <a:defRPr sz="44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896" y="5964339"/>
            <a:ext cx="9670940" cy="659996"/>
          </a:xfrm>
        </p:spPr>
        <p:txBody>
          <a:bodyPr lIns="0" tIns="0" rIns="0" bIns="0"/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AFAB9-7B02-AD37-12BF-3A06EC5EA2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76" r="77300"/>
          <a:stretch>
            <a:fillRect/>
          </a:stretch>
        </p:blipFill>
        <p:spPr>
          <a:xfrm>
            <a:off x="10974497" y="5847842"/>
            <a:ext cx="874843" cy="7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55873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9E3981-60EB-FF51-B66B-7348C6C470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97" b="4697"/>
          <a:stretch/>
        </p:blipFill>
        <p:spPr>
          <a:xfrm>
            <a:off x="0" y="0"/>
            <a:ext cx="12192000" cy="6904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2C123-0440-EC62-4AAE-6E433BE8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3077" y="6356351"/>
            <a:ext cx="2743200" cy="365125"/>
          </a:xfrm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7CF9-D924-9919-EB85-5D783725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4124" y="6356351"/>
            <a:ext cx="4114800" cy="365125"/>
          </a:xfrm>
        </p:spPr>
        <p:txBody>
          <a:bodyPr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420269" y="559344"/>
            <a:ext cx="2478652" cy="4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6252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388695-1259-85AF-0D79-2CD7B3E9FF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C69A9-D69A-B79A-DE3A-9ECB78E3E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B95E1-6DBD-A235-701E-AAA2DB16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2C123-0440-EC62-4AAE-6E433BE8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3077" y="6356351"/>
            <a:ext cx="2743200" cy="365125"/>
          </a:xfrm>
        </p:spPr>
        <p:txBody>
          <a:bodyPr/>
          <a:lstStyle>
            <a:lvl1pPr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7CF9-D924-9919-EB85-5D783725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4124" y="6356351"/>
            <a:ext cx="4114800" cy="365125"/>
          </a:xfrm>
        </p:spPr>
        <p:txBody>
          <a:bodyPr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E88E25-73B2-4D0C-76FD-902A614CE2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420269" y="559344"/>
            <a:ext cx="2478652" cy="4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55397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-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6041B6-C800-C74E-E19C-1B4946BD3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0298" b="21346"/>
          <a:stretch>
            <a:fillRect/>
          </a:stretch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9253"/>
            <a:ext cx="11513157" cy="703558"/>
          </a:xfrm>
        </p:spPr>
        <p:txBody>
          <a:bodyPr wrap="square" lIns="0" rIns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CACA-4DA3-557F-AB26-2D72F0CE6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912" y="1029676"/>
            <a:ext cx="11493668" cy="5229610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9E646F-B740-1A11-54D4-DA6EE51BD8BD}"/>
              </a:ext>
            </a:extLst>
          </p:cNvPr>
          <p:cNvCxnSpPr>
            <a:cxnSpLocks/>
          </p:cNvCxnSpPr>
          <p:nvPr userDrawn="1"/>
        </p:nvCxnSpPr>
        <p:spPr>
          <a:xfrm>
            <a:off x="358912" y="826961"/>
            <a:ext cx="11493668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logo of a bird&#10;&#10;AI-generated content may be incorrect.">
            <a:extLst>
              <a:ext uri="{FF2B5EF4-FFF2-40B4-BE49-F238E27FC236}">
                <a16:creationId xmlns:a16="http://schemas.microsoft.com/office/drawing/2014/main" id="{93BBDEFD-482F-6F08-B107-9E7DDFDAD3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29947" y="144795"/>
            <a:ext cx="666791" cy="53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8325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D219F-D055-14A7-86AC-463DDC4140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240" b="46240"/>
          <a:stretch/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9253"/>
            <a:ext cx="11513157" cy="703558"/>
          </a:xfrm>
        </p:spPr>
        <p:txBody>
          <a:bodyPr wrap="square" lIns="0" rIns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logo of a bird&#10;&#10;AI-generated content may be incorrect.">
            <a:extLst>
              <a:ext uri="{FF2B5EF4-FFF2-40B4-BE49-F238E27FC236}">
                <a16:creationId xmlns:a16="http://schemas.microsoft.com/office/drawing/2014/main" id="{93BBDEFD-482F-6F08-B107-9E7DDFDAD3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29947" y="144795"/>
            <a:ext cx="666791" cy="53485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1F6B90-F8FF-F1E2-463E-B29B7A09AA69}"/>
              </a:ext>
            </a:extLst>
          </p:cNvPr>
          <p:cNvCxnSpPr>
            <a:cxnSpLocks/>
          </p:cNvCxnSpPr>
          <p:nvPr userDrawn="1"/>
        </p:nvCxnSpPr>
        <p:spPr>
          <a:xfrm>
            <a:off x="358912" y="826961"/>
            <a:ext cx="11493668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113407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shIQ_TechServices_WHITE_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1"/>
            <a:ext cx="11513157" cy="598714"/>
          </a:xfrm>
        </p:spPr>
        <p:txBody>
          <a:bodyPr wrap="square" lIns="0" rIns="0" anchor="b"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1F6B90-F8FF-F1E2-463E-B29B7A09AA69}"/>
              </a:ext>
            </a:extLst>
          </p:cNvPr>
          <p:cNvCxnSpPr>
            <a:cxnSpLocks/>
          </p:cNvCxnSpPr>
          <p:nvPr userDrawn="1"/>
        </p:nvCxnSpPr>
        <p:spPr>
          <a:xfrm>
            <a:off x="339423" y="607040"/>
            <a:ext cx="11513157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A34DBC-0FCF-D5D2-F1B0-737B7BD5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912" y="844954"/>
            <a:ext cx="11493668" cy="5414333"/>
          </a:xfrm>
        </p:spPr>
        <p:txBody>
          <a:bodyPr wrap="square" lIns="0" rIns="0">
            <a:noAutofit/>
          </a:bodyPr>
          <a:lstStyle>
            <a:lvl1pPr marL="358780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anose="05000000000000000000" pitchFamily="2" charset="2"/>
              <a:buChar char="§"/>
              <a:defRPr sz="1801">
                <a:solidFill>
                  <a:schemeClr val="tx1"/>
                </a:solidFill>
              </a:defRPr>
            </a:lvl1pPr>
            <a:lvl2pPr marL="717559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itchFamily="2" charset="2"/>
              <a:buChar char="§"/>
              <a:defRPr sz="1801">
                <a:solidFill>
                  <a:schemeClr val="tx1"/>
                </a:solidFill>
              </a:defRPr>
            </a:lvl2pPr>
            <a:lvl3pPr marL="1076339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anose="05000000000000000000" pitchFamily="2" charset="2"/>
              <a:buChar char="§"/>
              <a:defRPr sz="1801">
                <a:solidFill>
                  <a:schemeClr val="tx1"/>
                </a:solidFill>
              </a:defRPr>
            </a:lvl3pPr>
            <a:lvl4pPr marL="1435118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anose="05000000000000000000" pitchFamily="2" charset="2"/>
              <a:buChar char="§"/>
              <a:defRPr sz="1801">
                <a:solidFill>
                  <a:schemeClr val="tx1"/>
                </a:solidFill>
              </a:defRPr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7368367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shIQ_TechServices_WHITE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1"/>
            <a:ext cx="11513157" cy="598714"/>
          </a:xfrm>
        </p:spPr>
        <p:txBody>
          <a:bodyPr wrap="square" lIns="0" rIns="0" anchor="b"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1F6B90-F8FF-F1E2-463E-B29B7A09AA69}"/>
              </a:ext>
            </a:extLst>
          </p:cNvPr>
          <p:cNvCxnSpPr>
            <a:cxnSpLocks/>
          </p:cNvCxnSpPr>
          <p:nvPr userDrawn="1"/>
        </p:nvCxnSpPr>
        <p:spPr>
          <a:xfrm>
            <a:off x="339423" y="607040"/>
            <a:ext cx="11513157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238081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shIQ_TechServices_BLACK_0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1"/>
            <a:ext cx="11513157" cy="598714"/>
          </a:xfrm>
        </p:spPr>
        <p:txBody>
          <a:bodyPr wrap="square" lIns="0" rIns="0" anchor="b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1F6B90-F8FF-F1E2-463E-B29B7A09AA69}"/>
              </a:ext>
            </a:extLst>
          </p:cNvPr>
          <p:cNvCxnSpPr>
            <a:cxnSpLocks/>
          </p:cNvCxnSpPr>
          <p:nvPr userDrawn="1"/>
        </p:nvCxnSpPr>
        <p:spPr>
          <a:xfrm>
            <a:off x="339423" y="607040"/>
            <a:ext cx="11513157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A34DBC-0FCF-D5D2-F1B0-737B7BD5A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912" y="844954"/>
            <a:ext cx="11493668" cy="5414333"/>
          </a:xfrm>
        </p:spPr>
        <p:txBody>
          <a:bodyPr wrap="square" lIns="0" rIns="0">
            <a:noAutofit/>
          </a:bodyPr>
          <a:lstStyle>
            <a:lvl1pPr marL="358780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anose="05000000000000000000" pitchFamily="2" charset="2"/>
              <a:buChar char="§"/>
              <a:defRPr sz="1801">
                <a:solidFill>
                  <a:schemeClr val="bg1"/>
                </a:solidFill>
              </a:defRPr>
            </a:lvl1pPr>
            <a:lvl2pPr marL="717559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itchFamily="2" charset="2"/>
              <a:buChar char="§"/>
              <a:defRPr sz="1801">
                <a:solidFill>
                  <a:schemeClr val="bg1"/>
                </a:solidFill>
              </a:defRPr>
            </a:lvl2pPr>
            <a:lvl3pPr marL="1076339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anose="05000000000000000000" pitchFamily="2" charset="2"/>
              <a:buChar char="§"/>
              <a:defRPr sz="1801">
                <a:solidFill>
                  <a:schemeClr val="bg1"/>
                </a:solidFill>
              </a:defRPr>
            </a:lvl3pPr>
            <a:lvl4pPr marL="1435118" indent="-35878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chemeClr val="accent1"/>
              </a:buClr>
              <a:buSzPct val="120000"/>
              <a:buFont typeface="Wingdings" panose="05000000000000000000" pitchFamily="2" charset="2"/>
              <a:buChar char="§"/>
              <a:defRPr sz="1801">
                <a:solidFill>
                  <a:schemeClr val="bg1"/>
                </a:solidFill>
              </a:defRPr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3039863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eshIQ_TechServices_BLACK_0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1"/>
            <a:ext cx="11513157" cy="598714"/>
          </a:xfrm>
        </p:spPr>
        <p:txBody>
          <a:bodyPr wrap="square" lIns="0" rIns="0" anchor="b">
            <a:no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1F6B90-F8FF-F1E2-463E-B29B7A09AA69}"/>
              </a:ext>
            </a:extLst>
          </p:cNvPr>
          <p:cNvCxnSpPr>
            <a:cxnSpLocks/>
          </p:cNvCxnSpPr>
          <p:nvPr userDrawn="1"/>
        </p:nvCxnSpPr>
        <p:spPr>
          <a:xfrm>
            <a:off x="339423" y="607040"/>
            <a:ext cx="11513157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108866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089E00-B66E-CFBB-5018-DAC3056221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3" y="2"/>
            <a:ext cx="4063998" cy="635634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A2B111-F760-549A-C1AF-076CD35A65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0298" b="21346"/>
          <a:stretch>
            <a:fillRect/>
          </a:stretch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248" y="247978"/>
            <a:ext cx="7380894" cy="1397490"/>
          </a:xfrm>
        </p:spPr>
        <p:txBody>
          <a:bodyPr wrap="square" lIns="0" rIns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1B953B-B730-CC58-46C7-053E94F1F3DD}"/>
              </a:ext>
            </a:extLst>
          </p:cNvPr>
          <p:cNvCxnSpPr>
            <a:cxnSpLocks/>
          </p:cNvCxnSpPr>
          <p:nvPr userDrawn="1"/>
        </p:nvCxnSpPr>
        <p:spPr>
          <a:xfrm>
            <a:off x="339421" y="1657190"/>
            <a:ext cx="7385212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8132D0-1476-A8B4-6747-CCB60619830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8911" y="1925772"/>
            <a:ext cx="7365723" cy="4333514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0B44DE-04F9-EF4B-0535-3E2F7DFC1B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9422" y="6507886"/>
            <a:ext cx="997557" cy="18953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624246E-D7C7-9CE6-3EDB-51BCF536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2CA64C1-4641-7C0F-75D2-DFC4A273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507886"/>
            <a:ext cx="4114800" cy="189536"/>
          </a:xfr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955050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- 2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3B5C-5CBB-7729-AA59-DB0F648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23" y="9253"/>
            <a:ext cx="11513157" cy="703558"/>
          </a:xfrm>
        </p:spPr>
        <p:txBody>
          <a:bodyPr wrap="square" lIns="0" rIns="0"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CACA-4DA3-557F-AB26-2D72F0CE6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910" y="1029676"/>
            <a:ext cx="5486400" cy="5094658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A2D0-FAD3-B61C-8059-DBD75797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50FDC-EAC9-FAC8-0E32-0E2DA916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logo of a bird&#10;&#10;AI-generated content may be incorrect.">
            <a:extLst>
              <a:ext uri="{FF2B5EF4-FFF2-40B4-BE49-F238E27FC236}">
                <a16:creationId xmlns:a16="http://schemas.microsoft.com/office/drawing/2014/main" id="{93BBDEFD-482F-6F08-B107-9E7DDFDAD3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9947" y="144795"/>
            <a:ext cx="666791" cy="53485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0958AE-13DC-7374-AAB6-F9EB5F4F86B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66180" y="1029676"/>
            <a:ext cx="5486400" cy="5094658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037CE6-05B4-CB2D-8267-A6FA0073A7D4}"/>
              </a:ext>
            </a:extLst>
          </p:cNvPr>
          <p:cNvCxnSpPr>
            <a:cxnSpLocks/>
          </p:cNvCxnSpPr>
          <p:nvPr userDrawn="1"/>
        </p:nvCxnSpPr>
        <p:spPr>
          <a:xfrm>
            <a:off x="358912" y="826961"/>
            <a:ext cx="11493668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B8FBDB9-D129-599F-F537-E38E10729C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6240" b="46240"/>
          <a:stretch/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721590835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 - 1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CA08-1878-1631-476C-C928EA95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10" y="827894"/>
            <a:ext cx="4511723" cy="973167"/>
          </a:xfrm>
        </p:spPr>
        <p:txBody>
          <a:bodyPr lIns="0" rIns="0"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7AD663BB-8A7B-8F5D-8E8D-4F266C749813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22628" y="827893"/>
            <a:ext cx="6529952" cy="501150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D370CD-5882-780F-1605-10346E47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41885E4-8436-78DE-1485-191E0D74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B76B34-54BD-6182-8C3C-82C77ECA78B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8910" y="2005013"/>
            <a:ext cx="4511723" cy="3834387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B551D-34FD-35A5-7E50-D0D34FE780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240" b="46240"/>
          <a:stretch/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693583372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CA08-1878-1631-476C-C928EA95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10" y="9254"/>
            <a:ext cx="9754080" cy="703558"/>
          </a:xfrm>
        </p:spPr>
        <p:txBody>
          <a:bodyPr lIns="0" rIns="0"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7AD663BB-8A7B-8F5D-8E8D-4F266C749813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58913" y="1238504"/>
            <a:ext cx="11493669" cy="472556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D370CD-5882-780F-1605-10346E47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41885E4-8436-78DE-1485-191E0D74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A logo of a bird&#10;&#10;AI-generated content may be incorrect.">
            <a:extLst>
              <a:ext uri="{FF2B5EF4-FFF2-40B4-BE49-F238E27FC236}">
                <a16:creationId xmlns:a16="http://schemas.microsoft.com/office/drawing/2014/main" id="{66AF5AC8-F928-1A91-1154-4449A8BB82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9947" y="144795"/>
            <a:ext cx="666791" cy="534859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A91072-E0EC-4298-09F0-1ACAD22F1500}"/>
              </a:ext>
            </a:extLst>
          </p:cNvPr>
          <p:cNvCxnSpPr>
            <a:cxnSpLocks/>
          </p:cNvCxnSpPr>
          <p:nvPr userDrawn="1"/>
        </p:nvCxnSpPr>
        <p:spPr>
          <a:xfrm>
            <a:off x="358912" y="826961"/>
            <a:ext cx="11493668" cy="0"/>
          </a:xfrm>
          <a:prstGeom prst="line">
            <a:avLst/>
          </a:prstGeom>
          <a:ln w="31750">
            <a:gradFill>
              <a:gsLst>
                <a:gs pos="0">
                  <a:schemeClr val="accent2"/>
                </a:gs>
                <a:gs pos="78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A1CE3D9-92C3-F20A-FAC7-182AAFFBAD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46240" b="46240"/>
          <a:stretch/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98029661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Graphics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CA1B57-630F-03E3-B92D-21DE28F4FF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240" b="46240"/>
          <a:stretch/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A5CA08-1878-1631-476C-C928EA95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11" y="827894"/>
            <a:ext cx="5414092" cy="973167"/>
          </a:xfrm>
        </p:spPr>
        <p:txBody>
          <a:bodyPr lIns="0" rIns="0"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D370CD-5882-780F-1605-10346E47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41885E4-8436-78DE-1485-191E0D74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B76B34-54BD-6182-8C3C-82C77ECA78B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8911" y="2005013"/>
            <a:ext cx="5414092" cy="2410399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0E94D-5D99-F294-19DF-9816466393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9969" y="734679"/>
            <a:ext cx="2466832" cy="2410399"/>
          </a:xfrm>
          <a:solidFill>
            <a:schemeClr val="accent1"/>
          </a:solidFill>
        </p:spPr>
        <p:txBody>
          <a:bodyPr lIns="0" tIns="91440" rIns="0" bIns="182880" anchor="b">
            <a:normAutofit/>
          </a:bodyPr>
          <a:lstStyle>
            <a:lvl1pPr marL="0" indent="0" algn="ctr">
              <a:spcAft>
                <a:spcPts val="601"/>
              </a:spcAft>
              <a:buClr>
                <a:schemeClr val="accent1"/>
              </a:buClr>
              <a:buSzPct val="90000"/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6" indent="-228604">
              <a:spcAft>
                <a:spcPts val="601"/>
              </a:spcAft>
              <a:buClr>
                <a:schemeClr val="accent1"/>
              </a:buClr>
              <a:buFont typeface="Wingdings" pitchFamily="2" charset="2"/>
              <a:buChar char="§"/>
              <a:defRPr sz="2000"/>
            </a:lvl2pPr>
            <a:lvl3pPr marL="685809" indent="-182882">
              <a:spcAft>
                <a:spcPts val="601"/>
              </a:spcAft>
              <a:buClr>
                <a:schemeClr val="accent1"/>
              </a:buClr>
              <a:defRPr sz="1600"/>
            </a:lvl3pPr>
            <a:lvl4pPr marL="822970" indent="-137163">
              <a:spcAft>
                <a:spcPts val="601"/>
              </a:spcAft>
              <a:buClr>
                <a:schemeClr val="accent1"/>
              </a:buClr>
              <a:defRPr sz="1200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defRPr sz="100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CB6646-17BC-21F6-FF45-F6A5C488117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886970" y="734679"/>
            <a:ext cx="2466832" cy="2410399"/>
          </a:xfrm>
          <a:solidFill>
            <a:schemeClr val="accent5"/>
          </a:solidFill>
        </p:spPr>
        <p:txBody>
          <a:bodyPr lIns="0" tIns="91440" rIns="0" bIns="182880" anchor="b">
            <a:normAutofit/>
          </a:bodyPr>
          <a:lstStyle>
            <a:lvl1pPr marL="0" indent="0" algn="ctr">
              <a:spcAft>
                <a:spcPts val="601"/>
              </a:spcAft>
              <a:buClr>
                <a:schemeClr val="accent1"/>
              </a:buClr>
              <a:buSzPct val="90000"/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6" indent="-228604">
              <a:spcAft>
                <a:spcPts val="601"/>
              </a:spcAft>
              <a:buClr>
                <a:schemeClr val="accent1"/>
              </a:buClr>
              <a:buFont typeface="Wingdings" pitchFamily="2" charset="2"/>
              <a:buChar char="§"/>
              <a:defRPr sz="2000"/>
            </a:lvl2pPr>
            <a:lvl3pPr marL="685809" indent="-182882">
              <a:spcAft>
                <a:spcPts val="601"/>
              </a:spcAft>
              <a:buClr>
                <a:schemeClr val="accent1"/>
              </a:buClr>
              <a:defRPr sz="1600"/>
            </a:lvl3pPr>
            <a:lvl4pPr marL="822970" indent="-137163">
              <a:spcAft>
                <a:spcPts val="601"/>
              </a:spcAft>
              <a:buClr>
                <a:schemeClr val="accent1"/>
              </a:buClr>
              <a:defRPr sz="1200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defRPr sz="100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4077F1-9D32-57C6-D391-C631AE599F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19969" y="3334925"/>
            <a:ext cx="2466832" cy="2410399"/>
          </a:xfrm>
          <a:solidFill>
            <a:schemeClr val="bg2"/>
          </a:solidFill>
        </p:spPr>
        <p:txBody>
          <a:bodyPr lIns="0" tIns="91440" rIns="0" bIns="182880" anchor="b">
            <a:normAutofit/>
          </a:bodyPr>
          <a:lstStyle>
            <a:lvl1pPr marL="0" indent="0" algn="ctr">
              <a:spcAft>
                <a:spcPts val="601"/>
              </a:spcAft>
              <a:buClr>
                <a:schemeClr val="accent1"/>
              </a:buClr>
              <a:buSzPct val="90000"/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6" indent="-228604">
              <a:spcAft>
                <a:spcPts val="601"/>
              </a:spcAft>
              <a:buClr>
                <a:schemeClr val="accent1"/>
              </a:buClr>
              <a:buFont typeface="Wingdings" pitchFamily="2" charset="2"/>
              <a:buChar char="§"/>
              <a:defRPr sz="2000"/>
            </a:lvl2pPr>
            <a:lvl3pPr marL="685809" indent="-182882">
              <a:spcAft>
                <a:spcPts val="601"/>
              </a:spcAft>
              <a:buClr>
                <a:schemeClr val="accent1"/>
              </a:buClr>
              <a:defRPr sz="1600"/>
            </a:lvl3pPr>
            <a:lvl4pPr marL="822970" indent="-137163">
              <a:spcAft>
                <a:spcPts val="601"/>
              </a:spcAft>
              <a:buClr>
                <a:schemeClr val="accent1"/>
              </a:buClr>
              <a:defRPr sz="1200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defRPr sz="100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EBA8FF-B466-A50D-9502-D5C8F1A7179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886970" y="3334925"/>
            <a:ext cx="2466832" cy="2410399"/>
          </a:xfrm>
          <a:solidFill>
            <a:schemeClr val="accent6"/>
          </a:solidFill>
        </p:spPr>
        <p:txBody>
          <a:bodyPr lIns="0" tIns="91440" rIns="0" bIns="182880" anchor="b">
            <a:normAutofit/>
          </a:bodyPr>
          <a:lstStyle>
            <a:lvl1pPr marL="0" indent="0" algn="ctr">
              <a:spcAft>
                <a:spcPts val="601"/>
              </a:spcAft>
              <a:buClr>
                <a:schemeClr val="accent1"/>
              </a:buClr>
              <a:buSzPct val="90000"/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6" indent="-228604">
              <a:spcAft>
                <a:spcPts val="601"/>
              </a:spcAft>
              <a:buClr>
                <a:schemeClr val="accent1"/>
              </a:buClr>
              <a:buFont typeface="Wingdings" pitchFamily="2" charset="2"/>
              <a:buChar char="§"/>
              <a:defRPr sz="2000"/>
            </a:lvl2pPr>
            <a:lvl3pPr marL="685809" indent="-182882">
              <a:spcAft>
                <a:spcPts val="601"/>
              </a:spcAft>
              <a:buClr>
                <a:schemeClr val="accent1"/>
              </a:buClr>
              <a:defRPr sz="1600"/>
            </a:lvl3pPr>
            <a:lvl4pPr marL="822970" indent="-137163">
              <a:spcAft>
                <a:spcPts val="601"/>
              </a:spcAft>
              <a:buClr>
                <a:schemeClr val="accent1"/>
              </a:buClr>
              <a:defRPr sz="1200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defRPr sz="100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8908AFB-7F62-C5EC-0D57-4A4ECA9F399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58911" y="4899546"/>
            <a:ext cx="5414092" cy="866994"/>
          </a:xfrm>
        </p:spPr>
        <p:txBody>
          <a:bodyPr wrap="square" lIns="0" rIns="0" anchor="b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None/>
              <a:defRPr sz="1600">
                <a:solidFill>
                  <a:schemeClr val="accent1"/>
                </a:solidFill>
              </a:defRPr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661111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Graphics 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2877A3-5D4A-62FF-F6D7-EFADB8197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46240" b="46240"/>
          <a:stretch/>
        </p:blipFill>
        <p:spPr>
          <a:xfrm>
            <a:off x="0" y="6356350"/>
            <a:ext cx="12192000" cy="573088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A5CA08-1878-1631-476C-C928EA95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11" y="827894"/>
            <a:ext cx="5414092" cy="973167"/>
          </a:xfrm>
        </p:spPr>
        <p:txBody>
          <a:bodyPr lIns="0" rIns="0"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D370CD-5882-780F-1605-10346E47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911" y="6507886"/>
            <a:ext cx="4114800" cy="189536"/>
          </a:xfrm>
        </p:spPr>
        <p:txBody>
          <a:bodyPr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 sz="8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41885E4-8436-78DE-1485-191E0D74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9380" y="6507886"/>
            <a:ext cx="2743200" cy="189536"/>
          </a:xfrm>
        </p:spPr>
        <p:txBody>
          <a:bodyPr anchor="ctr"/>
          <a:lstStyle>
            <a:lvl1pPr>
              <a:defRPr sz="1001">
                <a:solidFill>
                  <a:schemeClr val="accent1"/>
                </a:solidFill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B76B34-54BD-6182-8C3C-82C77ECA78B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8911" y="2005013"/>
            <a:ext cx="5414092" cy="2410399"/>
          </a:xfrm>
        </p:spPr>
        <p:txBody>
          <a:bodyPr wrap="square" lIns="0" rIns="0">
            <a:noAutofit/>
          </a:bodyPr>
          <a:lstStyle>
            <a:lvl1pPr marL="137163" indent="-137163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90000"/>
              <a:buFont typeface="Courier New" panose="02070309020205020404" pitchFamily="49" charset="0"/>
              <a:buChar char="o"/>
              <a:defRPr sz="1600"/>
            </a:lvl1pPr>
            <a:lvl2pPr marL="274323" indent="-137163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Wingdings" pitchFamily="2" charset="2"/>
              <a:buChar char="§"/>
              <a:defRPr sz="1401"/>
            </a:lvl2pPr>
            <a:lvl3pPr marL="365765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/>
            </a:lvl3pPr>
            <a:lvl4pPr marL="457206" indent="-91441">
              <a:lnSpc>
                <a:spcPct val="100000"/>
              </a:lnSpc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1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4077F1-9D32-57C6-D391-C631AE599FA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19969" y="3165836"/>
            <a:ext cx="2722729" cy="2724912"/>
          </a:xfrm>
          <a:gradFill>
            <a:gsLst>
              <a:gs pos="88000">
                <a:schemeClr val="accent4"/>
              </a:gs>
              <a:gs pos="32000">
                <a:schemeClr val="accent5"/>
              </a:gs>
            </a:gsLst>
            <a:lin ang="3600000" scaled="0"/>
          </a:gradFill>
        </p:spPr>
        <p:txBody>
          <a:bodyPr lIns="182880" tIns="91440" rIns="182880" bIns="182880" anchor="ctr">
            <a:normAutofit/>
          </a:bodyPr>
          <a:lstStyle>
            <a:lvl1pPr marL="0" indent="0" algn="ctr">
              <a:spcAft>
                <a:spcPts val="601"/>
              </a:spcAft>
              <a:buClr>
                <a:schemeClr val="accent1"/>
              </a:buClr>
              <a:buSzPct val="90000"/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6" indent="-228604">
              <a:spcAft>
                <a:spcPts val="601"/>
              </a:spcAft>
              <a:buClr>
                <a:schemeClr val="accent1"/>
              </a:buClr>
              <a:buFont typeface="Wingdings" pitchFamily="2" charset="2"/>
              <a:buChar char="§"/>
              <a:defRPr sz="2000"/>
            </a:lvl2pPr>
            <a:lvl3pPr marL="685809" indent="-182882">
              <a:spcAft>
                <a:spcPts val="601"/>
              </a:spcAft>
              <a:buClr>
                <a:schemeClr val="accent1"/>
              </a:buClr>
              <a:defRPr sz="1600"/>
            </a:lvl3pPr>
            <a:lvl4pPr marL="822970" indent="-137163">
              <a:spcAft>
                <a:spcPts val="601"/>
              </a:spcAft>
              <a:buClr>
                <a:schemeClr val="accent1"/>
              </a:buClr>
              <a:defRPr sz="1200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defRPr sz="100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EBA8FF-B466-A50D-9502-D5C8F1A7179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09379" y="3165836"/>
            <a:ext cx="2722729" cy="2724912"/>
          </a:xfrm>
          <a:gradFill>
            <a:gsLst>
              <a:gs pos="88000">
                <a:schemeClr val="tx2"/>
              </a:gs>
              <a:gs pos="32000">
                <a:schemeClr val="accent1"/>
              </a:gs>
            </a:gsLst>
            <a:lin ang="3600000" scaled="0"/>
          </a:gradFill>
        </p:spPr>
        <p:txBody>
          <a:bodyPr lIns="182880" tIns="91440" rIns="182880" bIns="182880" anchor="ctr">
            <a:normAutofit/>
          </a:bodyPr>
          <a:lstStyle>
            <a:lvl1pPr marL="0" indent="0" algn="ctr">
              <a:spcAft>
                <a:spcPts val="601"/>
              </a:spcAft>
              <a:buClr>
                <a:schemeClr val="accent1"/>
              </a:buClr>
              <a:buSzPct val="90000"/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6" indent="-228604">
              <a:spcAft>
                <a:spcPts val="601"/>
              </a:spcAft>
              <a:buClr>
                <a:schemeClr val="accent1"/>
              </a:buClr>
              <a:buFont typeface="Wingdings" pitchFamily="2" charset="2"/>
              <a:buChar char="§"/>
              <a:defRPr sz="2000"/>
            </a:lvl2pPr>
            <a:lvl3pPr marL="685809" indent="-182882">
              <a:spcAft>
                <a:spcPts val="601"/>
              </a:spcAft>
              <a:buClr>
                <a:schemeClr val="accent1"/>
              </a:buClr>
              <a:defRPr sz="1600"/>
            </a:lvl3pPr>
            <a:lvl4pPr marL="822970" indent="-137163">
              <a:spcAft>
                <a:spcPts val="601"/>
              </a:spcAft>
              <a:buClr>
                <a:schemeClr val="accent1"/>
              </a:buClr>
              <a:defRPr sz="1200"/>
            </a:lvl4pPr>
            <a:lvl5pPr marL="914411" indent="-91441">
              <a:spcAft>
                <a:spcPts val="0"/>
              </a:spcAft>
              <a:buClr>
                <a:schemeClr val="accent1"/>
              </a:buClr>
              <a:defRPr sz="100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ED54D54-D0C0-38DA-B675-041569F407E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19969" y="439716"/>
            <a:ext cx="2724912" cy="272491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F9FDCE2-C8C8-E789-6A71-A6AA7B40DD72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107196" y="439716"/>
            <a:ext cx="2724912" cy="27249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54911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E9283A-0411-14BA-70E2-6AE30FE5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45BF4-7CF3-F940-CEBB-4718CF68E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453C1-C7D8-C6BD-8745-9D3F4A5F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4509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64392-FE84-4936-5A67-AA4A1985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CD336-1F5B-D2DD-6603-64BD5407D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8C932-E814-8406-7676-CF5A948BA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1E044-6B35-219C-0977-D528A82F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8E699-AC2C-8F23-F9FD-D46FB7416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548E22AB-69F8-8245-83D6-BDBBE693EB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5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71" r:id="rId3"/>
    <p:sldLayoutId id="2147483685" r:id="rId4"/>
    <p:sldLayoutId id="2147483672" r:id="rId5"/>
    <p:sldLayoutId id="2147483667" r:id="rId6"/>
    <p:sldLayoutId id="2147483669" r:id="rId7"/>
    <p:sldLayoutId id="2147483670" r:id="rId8"/>
    <p:sldLayoutId id="2147483662" r:id="rId9"/>
    <p:sldLayoutId id="2147483676" r:id="rId10"/>
    <p:sldLayoutId id="2147483678" r:id="rId11"/>
    <p:sldLayoutId id="2147483680" r:id="rId12"/>
    <p:sldLayoutId id="2147483688" r:id="rId13"/>
    <p:sldLayoutId id="2147483689" r:id="rId14"/>
    <p:sldLayoutId id="2147483687" r:id="rId15"/>
    <p:sldLayoutId id="2147483690" r:id="rId16"/>
    <p:sldLayoutId id="2147483666" r:id="rId17"/>
    <p:sldLayoutId id="2147483681" r:id="rId18"/>
    <p:sldLayoutId id="2147483673" r:id="rId19"/>
    <p:sldLayoutId id="2147483684" r:id="rId20"/>
    <p:sldLayoutId id="2147483683" r:id="rId21"/>
    <p:sldLayoutId id="2147483686" r:id="rId22"/>
    <p:sldLayoutId id="2147483655" r:id="rId23"/>
  </p:sldLayoutIdLst>
  <p:transition spd="slow">
    <p:fade/>
  </p:transition>
  <p:hf hdr="0" ft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61037B-94B3-A31B-864D-362098D71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9210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67541F-976B-E562-61DB-28E32EC63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3AE59-4519-E445-4F3C-03011998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8043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C1760-F712-AAF1-A706-B331CF1C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20425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4D06E-10C6-0C74-D2FF-C133D05E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7591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017B7-04E5-57F8-A044-B43C8C39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2213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EEEA67-79B2-039E-7396-020D85FCF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7024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7B5A7-E1BD-7A67-637B-CF2206F02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6641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D5F6C-39DF-87B4-728B-8A6DEFEF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01714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AA0A0-22A0-E884-8E3D-D2AE1CD28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8856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DA6C8-2235-41F7-F09A-324E16E97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2003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6EC35-7DAE-812C-E831-B1B7F95D6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22956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3C573-E574-DB74-8AF8-D55282DA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6086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BC230-0E3D-BCEC-3CBE-7CEF9803D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6446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42E9D-9D96-961A-C8FD-09DE5EAD9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9196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3DEA7-A0C8-F8E9-E4AE-03E4D3395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8735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CE048E-8207-F4DF-EC32-EF7932F50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4035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1DF98-33FE-5D29-014A-DC848973F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8840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A1928-C1C6-6FD9-FC4B-89255810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22AB-69F8-8245-83D6-BDBBE693EB1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FBE65-BD6B-08EC-0BA6-9ECD1589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09714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619CD-459F-D595-E4C8-5CF0EC74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12D73E-18D1-D474-90D1-3E975D137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3282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meshIQ 1">
      <a:dk1>
        <a:srgbClr val="000000"/>
      </a:dk1>
      <a:lt1>
        <a:srgbClr val="FFFFFF"/>
      </a:lt1>
      <a:dk2>
        <a:srgbClr val="008638"/>
      </a:dk2>
      <a:lt2>
        <a:srgbClr val="C92C99"/>
      </a:lt2>
      <a:accent1>
        <a:srgbClr val="38B349"/>
      </a:accent1>
      <a:accent2>
        <a:srgbClr val="8CC63E"/>
      </a:accent2>
      <a:accent3>
        <a:srgbClr val="152F28"/>
      </a:accent3>
      <a:accent4>
        <a:srgbClr val="004997"/>
      </a:accent4>
      <a:accent5>
        <a:srgbClr val="0074C8"/>
      </a:accent5>
      <a:accent6>
        <a:srgbClr val="712F8A"/>
      </a:accent6>
      <a:hlink>
        <a:srgbClr val="8CC63E"/>
      </a:hlink>
      <a:folHlink>
        <a:srgbClr val="C92C99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76200">
          <a:solidFill>
            <a:srgbClr val="F5A835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a300c5-ce87-4dcd-9038-71b1f0b050b4">
      <Terms xmlns="http://schemas.microsoft.com/office/infopath/2007/PartnerControls"/>
    </lcf76f155ced4ddcb4097134ff3c332f>
    <Notes xmlns="a9a300c5-ce87-4dcd-9038-71b1f0b050b4" xsi:nil="true"/>
    <TaxCatchAll xmlns="23d9daa3-a4a1-4968-b160-b88e0661235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772E4C7F0F1E4D8DFB0F88B2248E93" ma:contentTypeVersion="16" ma:contentTypeDescription="Create a new document." ma:contentTypeScope="" ma:versionID="57d2891b54f3a3d9bc18791bf11467e2">
  <xsd:schema xmlns:xsd="http://www.w3.org/2001/XMLSchema" xmlns:xs="http://www.w3.org/2001/XMLSchema" xmlns:p="http://schemas.microsoft.com/office/2006/metadata/properties" xmlns:ns2="23d9daa3-a4a1-4968-b160-b88e0661235a" xmlns:ns3="a9a300c5-ce87-4dcd-9038-71b1f0b050b4" targetNamespace="http://schemas.microsoft.com/office/2006/metadata/properties" ma:root="true" ma:fieldsID="9894eef85bc5ea52c0d8517499084466" ns2:_="" ns3:_="">
    <xsd:import namespace="23d9daa3-a4a1-4968-b160-b88e0661235a"/>
    <xsd:import namespace="a9a300c5-ce87-4dcd-9038-71b1f0b050b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  <xsd:element ref="ns3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9daa3-a4a1-4968-b160-b88e0661235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1ff8d371-5b12-4017-a54d-0c95c439e247}" ma:internalName="TaxCatchAll" ma:showField="CatchAllData" ma:web="23d9daa3-a4a1-4968-b160-b88e06612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300c5-ce87-4dcd-9038-71b1f0b050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72594df-94dd-4dc9-b771-150d823885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3" nillable="true" ma:displayName="Notes" ma:format="Dropdown" ma:internalName="Notes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43A406-02B1-4E42-B98A-71A6068B5E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F8E954-F294-48B4-892F-E3FCAEC40D68}">
  <ds:schemaRefs>
    <ds:schemaRef ds:uri="a9a300c5-ce87-4dcd-9038-71b1f0b050b4"/>
    <ds:schemaRef ds:uri="http://schemas.microsoft.com/office/infopath/2007/PartnerControls"/>
    <ds:schemaRef ds:uri="http://purl.org/dc/terms/"/>
    <ds:schemaRef ds:uri="23d9daa3-a4a1-4968-b160-b88e0661235a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243275D-74B3-40F5-84A1-7F982048DF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d9daa3-a4a1-4968-b160-b88e0661235a"/>
    <ds:schemaRef ds:uri="a9a300c5-ce87-4dcd-9038-71b1f0b050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1521</Words>
  <Application>Microsoft Office PowerPoint</Application>
  <PresentationFormat>Widescreen</PresentationFormat>
  <Paragraphs>226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Aptos</vt:lpstr>
      <vt:lpstr>Courier New</vt:lpstr>
      <vt:lpstr>Wingdings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Goes here</dc:title>
  <dc:creator>Dara Vann</dc:creator>
  <cp:lastModifiedBy>Scott Corrigan</cp:lastModifiedBy>
  <cp:revision>293</cp:revision>
  <cp:lastPrinted>2026-09-19T16:05:32Z</cp:lastPrinted>
  <dcterms:created xsi:type="dcterms:W3CDTF">2025-10-14T00:07:23Z</dcterms:created>
  <dcterms:modified xsi:type="dcterms:W3CDTF">2026-10-20T13:26:38Z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0x0101000F772E4C7F0F1E4D8DFB0F88B2248E93</vt:lpwstr>
  </property>
  <property fmtid="{D5CDD505-2E9C-101B-9397-08002B2CF9AE}" pid="3" name="MediaServiceImageTags">
    <vt:lpwstr/>
  </property>
</Properties>
</file>